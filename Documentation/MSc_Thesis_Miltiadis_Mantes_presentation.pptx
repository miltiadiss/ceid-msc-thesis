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Glacial Indifference Bold" charset="1" panose="00000800000000000000"/>
      <p:regular r:id="rId39"/>
    </p:embeddedFont>
    <p:embeddedFont>
      <p:font typeface="Open Sauce Bold" charset="1" panose="00000800000000000000"/>
      <p:regular r:id="rId40"/>
    </p:embeddedFont>
    <p:embeddedFont>
      <p:font typeface="Open Sauce" charset="1" panose="00000500000000000000"/>
      <p:regular r:id="rId41"/>
    </p:embeddedFont>
    <p:embeddedFont>
      <p:font typeface="Open Sauce Heavy" charset="1" panose="00000A00000000000000"/>
      <p:regular r:id="rId42"/>
    </p:embeddedFont>
    <p:embeddedFont>
      <p:font typeface="Glacial Indifference" charset="1" panose="00000000000000000000"/>
      <p:regular r:id="rId43"/>
    </p:embeddedFont>
    <p:embeddedFont>
      <p:font typeface="Glacial Indifference Bold Italics" charset="1" panose="00000800000000000000"/>
      <p:regular r:id="rId44"/>
    </p:embeddedFont>
    <p:embeddedFont>
      <p:font typeface="Glacial Indifference Italics"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18" Target="../media/image26.png" Type="http://schemas.openxmlformats.org/officeDocument/2006/relationships/image"/><Relationship Id="rId19" Target="../media/image27.svg" Type="http://schemas.openxmlformats.org/officeDocument/2006/relationships/image"/><Relationship Id="rId2" Target="../media/image10.png" Type="http://schemas.openxmlformats.org/officeDocument/2006/relationships/image"/><Relationship Id="rId20" Target="../media/image28.png" Type="http://schemas.openxmlformats.org/officeDocument/2006/relationships/image"/><Relationship Id="rId21" Target="../media/image29.svg" Type="http://schemas.openxmlformats.org/officeDocument/2006/relationships/image"/><Relationship Id="rId22" Target="../media/image30.png" Type="http://schemas.openxmlformats.org/officeDocument/2006/relationships/image"/><Relationship Id="rId23" Target="../media/image31.png" Type="http://schemas.openxmlformats.org/officeDocument/2006/relationships/image"/><Relationship Id="rId24" Target="../media/image32.svg" Type="http://schemas.openxmlformats.org/officeDocument/2006/relationships/image"/><Relationship Id="rId25" Target="../media/image33.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48.png" Type="http://schemas.openxmlformats.org/officeDocument/2006/relationships/image"/><Relationship Id="rId12" Target="../media/image57.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69.png" Type="http://schemas.openxmlformats.org/officeDocument/2006/relationships/image"/><Relationship Id="rId12" Target="../media/image70.png" Type="http://schemas.openxmlformats.org/officeDocument/2006/relationships/image"/><Relationship Id="rId13" Target="../media/image71.png" Type="http://schemas.openxmlformats.org/officeDocument/2006/relationships/image"/><Relationship Id="rId14" Target="../media/image72.png" Type="http://schemas.openxmlformats.org/officeDocument/2006/relationships/image"/><Relationship Id="rId15" Target="../media/image73.png" Type="http://schemas.openxmlformats.org/officeDocument/2006/relationships/image"/><Relationship Id="rId2" Target="../media/image64.png" Type="http://schemas.openxmlformats.org/officeDocument/2006/relationships/image"/><Relationship Id="rId3" Target="../media/image65.svg" Type="http://schemas.openxmlformats.org/officeDocument/2006/relationships/image"/><Relationship Id="rId4" Target="../media/image66.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 Id="rId9" Target="../media/image6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png" Type="http://schemas.openxmlformats.org/officeDocument/2006/relationships/image"/><Relationship Id="rId4" Target="../media/image77.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 Id="rId3" Target="../media/image80.png" Type="http://schemas.openxmlformats.org/officeDocument/2006/relationships/image"/><Relationship Id="rId4" Target="../media/image81.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83.png" Type="http://schemas.openxmlformats.org/officeDocument/2006/relationships/image"/><Relationship Id="rId5" Target="../media/image84.png" Type="http://schemas.openxmlformats.org/officeDocument/2006/relationships/image"/><Relationship Id="rId6" Target="../media/image85.png" Type="http://schemas.openxmlformats.org/officeDocument/2006/relationships/image"/><Relationship Id="rId7" Target="../media/image86.pn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88.png" Type="http://schemas.openxmlformats.org/officeDocument/2006/relationships/image"/><Relationship Id="rId4" Target="../media/image89.pn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90.pn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5.png" Type="http://schemas.openxmlformats.org/officeDocument/2006/relationships/image"/><Relationship Id="rId11" Target="../media/image96.png" Type="http://schemas.openxmlformats.org/officeDocument/2006/relationships/image"/><Relationship Id="rId12" Target="../media/image97.png" Type="http://schemas.openxmlformats.org/officeDocument/2006/relationships/image"/><Relationship Id="rId2" Target="../media/image64.png" Type="http://schemas.openxmlformats.org/officeDocument/2006/relationships/image"/><Relationship Id="rId3" Target="../media/image65.svg" Type="http://schemas.openxmlformats.org/officeDocument/2006/relationships/image"/><Relationship Id="rId4" Target="../media/image93.png" Type="http://schemas.openxmlformats.org/officeDocument/2006/relationships/image"/><Relationship Id="rId5" Target="../media/image9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8.png" Type="http://schemas.openxmlformats.org/officeDocument/2006/relationships/image"/><Relationship Id="rId3" Target="../media/image99.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100.pn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1.png" Type="http://schemas.openxmlformats.org/officeDocument/2006/relationships/image"/><Relationship Id="rId3" Target="../media/image102.png" Type="http://schemas.openxmlformats.org/officeDocument/2006/relationships/image"/><Relationship Id="rId4" Target="../media/image103.png" Type="http://schemas.openxmlformats.org/officeDocument/2006/relationships/image"/><Relationship Id="rId5" Target="../media/image10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2" Target="../media/image99.pn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105.png" Type="http://schemas.openxmlformats.org/officeDocument/2006/relationships/image"/><Relationship Id="rId6" Target="../media/image106.png" Type="http://schemas.openxmlformats.org/officeDocument/2006/relationships/image"/><Relationship Id="rId7" Target="../media/image107.pn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8.png" Type="http://schemas.openxmlformats.org/officeDocument/2006/relationships/image"/><Relationship Id="rId3" Target="../media/image102.png" Type="http://schemas.openxmlformats.org/officeDocument/2006/relationships/image"/><Relationship Id="rId4" Target="../media/image109.png" Type="http://schemas.openxmlformats.org/officeDocument/2006/relationships/image"/><Relationship Id="rId5" Target="../media/image1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 Id="rId4" Target="../media/image111.png" Type="http://schemas.openxmlformats.org/officeDocument/2006/relationships/image"/><Relationship Id="rId5" Target="../media/image112.png" Type="http://schemas.openxmlformats.org/officeDocument/2006/relationships/image"/><Relationship Id="rId6" Target="../media/image113.png" Type="http://schemas.openxmlformats.org/officeDocument/2006/relationships/image"/><Relationship Id="rId7" Target="../media/image114.pn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 Id="rId3" Target="../media/image116.png" Type="http://schemas.openxmlformats.org/officeDocument/2006/relationships/image"/><Relationship Id="rId4" Target="../media/image114.png" Type="http://schemas.openxmlformats.org/officeDocument/2006/relationships/image"/><Relationship Id="rId5" Target="../media/image1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8.png" Type="http://schemas.openxmlformats.org/officeDocument/2006/relationships/image"/><Relationship Id="rId3" Target="../media/image119.png" Type="http://schemas.openxmlformats.org/officeDocument/2006/relationships/image"/><Relationship Id="rId4" Target="../media/image12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5.png" Type="http://schemas.openxmlformats.org/officeDocument/2006/relationships/image"/><Relationship Id="rId2" Target="../media/image121.png" Type="http://schemas.openxmlformats.org/officeDocument/2006/relationships/image"/><Relationship Id="rId3" Target="../media/image122.png" Type="http://schemas.openxmlformats.org/officeDocument/2006/relationships/image"/><Relationship Id="rId4" Target="../media/image123.pn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124.pn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7.png" Type="http://schemas.openxmlformats.org/officeDocument/2006/relationships/image"/><Relationship Id="rId3" Target="../media/image128.png" Type="http://schemas.openxmlformats.org/officeDocument/2006/relationships/image"/><Relationship Id="rId4" Target="../media/image129.png" Type="http://schemas.openxmlformats.org/officeDocument/2006/relationships/image"/><Relationship Id="rId5" Target="../media/image130.png" Type="http://schemas.openxmlformats.org/officeDocument/2006/relationships/image"/><Relationship Id="rId6" Target="../media/image131.png" Type="http://schemas.openxmlformats.org/officeDocument/2006/relationships/image"/><Relationship Id="rId7" Target="../media/image132.png" Type="http://schemas.openxmlformats.org/officeDocument/2006/relationships/image"/><Relationship Id="rId8" Target="../media/image133.png" Type="http://schemas.openxmlformats.org/officeDocument/2006/relationships/image"/><Relationship Id="rId9" Target="../media/image13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5.png" Type="http://schemas.openxmlformats.org/officeDocument/2006/relationships/image"/><Relationship Id="rId3" Target="../media/image136.png" Type="http://schemas.openxmlformats.org/officeDocument/2006/relationships/image"/><Relationship Id="rId4" Target="../media/image137.png" Type="http://schemas.openxmlformats.org/officeDocument/2006/relationships/image"/><Relationship Id="rId5" Target="../media/image138.png" Type="http://schemas.openxmlformats.org/officeDocument/2006/relationships/image"/><Relationship Id="rId6" Target="../media/image139.png" Type="http://schemas.openxmlformats.org/officeDocument/2006/relationships/image"/><Relationship Id="rId7" Target="../media/image140.png" Type="http://schemas.openxmlformats.org/officeDocument/2006/relationships/image"/><Relationship Id="rId8" Target="../media/image141.png" Type="http://schemas.openxmlformats.org/officeDocument/2006/relationships/image"/><Relationship Id="rId9" Target="../media/image14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3.png" Type="http://schemas.openxmlformats.org/officeDocument/2006/relationships/image"/><Relationship Id="rId3" Target="../media/image144.png" Type="http://schemas.openxmlformats.org/officeDocument/2006/relationships/image"/><Relationship Id="rId4" Target="../media/image145.png" Type="http://schemas.openxmlformats.org/officeDocument/2006/relationships/image"/><Relationship Id="rId5" Target="../media/image146.png" Type="http://schemas.openxmlformats.org/officeDocument/2006/relationships/image"/><Relationship Id="rId6" Target="../media/image147.png" Type="http://schemas.openxmlformats.org/officeDocument/2006/relationships/image"/><Relationship Id="rId7" Target="../media/image148.pn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0" y="9620250"/>
            <a:ext cx="12570058" cy="0"/>
          </a:xfrm>
          <a:prstGeom prst="line">
            <a:avLst/>
          </a:prstGeom>
          <a:ln cap="flat" w="38100">
            <a:solidFill>
              <a:srgbClr val="827564"/>
            </a:solidFill>
            <a:prstDash val="solid"/>
            <a:headEnd type="none" len="sm" w="sm"/>
            <a:tailEnd type="none" len="sm" w="sm"/>
          </a:ln>
        </p:spPr>
      </p:sp>
      <p:sp>
        <p:nvSpPr>
          <p:cNvPr name="AutoShape 3" id="3"/>
          <p:cNvSpPr/>
          <p:nvPr/>
        </p:nvSpPr>
        <p:spPr>
          <a:xfrm flipH="true">
            <a:off x="6074299" y="575294"/>
            <a:ext cx="12213701" cy="0"/>
          </a:xfrm>
          <a:prstGeom prst="line">
            <a:avLst/>
          </a:prstGeom>
          <a:ln cap="flat" w="38100">
            <a:solidFill>
              <a:srgbClr val="827564"/>
            </a:solidFill>
            <a:prstDash val="solid"/>
            <a:headEnd type="none" len="sm" w="sm"/>
            <a:tailEnd type="none" len="sm" w="sm"/>
          </a:ln>
        </p:spPr>
      </p:sp>
      <p:grpSp>
        <p:nvGrpSpPr>
          <p:cNvPr name="Group 4" id="4"/>
          <p:cNvGrpSpPr/>
          <p:nvPr/>
        </p:nvGrpSpPr>
        <p:grpSpPr>
          <a:xfrm rot="0">
            <a:off x="6074299" y="6000354"/>
            <a:ext cx="6542953" cy="1768931"/>
            <a:chOff x="0" y="0"/>
            <a:chExt cx="1723247" cy="465891"/>
          </a:xfrm>
        </p:grpSpPr>
        <p:sp>
          <p:nvSpPr>
            <p:cNvPr name="Freeform 5" id="5"/>
            <p:cNvSpPr/>
            <p:nvPr/>
          </p:nvSpPr>
          <p:spPr>
            <a:xfrm flipH="false" flipV="false" rot="0">
              <a:off x="0" y="0"/>
              <a:ext cx="1723247" cy="465891"/>
            </a:xfrm>
            <a:custGeom>
              <a:avLst/>
              <a:gdLst/>
              <a:ahLst/>
              <a:cxnLst/>
              <a:rect r="r" b="b" t="t" l="l"/>
              <a:pathLst>
                <a:path h="465891" w="1723247">
                  <a:moveTo>
                    <a:pt x="118325" y="0"/>
                  </a:moveTo>
                  <a:lnTo>
                    <a:pt x="1604922" y="0"/>
                  </a:lnTo>
                  <a:cubicBezTo>
                    <a:pt x="1670271" y="0"/>
                    <a:pt x="1723247" y="52976"/>
                    <a:pt x="1723247" y="118325"/>
                  </a:cubicBezTo>
                  <a:lnTo>
                    <a:pt x="1723247" y="347567"/>
                  </a:lnTo>
                  <a:cubicBezTo>
                    <a:pt x="1723247" y="412916"/>
                    <a:pt x="1670271" y="465891"/>
                    <a:pt x="1604922" y="465891"/>
                  </a:cubicBezTo>
                  <a:lnTo>
                    <a:pt x="118325" y="465891"/>
                  </a:lnTo>
                  <a:cubicBezTo>
                    <a:pt x="86943" y="465891"/>
                    <a:pt x="56847" y="453425"/>
                    <a:pt x="34656" y="431235"/>
                  </a:cubicBezTo>
                  <a:cubicBezTo>
                    <a:pt x="12466" y="409045"/>
                    <a:pt x="0" y="378948"/>
                    <a:pt x="0" y="347567"/>
                  </a:cubicBezTo>
                  <a:lnTo>
                    <a:pt x="0" y="118325"/>
                  </a:lnTo>
                  <a:cubicBezTo>
                    <a:pt x="0" y="86943"/>
                    <a:pt x="12466" y="56847"/>
                    <a:pt x="34656" y="34656"/>
                  </a:cubicBezTo>
                  <a:cubicBezTo>
                    <a:pt x="56847" y="12466"/>
                    <a:pt x="86943" y="0"/>
                    <a:pt x="118325" y="0"/>
                  </a:cubicBezTo>
                  <a:close/>
                </a:path>
              </a:pathLst>
            </a:custGeom>
            <a:solidFill>
              <a:srgbClr val="000000">
                <a:alpha val="0"/>
              </a:srgbClr>
            </a:solidFill>
            <a:ln w="19050" cap="rnd">
              <a:solidFill>
                <a:srgbClr val="695C4A"/>
              </a:solidFill>
              <a:prstDash val="solid"/>
              <a:round/>
            </a:ln>
          </p:spPr>
        </p:sp>
        <p:sp>
          <p:nvSpPr>
            <p:cNvPr name="TextBox 6" id="6"/>
            <p:cNvSpPr txBox="true"/>
            <p:nvPr/>
          </p:nvSpPr>
          <p:spPr>
            <a:xfrm>
              <a:off x="0" y="-47625"/>
              <a:ext cx="1723247" cy="513516"/>
            </a:xfrm>
            <a:prstGeom prst="rect">
              <a:avLst/>
            </a:prstGeom>
          </p:spPr>
          <p:txBody>
            <a:bodyPr anchor="ctr" rtlCol="false" tIns="50800" lIns="50800" bIns="50800" rIns="50800"/>
            <a:lstStyle/>
            <a:p>
              <a:pPr algn="ctr">
                <a:lnSpc>
                  <a:spcPts val="2800"/>
                </a:lnSpc>
              </a:pPr>
            </a:p>
          </p:txBody>
        </p:sp>
      </p:grpSp>
      <p:sp>
        <p:nvSpPr>
          <p:cNvPr name="AutoShape 7" id="7"/>
          <p:cNvSpPr/>
          <p:nvPr/>
        </p:nvSpPr>
        <p:spPr>
          <a:xfrm>
            <a:off x="1260422" y="5588875"/>
            <a:ext cx="0" cy="4698125"/>
          </a:xfrm>
          <a:prstGeom prst="line">
            <a:avLst/>
          </a:prstGeom>
          <a:ln cap="flat" w="38100">
            <a:solidFill>
              <a:srgbClr val="827564"/>
            </a:solidFill>
            <a:prstDash val="solid"/>
            <a:headEnd type="none" len="sm" w="sm"/>
            <a:tailEnd type="none" len="sm" w="sm"/>
          </a:ln>
        </p:spPr>
      </p:sp>
      <p:sp>
        <p:nvSpPr>
          <p:cNvPr name="AutoShape 8" id="8"/>
          <p:cNvSpPr/>
          <p:nvPr/>
        </p:nvSpPr>
        <p:spPr>
          <a:xfrm>
            <a:off x="17027578" y="0"/>
            <a:ext cx="0" cy="4698125"/>
          </a:xfrm>
          <a:prstGeom prst="line">
            <a:avLst/>
          </a:prstGeom>
          <a:ln cap="flat" w="38100">
            <a:solidFill>
              <a:srgbClr val="827564"/>
            </a:solidFill>
            <a:prstDash val="solid"/>
            <a:headEnd type="none" len="sm" w="sm"/>
            <a:tailEnd type="none" len="sm" w="sm"/>
          </a:ln>
        </p:spPr>
      </p:sp>
      <p:sp>
        <p:nvSpPr>
          <p:cNvPr name="Freeform 9" id="9"/>
          <p:cNvSpPr/>
          <p:nvPr/>
        </p:nvSpPr>
        <p:spPr>
          <a:xfrm flipH="false" flipV="false" rot="0">
            <a:off x="14333364" y="-1028700"/>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1433792" y="7049096"/>
            <a:ext cx="5388429" cy="4114800"/>
          </a:xfrm>
          <a:custGeom>
            <a:avLst/>
            <a:gdLst/>
            <a:ahLst/>
            <a:cxnLst/>
            <a:rect r="r" b="b" t="t" l="l"/>
            <a:pathLst>
              <a:path h="4114800" w="5388429">
                <a:moveTo>
                  <a:pt x="0" y="4114800"/>
                </a:moveTo>
                <a:lnTo>
                  <a:pt x="5388428" y="4114800"/>
                </a:lnTo>
                <a:lnTo>
                  <a:pt x="5388428" y="0"/>
                </a:lnTo>
                <a:lnTo>
                  <a:pt x="0" y="0"/>
                </a:lnTo>
                <a:lnTo>
                  <a:pt x="0" y="411480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461940" y="3433460"/>
            <a:ext cx="15565638" cy="2155415"/>
          </a:xfrm>
          <a:prstGeom prst="rect">
            <a:avLst/>
          </a:prstGeom>
        </p:spPr>
        <p:txBody>
          <a:bodyPr anchor="t" rtlCol="false" tIns="0" lIns="0" bIns="0" rIns="0">
            <a:spAutoFit/>
          </a:bodyPr>
          <a:lstStyle/>
          <a:p>
            <a:pPr algn="ctr">
              <a:lnSpc>
                <a:spcPts val="5675"/>
              </a:lnSpc>
            </a:pPr>
            <a:r>
              <a:rPr lang="en-US" sz="4935" b="true">
                <a:solidFill>
                  <a:srgbClr val="695C4A"/>
                </a:solidFill>
                <a:latin typeface="Glacial Indifference Bold"/>
                <a:ea typeface="Glacial Indifference Bold"/>
                <a:cs typeface="Glacial Indifference Bold"/>
                <a:sym typeface="Glacial Indifference Bold"/>
              </a:rPr>
              <a:t>Ταξινόμηση παθολογικών αναπνευστικών ήχων</a:t>
            </a:r>
          </a:p>
          <a:p>
            <a:pPr algn="ctr">
              <a:lnSpc>
                <a:spcPts val="5675"/>
              </a:lnSpc>
            </a:pPr>
            <a:r>
              <a:rPr lang="en-US" sz="4935" b="true">
                <a:solidFill>
                  <a:srgbClr val="695C4A"/>
                </a:solidFill>
                <a:latin typeface="Glacial Indifference Bold"/>
                <a:ea typeface="Glacial Indifference Bold"/>
                <a:cs typeface="Glacial Indifference Bold"/>
                <a:sym typeface="Glacial Indifference Bold"/>
              </a:rPr>
              <a:t>με τεχνικές μηχανικής μάθησης και</a:t>
            </a:r>
          </a:p>
          <a:p>
            <a:pPr algn="ctr">
              <a:lnSpc>
                <a:spcPts val="5675"/>
              </a:lnSpc>
            </a:pPr>
            <a:r>
              <a:rPr lang="en-US" sz="4935" b="true">
                <a:solidFill>
                  <a:srgbClr val="695C4A"/>
                </a:solidFill>
                <a:latin typeface="Glacial Indifference Bold"/>
                <a:ea typeface="Glacial Indifference Bold"/>
                <a:cs typeface="Glacial Indifference Bold"/>
                <a:sym typeface="Glacial Indifference Bold"/>
              </a:rPr>
              <a:t>προσαρμογής πεδίου</a:t>
            </a:r>
          </a:p>
        </p:txBody>
      </p:sp>
      <p:sp>
        <p:nvSpPr>
          <p:cNvPr name="Freeform 12" id="12"/>
          <p:cNvSpPr/>
          <p:nvPr/>
        </p:nvSpPr>
        <p:spPr>
          <a:xfrm flipH="false" flipV="false" rot="0">
            <a:off x="1028700" y="254397"/>
            <a:ext cx="4257338" cy="1548607"/>
          </a:xfrm>
          <a:custGeom>
            <a:avLst/>
            <a:gdLst/>
            <a:ahLst/>
            <a:cxnLst/>
            <a:rect r="r" b="b" t="t" l="l"/>
            <a:pathLst>
              <a:path h="1548607" w="4257338">
                <a:moveTo>
                  <a:pt x="0" y="0"/>
                </a:moveTo>
                <a:lnTo>
                  <a:pt x="4257338" y="0"/>
                </a:lnTo>
                <a:lnTo>
                  <a:pt x="4257338" y="1548606"/>
                </a:lnTo>
                <a:lnTo>
                  <a:pt x="0" y="1548606"/>
                </a:lnTo>
                <a:lnTo>
                  <a:pt x="0" y="0"/>
                </a:lnTo>
                <a:close/>
              </a:path>
            </a:pathLst>
          </a:custGeom>
          <a:blipFill>
            <a:blip r:embed="rId4"/>
            <a:stretch>
              <a:fillRect l="0" t="0" r="0" b="0"/>
            </a:stretch>
          </a:blipFill>
        </p:spPr>
      </p:sp>
      <p:sp>
        <p:nvSpPr>
          <p:cNvPr name="TextBox 13" id="13"/>
          <p:cNvSpPr txBox="true"/>
          <p:nvPr/>
        </p:nvSpPr>
        <p:spPr>
          <a:xfrm rot="0">
            <a:off x="456528" y="1269156"/>
            <a:ext cx="5570576" cy="1368425"/>
          </a:xfrm>
          <a:prstGeom prst="rect">
            <a:avLst/>
          </a:prstGeom>
        </p:spPr>
        <p:txBody>
          <a:bodyPr anchor="t" rtlCol="false" tIns="0" lIns="0" bIns="0" rIns="0">
            <a:spAutoFit/>
          </a:bodyPr>
          <a:lstStyle/>
          <a:p>
            <a:pPr algn="ctr">
              <a:lnSpc>
                <a:spcPts val="2940"/>
              </a:lnSpc>
            </a:pPr>
          </a:p>
          <a:p>
            <a:pPr algn="ctr">
              <a:lnSpc>
                <a:spcPts val="2660"/>
              </a:lnSpc>
              <a:spcBef>
                <a:spcPct val="0"/>
              </a:spcBef>
            </a:pPr>
            <a:r>
              <a:rPr lang="en-US" b="true" sz="1900" spc="798">
                <a:solidFill>
                  <a:srgbClr val="827564"/>
                </a:solidFill>
                <a:latin typeface="Open Sauce Bold"/>
                <a:ea typeface="Open Sauce Bold"/>
                <a:cs typeface="Open Sauce Bold"/>
                <a:sym typeface="Open Sauce Bold"/>
              </a:rPr>
              <a:t>ΠΟΛΥΤΕΧΝΙΚΗ ΣΧΟΛΗ</a:t>
            </a:r>
            <a:r>
              <a:rPr lang="en-US" sz="1900" spc="798">
                <a:solidFill>
                  <a:srgbClr val="827564"/>
                </a:solidFill>
                <a:latin typeface="Open Sauce"/>
                <a:ea typeface="Open Sauce"/>
                <a:cs typeface="Open Sauce"/>
                <a:sym typeface="Open Sauce"/>
              </a:rPr>
              <a:t> ΤΜΗΜΑ ΜΗΧΑΝΙΚΩΝ Η/Υ ΚΑΙ ΠΛΗΡΟΦΟΡΙΚΗΣ</a:t>
            </a:r>
          </a:p>
        </p:txBody>
      </p:sp>
      <p:sp>
        <p:nvSpPr>
          <p:cNvPr name="TextBox 14" id="14"/>
          <p:cNvSpPr txBox="true"/>
          <p:nvPr/>
        </p:nvSpPr>
        <p:spPr>
          <a:xfrm rot="0">
            <a:off x="12285645" y="9413557"/>
            <a:ext cx="5570576" cy="365760"/>
          </a:xfrm>
          <a:prstGeom prst="rect">
            <a:avLst/>
          </a:prstGeom>
        </p:spPr>
        <p:txBody>
          <a:bodyPr anchor="t" rtlCol="false" tIns="0" lIns="0" bIns="0" rIns="0">
            <a:spAutoFit/>
          </a:bodyPr>
          <a:lstStyle/>
          <a:p>
            <a:pPr algn="r">
              <a:lnSpc>
                <a:spcPts val="2940"/>
              </a:lnSpc>
              <a:spcBef>
                <a:spcPct val="0"/>
              </a:spcBef>
            </a:pPr>
            <a:r>
              <a:rPr lang="en-US" sz="2100" spc="882">
                <a:solidFill>
                  <a:srgbClr val="827564"/>
                </a:solidFill>
                <a:latin typeface="Open Sauce"/>
                <a:ea typeface="Open Sauce"/>
                <a:cs typeface="Open Sauce"/>
                <a:sym typeface="Open Sauce"/>
              </a:rPr>
              <a:t>?? ΣΕΠΤΕΜΒΡΙΟΥ 2025</a:t>
            </a:r>
          </a:p>
        </p:txBody>
      </p:sp>
      <p:sp>
        <p:nvSpPr>
          <p:cNvPr name="TextBox 15" id="15"/>
          <p:cNvSpPr txBox="true"/>
          <p:nvPr/>
        </p:nvSpPr>
        <p:spPr>
          <a:xfrm rot="0">
            <a:off x="6560488" y="6846719"/>
            <a:ext cx="5570576" cy="798135"/>
          </a:xfrm>
          <a:prstGeom prst="rect">
            <a:avLst/>
          </a:prstGeom>
        </p:spPr>
        <p:txBody>
          <a:bodyPr anchor="t" rtlCol="false" tIns="0" lIns="0" bIns="0" rIns="0">
            <a:spAutoFit/>
          </a:bodyPr>
          <a:lstStyle/>
          <a:p>
            <a:pPr algn="ctr">
              <a:lnSpc>
                <a:spcPts val="3258"/>
              </a:lnSpc>
            </a:pPr>
            <a:r>
              <a:rPr lang="en-US" b="true" sz="2327" spc="977">
                <a:solidFill>
                  <a:srgbClr val="827564"/>
                </a:solidFill>
                <a:latin typeface="Open Sauce Bold"/>
                <a:ea typeface="Open Sauce Bold"/>
                <a:cs typeface="Open Sauce Bold"/>
                <a:sym typeface="Open Sauce Bold"/>
              </a:rPr>
              <a:t>ΜΙΛΤΙΑΔΗ ΜΑΝΤΕ</a:t>
            </a:r>
          </a:p>
          <a:p>
            <a:pPr algn="ctr">
              <a:lnSpc>
                <a:spcPts val="3258"/>
              </a:lnSpc>
              <a:spcBef>
                <a:spcPct val="0"/>
              </a:spcBef>
            </a:pPr>
            <a:r>
              <a:rPr lang="en-US" sz="2327" spc="977">
                <a:solidFill>
                  <a:srgbClr val="827564"/>
                </a:solidFill>
                <a:latin typeface="Open Sauce"/>
                <a:ea typeface="Open Sauce"/>
                <a:cs typeface="Open Sauce"/>
                <a:sym typeface="Open Sauce"/>
              </a:rPr>
              <a:t>Α.Μ. 1084661</a:t>
            </a:r>
          </a:p>
        </p:txBody>
      </p:sp>
      <p:sp>
        <p:nvSpPr>
          <p:cNvPr name="TextBox 16" id="16"/>
          <p:cNvSpPr txBox="true"/>
          <p:nvPr/>
        </p:nvSpPr>
        <p:spPr>
          <a:xfrm rot="0">
            <a:off x="4373994" y="8322945"/>
            <a:ext cx="9540012" cy="935355"/>
          </a:xfrm>
          <a:prstGeom prst="rect">
            <a:avLst/>
          </a:prstGeom>
        </p:spPr>
        <p:txBody>
          <a:bodyPr anchor="t" rtlCol="false" tIns="0" lIns="0" bIns="0" rIns="0">
            <a:spAutoFit/>
          </a:bodyPr>
          <a:lstStyle/>
          <a:p>
            <a:pPr algn="ctr">
              <a:lnSpc>
                <a:spcPts val="2520"/>
              </a:lnSpc>
            </a:pPr>
            <a:r>
              <a:rPr lang="en-US" b="true" sz="1800" spc="756">
                <a:solidFill>
                  <a:srgbClr val="827564"/>
                </a:solidFill>
                <a:latin typeface="Open Sauce Bold"/>
                <a:ea typeface="Open Sauce Bold"/>
                <a:cs typeface="Open Sauce Bold"/>
                <a:sym typeface="Open Sauce Bold"/>
              </a:rPr>
              <a:t>K. ΣΩΤΗΡΙΟΣ ΝΙΚΟΛΕΤΣΕΑΣ</a:t>
            </a:r>
          </a:p>
          <a:p>
            <a:pPr algn="ctr">
              <a:lnSpc>
                <a:spcPts val="2520"/>
              </a:lnSpc>
            </a:pPr>
            <a:r>
              <a:rPr lang="en-US" b="true" sz="1800" spc="756">
                <a:solidFill>
                  <a:srgbClr val="827564"/>
                </a:solidFill>
                <a:latin typeface="Open Sauce Bold"/>
                <a:ea typeface="Open Sauce Bold"/>
                <a:cs typeface="Open Sauce Bold"/>
                <a:sym typeface="Open Sauce Bold"/>
              </a:rPr>
              <a:t>ΚΑ ΕΥΗ ΠΑΠΑΪΩΑΝΝΟΥ</a:t>
            </a:r>
          </a:p>
          <a:p>
            <a:pPr algn="ctr">
              <a:lnSpc>
                <a:spcPts val="2520"/>
              </a:lnSpc>
              <a:spcBef>
                <a:spcPct val="0"/>
              </a:spcBef>
            </a:pPr>
            <a:r>
              <a:rPr lang="en-US" b="true" sz="1800" spc="756">
                <a:solidFill>
                  <a:srgbClr val="827564"/>
                </a:solidFill>
                <a:latin typeface="Open Sauce Bold"/>
                <a:ea typeface="Open Sauce Bold"/>
                <a:cs typeface="Open Sauce Bold"/>
                <a:sym typeface="Open Sauce Bold"/>
              </a:rPr>
              <a:t>Κ. ΧΡΗΣΤΟΣ ΜΑΚΡΗΣ</a:t>
            </a:r>
          </a:p>
        </p:txBody>
      </p:sp>
      <p:sp>
        <p:nvSpPr>
          <p:cNvPr name="TextBox 17" id="17"/>
          <p:cNvSpPr txBox="true"/>
          <p:nvPr/>
        </p:nvSpPr>
        <p:spPr>
          <a:xfrm rot="0">
            <a:off x="6560488" y="6138898"/>
            <a:ext cx="5570576" cy="629860"/>
          </a:xfrm>
          <a:prstGeom prst="rect">
            <a:avLst/>
          </a:prstGeom>
        </p:spPr>
        <p:txBody>
          <a:bodyPr anchor="t" rtlCol="false" tIns="0" lIns="0" bIns="0" rIns="0">
            <a:spAutoFit/>
          </a:bodyPr>
          <a:lstStyle/>
          <a:p>
            <a:pPr algn="ctr">
              <a:lnSpc>
                <a:spcPts val="2558"/>
              </a:lnSpc>
              <a:spcBef>
                <a:spcPct val="0"/>
              </a:spcBef>
            </a:pPr>
            <a:r>
              <a:rPr lang="en-US" sz="1827" spc="767">
                <a:solidFill>
                  <a:srgbClr val="827564"/>
                </a:solidFill>
                <a:latin typeface="Open Sauce"/>
                <a:ea typeface="Open Sauce"/>
                <a:cs typeface="Open Sauce"/>
                <a:sym typeface="Open Sauce"/>
              </a:rPr>
              <a:t>ΔΙΠΛΩΜΑΤΙΚΗ ΕΡΓΑΣΙΑ ΤΟΥ ΦΟΙΤΗΤΗ</a:t>
            </a:r>
          </a:p>
        </p:txBody>
      </p:sp>
      <p:sp>
        <p:nvSpPr>
          <p:cNvPr name="TextBox 18" id="18"/>
          <p:cNvSpPr txBox="true"/>
          <p:nvPr/>
        </p:nvSpPr>
        <p:spPr>
          <a:xfrm rot="0">
            <a:off x="6358712" y="7940735"/>
            <a:ext cx="5570576" cy="306010"/>
          </a:xfrm>
          <a:prstGeom prst="rect">
            <a:avLst/>
          </a:prstGeom>
        </p:spPr>
        <p:txBody>
          <a:bodyPr anchor="t" rtlCol="false" tIns="0" lIns="0" bIns="0" rIns="0">
            <a:spAutoFit/>
          </a:bodyPr>
          <a:lstStyle/>
          <a:p>
            <a:pPr algn="ctr">
              <a:lnSpc>
                <a:spcPts val="2558"/>
              </a:lnSpc>
              <a:spcBef>
                <a:spcPct val="0"/>
              </a:spcBef>
            </a:pPr>
            <a:r>
              <a:rPr lang="en-US" sz="1827" spc="767">
                <a:solidFill>
                  <a:srgbClr val="827564"/>
                </a:solidFill>
                <a:latin typeface="Open Sauce"/>
                <a:ea typeface="Open Sauce"/>
                <a:cs typeface="Open Sauce"/>
                <a:sym typeface="Open Sauce"/>
              </a:rPr>
              <a:t>ΤΡΙΜΕΛΗΣ ΕΠΙΤΡΟΠΗ</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1227990">
            <a:off x="7363181" y="5908309"/>
            <a:ext cx="14827617" cy="14692820"/>
          </a:xfrm>
          <a:custGeom>
            <a:avLst/>
            <a:gdLst/>
            <a:ahLst/>
            <a:cxnLst/>
            <a:rect r="r" b="b" t="t" l="l"/>
            <a:pathLst>
              <a:path h="14692820" w="14827617">
                <a:moveTo>
                  <a:pt x="0" y="0"/>
                </a:moveTo>
                <a:lnTo>
                  <a:pt x="14827617" y="0"/>
                </a:lnTo>
                <a:lnTo>
                  <a:pt x="14827617" y="14692820"/>
                </a:lnTo>
                <a:lnTo>
                  <a:pt x="0" y="1469282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659323" y="9552818"/>
            <a:ext cx="8381617" cy="296750"/>
            <a:chOff x="0" y="0"/>
            <a:chExt cx="2207504" cy="78156"/>
          </a:xfrm>
        </p:grpSpPr>
        <p:sp>
          <p:nvSpPr>
            <p:cNvPr name="Freeform 4" id="4"/>
            <p:cNvSpPr/>
            <p:nvPr/>
          </p:nvSpPr>
          <p:spPr>
            <a:xfrm flipH="false" flipV="false" rot="0">
              <a:off x="0" y="0"/>
              <a:ext cx="2207504" cy="78156"/>
            </a:xfrm>
            <a:custGeom>
              <a:avLst/>
              <a:gdLst/>
              <a:ahLst/>
              <a:cxnLst/>
              <a:rect r="r" b="b" t="t" l="l"/>
              <a:pathLst>
                <a:path h="78156" w="2207504">
                  <a:moveTo>
                    <a:pt x="1103752" y="0"/>
                  </a:moveTo>
                  <a:cubicBezTo>
                    <a:pt x="494167" y="0"/>
                    <a:pt x="0" y="17496"/>
                    <a:pt x="0" y="39078"/>
                  </a:cubicBezTo>
                  <a:cubicBezTo>
                    <a:pt x="0" y="60661"/>
                    <a:pt x="494167" y="78156"/>
                    <a:pt x="1103752" y="78156"/>
                  </a:cubicBezTo>
                  <a:cubicBezTo>
                    <a:pt x="1713337" y="78156"/>
                    <a:pt x="2207504" y="60661"/>
                    <a:pt x="2207504" y="39078"/>
                  </a:cubicBezTo>
                  <a:cubicBezTo>
                    <a:pt x="2207504" y="17496"/>
                    <a:pt x="1713337" y="0"/>
                    <a:pt x="1103752" y="0"/>
                  </a:cubicBezTo>
                  <a:close/>
                </a:path>
              </a:pathLst>
            </a:custGeom>
            <a:solidFill>
              <a:srgbClr val="695C4A">
                <a:alpha val="27843"/>
              </a:srgbClr>
            </a:solidFill>
          </p:spPr>
        </p:sp>
        <p:sp>
          <p:nvSpPr>
            <p:cNvPr name="TextBox 5" id="5"/>
            <p:cNvSpPr txBox="true"/>
            <p:nvPr/>
          </p:nvSpPr>
          <p:spPr>
            <a:xfrm>
              <a:off x="206954" y="-49823"/>
              <a:ext cx="1793597" cy="120652"/>
            </a:xfrm>
            <a:prstGeom prst="rect">
              <a:avLst/>
            </a:prstGeom>
          </p:spPr>
          <p:txBody>
            <a:bodyPr anchor="ctr" rtlCol="false" tIns="50800" lIns="50800" bIns="50800" rIns="50800"/>
            <a:lstStyle/>
            <a:p>
              <a:pPr algn="ctr">
                <a:lnSpc>
                  <a:spcPts val="3359"/>
                </a:lnSpc>
              </a:pPr>
            </a:p>
          </p:txBody>
        </p:sp>
      </p:grpSp>
      <p:sp>
        <p:nvSpPr>
          <p:cNvPr name="AutoShape 6" id="6"/>
          <p:cNvSpPr/>
          <p:nvPr/>
        </p:nvSpPr>
        <p:spPr>
          <a:xfrm flipV="true">
            <a:off x="5810881" y="3533970"/>
            <a:ext cx="0" cy="908450"/>
          </a:xfrm>
          <a:prstGeom prst="line">
            <a:avLst/>
          </a:prstGeom>
          <a:ln cap="rnd" w="85725">
            <a:solidFill>
              <a:srgbClr val="A69C8E"/>
            </a:solidFill>
            <a:prstDash val="solid"/>
            <a:headEnd type="none" len="sm" w="sm"/>
            <a:tailEnd type="none" len="sm" w="sm"/>
          </a:ln>
        </p:spPr>
      </p:sp>
      <p:sp>
        <p:nvSpPr>
          <p:cNvPr name="AutoShape 7" id="7"/>
          <p:cNvSpPr/>
          <p:nvPr/>
        </p:nvSpPr>
        <p:spPr>
          <a:xfrm flipV="true">
            <a:off x="1143000" y="3481500"/>
            <a:ext cx="0" cy="908450"/>
          </a:xfrm>
          <a:prstGeom prst="line">
            <a:avLst/>
          </a:prstGeom>
          <a:ln cap="rnd" w="85725">
            <a:solidFill>
              <a:srgbClr val="A69C8E"/>
            </a:solidFill>
            <a:prstDash val="solid"/>
            <a:headEnd type="none" len="sm" w="sm"/>
            <a:tailEnd type="none" len="sm" w="sm"/>
          </a:ln>
        </p:spPr>
      </p:sp>
      <p:sp>
        <p:nvSpPr>
          <p:cNvPr name="AutoShape 8" id="8"/>
          <p:cNvSpPr/>
          <p:nvPr/>
        </p:nvSpPr>
        <p:spPr>
          <a:xfrm flipV="true">
            <a:off x="5810881" y="5085233"/>
            <a:ext cx="0" cy="908450"/>
          </a:xfrm>
          <a:prstGeom prst="line">
            <a:avLst/>
          </a:prstGeom>
          <a:ln cap="rnd" w="85725">
            <a:solidFill>
              <a:srgbClr val="A69C8E"/>
            </a:solidFill>
            <a:prstDash val="solid"/>
            <a:headEnd type="none" len="sm" w="sm"/>
            <a:tailEnd type="none" len="sm" w="sm"/>
          </a:ln>
        </p:spPr>
      </p:sp>
      <p:sp>
        <p:nvSpPr>
          <p:cNvPr name="AutoShape 9" id="9"/>
          <p:cNvSpPr/>
          <p:nvPr/>
        </p:nvSpPr>
        <p:spPr>
          <a:xfrm flipV="true">
            <a:off x="1143000" y="5085233"/>
            <a:ext cx="0" cy="908450"/>
          </a:xfrm>
          <a:prstGeom prst="line">
            <a:avLst/>
          </a:prstGeom>
          <a:ln cap="rnd" w="85725">
            <a:solidFill>
              <a:srgbClr val="A69C8E"/>
            </a:solidFill>
            <a:prstDash val="solid"/>
            <a:headEnd type="none" len="sm" w="sm"/>
            <a:tailEnd type="none" len="sm" w="sm"/>
          </a:ln>
        </p:spPr>
      </p:sp>
      <p:sp>
        <p:nvSpPr>
          <p:cNvPr name="AutoShape 10" id="10"/>
          <p:cNvSpPr/>
          <p:nvPr/>
        </p:nvSpPr>
        <p:spPr>
          <a:xfrm flipV="true">
            <a:off x="5768018" y="6631858"/>
            <a:ext cx="0" cy="908450"/>
          </a:xfrm>
          <a:prstGeom prst="line">
            <a:avLst/>
          </a:prstGeom>
          <a:ln cap="rnd" w="85725">
            <a:solidFill>
              <a:srgbClr val="A69C8E"/>
            </a:solidFill>
            <a:prstDash val="solid"/>
            <a:headEnd type="none" len="sm" w="sm"/>
            <a:tailEnd type="none" len="sm" w="sm"/>
          </a:ln>
        </p:spPr>
      </p:sp>
      <p:sp>
        <p:nvSpPr>
          <p:cNvPr name="AutoShape 11" id="11"/>
          <p:cNvSpPr/>
          <p:nvPr/>
        </p:nvSpPr>
        <p:spPr>
          <a:xfrm flipV="true">
            <a:off x="1143000" y="6688967"/>
            <a:ext cx="0" cy="908450"/>
          </a:xfrm>
          <a:prstGeom prst="line">
            <a:avLst/>
          </a:prstGeom>
          <a:ln cap="rnd" w="85725">
            <a:solidFill>
              <a:srgbClr val="A69C8E"/>
            </a:solidFill>
            <a:prstDash val="solid"/>
            <a:headEnd type="none" len="sm" w="sm"/>
            <a:tailEnd type="none" len="sm" w="sm"/>
          </a:ln>
        </p:spPr>
      </p:sp>
      <p:sp>
        <p:nvSpPr>
          <p:cNvPr name="AutoShape 12" id="12"/>
          <p:cNvSpPr/>
          <p:nvPr/>
        </p:nvSpPr>
        <p:spPr>
          <a:xfrm flipV="true">
            <a:off x="5768018" y="8349850"/>
            <a:ext cx="0" cy="908450"/>
          </a:xfrm>
          <a:prstGeom prst="line">
            <a:avLst/>
          </a:prstGeom>
          <a:ln cap="rnd" w="85725">
            <a:solidFill>
              <a:srgbClr val="A69C8E"/>
            </a:solidFill>
            <a:prstDash val="solid"/>
            <a:headEnd type="none" len="sm" w="sm"/>
            <a:tailEnd type="none" len="sm" w="sm"/>
          </a:ln>
        </p:spPr>
      </p:sp>
      <p:sp>
        <p:nvSpPr>
          <p:cNvPr name="AutoShape 13" id="13"/>
          <p:cNvSpPr/>
          <p:nvPr/>
        </p:nvSpPr>
        <p:spPr>
          <a:xfrm flipV="true">
            <a:off x="1143000" y="8292700"/>
            <a:ext cx="0" cy="908450"/>
          </a:xfrm>
          <a:prstGeom prst="line">
            <a:avLst/>
          </a:prstGeom>
          <a:ln cap="rnd" w="85725">
            <a:solidFill>
              <a:srgbClr val="A69C8E"/>
            </a:solidFill>
            <a:prstDash val="solid"/>
            <a:headEnd type="none" len="sm" w="sm"/>
            <a:tailEnd type="none" len="sm" w="sm"/>
          </a:ln>
        </p:spPr>
      </p:sp>
      <p:sp>
        <p:nvSpPr>
          <p:cNvPr name="AutoShape 14" id="14"/>
          <p:cNvSpPr/>
          <p:nvPr/>
        </p:nvSpPr>
        <p:spPr>
          <a:xfrm flipH="true">
            <a:off x="6131217" y="1920477"/>
            <a:ext cx="4685307" cy="0"/>
          </a:xfrm>
          <a:prstGeom prst="line">
            <a:avLst/>
          </a:prstGeom>
          <a:ln cap="flat" w="38100">
            <a:solidFill>
              <a:srgbClr val="827564">
                <a:alpha val="22745"/>
              </a:srgbClr>
            </a:solidFill>
            <a:prstDash val="solid"/>
            <a:headEnd type="none" len="sm" w="sm"/>
            <a:tailEnd type="none" len="sm" w="sm"/>
          </a:ln>
        </p:spPr>
      </p:sp>
      <p:sp>
        <p:nvSpPr>
          <p:cNvPr name="Freeform 15" id="15"/>
          <p:cNvSpPr/>
          <p:nvPr/>
        </p:nvSpPr>
        <p:spPr>
          <a:xfrm flipH="true" flipV="false" rot="0">
            <a:off x="15100840" y="7163423"/>
            <a:ext cx="2642191" cy="2686146"/>
          </a:xfrm>
          <a:custGeom>
            <a:avLst/>
            <a:gdLst/>
            <a:ahLst/>
            <a:cxnLst/>
            <a:rect r="r" b="b" t="t" l="l"/>
            <a:pathLst>
              <a:path h="2686146" w="2642191">
                <a:moveTo>
                  <a:pt x="2642190" y="0"/>
                </a:moveTo>
                <a:lnTo>
                  <a:pt x="0" y="0"/>
                </a:lnTo>
                <a:lnTo>
                  <a:pt x="0" y="2686146"/>
                </a:lnTo>
                <a:lnTo>
                  <a:pt x="2642190" y="2686146"/>
                </a:lnTo>
                <a:lnTo>
                  <a:pt x="26421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816525" y="6987194"/>
            <a:ext cx="3960465" cy="2685915"/>
          </a:xfrm>
          <a:custGeom>
            <a:avLst/>
            <a:gdLst/>
            <a:ahLst/>
            <a:cxnLst/>
            <a:rect r="r" b="b" t="t" l="l"/>
            <a:pathLst>
              <a:path h="2685915" w="3960465">
                <a:moveTo>
                  <a:pt x="0" y="0"/>
                </a:moveTo>
                <a:lnTo>
                  <a:pt x="3960465" y="0"/>
                </a:lnTo>
                <a:lnTo>
                  <a:pt x="3960465" y="2685916"/>
                </a:lnTo>
                <a:lnTo>
                  <a:pt x="0" y="26859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28700" y="1066800"/>
            <a:ext cx="6067528" cy="1293915"/>
          </a:xfrm>
          <a:prstGeom prst="rect">
            <a:avLst/>
          </a:prstGeom>
        </p:spPr>
        <p:txBody>
          <a:bodyPr anchor="t" rtlCol="false" tIns="0" lIns="0" bIns="0" rIns="0">
            <a:spAutoFit/>
          </a:bodyPr>
          <a:lstStyle/>
          <a:p>
            <a:pPr algn="l">
              <a:lnSpc>
                <a:spcPts val="10081"/>
              </a:lnSpc>
            </a:pPr>
            <a:r>
              <a:rPr lang="en-US" sz="8766" b="true">
                <a:solidFill>
                  <a:srgbClr val="695C4A"/>
                </a:solidFill>
                <a:latin typeface="Glacial Indifference Bold"/>
                <a:ea typeface="Glacial Indifference Bold"/>
                <a:cs typeface="Glacial Indifference Bold"/>
                <a:sym typeface="Glacial Indifference Bold"/>
              </a:rPr>
              <a:t>Overview</a:t>
            </a:r>
          </a:p>
        </p:txBody>
      </p:sp>
      <p:sp>
        <p:nvSpPr>
          <p:cNvPr name="TextBox 18" id="18"/>
          <p:cNvSpPr txBox="true"/>
          <p:nvPr/>
        </p:nvSpPr>
        <p:spPr>
          <a:xfrm rot="0">
            <a:off x="1419225" y="3305412"/>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1</a:t>
            </a:r>
          </a:p>
        </p:txBody>
      </p:sp>
      <p:sp>
        <p:nvSpPr>
          <p:cNvPr name="TextBox 19" id="19"/>
          <p:cNvSpPr txBox="true"/>
          <p:nvPr/>
        </p:nvSpPr>
        <p:spPr>
          <a:xfrm rot="0">
            <a:off x="6131217" y="3305412"/>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5</a:t>
            </a:r>
          </a:p>
        </p:txBody>
      </p:sp>
      <p:sp>
        <p:nvSpPr>
          <p:cNvPr name="TextBox 20" id="20"/>
          <p:cNvSpPr txBox="true"/>
          <p:nvPr/>
        </p:nvSpPr>
        <p:spPr>
          <a:xfrm rot="0">
            <a:off x="6131217" y="6536608"/>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7</a:t>
            </a:r>
          </a:p>
        </p:txBody>
      </p:sp>
      <p:sp>
        <p:nvSpPr>
          <p:cNvPr name="TextBox 21" id="21"/>
          <p:cNvSpPr txBox="true"/>
          <p:nvPr/>
        </p:nvSpPr>
        <p:spPr>
          <a:xfrm rot="0">
            <a:off x="6131217" y="4909145"/>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6</a:t>
            </a:r>
          </a:p>
        </p:txBody>
      </p:sp>
      <p:sp>
        <p:nvSpPr>
          <p:cNvPr name="TextBox 22" id="22"/>
          <p:cNvSpPr txBox="true"/>
          <p:nvPr/>
        </p:nvSpPr>
        <p:spPr>
          <a:xfrm rot="0">
            <a:off x="6131217" y="8116612"/>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8</a:t>
            </a:r>
          </a:p>
        </p:txBody>
      </p:sp>
      <p:sp>
        <p:nvSpPr>
          <p:cNvPr name="TextBox 23" id="23"/>
          <p:cNvSpPr txBox="true"/>
          <p:nvPr/>
        </p:nvSpPr>
        <p:spPr>
          <a:xfrm rot="0">
            <a:off x="6006143" y="4101644"/>
            <a:ext cx="3731599" cy="4152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Προσαρμογή πεδίου</a:t>
            </a:r>
          </a:p>
        </p:txBody>
      </p:sp>
      <p:sp>
        <p:nvSpPr>
          <p:cNvPr name="TextBox 24" id="24"/>
          <p:cNvSpPr txBox="true"/>
          <p:nvPr/>
        </p:nvSpPr>
        <p:spPr>
          <a:xfrm rot="0">
            <a:off x="1419225" y="8116612"/>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4</a:t>
            </a:r>
          </a:p>
        </p:txBody>
      </p:sp>
      <p:sp>
        <p:nvSpPr>
          <p:cNvPr name="TextBox 25" id="25"/>
          <p:cNvSpPr txBox="true"/>
          <p:nvPr/>
        </p:nvSpPr>
        <p:spPr>
          <a:xfrm rot="0">
            <a:off x="1419225" y="4031810"/>
            <a:ext cx="4348793" cy="4152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Ορισμός προβλήματος</a:t>
            </a:r>
          </a:p>
        </p:txBody>
      </p:sp>
      <p:sp>
        <p:nvSpPr>
          <p:cNvPr name="TextBox 26" id="26"/>
          <p:cNvSpPr txBox="true"/>
          <p:nvPr/>
        </p:nvSpPr>
        <p:spPr>
          <a:xfrm rot="0">
            <a:off x="1419225" y="6512878"/>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3</a:t>
            </a:r>
          </a:p>
        </p:txBody>
      </p:sp>
      <p:sp>
        <p:nvSpPr>
          <p:cNvPr name="TextBox 27" id="27"/>
          <p:cNvSpPr txBox="true"/>
          <p:nvPr/>
        </p:nvSpPr>
        <p:spPr>
          <a:xfrm rot="0">
            <a:off x="1419225" y="7239277"/>
            <a:ext cx="2643239" cy="4152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Προεπεξεργασία</a:t>
            </a:r>
          </a:p>
        </p:txBody>
      </p:sp>
      <p:sp>
        <p:nvSpPr>
          <p:cNvPr name="TextBox 28" id="28"/>
          <p:cNvSpPr txBox="true"/>
          <p:nvPr/>
        </p:nvSpPr>
        <p:spPr>
          <a:xfrm rot="0">
            <a:off x="1419225" y="4909145"/>
            <a:ext cx="1075179" cy="853382"/>
          </a:xfrm>
          <a:prstGeom prst="rect">
            <a:avLst/>
          </a:prstGeom>
        </p:spPr>
        <p:txBody>
          <a:bodyPr anchor="t" rtlCol="false" tIns="0" lIns="0" bIns="0" rIns="0">
            <a:spAutoFit/>
          </a:bodyPr>
          <a:lstStyle/>
          <a:p>
            <a:pPr algn="l">
              <a:lnSpc>
                <a:spcPts val="7038"/>
              </a:lnSpc>
              <a:spcBef>
                <a:spcPct val="0"/>
              </a:spcBef>
            </a:pPr>
            <a:r>
              <a:rPr lang="en-US" b="true" sz="5027">
                <a:solidFill>
                  <a:srgbClr val="695C4A"/>
                </a:solidFill>
                <a:latin typeface="Open Sauce Heavy"/>
                <a:ea typeface="Open Sauce Heavy"/>
                <a:cs typeface="Open Sauce Heavy"/>
                <a:sym typeface="Open Sauce Heavy"/>
              </a:rPr>
              <a:t>2</a:t>
            </a:r>
          </a:p>
        </p:txBody>
      </p:sp>
      <p:sp>
        <p:nvSpPr>
          <p:cNvPr name="TextBox 29" id="29"/>
          <p:cNvSpPr txBox="true"/>
          <p:nvPr/>
        </p:nvSpPr>
        <p:spPr>
          <a:xfrm rot="0">
            <a:off x="1419225" y="5635543"/>
            <a:ext cx="3890821" cy="8343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Βασικό θεωρητικό υπόβαθρο</a:t>
            </a:r>
          </a:p>
        </p:txBody>
      </p:sp>
      <p:sp>
        <p:nvSpPr>
          <p:cNvPr name="TextBox 30" id="30"/>
          <p:cNvSpPr txBox="true"/>
          <p:nvPr/>
        </p:nvSpPr>
        <p:spPr>
          <a:xfrm rot="0">
            <a:off x="6006143" y="7275251"/>
            <a:ext cx="2269511" cy="4152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Συμπεράσματα</a:t>
            </a:r>
          </a:p>
        </p:txBody>
      </p:sp>
      <p:sp>
        <p:nvSpPr>
          <p:cNvPr name="TextBox 31" id="31"/>
          <p:cNvSpPr txBox="true"/>
          <p:nvPr/>
        </p:nvSpPr>
        <p:spPr>
          <a:xfrm rot="0">
            <a:off x="6006143" y="5705377"/>
            <a:ext cx="3243442" cy="8343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Ταξινόμηση &amp; Αξιολόγηση</a:t>
            </a:r>
          </a:p>
        </p:txBody>
      </p:sp>
      <p:sp>
        <p:nvSpPr>
          <p:cNvPr name="TextBox 32" id="32"/>
          <p:cNvSpPr txBox="true"/>
          <p:nvPr/>
        </p:nvSpPr>
        <p:spPr>
          <a:xfrm rot="0">
            <a:off x="1419225" y="8843010"/>
            <a:ext cx="3142234" cy="8343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Εξαγωγή χαρακτηριστικών</a:t>
            </a:r>
          </a:p>
        </p:txBody>
      </p:sp>
      <p:sp>
        <p:nvSpPr>
          <p:cNvPr name="TextBox 33" id="33"/>
          <p:cNvSpPr txBox="true"/>
          <p:nvPr/>
        </p:nvSpPr>
        <p:spPr>
          <a:xfrm rot="0">
            <a:off x="6006143" y="8843010"/>
            <a:ext cx="2646934" cy="1253490"/>
          </a:xfrm>
          <a:prstGeom prst="rect">
            <a:avLst/>
          </a:prstGeom>
        </p:spPr>
        <p:txBody>
          <a:bodyPr anchor="t" rtlCol="false" tIns="0" lIns="0" bIns="0" rIns="0">
            <a:spAutoFit/>
          </a:bodyPr>
          <a:lstStyle/>
          <a:p>
            <a:pPr algn="l">
              <a:lnSpc>
                <a:spcPts val="3359"/>
              </a:lnSpc>
              <a:spcBef>
                <a:spcPct val="0"/>
              </a:spcBef>
            </a:pPr>
            <a:r>
              <a:rPr lang="en-US" sz="2400">
                <a:solidFill>
                  <a:srgbClr val="827564"/>
                </a:solidFill>
                <a:latin typeface="Glacial Indifference"/>
                <a:ea typeface="Glacial Indifference"/>
                <a:cs typeface="Glacial Indifference"/>
                <a:sym typeface="Glacial Indifference"/>
              </a:rPr>
              <a:t>Συζήτηση &amp; Μελλοντικές επεκτάσεις</a:t>
            </a:r>
          </a:p>
        </p:txBody>
      </p:sp>
      <p:sp>
        <p:nvSpPr>
          <p:cNvPr name="TextBox 34" id="34"/>
          <p:cNvSpPr txBox="true"/>
          <p:nvPr/>
        </p:nvSpPr>
        <p:spPr>
          <a:xfrm rot="0">
            <a:off x="1150739" y="2187177"/>
            <a:ext cx="5823450" cy="365760"/>
          </a:xfrm>
          <a:prstGeom prst="rect">
            <a:avLst/>
          </a:prstGeom>
        </p:spPr>
        <p:txBody>
          <a:bodyPr anchor="t" rtlCol="false" tIns="0" lIns="0" bIns="0" rIns="0">
            <a:spAutoFit/>
          </a:bodyPr>
          <a:lstStyle/>
          <a:p>
            <a:pPr algn="l">
              <a:lnSpc>
                <a:spcPts val="2940"/>
              </a:lnSpc>
              <a:spcBef>
                <a:spcPct val="0"/>
              </a:spcBef>
            </a:pPr>
            <a:r>
              <a:rPr lang="en-US" sz="2100" spc="882">
                <a:solidFill>
                  <a:srgbClr val="827564"/>
                </a:solidFill>
                <a:latin typeface="Open Sauce"/>
                <a:ea typeface="Open Sauce"/>
                <a:cs typeface="Open Sauce"/>
                <a:sym typeface="Open Sauce"/>
              </a:rPr>
              <a:t>ΔΙΑΡΘΡΩΣΗ ΠΑΡΟΥΣΙΑΣΗΣ</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a:off x="7578482" y="1861834"/>
            <a:ext cx="8897337" cy="0"/>
          </a:xfrm>
          <a:prstGeom prst="line">
            <a:avLst/>
          </a:prstGeom>
          <a:ln cap="flat" w="38100">
            <a:solidFill>
              <a:srgbClr val="A69C8E"/>
            </a:solidFill>
            <a:prstDash val="solid"/>
            <a:headEnd type="oval" len="lg" w="lg"/>
            <a:tailEnd type="oval" len="lg" w="lg"/>
          </a:ln>
        </p:spPr>
      </p:sp>
      <p:sp>
        <p:nvSpPr>
          <p:cNvPr name="Freeform 3" id="3"/>
          <p:cNvSpPr/>
          <p:nvPr/>
        </p:nvSpPr>
        <p:spPr>
          <a:xfrm flipH="false" flipV="false" rot="0">
            <a:off x="3872287" y="936345"/>
            <a:ext cx="1954451" cy="3474580"/>
          </a:xfrm>
          <a:custGeom>
            <a:avLst/>
            <a:gdLst/>
            <a:ahLst/>
            <a:cxnLst/>
            <a:rect r="r" b="b" t="t" l="l"/>
            <a:pathLst>
              <a:path h="3474580" w="1954451">
                <a:moveTo>
                  <a:pt x="0" y="0"/>
                </a:moveTo>
                <a:lnTo>
                  <a:pt x="1954451" y="0"/>
                </a:lnTo>
                <a:lnTo>
                  <a:pt x="1954451" y="3474580"/>
                </a:lnTo>
                <a:lnTo>
                  <a:pt x="0" y="3474580"/>
                </a:lnTo>
                <a:lnTo>
                  <a:pt x="0" y="0"/>
                </a:lnTo>
                <a:close/>
              </a:path>
            </a:pathLst>
          </a:custGeom>
          <a:blipFill>
            <a:blip r:embed="rId2">
              <a:extLst>
                <a:ext uri="{96DAC541-7B7A-43D3-8B79-37D633B846F1}">
                  <asvg:svgBlip xmlns:asvg="http://schemas.microsoft.com/office/drawing/2016/SVG/main" r:embed="rId3"/>
                </a:ext>
              </a:extLst>
            </a:blip>
            <a:stretch>
              <a:fillRect l="-42222" t="-25000" r="0" b="0"/>
            </a:stretch>
          </a:blipFill>
        </p:spPr>
      </p:sp>
      <p:sp>
        <p:nvSpPr>
          <p:cNvPr name="TextBox 4" id="4"/>
          <p:cNvSpPr txBox="true"/>
          <p:nvPr/>
        </p:nvSpPr>
        <p:spPr>
          <a:xfrm rot="0">
            <a:off x="6485893" y="2259426"/>
            <a:ext cx="11433211" cy="7082296"/>
          </a:xfrm>
          <a:prstGeom prst="rect">
            <a:avLst/>
          </a:prstGeom>
        </p:spPr>
        <p:txBody>
          <a:bodyPr anchor="t" rtlCol="false" tIns="0" lIns="0" bIns="0" rIns="0">
            <a:spAutoFit/>
          </a:bodyPr>
          <a:lstStyle/>
          <a:p>
            <a:pPr algn="l" marL="360435" indent="-180218" lvl="1">
              <a:lnSpc>
                <a:spcPts val="2337"/>
              </a:lnSpc>
              <a:buFont typeface="Arial"/>
              <a:buChar char="•"/>
            </a:pPr>
            <a:r>
              <a:rPr lang="en-US" sz="1669">
                <a:solidFill>
                  <a:srgbClr val="827564"/>
                </a:solidFill>
                <a:latin typeface="Glacial Indifference"/>
                <a:ea typeface="Glacial Indifference"/>
                <a:cs typeface="Glacial Indifference"/>
                <a:sym typeface="Glacial Indifference"/>
              </a:rPr>
              <a:t>Είνα</a:t>
            </a:r>
            <a:r>
              <a:rPr lang="en-US" sz="1669">
                <a:solidFill>
                  <a:srgbClr val="827564"/>
                </a:solidFill>
                <a:latin typeface="Glacial Indifference"/>
                <a:ea typeface="Glacial Indifference"/>
                <a:cs typeface="Glacial Indifference"/>
                <a:sym typeface="Glacial Indifference"/>
              </a:rPr>
              <a:t>ι γνωστ</a:t>
            </a:r>
            <a:r>
              <a:rPr lang="en-US" sz="1669">
                <a:solidFill>
                  <a:srgbClr val="827564"/>
                </a:solidFill>
                <a:latin typeface="Glacial Indifference"/>
                <a:ea typeface="Glacial Indifference"/>
                <a:cs typeface="Glacial Indifference"/>
                <a:sym typeface="Glacial Indifference"/>
              </a:rPr>
              <a:t>ό</a:t>
            </a:r>
            <a:r>
              <a:rPr lang="en-US" sz="1669">
                <a:solidFill>
                  <a:srgbClr val="827564"/>
                </a:solidFill>
                <a:latin typeface="Glacial Indifference"/>
                <a:ea typeface="Glacial Indifference"/>
                <a:cs typeface="Glacial Indifference"/>
                <a:sym typeface="Glacial Indifference"/>
              </a:rPr>
              <a:t> ότ</a:t>
            </a:r>
            <a:r>
              <a:rPr lang="en-US" sz="1669">
                <a:solidFill>
                  <a:srgbClr val="827564"/>
                </a:solidFill>
                <a:latin typeface="Glacial Indifference"/>
                <a:ea typeface="Glacial Indifference"/>
                <a:cs typeface="Glacial Indifference"/>
                <a:sym typeface="Glacial Indifference"/>
              </a:rPr>
              <a:t>ι </a:t>
            </a:r>
            <a:r>
              <a:rPr lang="en-US" sz="1669">
                <a:solidFill>
                  <a:srgbClr val="827564"/>
                </a:solidFill>
                <a:latin typeface="Glacial Indifference"/>
                <a:ea typeface="Glacial Indifference"/>
                <a:cs typeface="Glacial Indifference"/>
                <a:sym typeface="Glacial Indifference"/>
              </a:rPr>
              <a:t>οι αν</a:t>
            </a:r>
            <a:r>
              <a:rPr lang="en-US" sz="1669">
                <a:solidFill>
                  <a:srgbClr val="827564"/>
                </a:solidFill>
                <a:latin typeface="Glacial Indifference"/>
                <a:ea typeface="Glacial Indifference"/>
                <a:cs typeface="Glacial Indifference"/>
                <a:sym typeface="Glacial Indifference"/>
              </a:rPr>
              <a:t>απνευσ</a:t>
            </a:r>
            <a:r>
              <a:rPr lang="en-US" sz="1669">
                <a:solidFill>
                  <a:srgbClr val="827564"/>
                </a:solidFill>
                <a:latin typeface="Glacial Indifference"/>
                <a:ea typeface="Glacial Indifference"/>
                <a:cs typeface="Glacial Indifference"/>
                <a:sym typeface="Glacial Indifference"/>
              </a:rPr>
              <a:t>τ</a:t>
            </a:r>
            <a:r>
              <a:rPr lang="en-US" sz="1669">
                <a:solidFill>
                  <a:srgbClr val="827564"/>
                </a:solidFill>
                <a:latin typeface="Glacial Indifference"/>
                <a:ea typeface="Glacial Indifference"/>
                <a:cs typeface="Glacial Indifference"/>
                <a:sym typeface="Glacial Indifference"/>
              </a:rPr>
              <a:t>ικ</a:t>
            </a:r>
            <a:r>
              <a:rPr lang="en-US" sz="1669">
                <a:solidFill>
                  <a:srgbClr val="827564"/>
                </a:solidFill>
                <a:latin typeface="Glacial Indifference"/>
                <a:ea typeface="Glacial Indifference"/>
                <a:cs typeface="Glacial Indifference"/>
                <a:sym typeface="Glacial Indifference"/>
              </a:rPr>
              <a:t>ές</a:t>
            </a:r>
            <a:r>
              <a:rPr lang="en-US" sz="1669">
                <a:solidFill>
                  <a:srgbClr val="827564"/>
                </a:solidFill>
                <a:latin typeface="Glacial Indifference"/>
                <a:ea typeface="Glacial Indifference"/>
                <a:cs typeface="Glacial Indifference"/>
                <a:sym typeface="Glacial Indifference"/>
              </a:rPr>
              <a:t> </a:t>
            </a:r>
            <a:r>
              <a:rPr lang="en-US" sz="1669">
                <a:solidFill>
                  <a:srgbClr val="827564"/>
                </a:solidFill>
                <a:latin typeface="Glacial Indifference"/>
                <a:ea typeface="Glacial Indifference"/>
                <a:cs typeface="Glacial Indifference"/>
                <a:sym typeface="Glacial Indifference"/>
              </a:rPr>
              <a:t>π</a:t>
            </a:r>
            <a:r>
              <a:rPr lang="en-US" sz="1669">
                <a:solidFill>
                  <a:srgbClr val="827564"/>
                </a:solidFill>
                <a:latin typeface="Glacial Indifference"/>
                <a:ea typeface="Glacial Indifference"/>
                <a:cs typeface="Glacial Indifference"/>
                <a:sym typeface="Glacial Indifference"/>
              </a:rPr>
              <a:t>α</a:t>
            </a:r>
            <a:r>
              <a:rPr lang="en-US" sz="1669">
                <a:solidFill>
                  <a:srgbClr val="827564"/>
                </a:solidFill>
                <a:latin typeface="Glacial Indifference"/>
                <a:ea typeface="Glacial Indifference"/>
                <a:cs typeface="Glacial Indifference"/>
                <a:sym typeface="Glacial Indifference"/>
              </a:rPr>
              <a:t>θήσ</a:t>
            </a:r>
            <a:r>
              <a:rPr lang="en-US" sz="1669">
                <a:solidFill>
                  <a:srgbClr val="827564"/>
                </a:solidFill>
                <a:latin typeface="Glacial Indifference"/>
                <a:ea typeface="Glacial Indifference"/>
                <a:cs typeface="Glacial Indifference"/>
                <a:sym typeface="Glacial Indifference"/>
              </a:rPr>
              <a:t>εις </a:t>
            </a:r>
            <a:r>
              <a:rPr lang="en-US" sz="1669">
                <a:solidFill>
                  <a:srgbClr val="827564"/>
                </a:solidFill>
                <a:latin typeface="Glacial Indifference"/>
                <a:ea typeface="Glacial Indifference"/>
                <a:cs typeface="Glacial Indifference"/>
                <a:sym typeface="Glacial Indifference"/>
              </a:rPr>
              <a:t>όπως</a:t>
            </a:r>
            <a:r>
              <a:rPr lang="en-US" sz="1669">
                <a:solidFill>
                  <a:srgbClr val="827564"/>
                </a:solidFill>
                <a:latin typeface="Glacial Indifference"/>
                <a:ea typeface="Glacial Indifference"/>
                <a:cs typeface="Glacial Indifference"/>
                <a:sym typeface="Glacial Indifference"/>
              </a:rPr>
              <a:t> η</a:t>
            </a:r>
            <a:r>
              <a:rPr lang="en-US" sz="1669">
                <a:solidFill>
                  <a:srgbClr val="827564"/>
                </a:solidFill>
                <a:latin typeface="Glacial Indifference"/>
                <a:ea typeface="Glacial Indifference"/>
                <a:cs typeface="Glacial Indifference"/>
                <a:sym typeface="Glacial Indifference"/>
              </a:rPr>
              <a:t> χρόνια αποφρακτική πνευμονοπ</a:t>
            </a:r>
            <a:r>
              <a:rPr lang="en-US" sz="1669">
                <a:solidFill>
                  <a:srgbClr val="827564"/>
                </a:solidFill>
                <a:latin typeface="Glacial Indifference"/>
                <a:ea typeface="Glacial Indifference"/>
                <a:cs typeface="Glacial Indifference"/>
                <a:sym typeface="Glacial Indifference"/>
              </a:rPr>
              <a:t>ά</a:t>
            </a:r>
            <a:r>
              <a:rPr lang="en-US" sz="1669">
                <a:solidFill>
                  <a:srgbClr val="827564"/>
                </a:solidFill>
                <a:latin typeface="Glacial Indifference"/>
                <a:ea typeface="Glacial Indifference"/>
                <a:cs typeface="Glacial Indifference"/>
                <a:sym typeface="Glacial Indifference"/>
              </a:rPr>
              <a:t>θ</a:t>
            </a:r>
            <a:r>
              <a:rPr lang="en-US" sz="1669">
                <a:solidFill>
                  <a:srgbClr val="827564"/>
                </a:solidFill>
                <a:latin typeface="Glacial Indifference"/>
                <a:ea typeface="Glacial Indifference"/>
                <a:cs typeface="Glacial Indifference"/>
                <a:sym typeface="Glacial Indifference"/>
              </a:rPr>
              <a:t>ει</a:t>
            </a:r>
            <a:r>
              <a:rPr lang="en-US" sz="1669">
                <a:solidFill>
                  <a:srgbClr val="827564"/>
                </a:solidFill>
                <a:latin typeface="Glacial Indifference"/>
                <a:ea typeface="Glacial Indifference"/>
                <a:cs typeface="Glacial Indifference"/>
                <a:sym typeface="Glacial Indifference"/>
              </a:rPr>
              <a:t>α (ΧΑΠ), τ</a:t>
            </a:r>
            <a:r>
              <a:rPr lang="en-US" sz="1669">
                <a:solidFill>
                  <a:srgbClr val="827564"/>
                </a:solidFill>
                <a:latin typeface="Glacial Indifference"/>
                <a:ea typeface="Glacial Indifference"/>
                <a:cs typeface="Glacial Indifference"/>
                <a:sym typeface="Glacial Indifference"/>
              </a:rPr>
              <a:t>ο </a:t>
            </a:r>
            <a:r>
              <a:rPr lang="en-US" sz="1669">
                <a:solidFill>
                  <a:srgbClr val="827564"/>
                </a:solidFill>
                <a:latin typeface="Glacial Indifference"/>
                <a:ea typeface="Glacial Indifference"/>
                <a:cs typeface="Glacial Indifference"/>
                <a:sym typeface="Glacial Indifference"/>
              </a:rPr>
              <a:t>ά</a:t>
            </a:r>
            <a:r>
              <a:rPr lang="en-US" sz="1669">
                <a:solidFill>
                  <a:srgbClr val="827564"/>
                </a:solidFill>
                <a:latin typeface="Glacial Indifference"/>
                <a:ea typeface="Glacial Indifference"/>
                <a:cs typeface="Glacial Indifference"/>
                <a:sym typeface="Glacial Indifference"/>
              </a:rPr>
              <a:t>σθ</a:t>
            </a:r>
            <a:r>
              <a:rPr lang="en-US" sz="1669">
                <a:solidFill>
                  <a:srgbClr val="827564"/>
                </a:solidFill>
                <a:latin typeface="Glacial Indifference"/>
                <a:ea typeface="Glacial Indifference"/>
                <a:cs typeface="Glacial Indifference"/>
                <a:sym typeface="Glacial Indifference"/>
              </a:rPr>
              <a:t>μα και η πνευμονία </a:t>
            </a:r>
            <a:r>
              <a:rPr lang="en-US" sz="1669">
                <a:solidFill>
                  <a:srgbClr val="827564"/>
                </a:solidFill>
                <a:latin typeface="Glacial Indifference"/>
                <a:ea typeface="Glacial Indifference"/>
                <a:cs typeface="Glacial Indifference"/>
                <a:sym typeface="Glacial Indifference"/>
              </a:rPr>
              <a:t>α</a:t>
            </a:r>
            <a:r>
              <a:rPr lang="en-US" sz="1669">
                <a:solidFill>
                  <a:srgbClr val="827564"/>
                </a:solidFill>
                <a:latin typeface="Glacial Indifference"/>
                <a:ea typeface="Glacial Indifference"/>
                <a:cs typeface="Glacial Indifference"/>
                <a:sym typeface="Glacial Indifference"/>
              </a:rPr>
              <a:t>π</a:t>
            </a:r>
            <a:r>
              <a:rPr lang="en-US" sz="1669">
                <a:solidFill>
                  <a:srgbClr val="827564"/>
                </a:solidFill>
                <a:latin typeface="Glacial Indifference"/>
                <a:ea typeface="Glacial Indifference"/>
                <a:cs typeface="Glacial Indifference"/>
                <a:sym typeface="Glacial Indifference"/>
              </a:rPr>
              <a:t>οτελο</a:t>
            </a:r>
            <a:r>
              <a:rPr lang="en-US" sz="1669">
                <a:solidFill>
                  <a:srgbClr val="827564"/>
                </a:solidFill>
                <a:latin typeface="Glacial Indifference"/>
                <a:ea typeface="Glacial Indifference"/>
                <a:cs typeface="Glacial Indifference"/>
                <a:sym typeface="Glacial Indifference"/>
              </a:rPr>
              <a:t>ύν παγκοσμίως μείζονα αιτία νοσηρότητας και θνησιμότητας, επηρεάζοντας εκατομμύρια ανθρώπου</a:t>
            </a:r>
            <a:r>
              <a:rPr lang="en-US" sz="1669">
                <a:solidFill>
                  <a:srgbClr val="827564"/>
                </a:solidFill>
                <a:latin typeface="Glacial Indifference"/>
                <a:ea typeface="Glacial Indifference"/>
                <a:cs typeface="Glacial Indifference"/>
                <a:sym typeface="Glacial Indifference"/>
              </a:rPr>
              <a:t>ς κ</a:t>
            </a:r>
            <a:r>
              <a:rPr lang="en-US" sz="1669">
                <a:solidFill>
                  <a:srgbClr val="827564"/>
                </a:solidFill>
                <a:latin typeface="Glacial Indifference"/>
                <a:ea typeface="Glacial Indifference"/>
                <a:cs typeface="Glacial Indifference"/>
                <a:sym typeface="Glacial Indifference"/>
              </a:rPr>
              <a:t>α</a:t>
            </a:r>
            <a:r>
              <a:rPr lang="en-US" sz="1669">
                <a:solidFill>
                  <a:srgbClr val="827564"/>
                </a:solidFill>
                <a:latin typeface="Glacial Indifference"/>
                <a:ea typeface="Glacial Indifference"/>
                <a:cs typeface="Glacial Indifference"/>
                <a:sym typeface="Glacial Indifference"/>
              </a:rPr>
              <a:t>ι </a:t>
            </a:r>
            <a:r>
              <a:rPr lang="en-US" sz="1669">
                <a:solidFill>
                  <a:srgbClr val="827564"/>
                </a:solidFill>
                <a:latin typeface="Glacial Indifference"/>
                <a:ea typeface="Glacial Indifference"/>
                <a:cs typeface="Glacial Indifference"/>
                <a:sym typeface="Glacial Indifference"/>
              </a:rPr>
              <a:t>επιβαρύνοντας σημαντικά τα συστήματα </a:t>
            </a:r>
            <a:r>
              <a:rPr lang="en-US" sz="1669">
                <a:solidFill>
                  <a:srgbClr val="827564"/>
                </a:solidFill>
                <a:latin typeface="Glacial Indifference"/>
                <a:ea typeface="Glacial Indifference"/>
                <a:cs typeface="Glacial Indifference"/>
                <a:sym typeface="Glacial Indifference"/>
              </a:rPr>
              <a:t>υγ</a:t>
            </a:r>
            <a:r>
              <a:rPr lang="en-US" sz="1669">
                <a:solidFill>
                  <a:srgbClr val="827564"/>
                </a:solidFill>
                <a:latin typeface="Glacial Indifference"/>
                <a:ea typeface="Glacial Indifference"/>
                <a:cs typeface="Glacial Indifference"/>
                <a:sym typeface="Glacial Indifference"/>
              </a:rPr>
              <a:t>εία</a:t>
            </a:r>
            <a:r>
              <a:rPr lang="en-US" sz="1669">
                <a:solidFill>
                  <a:srgbClr val="827564"/>
                </a:solidFill>
                <a:latin typeface="Glacial Indifference"/>
                <a:ea typeface="Glacial Indifference"/>
                <a:cs typeface="Glacial Indifference"/>
                <a:sym typeface="Glacial Indifference"/>
              </a:rPr>
              <a:t>ς</a:t>
            </a:r>
            <a:r>
              <a:rPr lang="en-US" sz="1669">
                <a:solidFill>
                  <a:srgbClr val="827564"/>
                </a:solidFill>
                <a:latin typeface="Glacial Indifference"/>
                <a:ea typeface="Glacial Indifference"/>
                <a:cs typeface="Glacial Indifference"/>
                <a:sym typeface="Glacial Indifference"/>
              </a:rPr>
              <a:t>. </a:t>
            </a:r>
          </a:p>
          <a:p>
            <a:pPr algn="l" marL="360435" indent="-180218" lvl="1">
              <a:lnSpc>
                <a:spcPts val="2337"/>
              </a:lnSpc>
              <a:buFont typeface="Arial"/>
              <a:buChar char="•"/>
            </a:pPr>
            <a:r>
              <a:rPr lang="en-US" sz="1669">
                <a:solidFill>
                  <a:srgbClr val="827564"/>
                </a:solidFill>
                <a:latin typeface="Glacial Indifference"/>
                <a:ea typeface="Glacial Indifference"/>
                <a:cs typeface="Glacial Indifference"/>
                <a:sym typeface="Glacial Indifference"/>
              </a:rPr>
              <a:t>Η παρουσία</a:t>
            </a:r>
            <a:r>
              <a:rPr lang="en-US" b="true" sz="1669">
                <a:solidFill>
                  <a:srgbClr val="827564"/>
                </a:solidFill>
                <a:latin typeface="Glacial Indifference Bold"/>
                <a:ea typeface="Glacial Indifference Bold"/>
                <a:cs typeface="Glacial Indifference Bold"/>
                <a:sym typeface="Glacial Indifference Bold"/>
              </a:rPr>
              <a:t> παθολογικών αναπνευστικών ήχων (crackles, wheezes) </a:t>
            </a:r>
            <a:r>
              <a:rPr lang="en-US" sz="1669">
                <a:solidFill>
                  <a:srgbClr val="827564"/>
                </a:solidFill>
                <a:latin typeface="Glacial Indifference"/>
                <a:ea typeface="Glacial Indifference"/>
                <a:cs typeface="Glacial Indifference"/>
                <a:sym typeface="Glacial Indifference"/>
              </a:rPr>
              <a:t>στους αναπνευστικούς κύκλους καθώς και τα χαρακτηριστικά των ήχων αυτών αποτελούν </a:t>
            </a:r>
            <a:r>
              <a:rPr lang="en-US" b="true" sz="1669">
                <a:solidFill>
                  <a:srgbClr val="827564"/>
                </a:solidFill>
                <a:latin typeface="Glacial Indifference Bold"/>
                <a:ea typeface="Glacial Indifference Bold"/>
                <a:cs typeface="Glacial Indifference Bold"/>
                <a:sym typeface="Glacial Indifference Bold"/>
              </a:rPr>
              <a:t>σημαντικούς βιοδείκτες </a:t>
            </a:r>
            <a:r>
              <a:rPr lang="en-US" sz="1669">
                <a:solidFill>
                  <a:srgbClr val="827564"/>
                </a:solidFill>
                <a:latin typeface="Glacial Indifference"/>
                <a:ea typeface="Glacial Indifference"/>
                <a:cs typeface="Glacial Indifference"/>
                <a:sym typeface="Glacial Indifference"/>
              </a:rPr>
              <a:t>για την κλινική αξιολόγηση των παραπάνω νοσημάτων.</a:t>
            </a:r>
          </a:p>
          <a:p>
            <a:pPr algn="l" marL="360435" indent="-180218" lvl="1">
              <a:lnSpc>
                <a:spcPts val="2337"/>
              </a:lnSpc>
              <a:buFont typeface="Arial"/>
              <a:buChar char="•"/>
            </a:pPr>
            <a:r>
              <a:rPr lang="en-US" sz="1669">
                <a:solidFill>
                  <a:srgbClr val="827564"/>
                </a:solidFill>
                <a:latin typeface="Glacial Indifference"/>
                <a:ea typeface="Glacial Indifference"/>
                <a:cs typeface="Glacial Indifference"/>
                <a:sym typeface="Glacial Indifference"/>
              </a:rPr>
              <a:t>Η ανάλυση των αναπνευστικών ήχων μέσω της </a:t>
            </a:r>
            <a:r>
              <a:rPr lang="en-US" b="true" sz="1669">
                <a:solidFill>
                  <a:srgbClr val="827564"/>
                </a:solidFill>
                <a:latin typeface="Glacial Indifference Bold"/>
                <a:ea typeface="Glacial Indifference Bold"/>
                <a:cs typeface="Glacial Indifference Bold"/>
                <a:sym typeface="Glacial Indifference Bold"/>
              </a:rPr>
              <a:t>παραδοσιακής διαδικασίας ακρόασης</a:t>
            </a:r>
            <a:r>
              <a:rPr lang="en-US" sz="1669">
                <a:solidFill>
                  <a:srgbClr val="827564"/>
                </a:solidFill>
                <a:latin typeface="Glacial Indifference"/>
                <a:ea typeface="Glacial Indifference"/>
                <a:cs typeface="Glacial Indifference"/>
                <a:sym typeface="Glacial Indifference"/>
              </a:rPr>
              <a:t> θα λέγαμε ότι προσφέρει μία </a:t>
            </a:r>
            <a:r>
              <a:rPr lang="en-US" b="true" sz="1669">
                <a:solidFill>
                  <a:srgbClr val="827564"/>
                </a:solidFill>
                <a:latin typeface="Glacial Indifference Bold"/>
                <a:ea typeface="Glacial Indifference Bold"/>
                <a:cs typeface="Glacial Indifference Bold"/>
                <a:sym typeface="Glacial Indifference Bold"/>
              </a:rPr>
              <a:t>μη επεμβατική, χαμηλού κόστους και άμεσα διαθέσιμη μέθοδο </a:t>
            </a:r>
            <a:r>
              <a:rPr lang="en-US" sz="1669">
                <a:solidFill>
                  <a:srgbClr val="827564"/>
                </a:solidFill>
                <a:latin typeface="Glacial Indifference"/>
                <a:ea typeface="Glacial Indifference"/>
                <a:cs typeface="Glacial Indifference"/>
                <a:sym typeface="Glacial Indifference"/>
              </a:rPr>
              <a:t>κλινικής αξιολόγησης. Ωστόσο, η ερμηνεία των ήχων και των συμπτωμάτων τους από τον ιατρό είναι μια διαδικασία η οποία </a:t>
            </a:r>
            <a:r>
              <a:rPr lang="en-US" b="true" sz="1669">
                <a:solidFill>
                  <a:srgbClr val="827564"/>
                </a:solidFill>
                <a:latin typeface="Glacial Indifference Bold"/>
                <a:ea typeface="Glacial Indifference Bold"/>
                <a:cs typeface="Glacial Indifference Bold"/>
                <a:sym typeface="Glacial Indifference Bold"/>
              </a:rPr>
              <a:t>χαρακτηρίζεται από μεγάλο βαθμό υποκειμενικότητας</a:t>
            </a:r>
            <a:r>
              <a:rPr lang="en-US" sz="1669">
                <a:solidFill>
                  <a:srgbClr val="827564"/>
                </a:solidFill>
                <a:latin typeface="Glacial Indifference"/>
                <a:ea typeface="Glacial Indifference"/>
                <a:cs typeface="Glacial Indifference"/>
                <a:sym typeface="Glacial Indifference"/>
              </a:rPr>
              <a:t>.</a:t>
            </a:r>
          </a:p>
          <a:p>
            <a:pPr algn="l" marL="360435" indent="-180218" lvl="1">
              <a:lnSpc>
                <a:spcPts val="2337"/>
              </a:lnSpc>
              <a:buFont typeface="Arial"/>
              <a:buChar char="•"/>
            </a:pPr>
            <a:r>
              <a:rPr lang="en-US" sz="1669">
                <a:solidFill>
                  <a:srgbClr val="827564"/>
                </a:solidFill>
                <a:latin typeface="Glacial Indifference"/>
                <a:ea typeface="Glacial Indifference"/>
                <a:cs typeface="Glacial Indifference"/>
                <a:sym typeface="Glacial Indifference"/>
              </a:rPr>
              <a:t>H </a:t>
            </a:r>
            <a:r>
              <a:rPr lang="en-US" b="true" sz="1669">
                <a:solidFill>
                  <a:srgbClr val="827564"/>
                </a:solidFill>
                <a:latin typeface="Glacial Indifference Bold"/>
                <a:ea typeface="Glacial Indifference Bold"/>
                <a:cs typeface="Glacial Indifference Bold"/>
                <a:sym typeface="Glacial Indifference Bold"/>
              </a:rPr>
              <a:t>ανάπτυξη λοιπόν αυτοματοποιημένων μεθόδων ανάλυσης και ταξινόμησης αναπνευστικών ήχων</a:t>
            </a:r>
            <a:r>
              <a:rPr lang="en-US" sz="1669">
                <a:solidFill>
                  <a:srgbClr val="827564"/>
                </a:solidFill>
                <a:latin typeface="Glacial Indifference"/>
                <a:ea typeface="Glacial Indifference"/>
                <a:cs typeface="Glacial Indifference"/>
                <a:sym typeface="Glacial Indifference"/>
              </a:rPr>
              <a:t>, βασισμένων σε τεχνικές μηχανικής μάθησης και βαθιάς μάθησης, δύναται να λειτουργήσει υποστηρικτικά στη διαδικασία λήψης ιατρικών αποφάσεων, μειώνοντας την </a:t>
            </a:r>
            <a:r>
              <a:rPr lang="en-US" b="true" sz="1669">
                <a:solidFill>
                  <a:srgbClr val="827564"/>
                </a:solidFill>
                <a:latin typeface="Glacial Indifference Bold"/>
                <a:ea typeface="Glacial Indifference Bold"/>
                <a:cs typeface="Glacial Indifference Bold"/>
                <a:sym typeface="Glacial Indifference Bold"/>
              </a:rPr>
              <a:t>εξάρτηση από την υποκειμενική κρίση</a:t>
            </a:r>
            <a:r>
              <a:rPr lang="en-US" sz="1669">
                <a:solidFill>
                  <a:srgbClr val="827564"/>
                </a:solidFill>
                <a:latin typeface="Glacial Indifference"/>
                <a:ea typeface="Glacial Indifference"/>
                <a:cs typeface="Glacial Indifference"/>
                <a:sym typeface="Glacial Indifference"/>
              </a:rPr>
              <a:t>.</a:t>
            </a:r>
          </a:p>
          <a:p>
            <a:pPr algn="l" marL="360435" indent="-180218" lvl="1">
              <a:lnSpc>
                <a:spcPts val="2337"/>
              </a:lnSpc>
              <a:buFont typeface="Arial"/>
              <a:buChar char="•"/>
            </a:pPr>
            <a:r>
              <a:rPr lang="en-US" sz="1669">
                <a:solidFill>
                  <a:srgbClr val="827564"/>
                </a:solidFill>
                <a:latin typeface="Glacial Indifference"/>
                <a:ea typeface="Glacial Indifference"/>
                <a:cs typeface="Glacial Indifference"/>
                <a:sym typeface="Glacial Indifference"/>
              </a:rPr>
              <a:t>Ωστόσο, η </a:t>
            </a:r>
            <a:r>
              <a:rPr lang="en-US" b="true" sz="1669">
                <a:solidFill>
                  <a:srgbClr val="827564"/>
                </a:solidFill>
                <a:latin typeface="Glacial Indifference Bold"/>
                <a:ea typeface="Glacial Indifference Bold"/>
                <a:cs typeface="Glacial Indifference Bold"/>
                <a:sym typeface="Glacial Indifference Bold"/>
              </a:rPr>
              <a:t>διαφοροποίηση των δεδομένων ή συνθηκών εκπαίδευσης σε σχέση με το περιβάλλον αξιολόγησης </a:t>
            </a:r>
            <a:r>
              <a:rPr lang="en-US" sz="1669">
                <a:solidFill>
                  <a:srgbClr val="827564"/>
                </a:solidFill>
                <a:latin typeface="Glacial Indifference"/>
                <a:ea typeface="Glacial Indifference"/>
                <a:cs typeface="Glacial Indifference"/>
                <a:sym typeface="Glacial Indifference"/>
              </a:rPr>
              <a:t>των μοντέλων μπορεί να οδηγήσει σε </a:t>
            </a:r>
            <a:r>
              <a:rPr lang="en-US" b="true" sz="1669">
                <a:solidFill>
                  <a:srgbClr val="827564"/>
                </a:solidFill>
                <a:latin typeface="Glacial Indifference Bold"/>
                <a:ea typeface="Glacial Indifference Bold"/>
                <a:cs typeface="Glacial Indifference Bold"/>
                <a:sym typeface="Glacial Indifference Bold"/>
              </a:rPr>
              <a:t>αξιοσημείωτη υποβάθμιση της απόδοσης </a:t>
            </a:r>
            <a:r>
              <a:rPr lang="en-US" sz="1669">
                <a:solidFill>
                  <a:srgbClr val="827564"/>
                </a:solidFill>
                <a:latin typeface="Glacial Indifference"/>
                <a:ea typeface="Glacial Indifference"/>
                <a:cs typeface="Glacial Indifference"/>
                <a:sym typeface="Glacial Indifference"/>
              </a:rPr>
              <a:t>του συστήματος. Το φαινόμενο αυτό είναι γνωστό ως </a:t>
            </a:r>
            <a:r>
              <a:rPr lang="en-US" b="true" sz="1669">
                <a:solidFill>
                  <a:srgbClr val="827564"/>
                </a:solidFill>
                <a:latin typeface="Glacial Indifference Bold"/>
                <a:ea typeface="Glacial Indifference Bold"/>
                <a:cs typeface="Glacial Indifference Bold"/>
                <a:sym typeface="Glacial Indifference Bold"/>
              </a:rPr>
              <a:t>domain shift ή μετατόπιση πεδίου</a:t>
            </a:r>
            <a:r>
              <a:rPr lang="en-US" sz="1669">
                <a:solidFill>
                  <a:srgbClr val="827564"/>
                </a:solidFill>
                <a:latin typeface="Glacial Indifference"/>
                <a:ea typeface="Glacial Indifference"/>
                <a:cs typeface="Glacial Indifference"/>
                <a:sym typeface="Glacial Indifference"/>
              </a:rPr>
              <a:t> και στο πλαίσιο της επεξεργασίας ακουστικών δεδομένων μπορεί να προκύψει από πληθώρα παραγόντων, όπως η </a:t>
            </a:r>
            <a:r>
              <a:rPr lang="en-US" b="true" sz="1669">
                <a:solidFill>
                  <a:srgbClr val="827564"/>
                </a:solidFill>
                <a:latin typeface="Glacial Indifference Bold"/>
                <a:ea typeface="Glacial Indifference Bold"/>
                <a:cs typeface="Glacial Indifference Bold"/>
                <a:sym typeface="Glacial Indifference Bold"/>
              </a:rPr>
              <a:t>διαφοροποίηση στα τεχνικά χαρακτηριστικά των συσκευών ηχογράφησης</a:t>
            </a:r>
            <a:r>
              <a:rPr lang="en-US" sz="1669">
                <a:solidFill>
                  <a:srgbClr val="827564"/>
                </a:solidFill>
                <a:latin typeface="Glacial Indifference"/>
                <a:ea typeface="Glacial Indifference"/>
                <a:cs typeface="Glacial Indifference"/>
                <a:sym typeface="Glacial Indifference"/>
              </a:rPr>
              <a:t>, στις </a:t>
            </a:r>
            <a:r>
              <a:rPr lang="en-US" b="true" sz="1669">
                <a:solidFill>
                  <a:srgbClr val="827564"/>
                </a:solidFill>
                <a:latin typeface="Glacial Indifference Bold"/>
                <a:ea typeface="Glacial Indifference Bold"/>
                <a:cs typeface="Glacial Indifference Bold"/>
                <a:sym typeface="Glacial Indifference Bold"/>
              </a:rPr>
              <a:t>συνθήκες ηχογράφησης</a:t>
            </a:r>
            <a:r>
              <a:rPr lang="en-US" sz="1669">
                <a:solidFill>
                  <a:srgbClr val="827564"/>
                </a:solidFill>
                <a:latin typeface="Glacial Indifference"/>
                <a:ea typeface="Glacial Indifference"/>
                <a:cs typeface="Glacial Indifference"/>
                <a:sym typeface="Glacial Indifference"/>
              </a:rPr>
              <a:t> </a:t>
            </a:r>
            <a:r>
              <a:rPr lang="en-US" sz="1669">
                <a:solidFill>
                  <a:srgbClr val="827564"/>
                </a:solidFill>
                <a:latin typeface="Glacial Indifference"/>
                <a:ea typeface="Glacial Indifference"/>
                <a:cs typeface="Glacial Indifference"/>
                <a:sym typeface="Glacial Indifference"/>
              </a:rPr>
              <a:t>ή ακόμα και στο</a:t>
            </a:r>
            <a:r>
              <a:rPr lang="en-US" b="true" sz="1669">
                <a:solidFill>
                  <a:srgbClr val="827564"/>
                </a:solidFill>
                <a:latin typeface="Glacial Indifference Bold"/>
                <a:ea typeface="Glacial Indifference Bold"/>
                <a:cs typeface="Glacial Indifference Bold"/>
                <a:sym typeface="Glacial Indifference Bold"/>
              </a:rPr>
              <a:t> προφίλ των ασθενών</a:t>
            </a:r>
            <a:r>
              <a:rPr lang="en-US" sz="1669">
                <a:solidFill>
                  <a:srgbClr val="827564"/>
                </a:solidFill>
                <a:latin typeface="Glacial Indifference"/>
                <a:ea typeface="Glacial Indifference"/>
                <a:cs typeface="Glacial Indifference"/>
                <a:sym typeface="Glacial Indifference"/>
              </a:rPr>
              <a:t> από όπου συλλέγονται τα δεδομένα (ηλικία, φύλο, φυσική κατάσταση κ.τ.λ.).</a:t>
            </a:r>
          </a:p>
          <a:p>
            <a:pPr algn="l" marL="360435" indent="-180218" lvl="1">
              <a:lnSpc>
                <a:spcPts val="2337"/>
              </a:lnSpc>
              <a:buFont typeface="Arial"/>
              <a:buChar char="•"/>
            </a:pPr>
            <a:r>
              <a:rPr lang="en-US" sz="1669">
                <a:solidFill>
                  <a:srgbClr val="827564"/>
                </a:solidFill>
                <a:latin typeface="Glacial Indifference"/>
                <a:ea typeface="Glacial Indifference"/>
                <a:cs typeface="Glacial Indifference"/>
                <a:sym typeface="Glacial Indifference"/>
              </a:rPr>
              <a:t>Στόχος είναι λοιπόν η </a:t>
            </a:r>
            <a:r>
              <a:rPr lang="en-US" b="true" sz="1669">
                <a:solidFill>
                  <a:srgbClr val="827564"/>
                </a:solidFill>
                <a:latin typeface="Glacial Indifference Bold"/>
                <a:ea typeface="Glacial Indifference Bold"/>
                <a:cs typeface="Glacial Indifference Bold"/>
                <a:sym typeface="Glacial Indifference Bold"/>
              </a:rPr>
              <a:t>εκμάθηση σταθερών αναπαραστάσεων</a:t>
            </a:r>
            <a:r>
              <a:rPr lang="en-US" sz="1669">
                <a:solidFill>
                  <a:srgbClr val="827564"/>
                </a:solidFill>
                <a:latin typeface="Glacial Indifference"/>
                <a:ea typeface="Glacial Indifference"/>
                <a:cs typeface="Glacial Indifference"/>
                <a:sym typeface="Glacial Indifference"/>
              </a:rPr>
              <a:t> που παραμένουν </a:t>
            </a:r>
            <a:r>
              <a:rPr lang="en-US" b="true" sz="1669">
                <a:solidFill>
                  <a:srgbClr val="827564"/>
                </a:solidFill>
                <a:latin typeface="Glacial Indifference Bold"/>
                <a:ea typeface="Glacial Indifference Bold"/>
                <a:cs typeface="Glacial Indifference Bold"/>
                <a:sym typeface="Glacial Indifference Bold"/>
              </a:rPr>
              <a:t>ανεξάρτητες από τις συνθήκες καταγραφής ή τα χαρακτηριστικά της πηγής των δεδομένων</a:t>
            </a:r>
            <a:r>
              <a:rPr lang="en-US" sz="1669">
                <a:solidFill>
                  <a:srgbClr val="827564"/>
                </a:solidFill>
                <a:latin typeface="Glacial Indifference"/>
                <a:ea typeface="Glacial Indifference"/>
                <a:cs typeface="Glacial Indifference"/>
                <a:sym typeface="Glacial Indifference"/>
              </a:rPr>
              <a:t>, διατηρώντας παράλληλα την ικανότητα του συστήματος να </a:t>
            </a:r>
            <a:r>
              <a:rPr lang="en-US" b="true" sz="1669">
                <a:solidFill>
                  <a:srgbClr val="827564"/>
                </a:solidFill>
                <a:latin typeface="Glacial Indifference Bold"/>
                <a:ea typeface="Glacial Indifference Bold"/>
                <a:cs typeface="Glacial Indifference Bold"/>
                <a:sym typeface="Glacial Indifference Bold"/>
              </a:rPr>
              <a:t>διακρίνει με ακρίβεια τις κλάσεις ενδιαφέροντος. </a:t>
            </a:r>
            <a:r>
              <a:rPr lang="en-US" sz="1669">
                <a:solidFill>
                  <a:srgbClr val="827564"/>
                </a:solidFill>
                <a:latin typeface="Glacial Indifference"/>
                <a:ea typeface="Glacial Indifference"/>
                <a:cs typeface="Glacial Indifference"/>
                <a:sym typeface="Glacial Indifference"/>
              </a:rPr>
              <a:t>Αυτή η διαδικασία ονομάζεται</a:t>
            </a:r>
            <a:r>
              <a:rPr lang="en-US" b="true" sz="1669">
                <a:solidFill>
                  <a:srgbClr val="827564"/>
                </a:solidFill>
                <a:latin typeface="Glacial Indifference Bold"/>
                <a:ea typeface="Glacial Indifference Bold"/>
                <a:cs typeface="Glacial Indifference Bold"/>
                <a:sym typeface="Glacial Indifference Bold"/>
              </a:rPr>
              <a:t> προσαρμογή πεδίου.</a:t>
            </a:r>
          </a:p>
        </p:txBody>
      </p:sp>
      <p:sp>
        <p:nvSpPr>
          <p:cNvPr name="Freeform 5" id="5"/>
          <p:cNvSpPr/>
          <p:nvPr/>
        </p:nvSpPr>
        <p:spPr>
          <a:xfrm flipH="false" flipV="false" rot="0">
            <a:off x="4162688" y="3698868"/>
            <a:ext cx="1320979" cy="636472"/>
          </a:xfrm>
          <a:custGeom>
            <a:avLst/>
            <a:gdLst/>
            <a:ahLst/>
            <a:cxnLst/>
            <a:rect r="r" b="b" t="t" l="l"/>
            <a:pathLst>
              <a:path h="636472" w="1320979">
                <a:moveTo>
                  <a:pt x="0" y="0"/>
                </a:moveTo>
                <a:lnTo>
                  <a:pt x="1320979" y="0"/>
                </a:lnTo>
                <a:lnTo>
                  <a:pt x="1320979" y="636472"/>
                </a:lnTo>
                <a:lnTo>
                  <a:pt x="0" y="636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936345"/>
            <a:ext cx="2779664" cy="3474580"/>
          </a:xfrm>
          <a:custGeom>
            <a:avLst/>
            <a:gdLst/>
            <a:ahLst/>
            <a:cxnLst/>
            <a:rect r="r" b="b" t="t" l="l"/>
            <a:pathLst>
              <a:path h="3474580" w="2779664">
                <a:moveTo>
                  <a:pt x="0" y="0"/>
                </a:moveTo>
                <a:lnTo>
                  <a:pt x="2779664" y="0"/>
                </a:lnTo>
                <a:lnTo>
                  <a:pt x="2779664" y="3474580"/>
                </a:lnTo>
                <a:lnTo>
                  <a:pt x="0" y="3474580"/>
                </a:lnTo>
                <a:lnTo>
                  <a:pt x="0" y="0"/>
                </a:lnTo>
                <a:close/>
              </a:path>
            </a:pathLst>
          </a:custGeom>
          <a:blipFill>
            <a:blip r:embed="rId2">
              <a:extLst>
                <a:ext uri="{96DAC541-7B7A-43D3-8B79-37D633B846F1}">
                  <asvg:svgBlip xmlns:asvg="http://schemas.microsoft.com/office/drawing/2016/SVG/main" r:embed="rId3"/>
                </a:ext>
              </a:extLst>
            </a:blip>
            <a:stretch>
              <a:fillRect l="0" t="-25000" r="0" b="0"/>
            </a:stretch>
          </a:blipFill>
        </p:spPr>
      </p:sp>
      <p:sp>
        <p:nvSpPr>
          <p:cNvPr name="Freeform 7" id="7"/>
          <p:cNvSpPr/>
          <p:nvPr/>
        </p:nvSpPr>
        <p:spPr>
          <a:xfrm flipH="false" flipV="false" rot="0">
            <a:off x="2575372" y="3698868"/>
            <a:ext cx="1320979" cy="636472"/>
          </a:xfrm>
          <a:custGeom>
            <a:avLst/>
            <a:gdLst/>
            <a:ahLst/>
            <a:cxnLst/>
            <a:rect r="r" b="b" t="t" l="l"/>
            <a:pathLst>
              <a:path h="636472" w="1320979">
                <a:moveTo>
                  <a:pt x="0" y="0"/>
                </a:moveTo>
                <a:lnTo>
                  <a:pt x="1320979" y="0"/>
                </a:lnTo>
                <a:lnTo>
                  <a:pt x="1320979" y="636472"/>
                </a:lnTo>
                <a:lnTo>
                  <a:pt x="0" y="636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8700" y="3698868"/>
            <a:ext cx="1320979" cy="636472"/>
          </a:xfrm>
          <a:custGeom>
            <a:avLst/>
            <a:gdLst/>
            <a:ahLst/>
            <a:cxnLst/>
            <a:rect r="r" b="b" t="t" l="l"/>
            <a:pathLst>
              <a:path h="636472" w="1320979">
                <a:moveTo>
                  <a:pt x="0" y="0"/>
                </a:moveTo>
                <a:lnTo>
                  <a:pt x="1320979" y="0"/>
                </a:lnTo>
                <a:lnTo>
                  <a:pt x="1320979" y="636472"/>
                </a:lnTo>
                <a:lnTo>
                  <a:pt x="0" y="636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4492649" y="3009708"/>
            <a:ext cx="489736" cy="489736"/>
          </a:xfrm>
          <a:custGeom>
            <a:avLst/>
            <a:gdLst/>
            <a:ahLst/>
            <a:cxnLst/>
            <a:rect r="r" b="b" t="t" l="l"/>
            <a:pathLst>
              <a:path h="489736" w="489736">
                <a:moveTo>
                  <a:pt x="0" y="0"/>
                </a:moveTo>
                <a:lnTo>
                  <a:pt x="489736" y="0"/>
                </a:lnTo>
                <a:lnTo>
                  <a:pt x="489736" y="489736"/>
                </a:lnTo>
                <a:lnTo>
                  <a:pt x="0" y="4897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669358" y="966988"/>
            <a:ext cx="945320" cy="947042"/>
          </a:xfrm>
          <a:custGeom>
            <a:avLst/>
            <a:gdLst/>
            <a:ahLst/>
            <a:cxnLst/>
            <a:rect r="r" b="b" t="t" l="l"/>
            <a:pathLst>
              <a:path h="947042" w="945320">
                <a:moveTo>
                  <a:pt x="0" y="0"/>
                </a:moveTo>
                <a:lnTo>
                  <a:pt x="945320" y="0"/>
                </a:lnTo>
                <a:lnTo>
                  <a:pt x="945320" y="947042"/>
                </a:lnTo>
                <a:lnTo>
                  <a:pt x="0" y="9470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551308" y="5175581"/>
            <a:ext cx="1320979" cy="636472"/>
          </a:xfrm>
          <a:custGeom>
            <a:avLst/>
            <a:gdLst/>
            <a:ahLst/>
            <a:cxnLst/>
            <a:rect r="r" b="b" t="t" l="l"/>
            <a:pathLst>
              <a:path h="636472" w="1320979">
                <a:moveTo>
                  <a:pt x="0" y="0"/>
                </a:moveTo>
                <a:lnTo>
                  <a:pt x="1320979" y="0"/>
                </a:lnTo>
                <a:lnTo>
                  <a:pt x="1320979" y="636472"/>
                </a:lnTo>
                <a:lnTo>
                  <a:pt x="0" y="636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3709609" y="6774946"/>
            <a:ext cx="864391" cy="947042"/>
          </a:xfrm>
          <a:custGeom>
            <a:avLst/>
            <a:gdLst/>
            <a:ahLst/>
            <a:cxnLst/>
            <a:rect r="r" b="b" t="t" l="l"/>
            <a:pathLst>
              <a:path h="947042" w="864391">
                <a:moveTo>
                  <a:pt x="0" y="0"/>
                </a:moveTo>
                <a:lnTo>
                  <a:pt x="864391" y="0"/>
                </a:lnTo>
                <a:lnTo>
                  <a:pt x="864391" y="947042"/>
                </a:lnTo>
                <a:lnTo>
                  <a:pt x="0" y="9470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2575372" y="6847479"/>
            <a:ext cx="969086" cy="801976"/>
          </a:xfrm>
          <a:custGeom>
            <a:avLst/>
            <a:gdLst/>
            <a:ahLst/>
            <a:cxnLst/>
            <a:rect r="r" b="b" t="t" l="l"/>
            <a:pathLst>
              <a:path h="801976" w="969086">
                <a:moveTo>
                  <a:pt x="0" y="0"/>
                </a:moveTo>
                <a:lnTo>
                  <a:pt x="969086" y="0"/>
                </a:lnTo>
                <a:lnTo>
                  <a:pt x="969086" y="801976"/>
                </a:lnTo>
                <a:lnTo>
                  <a:pt x="0" y="8019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2857045" y="2711735"/>
            <a:ext cx="757633" cy="947042"/>
          </a:xfrm>
          <a:custGeom>
            <a:avLst/>
            <a:gdLst/>
            <a:ahLst/>
            <a:cxnLst/>
            <a:rect r="r" b="b" t="t" l="l"/>
            <a:pathLst>
              <a:path h="947042" w="757633">
                <a:moveTo>
                  <a:pt x="0" y="0"/>
                </a:moveTo>
                <a:lnTo>
                  <a:pt x="757633" y="0"/>
                </a:lnTo>
                <a:lnTo>
                  <a:pt x="757633" y="947042"/>
                </a:lnTo>
                <a:lnTo>
                  <a:pt x="0" y="9470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399305" y="2850374"/>
            <a:ext cx="579769" cy="808403"/>
          </a:xfrm>
          <a:custGeom>
            <a:avLst/>
            <a:gdLst/>
            <a:ahLst/>
            <a:cxnLst/>
            <a:rect r="r" b="b" t="t" l="l"/>
            <a:pathLst>
              <a:path h="808403" w="579769">
                <a:moveTo>
                  <a:pt x="0" y="0"/>
                </a:moveTo>
                <a:lnTo>
                  <a:pt x="579769" y="0"/>
                </a:lnTo>
                <a:lnTo>
                  <a:pt x="579769" y="808403"/>
                </a:lnTo>
                <a:lnTo>
                  <a:pt x="0" y="80840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6" id="16"/>
          <p:cNvGrpSpPr/>
          <p:nvPr/>
        </p:nvGrpSpPr>
        <p:grpSpPr>
          <a:xfrm rot="0">
            <a:off x="2903889" y="2033066"/>
            <a:ext cx="640569" cy="64056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18" id="18"/>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2799522" y="6009481"/>
            <a:ext cx="640569" cy="64056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21" id="21"/>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22" id="22"/>
          <p:cNvGrpSpPr/>
          <p:nvPr/>
        </p:nvGrpSpPr>
        <p:grpSpPr>
          <a:xfrm rot="0">
            <a:off x="2857045" y="4525225"/>
            <a:ext cx="640569" cy="64056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24" id="24"/>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25" id="25"/>
          <p:cNvGrpSpPr/>
          <p:nvPr/>
        </p:nvGrpSpPr>
        <p:grpSpPr>
          <a:xfrm rot="-2947579">
            <a:off x="1683997" y="4498073"/>
            <a:ext cx="640569" cy="64056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27" id="27"/>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28" id="28"/>
          <p:cNvGrpSpPr/>
          <p:nvPr/>
        </p:nvGrpSpPr>
        <p:grpSpPr>
          <a:xfrm rot="3021472">
            <a:off x="4125663" y="4541612"/>
            <a:ext cx="640569" cy="64056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30" id="30"/>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31" id="31"/>
          <p:cNvGrpSpPr/>
          <p:nvPr/>
        </p:nvGrpSpPr>
        <p:grpSpPr>
          <a:xfrm rot="0">
            <a:off x="2821734" y="7843934"/>
            <a:ext cx="640569" cy="64056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33" id="33"/>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sp>
        <p:nvSpPr>
          <p:cNvPr name="TextBox 34" id="34"/>
          <p:cNvSpPr txBox="true"/>
          <p:nvPr/>
        </p:nvSpPr>
        <p:spPr>
          <a:xfrm rot="0">
            <a:off x="7511165" y="701784"/>
            <a:ext cx="1035523"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1</a:t>
            </a:r>
          </a:p>
        </p:txBody>
      </p:sp>
      <p:sp>
        <p:nvSpPr>
          <p:cNvPr name="TextBox 35" id="35"/>
          <p:cNvSpPr txBox="true"/>
          <p:nvPr/>
        </p:nvSpPr>
        <p:spPr>
          <a:xfrm rot="0">
            <a:off x="8028926" y="808087"/>
            <a:ext cx="8446893"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Ορισμός προβλήματος</a:t>
            </a:r>
          </a:p>
        </p:txBody>
      </p:sp>
      <p:grpSp>
        <p:nvGrpSpPr>
          <p:cNvPr name="Group 36" id="36"/>
          <p:cNvGrpSpPr/>
          <p:nvPr/>
        </p:nvGrpSpPr>
        <p:grpSpPr>
          <a:xfrm rot="0">
            <a:off x="600214" y="358924"/>
            <a:ext cx="5679755" cy="9633315"/>
            <a:chOff x="0" y="0"/>
            <a:chExt cx="1809171" cy="3068497"/>
          </a:xfrm>
        </p:grpSpPr>
        <p:sp>
          <p:nvSpPr>
            <p:cNvPr name="Freeform 37" id="37"/>
            <p:cNvSpPr/>
            <p:nvPr/>
          </p:nvSpPr>
          <p:spPr>
            <a:xfrm flipH="false" flipV="false" rot="0">
              <a:off x="0" y="0"/>
              <a:ext cx="1809171" cy="3068497"/>
            </a:xfrm>
            <a:custGeom>
              <a:avLst/>
              <a:gdLst/>
              <a:ahLst/>
              <a:cxnLst/>
              <a:rect r="r" b="b" t="t" l="l"/>
              <a:pathLst>
                <a:path h="3068497" w="1809171">
                  <a:moveTo>
                    <a:pt x="136307" y="0"/>
                  </a:moveTo>
                  <a:lnTo>
                    <a:pt x="1672863" y="0"/>
                  </a:lnTo>
                  <a:cubicBezTo>
                    <a:pt x="1748144" y="0"/>
                    <a:pt x="1809171" y="61027"/>
                    <a:pt x="1809171" y="136307"/>
                  </a:cubicBezTo>
                  <a:lnTo>
                    <a:pt x="1809171" y="2932189"/>
                  </a:lnTo>
                  <a:cubicBezTo>
                    <a:pt x="1809171" y="3007470"/>
                    <a:pt x="1748144" y="3068497"/>
                    <a:pt x="1672863" y="3068497"/>
                  </a:cubicBezTo>
                  <a:lnTo>
                    <a:pt x="136307" y="3068497"/>
                  </a:lnTo>
                  <a:cubicBezTo>
                    <a:pt x="61027" y="3068497"/>
                    <a:pt x="0" y="3007470"/>
                    <a:pt x="0" y="2932189"/>
                  </a:cubicBezTo>
                  <a:lnTo>
                    <a:pt x="0" y="136307"/>
                  </a:lnTo>
                  <a:cubicBezTo>
                    <a:pt x="0" y="61027"/>
                    <a:pt x="61027" y="0"/>
                    <a:pt x="136307" y="0"/>
                  </a:cubicBezTo>
                  <a:close/>
                </a:path>
              </a:pathLst>
            </a:custGeom>
            <a:solidFill>
              <a:srgbClr val="A69C8E">
                <a:alpha val="11765"/>
              </a:srgbClr>
            </a:solidFill>
          </p:spPr>
        </p:sp>
        <p:sp>
          <p:nvSpPr>
            <p:cNvPr name="TextBox 38" id="38"/>
            <p:cNvSpPr txBox="true"/>
            <p:nvPr/>
          </p:nvSpPr>
          <p:spPr>
            <a:xfrm>
              <a:off x="0" y="-57150"/>
              <a:ext cx="1809171" cy="3125647"/>
            </a:xfrm>
            <a:prstGeom prst="rect">
              <a:avLst/>
            </a:prstGeom>
          </p:spPr>
          <p:txBody>
            <a:bodyPr anchor="ctr" rtlCol="false" tIns="50800" lIns="50800" bIns="50800" rIns="50800"/>
            <a:lstStyle/>
            <a:p>
              <a:pPr algn="ctr">
                <a:lnSpc>
                  <a:spcPts val="3359"/>
                </a:lnSpc>
              </a:pPr>
            </a:p>
          </p:txBody>
        </p:sp>
      </p:grpSp>
      <p:sp>
        <p:nvSpPr>
          <p:cNvPr name="Freeform 39" id="39"/>
          <p:cNvSpPr/>
          <p:nvPr/>
        </p:nvSpPr>
        <p:spPr>
          <a:xfrm flipH="false" flipV="false" rot="0">
            <a:off x="4162688" y="981249"/>
            <a:ext cx="945320" cy="947042"/>
          </a:xfrm>
          <a:custGeom>
            <a:avLst/>
            <a:gdLst/>
            <a:ahLst/>
            <a:cxnLst/>
            <a:rect r="r" b="b" t="t" l="l"/>
            <a:pathLst>
              <a:path h="947042" w="945320">
                <a:moveTo>
                  <a:pt x="0" y="0"/>
                </a:moveTo>
                <a:lnTo>
                  <a:pt x="945320" y="0"/>
                </a:lnTo>
                <a:lnTo>
                  <a:pt x="945320" y="947042"/>
                </a:lnTo>
                <a:lnTo>
                  <a:pt x="0" y="94704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40" id="40"/>
          <p:cNvGrpSpPr/>
          <p:nvPr/>
        </p:nvGrpSpPr>
        <p:grpSpPr>
          <a:xfrm rot="0">
            <a:off x="4446555" y="2033066"/>
            <a:ext cx="640569" cy="640569"/>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42" id="42"/>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sp>
        <p:nvSpPr>
          <p:cNvPr name="Freeform 43" id="43"/>
          <p:cNvSpPr/>
          <p:nvPr/>
        </p:nvSpPr>
        <p:spPr>
          <a:xfrm flipH="false" flipV="false" rot="0">
            <a:off x="1054637" y="981249"/>
            <a:ext cx="945320" cy="947042"/>
          </a:xfrm>
          <a:custGeom>
            <a:avLst/>
            <a:gdLst/>
            <a:ahLst/>
            <a:cxnLst/>
            <a:rect r="r" b="b" t="t" l="l"/>
            <a:pathLst>
              <a:path h="947042" w="945320">
                <a:moveTo>
                  <a:pt x="0" y="0"/>
                </a:moveTo>
                <a:lnTo>
                  <a:pt x="945320" y="0"/>
                </a:lnTo>
                <a:lnTo>
                  <a:pt x="945320" y="947042"/>
                </a:lnTo>
                <a:lnTo>
                  <a:pt x="0" y="94704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44" id="44"/>
          <p:cNvGrpSpPr/>
          <p:nvPr/>
        </p:nvGrpSpPr>
        <p:grpSpPr>
          <a:xfrm rot="0">
            <a:off x="1338504" y="2071166"/>
            <a:ext cx="640569" cy="640569"/>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46" id="46"/>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47" id="47"/>
          <p:cNvGrpSpPr/>
          <p:nvPr/>
        </p:nvGrpSpPr>
        <p:grpSpPr>
          <a:xfrm rot="2988498">
            <a:off x="1578037" y="7839497"/>
            <a:ext cx="640569" cy="640569"/>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49" id="49"/>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grpSp>
        <p:nvGrpSpPr>
          <p:cNvPr name="Group 50" id="50"/>
          <p:cNvGrpSpPr/>
          <p:nvPr/>
        </p:nvGrpSpPr>
        <p:grpSpPr>
          <a:xfrm rot="-2947579">
            <a:off x="4294180" y="7839077"/>
            <a:ext cx="640569" cy="640569"/>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52" id="52"/>
            <p:cNvSpPr txBox="true"/>
            <p:nvPr/>
          </p:nvSpPr>
          <p:spPr>
            <a:xfrm>
              <a:off x="203200" y="-57150"/>
              <a:ext cx="406400" cy="768350"/>
            </a:xfrm>
            <a:prstGeom prst="rect">
              <a:avLst/>
            </a:prstGeom>
          </p:spPr>
          <p:txBody>
            <a:bodyPr anchor="ctr" rtlCol="false" tIns="50800" lIns="50800" bIns="50800" rIns="50800"/>
            <a:lstStyle/>
            <a:p>
              <a:pPr algn="ctr">
                <a:lnSpc>
                  <a:spcPts val="3359"/>
                </a:lnSpc>
              </a:pPr>
            </a:p>
          </p:txBody>
        </p:sp>
      </p:grpSp>
      <p:sp>
        <p:nvSpPr>
          <p:cNvPr name="Freeform 53" id="53"/>
          <p:cNvSpPr/>
          <p:nvPr/>
        </p:nvSpPr>
        <p:spPr>
          <a:xfrm flipH="false" flipV="false" rot="0">
            <a:off x="1190932" y="8611138"/>
            <a:ext cx="996515" cy="1202431"/>
          </a:xfrm>
          <a:custGeom>
            <a:avLst/>
            <a:gdLst/>
            <a:ahLst/>
            <a:cxnLst/>
            <a:rect r="r" b="b" t="t" l="l"/>
            <a:pathLst>
              <a:path h="1202431" w="996515">
                <a:moveTo>
                  <a:pt x="0" y="0"/>
                </a:moveTo>
                <a:lnTo>
                  <a:pt x="996515" y="0"/>
                </a:lnTo>
                <a:lnTo>
                  <a:pt x="996515" y="1202432"/>
                </a:lnTo>
                <a:lnTo>
                  <a:pt x="0" y="1202432"/>
                </a:lnTo>
                <a:lnTo>
                  <a:pt x="0" y="0"/>
                </a:lnTo>
                <a:close/>
              </a:path>
            </a:pathLst>
          </a:custGeom>
          <a:blipFill>
            <a:blip r:embed="rId22"/>
            <a:stretch>
              <a:fillRect l="0" t="0" r="0" b="0"/>
            </a:stretch>
          </a:blipFill>
        </p:spPr>
      </p:sp>
      <p:sp>
        <p:nvSpPr>
          <p:cNvPr name="Freeform 54" id="54"/>
          <p:cNvSpPr/>
          <p:nvPr/>
        </p:nvSpPr>
        <p:spPr>
          <a:xfrm flipH="false" flipV="false" rot="0">
            <a:off x="2669358" y="8595373"/>
            <a:ext cx="996515" cy="1202431"/>
          </a:xfrm>
          <a:custGeom>
            <a:avLst/>
            <a:gdLst/>
            <a:ahLst/>
            <a:cxnLst/>
            <a:rect r="r" b="b" t="t" l="l"/>
            <a:pathLst>
              <a:path h="1202431" w="996515">
                <a:moveTo>
                  <a:pt x="0" y="0"/>
                </a:moveTo>
                <a:lnTo>
                  <a:pt x="996515" y="0"/>
                </a:lnTo>
                <a:lnTo>
                  <a:pt x="996515" y="1202431"/>
                </a:lnTo>
                <a:lnTo>
                  <a:pt x="0" y="1202431"/>
                </a:lnTo>
                <a:lnTo>
                  <a:pt x="0" y="0"/>
                </a:lnTo>
                <a:close/>
              </a:path>
            </a:pathLst>
          </a:custGeom>
          <a:blipFill>
            <a:blip r:embed="rId22"/>
            <a:stretch>
              <a:fillRect l="0" t="0" r="0" b="0"/>
            </a:stretch>
          </a:blipFill>
        </p:spPr>
      </p:sp>
      <p:sp>
        <p:nvSpPr>
          <p:cNvPr name="Freeform 55" id="55"/>
          <p:cNvSpPr/>
          <p:nvPr/>
        </p:nvSpPr>
        <p:spPr>
          <a:xfrm flipH="false" flipV="false" rot="0">
            <a:off x="4360708" y="8484504"/>
            <a:ext cx="996515" cy="1202431"/>
          </a:xfrm>
          <a:custGeom>
            <a:avLst/>
            <a:gdLst/>
            <a:ahLst/>
            <a:cxnLst/>
            <a:rect r="r" b="b" t="t" l="l"/>
            <a:pathLst>
              <a:path h="1202431" w="996515">
                <a:moveTo>
                  <a:pt x="0" y="0"/>
                </a:moveTo>
                <a:lnTo>
                  <a:pt x="996514" y="0"/>
                </a:lnTo>
                <a:lnTo>
                  <a:pt x="996514" y="1202431"/>
                </a:lnTo>
                <a:lnTo>
                  <a:pt x="0" y="1202431"/>
                </a:lnTo>
                <a:lnTo>
                  <a:pt x="0" y="0"/>
                </a:lnTo>
                <a:close/>
              </a:path>
            </a:pathLst>
          </a:custGeom>
          <a:blipFill>
            <a:blip r:embed="rId22"/>
            <a:stretch>
              <a:fillRect l="0" t="0" r="0" b="0"/>
            </a:stretch>
          </a:blipFill>
        </p:spPr>
      </p:sp>
      <p:sp>
        <p:nvSpPr>
          <p:cNvPr name="Freeform 56" id="56"/>
          <p:cNvSpPr/>
          <p:nvPr/>
        </p:nvSpPr>
        <p:spPr>
          <a:xfrm flipH="false" flipV="false" rot="0">
            <a:off x="1926650" y="8754013"/>
            <a:ext cx="491882" cy="491882"/>
          </a:xfrm>
          <a:custGeom>
            <a:avLst/>
            <a:gdLst/>
            <a:ahLst/>
            <a:cxnLst/>
            <a:rect r="r" b="b" t="t" l="l"/>
            <a:pathLst>
              <a:path h="491882" w="491882">
                <a:moveTo>
                  <a:pt x="0" y="0"/>
                </a:moveTo>
                <a:lnTo>
                  <a:pt x="491882" y="0"/>
                </a:lnTo>
                <a:lnTo>
                  <a:pt x="491882" y="491883"/>
                </a:lnTo>
                <a:lnTo>
                  <a:pt x="0" y="49188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57" id="57"/>
          <p:cNvSpPr/>
          <p:nvPr/>
        </p:nvSpPr>
        <p:spPr>
          <a:xfrm flipH="false" flipV="false" rot="0">
            <a:off x="3433899" y="8773083"/>
            <a:ext cx="463948" cy="472813"/>
          </a:xfrm>
          <a:custGeom>
            <a:avLst/>
            <a:gdLst/>
            <a:ahLst/>
            <a:cxnLst/>
            <a:rect r="r" b="b" t="t" l="l"/>
            <a:pathLst>
              <a:path h="472813" w="463948">
                <a:moveTo>
                  <a:pt x="0" y="0"/>
                </a:moveTo>
                <a:lnTo>
                  <a:pt x="463948" y="0"/>
                </a:lnTo>
                <a:lnTo>
                  <a:pt x="463948" y="472813"/>
                </a:lnTo>
                <a:lnTo>
                  <a:pt x="0" y="472813"/>
                </a:lnTo>
                <a:lnTo>
                  <a:pt x="0" y="0"/>
                </a:lnTo>
                <a:close/>
              </a:path>
            </a:pathLst>
          </a:custGeom>
          <a:blipFill>
            <a:blip r:embed="rId25"/>
            <a:stretch>
              <a:fillRect l="0" t="0" r="0" b="0"/>
            </a:stretch>
          </a:blipFill>
        </p:spPr>
      </p:sp>
      <p:sp>
        <p:nvSpPr>
          <p:cNvPr name="TextBox 58" id="58"/>
          <p:cNvSpPr txBox="true"/>
          <p:nvPr/>
        </p:nvSpPr>
        <p:spPr>
          <a:xfrm rot="0">
            <a:off x="1514898" y="425805"/>
            <a:ext cx="1807268" cy="415290"/>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Glacial Indifference"/>
                <a:ea typeface="Glacial Indifference"/>
                <a:cs typeface="Glacial Indifference"/>
                <a:sym typeface="Glacial Indifference"/>
              </a:rPr>
              <a:t>Εκπαίδευση</a:t>
            </a:r>
          </a:p>
        </p:txBody>
      </p:sp>
      <p:sp>
        <p:nvSpPr>
          <p:cNvPr name="TextBox 59" id="59"/>
          <p:cNvSpPr txBox="true"/>
          <p:nvPr/>
        </p:nvSpPr>
        <p:spPr>
          <a:xfrm rot="0">
            <a:off x="3896351" y="416280"/>
            <a:ext cx="1807268" cy="41529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Glacial Indifference"/>
                <a:ea typeface="Glacial Indifference"/>
                <a:cs typeface="Glacial Indifference"/>
                <a:sym typeface="Glacial Indifference"/>
              </a:rPr>
              <a:t>Δοκιμή</a:t>
            </a:r>
          </a:p>
        </p:txBody>
      </p:sp>
      <p:sp>
        <p:nvSpPr>
          <p:cNvPr name="Freeform 60" id="60"/>
          <p:cNvSpPr/>
          <p:nvPr/>
        </p:nvSpPr>
        <p:spPr>
          <a:xfrm flipH="false" flipV="false" rot="0">
            <a:off x="5140116" y="8700294"/>
            <a:ext cx="463948" cy="472813"/>
          </a:xfrm>
          <a:custGeom>
            <a:avLst/>
            <a:gdLst/>
            <a:ahLst/>
            <a:cxnLst/>
            <a:rect r="r" b="b" t="t" l="l"/>
            <a:pathLst>
              <a:path h="472813" w="463948">
                <a:moveTo>
                  <a:pt x="0" y="0"/>
                </a:moveTo>
                <a:lnTo>
                  <a:pt x="463947" y="0"/>
                </a:lnTo>
                <a:lnTo>
                  <a:pt x="463947" y="472813"/>
                </a:lnTo>
                <a:lnTo>
                  <a:pt x="0" y="472813"/>
                </a:lnTo>
                <a:lnTo>
                  <a:pt x="0" y="0"/>
                </a:lnTo>
                <a:close/>
              </a:path>
            </a:pathLst>
          </a:custGeom>
          <a:blipFill>
            <a:blip r:embed="rId2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9514672" y="3338092"/>
            <a:ext cx="8385462" cy="5097731"/>
            <a:chOff x="0" y="0"/>
            <a:chExt cx="2671018" cy="1623779"/>
          </a:xfrm>
        </p:grpSpPr>
        <p:sp>
          <p:nvSpPr>
            <p:cNvPr name="Freeform 3" id="3"/>
            <p:cNvSpPr/>
            <p:nvPr/>
          </p:nvSpPr>
          <p:spPr>
            <a:xfrm flipH="false" flipV="false" rot="0">
              <a:off x="0" y="0"/>
              <a:ext cx="2671019" cy="1623779"/>
            </a:xfrm>
            <a:custGeom>
              <a:avLst/>
              <a:gdLst/>
              <a:ahLst/>
              <a:cxnLst/>
              <a:rect r="r" b="b" t="t" l="l"/>
              <a:pathLst>
                <a:path h="1623779" w="2671019">
                  <a:moveTo>
                    <a:pt x="92326" y="0"/>
                  </a:moveTo>
                  <a:lnTo>
                    <a:pt x="2578693" y="0"/>
                  </a:lnTo>
                  <a:cubicBezTo>
                    <a:pt x="2603179" y="0"/>
                    <a:pt x="2626663" y="9727"/>
                    <a:pt x="2643977" y="27042"/>
                  </a:cubicBezTo>
                  <a:cubicBezTo>
                    <a:pt x="2661291" y="44356"/>
                    <a:pt x="2671019" y="67839"/>
                    <a:pt x="2671019" y="92326"/>
                  </a:cubicBezTo>
                  <a:lnTo>
                    <a:pt x="2671019" y="1531453"/>
                  </a:lnTo>
                  <a:cubicBezTo>
                    <a:pt x="2671019" y="1582443"/>
                    <a:pt x="2629683" y="1623779"/>
                    <a:pt x="2578693" y="1623779"/>
                  </a:cubicBezTo>
                  <a:lnTo>
                    <a:pt x="92326" y="1623779"/>
                  </a:lnTo>
                  <a:cubicBezTo>
                    <a:pt x="67839" y="1623779"/>
                    <a:pt x="44356" y="1614052"/>
                    <a:pt x="27042" y="1596737"/>
                  </a:cubicBezTo>
                  <a:cubicBezTo>
                    <a:pt x="9727" y="1579423"/>
                    <a:pt x="0" y="1555939"/>
                    <a:pt x="0" y="1531453"/>
                  </a:cubicBezTo>
                  <a:lnTo>
                    <a:pt x="0" y="92326"/>
                  </a:lnTo>
                  <a:cubicBezTo>
                    <a:pt x="0" y="67839"/>
                    <a:pt x="9727" y="44356"/>
                    <a:pt x="27042" y="27042"/>
                  </a:cubicBezTo>
                  <a:cubicBezTo>
                    <a:pt x="44356" y="9727"/>
                    <a:pt x="67839" y="0"/>
                    <a:pt x="92326" y="0"/>
                  </a:cubicBezTo>
                  <a:close/>
                </a:path>
              </a:pathLst>
            </a:custGeom>
            <a:solidFill>
              <a:srgbClr val="A69C8E">
                <a:alpha val="11765"/>
              </a:srgbClr>
            </a:solidFill>
          </p:spPr>
        </p:sp>
        <p:sp>
          <p:nvSpPr>
            <p:cNvPr name="TextBox 4" id="4"/>
            <p:cNvSpPr txBox="true"/>
            <p:nvPr/>
          </p:nvSpPr>
          <p:spPr>
            <a:xfrm>
              <a:off x="0" y="-57150"/>
              <a:ext cx="2671018" cy="1680929"/>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0128912" y="3761662"/>
            <a:ext cx="7127089" cy="4147966"/>
          </a:xfrm>
          <a:custGeom>
            <a:avLst/>
            <a:gdLst/>
            <a:ahLst/>
            <a:cxnLst/>
            <a:rect r="r" b="b" t="t" l="l"/>
            <a:pathLst>
              <a:path h="4147966" w="7127089">
                <a:moveTo>
                  <a:pt x="0" y="0"/>
                </a:moveTo>
                <a:lnTo>
                  <a:pt x="7127089" y="0"/>
                </a:lnTo>
                <a:lnTo>
                  <a:pt x="7127089" y="4147966"/>
                </a:lnTo>
                <a:lnTo>
                  <a:pt x="0" y="4147966"/>
                </a:lnTo>
                <a:lnTo>
                  <a:pt x="0" y="0"/>
                </a:lnTo>
                <a:close/>
              </a:path>
            </a:pathLst>
          </a:custGeom>
          <a:blipFill>
            <a:blip r:embed="rId2"/>
            <a:stretch>
              <a:fillRect l="0" t="0" r="0" b="0"/>
            </a:stretch>
          </a:blipFill>
        </p:spPr>
      </p:sp>
      <p:sp>
        <p:nvSpPr>
          <p:cNvPr name="AutoShape 6" id="6"/>
          <p:cNvSpPr/>
          <p:nvPr/>
        </p:nvSpPr>
        <p:spPr>
          <a:xfrm>
            <a:off x="5973651" y="2315075"/>
            <a:ext cx="7175540" cy="0"/>
          </a:xfrm>
          <a:prstGeom prst="line">
            <a:avLst/>
          </a:prstGeom>
          <a:ln cap="flat" w="38100">
            <a:solidFill>
              <a:srgbClr val="A69C8E"/>
            </a:solidFill>
            <a:prstDash val="solid"/>
            <a:headEnd type="oval" len="lg" w="lg"/>
            <a:tailEnd type="oval" len="lg" w="lg"/>
          </a:ln>
        </p:spPr>
      </p:sp>
      <p:sp>
        <p:nvSpPr>
          <p:cNvPr name="TextBox 7" id="7"/>
          <p:cNvSpPr txBox="true"/>
          <p:nvPr/>
        </p:nvSpPr>
        <p:spPr>
          <a:xfrm rot="0">
            <a:off x="5567334" y="971550"/>
            <a:ext cx="7894676" cy="1028701"/>
          </a:xfrm>
          <a:prstGeom prst="rect">
            <a:avLst/>
          </a:prstGeom>
        </p:spPr>
        <p:txBody>
          <a:bodyPr anchor="t" rtlCol="false" tIns="0" lIns="0" bIns="0" rIns="0">
            <a:spAutoFit/>
          </a:bodyPr>
          <a:lstStyle/>
          <a:p>
            <a:pPr algn="ctr">
              <a:lnSpc>
                <a:spcPts val="4199"/>
              </a:lnSpc>
              <a:spcBef>
                <a:spcPct val="0"/>
              </a:spcBef>
            </a:pPr>
            <a:r>
              <a:rPr lang="en-US" b="true" sz="2999" spc="1259">
                <a:solidFill>
                  <a:srgbClr val="827564"/>
                </a:solidFill>
                <a:latin typeface="Open Sauce Bold"/>
                <a:ea typeface="Open Sauce Bold"/>
                <a:cs typeface="Open Sauce Bold"/>
                <a:sym typeface="Open Sauce Bold"/>
              </a:rPr>
              <a:t>ΠΑΘΟΛΟΓΙΚΟΙ ΑΝΑΠΝΕΥΣΤΙΚΟΙ ΗΧΟΙ</a:t>
            </a:r>
          </a:p>
        </p:txBody>
      </p:sp>
      <p:sp>
        <p:nvSpPr>
          <p:cNvPr name="TextBox 8" id="8"/>
          <p:cNvSpPr txBox="true"/>
          <p:nvPr/>
        </p:nvSpPr>
        <p:spPr>
          <a:xfrm rot="0">
            <a:off x="387866" y="3299992"/>
            <a:ext cx="8775700" cy="5033206"/>
          </a:xfrm>
          <a:prstGeom prst="rect">
            <a:avLst/>
          </a:prstGeom>
        </p:spPr>
        <p:txBody>
          <a:bodyPr anchor="t" rtlCol="false" tIns="0" lIns="0" bIns="0" rIns="0">
            <a:spAutoFit/>
          </a:bodyPr>
          <a:lstStyle/>
          <a:p>
            <a:pPr algn="l">
              <a:lnSpc>
                <a:spcPts val="2337"/>
              </a:lnSpc>
              <a:spcBef>
                <a:spcPct val="0"/>
              </a:spcBef>
            </a:pPr>
            <a:r>
              <a:rPr lang="en-US" sz="1669">
                <a:solidFill>
                  <a:srgbClr val="827564"/>
                </a:solidFill>
                <a:latin typeface="Glacial Indifference"/>
                <a:ea typeface="Glacial Indifference"/>
                <a:cs typeface="Glacial Indifference"/>
                <a:sym typeface="Glacial Indifference"/>
              </a:rPr>
              <a:t>Οι </a:t>
            </a:r>
            <a:r>
              <a:rPr lang="en-US" b="true" sz="1669">
                <a:solidFill>
                  <a:srgbClr val="827564"/>
                </a:solidFill>
                <a:latin typeface="Glacial Indifference Bold"/>
                <a:ea typeface="Glacial Indifference Bold"/>
                <a:cs typeface="Glacial Indifference Bold"/>
                <a:sym typeface="Glacial Indifference Bold"/>
              </a:rPr>
              <a:t>ρόγχοι (crackles)</a:t>
            </a:r>
            <a:r>
              <a:rPr lang="en-US" sz="1669">
                <a:solidFill>
                  <a:srgbClr val="827564"/>
                </a:solidFill>
                <a:latin typeface="Glacial Indifference"/>
                <a:ea typeface="Glacial Indifference"/>
                <a:cs typeface="Glacial Indifference"/>
                <a:sym typeface="Glacial Indifference"/>
              </a:rPr>
              <a:t> γενικά είναι </a:t>
            </a:r>
            <a:r>
              <a:rPr lang="en-US" b="true" sz="1669">
                <a:solidFill>
                  <a:srgbClr val="827564"/>
                </a:solidFill>
                <a:latin typeface="Glacial Indifference Bold"/>
                <a:ea typeface="Glacial Indifference Bold"/>
                <a:cs typeface="Glacial Indifference Bold"/>
                <a:sym typeface="Glacial Indifference Bold"/>
              </a:rPr>
              <a:t>διαλείποντες, μη μουσικοί, βραχείας</a:t>
            </a:r>
          </a:p>
          <a:p>
            <a:pPr algn="l">
              <a:lnSpc>
                <a:spcPts val="2337"/>
              </a:lnSpc>
              <a:spcBef>
                <a:spcPct val="0"/>
              </a:spcBef>
            </a:pPr>
            <a:r>
              <a:rPr lang="en-US" b="true" sz="1669">
                <a:solidFill>
                  <a:srgbClr val="827564"/>
                </a:solidFill>
                <a:latin typeface="Glacial Indifference Bold"/>
                <a:ea typeface="Glacial Indifference Bold"/>
                <a:cs typeface="Glacial Indifference Bold"/>
                <a:sym typeface="Glacial Indifference Bold"/>
              </a:rPr>
              <a:t>διάρκειας και εκρηκτικοί</a:t>
            </a:r>
            <a:r>
              <a:rPr lang="en-US" sz="1669">
                <a:solidFill>
                  <a:srgbClr val="827564"/>
                </a:solidFill>
                <a:latin typeface="Glacial Indifference"/>
                <a:ea typeface="Glacial Indifference"/>
                <a:cs typeface="Glacial Indifference"/>
                <a:sym typeface="Glacial Indifference"/>
              </a:rPr>
              <a:t> ήχοι. Πρόκειται δηλαδή για ήχους που εμφανίζονται </a:t>
            </a:r>
            <a:r>
              <a:rPr lang="en-US" b="true" sz="1669">
                <a:solidFill>
                  <a:srgbClr val="827564"/>
                </a:solidFill>
                <a:latin typeface="Glacial Indifference Bold"/>
                <a:ea typeface="Glacial Indifference Bold"/>
                <a:cs typeface="Glacial Indifference Bold"/>
                <a:sym typeface="Glacial Indifference Bold"/>
              </a:rPr>
              <a:t>στιγμιαία </a:t>
            </a:r>
            <a:r>
              <a:rPr lang="en-US" sz="1669">
                <a:solidFill>
                  <a:srgbClr val="827564"/>
                </a:solidFill>
                <a:latin typeface="Glacial Indifference"/>
                <a:ea typeface="Glacial Indifference"/>
                <a:cs typeface="Glacial Indifference"/>
                <a:sym typeface="Glacial Indifference"/>
              </a:rPr>
              <a:t>και</a:t>
            </a:r>
            <a:r>
              <a:rPr lang="en-US" b="true" sz="1669">
                <a:solidFill>
                  <a:srgbClr val="827564"/>
                </a:solidFill>
                <a:latin typeface="Glacial Indifference Bold"/>
                <a:ea typeface="Glacial Indifference Bold"/>
                <a:cs typeface="Glacial Indifference Bold"/>
                <a:sym typeface="Glacial Indifference Bold"/>
              </a:rPr>
              <a:t> ασυνεχώς </a:t>
            </a:r>
            <a:r>
              <a:rPr lang="en-US" sz="1669">
                <a:solidFill>
                  <a:srgbClr val="827564"/>
                </a:solidFill>
                <a:latin typeface="Glacial Indifference"/>
                <a:ea typeface="Glacial Indifference"/>
                <a:cs typeface="Glacial Indifference"/>
                <a:sym typeface="Glacial Indifference"/>
              </a:rPr>
              <a:t>κατά τη διάρκεια του αναπνευστικού κύκλου, κυρίως </a:t>
            </a:r>
            <a:r>
              <a:rPr lang="en-US" b="true" sz="1669">
                <a:solidFill>
                  <a:srgbClr val="827564"/>
                </a:solidFill>
                <a:latin typeface="Glacial Indifference Bold"/>
                <a:ea typeface="Glacial Indifference Bold"/>
                <a:cs typeface="Glacial Indifference Bold"/>
                <a:sym typeface="Glacial Indifference Bold"/>
              </a:rPr>
              <a:t>κατά την εισπνοή</a:t>
            </a:r>
            <a:r>
              <a:rPr lang="en-US" sz="1669">
                <a:solidFill>
                  <a:srgbClr val="827564"/>
                </a:solidFill>
                <a:latin typeface="Glacial Indifference"/>
                <a:ea typeface="Glacial Indifference"/>
                <a:cs typeface="Glacial Indifference"/>
                <a:sym typeface="Glacial Indifference"/>
              </a:rPr>
              <a:t>. Επίσης, </a:t>
            </a:r>
            <a:r>
              <a:rPr lang="en-US" b="true" sz="1669">
                <a:solidFill>
                  <a:srgbClr val="827564"/>
                </a:solidFill>
                <a:latin typeface="Glacial Indifference Bold"/>
                <a:ea typeface="Glacial Indifference Bold"/>
                <a:cs typeface="Glacial Indifference Bold"/>
                <a:sym typeface="Glacial Indifference Bold"/>
              </a:rPr>
              <a:t>δεν έχουν σταθερό τόνο </a:t>
            </a:r>
            <a:r>
              <a:rPr lang="en-US" sz="1669">
                <a:solidFill>
                  <a:srgbClr val="827564"/>
                </a:solidFill>
                <a:latin typeface="Glacial Indifference"/>
                <a:ea typeface="Glacial Indifference"/>
                <a:cs typeface="Glacial Indifference"/>
                <a:sym typeface="Glacial Indifference"/>
              </a:rPr>
              <a:t>ή μελωδία και κάθε επιμέρους ήχος διαρκεί </a:t>
            </a:r>
            <a:r>
              <a:rPr lang="en-US" b="true" sz="1669">
                <a:solidFill>
                  <a:srgbClr val="827564"/>
                </a:solidFill>
                <a:latin typeface="Glacial Indifference Bold"/>
                <a:ea typeface="Glacial Indifference Bold"/>
                <a:cs typeface="Glacial Indifference Bold"/>
                <a:sym typeface="Glacial Indifference Bold"/>
              </a:rPr>
              <a:t>ελάχιστα χιλιοστά του δευτερολέπτου</a:t>
            </a:r>
            <a:r>
              <a:rPr lang="en-US" sz="1669">
                <a:solidFill>
                  <a:srgbClr val="827564"/>
                </a:solidFill>
                <a:latin typeface="Glacial Indifference"/>
                <a:ea typeface="Glacial Indifference"/>
                <a:cs typeface="Glacial Indifference"/>
                <a:sym typeface="Glacial Indifference"/>
              </a:rPr>
              <a:t>. Τέλος, ο χαρακτηρισμός εκρηκτικοί αποδίδει πιο διαισθητικά την ακουστική τους αίσθηση, καθώς πρόκειται για ήχους που ξεκινούν απότομα και θυμίζουν </a:t>
            </a:r>
            <a:r>
              <a:rPr lang="en-US" b="true" sz="1669">
                <a:solidFill>
                  <a:srgbClr val="827564"/>
                </a:solidFill>
                <a:latin typeface="Glacial Indifference Bold"/>
                <a:ea typeface="Glacial Indifference Bold"/>
                <a:cs typeface="Glacial Indifference Bold"/>
                <a:sym typeface="Glacial Indifference Bold"/>
              </a:rPr>
              <a:t>μικρές εκρήξεις </a:t>
            </a:r>
            <a:r>
              <a:rPr lang="en-US" sz="1669">
                <a:solidFill>
                  <a:srgbClr val="827564"/>
                </a:solidFill>
                <a:latin typeface="Glacial Indifference"/>
                <a:ea typeface="Glacial Indifference"/>
                <a:cs typeface="Glacial Indifference"/>
                <a:sym typeface="Glacial Indifference"/>
              </a:rPr>
              <a:t>ή σπάσιμο φυσαλίδων, γεγονός που αποδίδεται στις ταχείες μεταβολές πίεσης και τάσης κατά το άνοιγμα ή το κλείσιμο των αεραγωγών. </a:t>
            </a:r>
          </a:p>
          <a:p>
            <a:pPr algn="l">
              <a:lnSpc>
                <a:spcPts val="2337"/>
              </a:lnSpc>
              <a:spcBef>
                <a:spcPct val="0"/>
              </a:spcBef>
            </a:pPr>
          </a:p>
          <a:p>
            <a:pPr algn="l">
              <a:lnSpc>
                <a:spcPts val="2483"/>
              </a:lnSpc>
              <a:spcBef>
                <a:spcPct val="0"/>
              </a:spcBef>
            </a:pPr>
            <a:r>
              <a:rPr lang="en-US" sz="1773">
                <a:solidFill>
                  <a:srgbClr val="827564"/>
                </a:solidFill>
                <a:latin typeface="Glacial Indifference"/>
                <a:ea typeface="Glacial Indifference"/>
                <a:cs typeface="Glacial Indifference"/>
                <a:sym typeface="Glacial Indifference"/>
              </a:rPr>
              <a:t>Οι </a:t>
            </a:r>
            <a:r>
              <a:rPr lang="en-US" b="true" sz="1773">
                <a:solidFill>
                  <a:srgbClr val="827564"/>
                </a:solidFill>
                <a:latin typeface="Glacial Indifference Bold"/>
                <a:ea typeface="Glacial Indifference Bold"/>
                <a:cs typeface="Glacial Indifference Bold"/>
                <a:sym typeface="Glacial Indifference Bold"/>
              </a:rPr>
              <a:t>συριγμοί (wheezes)</a:t>
            </a:r>
            <a:r>
              <a:rPr lang="en-US" sz="1773">
                <a:solidFill>
                  <a:srgbClr val="827564"/>
                </a:solidFill>
                <a:latin typeface="Glacial Indifference"/>
                <a:ea typeface="Glacial Indifference"/>
                <a:cs typeface="Glacial Indifference"/>
                <a:sym typeface="Glacial Indifference"/>
              </a:rPr>
              <a:t> είναι </a:t>
            </a:r>
            <a:r>
              <a:rPr lang="en-US" b="true" sz="1773">
                <a:solidFill>
                  <a:srgbClr val="827564"/>
                </a:solidFill>
                <a:latin typeface="Glacial Indifference Bold"/>
                <a:ea typeface="Glacial Indifference Bold"/>
                <a:cs typeface="Glacial Indifference Bold"/>
                <a:sym typeface="Glacial Indifference Bold"/>
              </a:rPr>
              <a:t>συνεχόμενοι, μουσικοί, υψηλής συχνότητας</a:t>
            </a:r>
            <a:r>
              <a:rPr lang="en-US" sz="1773">
                <a:solidFill>
                  <a:srgbClr val="827564"/>
                </a:solidFill>
                <a:latin typeface="Glacial Indifference"/>
                <a:ea typeface="Glacial Indifference"/>
                <a:cs typeface="Glacial Indifference"/>
                <a:sym typeface="Glacial Indifference"/>
              </a:rPr>
              <a:t> ήχοι που παράγονται κυρίως κατά τη φάση της </a:t>
            </a:r>
            <a:r>
              <a:rPr lang="en-US" b="true" sz="1773">
                <a:solidFill>
                  <a:srgbClr val="827564"/>
                </a:solidFill>
                <a:latin typeface="Glacial Indifference Bold"/>
                <a:ea typeface="Glacial Indifference Bold"/>
                <a:cs typeface="Glacial Indifference Bold"/>
                <a:sym typeface="Glacial Indifference Bold"/>
              </a:rPr>
              <a:t>εκπνοής</a:t>
            </a:r>
            <a:r>
              <a:rPr lang="en-US" sz="1773">
                <a:solidFill>
                  <a:srgbClr val="827564"/>
                </a:solidFill>
                <a:latin typeface="Glacial Indifference"/>
                <a:ea typeface="Glacial Indifference"/>
                <a:cs typeface="Glacial Indifference"/>
                <a:sym typeface="Glacial Indifference"/>
              </a:rPr>
              <a:t>, αν και σε σοβαρότερες περιπτώσεις μπορεί να εμφανίζονται και κατά την εισπνοή ή να έχουν </a:t>
            </a:r>
            <a:r>
              <a:rPr lang="en-US" b="true" sz="1773">
                <a:solidFill>
                  <a:srgbClr val="827564"/>
                </a:solidFill>
                <a:latin typeface="Glacial Indifference Bold"/>
                <a:ea typeface="Glacial Indifference Bold"/>
                <a:cs typeface="Glacial Indifference Bold"/>
                <a:sym typeface="Glacial Indifference Bold"/>
              </a:rPr>
              <a:t>διφασικό χαρακτήρα</a:t>
            </a:r>
            <a:r>
              <a:rPr lang="en-US" sz="1773">
                <a:solidFill>
                  <a:srgbClr val="827564"/>
                </a:solidFill>
                <a:latin typeface="Glacial Indifference"/>
                <a:ea typeface="Glacial Indifference"/>
                <a:cs typeface="Glacial Indifference"/>
                <a:sym typeface="Glacial Indifference"/>
              </a:rPr>
              <a:t>. Σαν ήχοι παρουσιάζουν </a:t>
            </a:r>
            <a:r>
              <a:rPr lang="en-US" b="true" sz="1773">
                <a:solidFill>
                  <a:srgbClr val="827564"/>
                </a:solidFill>
                <a:latin typeface="Glacial Indifference Bold"/>
                <a:ea typeface="Glacial Indifference Bold"/>
                <a:cs typeface="Glacial Indifference Bold"/>
                <a:sym typeface="Glacial Indifference Bold"/>
              </a:rPr>
              <a:t>παρατεταμένη διάρκεια</a:t>
            </a:r>
            <a:r>
              <a:rPr lang="en-US" sz="1773">
                <a:solidFill>
                  <a:srgbClr val="827564"/>
                </a:solidFill>
                <a:latin typeface="Glacial Indifference"/>
                <a:ea typeface="Glacial Indifference"/>
                <a:cs typeface="Glacial Indifference"/>
                <a:sym typeface="Glacial Indifference"/>
              </a:rPr>
              <a:t> και ακολουθούν σχετικά </a:t>
            </a:r>
            <a:r>
              <a:rPr lang="en-US" b="true" sz="1773">
                <a:solidFill>
                  <a:srgbClr val="827564"/>
                </a:solidFill>
                <a:latin typeface="Glacial Indifference Bold"/>
                <a:ea typeface="Glacial Indifference Bold"/>
                <a:cs typeface="Glacial Indifference Bold"/>
                <a:sym typeface="Glacial Indifference Bold"/>
              </a:rPr>
              <a:t>σταθερό χρονικό μοτίβο</a:t>
            </a:r>
            <a:r>
              <a:rPr lang="en-US" sz="1773">
                <a:solidFill>
                  <a:srgbClr val="827564"/>
                </a:solidFill>
                <a:latin typeface="Glacial Indifference"/>
                <a:ea typeface="Glacial Indifference"/>
                <a:cs typeface="Glacial Indifference"/>
                <a:sym typeface="Glacial Indifference"/>
              </a:rPr>
              <a:t>. Ο χαρακτηρισμός μουσικοί υποδηλώνει ότι διαθέτουν </a:t>
            </a:r>
            <a:r>
              <a:rPr lang="en-US" b="true" sz="1773">
                <a:solidFill>
                  <a:srgbClr val="827564"/>
                </a:solidFill>
                <a:latin typeface="Glacial Indifference Bold"/>
                <a:ea typeface="Glacial Indifference Bold"/>
                <a:cs typeface="Glacial Indifference Bold"/>
                <a:sym typeface="Glacial Indifference Bold"/>
              </a:rPr>
              <a:t>σχεδόν σταθερή συχνότητα</a:t>
            </a:r>
            <a:r>
              <a:rPr lang="en-US" sz="1773">
                <a:solidFill>
                  <a:srgbClr val="827564"/>
                </a:solidFill>
                <a:latin typeface="Glacial Indifference"/>
                <a:ea typeface="Glacial Indifference"/>
                <a:cs typeface="Glacial Indifference"/>
                <a:sym typeface="Glacial Indifference"/>
              </a:rPr>
              <a:t>, γεγονός που τους προσδίδει ακουστικά την αίσθηση ενός </a:t>
            </a:r>
            <a:r>
              <a:rPr lang="en-US" b="true" sz="1773">
                <a:solidFill>
                  <a:srgbClr val="827564"/>
                </a:solidFill>
                <a:latin typeface="Glacial Indifference Bold"/>
                <a:ea typeface="Glacial Indifference Bold"/>
                <a:cs typeface="Glacial Indifference Bold"/>
                <a:sym typeface="Glacial Indifference Bold"/>
              </a:rPr>
              <a:t>λεπτού σφυρίγματος.</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78172" y="952500"/>
            <a:ext cx="10666353" cy="639446"/>
          </a:xfrm>
          <a:prstGeom prst="rect">
            <a:avLst/>
          </a:prstGeom>
        </p:spPr>
        <p:txBody>
          <a:bodyPr anchor="t" rtlCol="false" tIns="0" lIns="0" bIns="0" rIns="0">
            <a:spAutoFit/>
          </a:bodyPr>
          <a:lstStyle/>
          <a:p>
            <a:pPr algn="l">
              <a:lnSpc>
                <a:spcPts val="5179"/>
              </a:lnSpc>
              <a:spcBef>
                <a:spcPct val="0"/>
              </a:spcBef>
            </a:pPr>
            <a:r>
              <a:rPr lang="en-US" b="true" sz="3699" spc="1553">
                <a:solidFill>
                  <a:srgbClr val="827564"/>
                </a:solidFill>
                <a:latin typeface="Open Sauce Bold"/>
                <a:ea typeface="Open Sauce Bold"/>
                <a:cs typeface="Open Sauce Bold"/>
                <a:sym typeface="Open Sauce Bold"/>
              </a:rPr>
              <a:t>Η ΒΑΣΗ ΔΕΔΟΜΕΝΩΝ RSDB</a:t>
            </a:r>
          </a:p>
        </p:txBody>
      </p:sp>
      <p:sp>
        <p:nvSpPr>
          <p:cNvPr name="Freeform 3" id="3"/>
          <p:cNvSpPr/>
          <p:nvPr/>
        </p:nvSpPr>
        <p:spPr>
          <a:xfrm flipH="false" flipV="false" rot="-2093462">
            <a:off x="6649059" y="-1377990"/>
            <a:ext cx="16841122" cy="14973289"/>
          </a:xfrm>
          <a:custGeom>
            <a:avLst/>
            <a:gdLst/>
            <a:ahLst/>
            <a:cxnLst/>
            <a:rect r="r" b="b" t="t" l="l"/>
            <a:pathLst>
              <a:path h="14973289" w="16841122">
                <a:moveTo>
                  <a:pt x="0" y="0"/>
                </a:moveTo>
                <a:lnTo>
                  <a:pt x="16841122" y="0"/>
                </a:lnTo>
                <a:lnTo>
                  <a:pt x="16841122" y="14973289"/>
                </a:lnTo>
                <a:lnTo>
                  <a:pt x="0" y="14973289"/>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2052040" y="6932486"/>
            <a:ext cx="5619227" cy="1535008"/>
          </a:xfrm>
          <a:custGeom>
            <a:avLst/>
            <a:gdLst/>
            <a:ahLst/>
            <a:cxnLst/>
            <a:rect r="r" b="b" t="t" l="l"/>
            <a:pathLst>
              <a:path h="1535008" w="5619227">
                <a:moveTo>
                  <a:pt x="0" y="0"/>
                </a:moveTo>
                <a:lnTo>
                  <a:pt x="5619227" y="0"/>
                </a:lnTo>
                <a:lnTo>
                  <a:pt x="5619227" y="1535008"/>
                </a:lnTo>
                <a:lnTo>
                  <a:pt x="0" y="1535008"/>
                </a:lnTo>
                <a:lnTo>
                  <a:pt x="0" y="0"/>
                </a:lnTo>
                <a:close/>
              </a:path>
            </a:pathLst>
          </a:custGeom>
          <a:blipFill>
            <a:blip r:embed="rId4"/>
            <a:stretch>
              <a:fillRect l="0" t="0" r="0" b="0"/>
            </a:stretch>
          </a:blipFill>
        </p:spPr>
      </p:sp>
      <p:sp>
        <p:nvSpPr>
          <p:cNvPr name="AutoShape 5" id="5"/>
          <p:cNvSpPr/>
          <p:nvPr/>
        </p:nvSpPr>
        <p:spPr>
          <a:xfrm flipH="true">
            <a:off x="368300" y="1802887"/>
            <a:ext cx="10776225" cy="0"/>
          </a:xfrm>
          <a:prstGeom prst="line">
            <a:avLst/>
          </a:prstGeom>
          <a:ln cap="flat" w="38100">
            <a:solidFill>
              <a:srgbClr val="827564"/>
            </a:solidFill>
            <a:prstDash val="solid"/>
            <a:headEnd type="oval" len="lg" w="lg"/>
            <a:tailEnd type="oval" len="lg" w="lg"/>
          </a:ln>
        </p:spPr>
      </p:sp>
      <p:sp>
        <p:nvSpPr>
          <p:cNvPr name="Freeform 6" id="6"/>
          <p:cNvSpPr/>
          <p:nvPr/>
        </p:nvSpPr>
        <p:spPr>
          <a:xfrm flipH="false" flipV="false" rot="0">
            <a:off x="14811622" y="3158602"/>
            <a:ext cx="3202903" cy="1984898"/>
          </a:xfrm>
          <a:custGeom>
            <a:avLst/>
            <a:gdLst/>
            <a:ahLst/>
            <a:cxnLst/>
            <a:rect r="r" b="b" t="t" l="l"/>
            <a:pathLst>
              <a:path h="1984898" w="3202903">
                <a:moveTo>
                  <a:pt x="0" y="0"/>
                </a:moveTo>
                <a:lnTo>
                  <a:pt x="3202904" y="0"/>
                </a:lnTo>
                <a:lnTo>
                  <a:pt x="3202904" y="1984898"/>
                </a:lnTo>
                <a:lnTo>
                  <a:pt x="0" y="1984898"/>
                </a:lnTo>
                <a:lnTo>
                  <a:pt x="0" y="0"/>
                </a:lnTo>
                <a:close/>
              </a:path>
            </a:pathLst>
          </a:custGeom>
          <a:blipFill>
            <a:blip r:embed="rId5"/>
            <a:stretch>
              <a:fillRect l="0" t="0" r="0" b="0"/>
            </a:stretch>
          </a:blipFill>
        </p:spPr>
      </p:sp>
      <p:sp>
        <p:nvSpPr>
          <p:cNvPr name="Freeform 7" id="7"/>
          <p:cNvSpPr/>
          <p:nvPr/>
        </p:nvSpPr>
        <p:spPr>
          <a:xfrm flipH="false" flipV="false" rot="0">
            <a:off x="11851240" y="601023"/>
            <a:ext cx="2827408" cy="2403729"/>
          </a:xfrm>
          <a:custGeom>
            <a:avLst/>
            <a:gdLst/>
            <a:ahLst/>
            <a:cxnLst/>
            <a:rect r="r" b="b" t="t" l="l"/>
            <a:pathLst>
              <a:path h="2403729" w="2827408">
                <a:moveTo>
                  <a:pt x="0" y="0"/>
                </a:moveTo>
                <a:lnTo>
                  <a:pt x="2827408" y="0"/>
                </a:lnTo>
                <a:lnTo>
                  <a:pt x="2827408" y="2403729"/>
                </a:lnTo>
                <a:lnTo>
                  <a:pt x="0" y="2403729"/>
                </a:lnTo>
                <a:lnTo>
                  <a:pt x="0" y="0"/>
                </a:lnTo>
                <a:close/>
              </a:path>
            </a:pathLst>
          </a:custGeom>
          <a:blipFill>
            <a:blip r:embed="rId6"/>
            <a:stretch>
              <a:fillRect l="0" t="0" r="0" b="0"/>
            </a:stretch>
          </a:blipFill>
        </p:spPr>
      </p:sp>
      <p:sp>
        <p:nvSpPr>
          <p:cNvPr name="Freeform 8" id="8"/>
          <p:cNvSpPr/>
          <p:nvPr/>
        </p:nvSpPr>
        <p:spPr>
          <a:xfrm flipH="false" flipV="false" rot="0">
            <a:off x="14761591" y="601023"/>
            <a:ext cx="3302966" cy="2403729"/>
          </a:xfrm>
          <a:custGeom>
            <a:avLst/>
            <a:gdLst/>
            <a:ahLst/>
            <a:cxnLst/>
            <a:rect r="r" b="b" t="t" l="l"/>
            <a:pathLst>
              <a:path h="2403729" w="3302966">
                <a:moveTo>
                  <a:pt x="0" y="0"/>
                </a:moveTo>
                <a:lnTo>
                  <a:pt x="3302966" y="0"/>
                </a:lnTo>
                <a:lnTo>
                  <a:pt x="3302966" y="2403729"/>
                </a:lnTo>
                <a:lnTo>
                  <a:pt x="0" y="2403729"/>
                </a:lnTo>
                <a:lnTo>
                  <a:pt x="0" y="0"/>
                </a:lnTo>
                <a:close/>
              </a:path>
            </a:pathLst>
          </a:custGeom>
          <a:blipFill>
            <a:blip r:embed="rId7"/>
            <a:stretch>
              <a:fillRect l="0" t="0" r="0" b="0"/>
            </a:stretch>
          </a:blipFill>
        </p:spPr>
      </p:sp>
      <p:sp>
        <p:nvSpPr>
          <p:cNvPr name="Freeform 9" id="9"/>
          <p:cNvSpPr/>
          <p:nvPr/>
        </p:nvSpPr>
        <p:spPr>
          <a:xfrm flipH="false" flipV="false" rot="0">
            <a:off x="11934183" y="3158602"/>
            <a:ext cx="2827408" cy="1984898"/>
          </a:xfrm>
          <a:custGeom>
            <a:avLst/>
            <a:gdLst/>
            <a:ahLst/>
            <a:cxnLst/>
            <a:rect r="r" b="b" t="t" l="l"/>
            <a:pathLst>
              <a:path h="1984898" w="2827408">
                <a:moveTo>
                  <a:pt x="0" y="0"/>
                </a:moveTo>
                <a:lnTo>
                  <a:pt x="2827408" y="0"/>
                </a:lnTo>
                <a:lnTo>
                  <a:pt x="2827408" y="1984898"/>
                </a:lnTo>
                <a:lnTo>
                  <a:pt x="0" y="1984898"/>
                </a:lnTo>
                <a:lnTo>
                  <a:pt x="0" y="0"/>
                </a:lnTo>
                <a:close/>
              </a:path>
            </a:pathLst>
          </a:custGeom>
          <a:blipFill>
            <a:blip r:embed="rId8"/>
            <a:stretch>
              <a:fillRect l="0" t="0" r="0" b="0"/>
            </a:stretch>
          </a:blipFill>
        </p:spPr>
      </p:sp>
      <p:sp>
        <p:nvSpPr>
          <p:cNvPr name="TextBox 10" id="10"/>
          <p:cNvSpPr txBox="true"/>
          <p:nvPr/>
        </p:nvSpPr>
        <p:spPr>
          <a:xfrm rot="0">
            <a:off x="368300" y="2121648"/>
            <a:ext cx="10776225" cy="4572031"/>
          </a:xfrm>
          <a:prstGeom prst="rect">
            <a:avLst/>
          </a:prstGeom>
        </p:spPr>
        <p:txBody>
          <a:bodyPr anchor="t" rtlCol="false" tIns="0" lIns="0" bIns="0" rIns="0">
            <a:spAutoFit/>
          </a:bodyPr>
          <a:lstStyle/>
          <a:p>
            <a:pPr algn="l">
              <a:lnSpc>
                <a:spcPts val="2623"/>
              </a:lnSpc>
              <a:spcBef>
                <a:spcPct val="0"/>
              </a:spcBef>
            </a:pPr>
            <a:r>
              <a:rPr lang="en-US" sz="1873">
                <a:solidFill>
                  <a:srgbClr val="827564"/>
                </a:solidFill>
                <a:latin typeface="Glacial Indifference"/>
                <a:ea typeface="Glacial Indifference"/>
                <a:cs typeface="Glacial Indifference"/>
                <a:sym typeface="Glacial Indifference"/>
              </a:rPr>
              <a:t>Η</a:t>
            </a:r>
            <a:r>
              <a:rPr lang="en-US" sz="1873">
                <a:solidFill>
                  <a:srgbClr val="827564"/>
                </a:solidFill>
                <a:latin typeface="Glacial Indifference"/>
                <a:ea typeface="Glacial Indifference"/>
                <a:cs typeface="Glacial Indifference"/>
                <a:sym typeface="Glacial Indifference"/>
              </a:rPr>
              <a:t> πα</a:t>
            </a:r>
            <a:r>
              <a:rPr lang="en-US" sz="1873">
                <a:solidFill>
                  <a:srgbClr val="827564"/>
                </a:solidFill>
                <a:latin typeface="Glacial Indifference"/>
                <a:ea typeface="Glacial Indifference"/>
                <a:cs typeface="Glacial Indifference"/>
                <a:sym typeface="Glacial Indifference"/>
              </a:rPr>
              <a:t>ρο</a:t>
            </a:r>
            <a:r>
              <a:rPr lang="en-US" sz="1873">
                <a:solidFill>
                  <a:srgbClr val="827564"/>
                </a:solidFill>
                <a:latin typeface="Glacial Indifference"/>
                <a:ea typeface="Glacial Indifference"/>
                <a:cs typeface="Glacial Indifference"/>
                <a:sym typeface="Glacial Indifference"/>
              </a:rPr>
              <a:t>ύσα</a:t>
            </a:r>
            <a:r>
              <a:rPr lang="en-US" sz="1873">
                <a:solidFill>
                  <a:srgbClr val="827564"/>
                </a:solidFill>
                <a:latin typeface="Glacial Indifference"/>
                <a:ea typeface="Glacial Indifference"/>
                <a:cs typeface="Glacial Indifference"/>
                <a:sym typeface="Glacial Indifference"/>
              </a:rPr>
              <a:t> </a:t>
            </a:r>
            <a:r>
              <a:rPr lang="en-US" sz="1873">
                <a:solidFill>
                  <a:srgbClr val="827564"/>
                </a:solidFill>
                <a:latin typeface="Glacial Indifference"/>
                <a:ea typeface="Glacial Indifference"/>
                <a:cs typeface="Glacial Indifference"/>
                <a:sym typeface="Glacial Indifference"/>
              </a:rPr>
              <a:t>εργα</a:t>
            </a:r>
            <a:r>
              <a:rPr lang="en-US" sz="1873">
                <a:solidFill>
                  <a:srgbClr val="827564"/>
                </a:solidFill>
                <a:latin typeface="Glacial Indifference"/>
                <a:ea typeface="Glacial Indifference"/>
                <a:cs typeface="Glacial Indifference"/>
                <a:sym typeface="Glacial Indifference"/>
              </a:rPr>
              <a:t>σί</a:t>
            </a:r>
            <a:r>
              <a:rPr lang="en-US" sz="1873">
                <a:solidFill>
                  <a:srgbClr val="827564"/>
                </a:solidFill>
                <a:latin typeface="Glacial Indifference"/>
                <a:ea typeface="Glacial Indifference"/>
                <a:cs typeface="Glacial Indifference"/>
                <a:sym typeface="Glacial Indifference"/>
              </a:rPr>
              <a:t>α</a:t>
            </a:r>
            <a:r>
              <a:rPr lang="en-US" sz="1873">
                <a:solidFill>
                  <a:srgbClr val="827564"/>
                </a:solidFill>
                <a:latin typeface="Glacial Indifference"/>
                <a:ea typeface="Glacial Indifference"/>
                <a:cs typeface="Glacial Indifference"/>
                <a:sym typeface="Glacial Indifference"/>
              </a:rPr>
              <a:t> βα</a:t>
            </a:r>
            <a:r>
              <a:rPr lang="en-US" sz="1873">
                <a:solidFill>
                  <a:srgbClr val="827564"/>
                </a:solidFill>
                <a:latin typeface="Glacial Indifference"/>
                <a:ea typeface="Glacial Indifference"/>
                <a:cs typeface="Glacial Indifference"/>
                <a:sym typeface="Glacial Indifference"/>
              </a:rPr>
              <a:t>σ</a:t>
            </a:r>
            <a:r>
              <a:rPr lang="en-US" sz="1873">
                <a:solidFill>
                  <a:srgbClr val="827564"/>
                </a:solidFill>
                <a:latin typeface="Glacial Indifference"/>
                <a:ea typeface="Glacial Indifference"/>
                <a:cs typeface="Glacial Indifference"/>
                <a:sym typeface="Glacial Indifference"/>
              </a:rPr>
              <a:t>ί</a:t>
            </a:r>
            <a:r>
              <a:rPr lang="en-US" sz="1873">
                <a:solidFill>
                  <a:srgbClr val="827564"/>
                </a:solidFill>
                <a:latin typeface="Glacial Indifference"/>
                <a:ea typeface="Glacial Indifference"/>
                <a:cs typeface="Glacial Indifference"/>
                <a:sym typeface="Glacial Indifference"/>
              </a:rPr>
              <a:t>ζ</a:t>
            </a:r>
            <a:r>
              <a:rPr lang="en-US" sz="1873">
                <a:solidFill>
                  <a:srgbClr val="827564"/>
                </a:solidFill>
                <a:latin typeface="Glacial Indifference"/>
                <a:ea typeface="Glacial Indifference"/>
                <a:cs typeface="Glacial Indifference"/>
                <a:sym typeface="Glacial Indifference"/>
              </a:rPr>
              <a:t>ε</a:t>
            </a:r>
            <a:r>
              <a:rPr lang="en-US" sz="1873">
                <a:solidFill>
                  <a:srgbClr val="827564"/>
                </a:solidFill>
                <a:latin typeface="Glacial Indifference"/>
                <a:ea typeface="Glacial Indifference"/>
                <a:cs typeface="Glacial Indifference"/>
                <a:sym typeface="Glacial Indifference"/>
              </a:rPr>
              <a:t>τ</a:t>
            </a:r>
            <a:r>
              <a:rPr lang="en-US" sz="1873">
                <a:solidFill>
                  <a:srgbClr val="827564"/>
                </a:solidFill>
                <a:latin typeface="Glacial Indifference"/>
                <a:ea typeface="Glacial Indifference"/>
                <a:cs typeface="Glacial Indifference"/>
                <a:sym typeface="Glacial Indifference"/>
              </a:rPr>
              <a:t>αι </a:t>
            </a:r>
            <a:r>
              <a:rPr lang="en-US" sz="1873">
                <a:solidFill>
                  <a:srgbClr val="827564"/>
                </a:solidFill>
                <a:latin typeface="Glacial Indifference"/>
                <a:ea typeface="Glacial Indifference"/>
                <a:cs typeface="Glacial Indifference"/>
                <a:sym typeface="Glacial Indifference"/>
              </a:rPr>
              <a:t>στ</a:t>
            </a:r>
            <a:r>
              <a:rPr lang="en-US" sz="1873">
                <a:solidFill>
                  <a:srgbClr val="827564"/>
                </a:solidFill>
                <a:latin typeface="Glacial Indifference"/>
                <a:ea typeface="Glacial Indifference"/>
                <a:cs typeface="Glacial Indifference"/>
                <a:sym typeface="Glacial Indifference"/>
              </a:rPr>
              <a:t>η</a:t>
            </a:r>
            <a:r>
              <a:rPr lang="en-US" sz="1873">
                <a:solidFill>
                  <a:srgbClr val="827564"/>
                </a:solidFill>
                <a:latin typeface="Glacial Indifference"/>
                <a:ea typeface="Glacial Indifference"/>
                <a:cs typeface="Glacial Indifference"/>
                <a:sym typeface="Glacial Indifference"/>
              </a:rPr>
              <a:t> δημόσια διαθέ</a:t>
            </a:r>
            <a:r>
              <a:rPr lang="en-US" sz="1873">
                <a:solidFill>
                  <a:srgbClr val="827564"/>
                </a:solidFill>
                <a:latin typeface="Glacial Indifference"/>
                <a:ea typeface="Glacial Indifference"/>
                <a:cs typeface="Glacial Indifference"/>
                <a:sym typeface="Glacial Indifference"/>
              </a:rPr>
              <a:t>σιμ</a:t>
            </a:r>
            <a:r>
              <a:rPr lang="en-US" sz="1873">
                <a:solidFill>
                  <a:srgbClr val="827564"/>
                </a:solidFill>
                <a:latin typeface="Glacial Indifference"/>
                <a:ea typeface="Glacial Indifference"/>
                <a:cs typeface="Glacial Indifference"/>
                <a:sym typeface="Glacial Indifference"/>
              </a:rPr>
              <a:t>η</a:t>
            </a:r>
            <a:r>
              <a:rPr lang="en-US" sz="1873">
                <a:solidFill>
                  <a:srgbClr val="827564"/>
                </a:solidFill>
                <a:latin typeface="Glacial Indifference"/>
                <a:ea typeface="Glacial Indifference"/>
                <a:cs typeface="Glacial Indifference"/>
                <a:sym typeface="Glacial Indifference"/>
              </a:rPr>
              <a:t> </a:t>
            </a:r>
            <a:r>
              <a:rPr lang="en-US" sz="1873">
                <a:solidFill>
                  <a:srgbClr val="827564"/>
                </a:solidFill>
                <a:latin typeface="Glacial Indifference"/>
                <a:ea typeface="Glacial Indifference"/>
                <a:cs typeface="Glacial Indifference"/>
                <a:sym typeface="Glacial Indifference"/>
              </a:rPr>
              <a:t>βά</a:t>
            </a:r>
            <a:r>
              <a:rPr lang="en-US" sz="1873">
                <a:solidFill>
                  <a:srgbClr val="827564"/>
                </a:solidFill>
                <a:latin typeface="Glacial Indifference"/>
                <a:ea typeface="Glacial Indifference"/>
                <a:cs typeface="Glacial Indifference"/>
                <a:sym typeface="Glacial Indifference"/>
              </a:rPr>
              <a:t>σ</a:t>
            </a:r>
            <a:r>
              <a:rPr lang="en-US" sz="1873">
                <a:solidFill>
                  <a:srgbClr val="827564"/>
                </a:solidFill>
                <a:latin typeface="Glacial Indifference"/>
                <a:ea typeface="Glacial Indifference"/>
                <a:cs typeface="Glacial Indifference"/>
                <a:sym typeface="Glacial Indifference"/>
              </a:rPr>
              <a:t>η δεδομένων αναπνευστικώ</a:t>
            </a:r>
            <a:r>
              <a:rPr lang="en-US" sz="1873">
                <a:solidFill>
                  <a:srgbClr val="827564"/>
                </a:solidFill>
                <a:latin typeface="Glacial Indifference"/>
                <a:ea typeface="Glacial Indifference"/>
                <a:cs typeface="Glacial Indifference"/>
                <a:sym typeface="Glacial Indifference"/>
              </a:rPr>
              <a:t>ν ήχ</a:t>
            </a:r>
            <a:r>
              <a:rPr lang="en-US" sz="1873">
                <a:solidFill>
                  <a:srgbClr val="827564"/>
                </a:solidFill>
                <a:latin typeface="Glacial Indifference"/>
                <a:ea typeface="Glacial Indifference"/>
                <a:cs typeface="Glacial Indifference"/>
                <a:sym typeface="Glacial Indifference"/>
              </a:rPr>
              <a:t>ω</a:t>
            </a:r>
            <a:r>
              <a:rPr lang="en-US" sz="1873">
                <a:solidFill>
                  <a:srgbClr val="827564"/>
                </a:solidFill>
                <a:latin typeface="Glacial Indifference"/>
                <a:ea typeface="Glacial Indifference"/>
                <a:cs typeface="Glacial Indifference"/>
                <a:sym typeface="Glacial Indifference"/>
              </a:rPr>
              <a:t>ν </a:t>
            </a:r>
            <a:r>
              <a:rPr lang="en-US" b="true" sz="1873">
                <a:solidFill>
                  <a:srgbClr val="827564"/>
                </a:solidFill>
                <a:latin typeface="Glacial Indifference Bold"/>
                <a:ea typeface="Glacial Indifference Bold"/>
                <a:cs typeface="Glacial Indifference Bold"/>
                <a:sym typeface="Glacial Indifference Bold"/>
              </a:rPr>
              <a:t>RSDB </a:t>
            </a:r>
            <a:r>
              <a:rPr lang="en-US" sz="1873">
                <a:solidFill>
                  <a:srgbClr val="827564"/>
                </a:solidFill>
                <a:latin typeface="Glacial Indifference"/>
                <a:ea typeface="Glacial Indifference"/>
                <a:cs typeface="Glacial Indifference"/>
                <a:sym typeface="Glacial Indifference"/>
              </a:rPr>
              <a:t>το</a:t>
            </a:r>
            <a:r>
              <a:rPr lang="en-US" sz="1873">
                <a:solidFill>
                  <a:srgbClr val="827564"/>
                </a:solidFill>
                <a:latin typeface="Glacial Indifference"/>
                <a:ea typeface="Glacial Indifference"/>
                <a:cs typeface="Glacial Indifference"/>
                <a:sym typeface="Glacial Indifference"/>
              </a:rPr>
              <a:t>υ επιστημονικού διαγων</a:t>
            </a:r>
            <a:r>
              <a:rPr lang="en-US" sz="1873">
                <a:solidFill>
                  <a:srgbClr val="827564"/>
                </a:solidFill>
                <a:latin typeface="Glacial Indifference"/>
                <a:ea typeface="Glacial Indifference"/>
                <a:cs typeface="Glacial Indifference"/>
                <a:sym typeface="Glacial Indifference"/>
              </a:rPr>
              <a:t>ισ</a:t>
            </a:r>
            <a:r>
              <a:rPr lang="en-US" sz="1873">
                <a:solidFill>
                  <a:srgbClr val="827564"/>
                </a:solidFill>
                <a:latin typeface="Glacial Indifference"/>
                <a:ea typeface="Glacial Indifference"/>
                <a:cs typeface="Glacial Indifference"/>
                <a:sym typeface="Glacial Indifference"/>
              </a:rPr>
              <a:t>μ</a:t>
            </a:r>
            <a:r>
              <a:rPr lang="en-US" sz="1873">
                <a:solidFill>
                  <a:srgbClr val="827564"/>
                </a:solidFill>
                <a:latin typeface="Glacial Indifference"/>
                <a:ea typeface="Glacial Indifference"/>
                <a:cs typeface="Glacial Indifference"/>
                <a:sym typeface="Glacial Indifference"/>
              </a:rPr>
              <a:t>ο</a:t>
            </a:r>
            <a:r>
              <a:rPr lang="en-US" sz="1873">
                <a:solidFill>
                  <a:srgbClr val="827564"/>
                </a:solidFill>
                <a:latin typeface="Glacial Indifference"/>
                <a:ea typeface="Glacial Indifference"/>
                <a:cs typeface="Glacial Indifference"/>
                <a:sym typeface="Glacial Indifference"/>
              </a:rPr>
              <a:t>ύ</a:t>
            </a:r>
            <a:r>
              <a:rPr lang="en-US" sz="1873">
                <a:solidFill>
                  <a:srgbClr val="827564"/>
                </a:solidFill>
                <a:latin typeface="Glacial Indifference"/>
                <a:ea typeface="Glacial Indifference"/>
                <a:cs typeface="Glacial Indifference"/>
                <a:sym typeface="Glacial Indifference"/>
              </a:rPr>
              <a:t> </a:t>
            </a:r>
            <a:r>
              <a:rPr lang="en-US" sz="1873">
                <a:solidFill>
                  <a:srgbClr val="827564"/>
                </a:solidFill>
                <a:latin typeface="Glacial Indifference"/>
                <a:ea typeface="Glacial Indifference"/>
                <a:cs typeface="Glacial Indifference"/>
                <a:sym typeface="Glacial Indifference"/>
              </a:rPr>
              <a:t>ICBHI</a:t>
            </a:r>
            <a:r>
              <a:rPr lang="en-US" sz="1873">
                <a:solidFill>
                  <a:srgbClr val="827564"/>
                </a:solidFill>
                <a:latin typeface="Glacial Indifference"/>
                <a:ea typeface="Glacial Indifference"/>
                <a:cs typeface="Glacial Indifference"/>
                <a:sym typeface="Glacial Indifference"/>
              </a:rPr>
              <a:t> </a:t>
            </a:r>
            <a:r>
              <a:rPr lang="en-US" sz="1873">
                <a:solidFill>
                  <a:srgbClr val="827564"/>
                </a:solidFill>
                <a:latin typeface="Glacial Indifference"/>
                <a:ea typeface="Glacial Indifference"/>
                <a:cs typeface="Glacial Indifference"/>
                <a:sym typeface="Glacial Indifference"/>
              </a:rPr>
              <a:t>2017 (International Conference on Biomedical and Health Informatics).  </a:t>
            </a:r>
            <a:r>
              <a:rPr lang="en-US" sz="1873">
                <a:solidFill>
                  <a:srgbClr val="827564"/>
                </a:solidFill>
                <a:latin typeface="Glacial Indifference"/>
                <a:ea typeface="Glacial Indifference"/>
                <a:cs typeface="Glacial Indifference"/>
                <a:sym typeface="Glacial Indifference"/>
              </a:rPr>
              <a:t>Συνολικά περιλαμβάνει</a:t>
            </a:r>
            <a:r>
              <a:rPr lang="en-US" b="true" sz="1873">
                <a:solidFill>
                  <a:srgbClr val="827564"/>
                </a:solidFill>
                <a:latin typeface="Glacial Indifference Bold"/>
                <a:ea typeface="Glacial Indifference Bold"/>
                <a:cs typeface="Glacial Indifference Bold"/>
                <a:sym typeface="Glacial Indifference Bold"/>
              </a:rPr>
              <a:t> 920 ηχογραφήσεις</a:t>
            </a:r>
            <a:r>
              <a:rPr lang="en-US" sz="1873">
                <a:solidFill>
                  <a:srgbClr val="827564"/>
                </a:solidFill>
                <a:latin typeface="Glacial Indifference"/>
                <a:ea typeface="Glacial Indifference"/>
                <a:cs typeface="Glacial Indifference"/>
                <a:sym typeface="Glacial Indifference"/>
              </a:rPr>
              <a:t> από </a:t>
            </a:r>
            <a:r>
              <a:rPr lang="en-US" b="true" sz="1873">
                <a:solidFill>
                  <a:srgbClr val="827564"/>
                </a:solidFill>
                <a:latin typeface="Glacial Indifference Bold"/>
                <a:ea typeface="Glacial Indifference Bold"/>
                <a:cs typeface="Glacial Indifference Bold"/>
                <a:sym typeface="Glacial Indifference Bold"/>
              </a:rPr>
              <a:t>126 ασθενείς</a:t>
            </a:r>
            <a:r>
              <a:rPr lang="en-US" sz="1873">
                <a:solidFill>
                  <a:srgbClr val="827564"/>
                </a:solidFill>
                <a:latin typeface="Glacial Indifference"/>
                <a:ea typeface="Glacial Indifference"/>
                <a:cs typeface="Glacial Indifference"/>
                <a:sym typeface="Glacial Indifference"/>
              </a:rPr>
              <a:t>, οι οποίες πραγματοποιήθηκαν πάνω σε 7 θέσεις θώρακα: </a:t>
            </a:r>
            <a:r>
              <a:rPr lang="en-US" b="true" sz="1873">
                <a:solidFill>
                  <a:srgbClr val="827564"/>
                </a:solidFill>
                <a:latin typeface="Glacial Indifference Bold"/>
                <a:ea typeface="Glacial Indifference Bold"/>
                <a:cs typeface="Glacial Indifference Bold"/>
                <a:sym typeface="Glacial Indifference Bold"/>
              </a:rPr>
              <a:t>τραχεία</a:t>
            </a:r>
            <a:r>
              <a:rPr lang="en-US" sz="1873">
                <a:solidFill>
                  <a:srgbClr val="827564"/>
                </a:solidFill>
                <a:latin typeface="Glacial Indifference"/>
                <a:ea typeface="Glacial Indifference"/>
                <a:cs typeface="Glacial Indifference"/>
                <a:sym typeface="Glacial Indifference"/>
              </a:rPr>
              <a:t>, </a:t>
            </a:r>
            <a:r>
              <a:rPr lang="en-US" b="true" sz="1873">
                <a:solidFill>
                  <a:srgbClr val="827564"/>
                </a:solidFill>
                <a:latin typeface="Glacial Indifference Bold"/>
                <a:ea typeface="Glacial Indifference Bold"/>
                <a:cs typeface="Glacial Indifference Bold"/>
                <a:sym typeface="Glacial Indifference Bold"/>
              </a:rPr>
              <a:t>αριστερά και δεξιά (πρόσθια, οπίσθια και πλάγια)</a:t>
            </a:r>
            <a:r>
              <a:rPr lang="en-US" sz="1873">
                <a:solidFill>
                  <a:srgbClr val="827564"/>
                </a:solidFill>
                <a:latin typeface="Glacial Indifference"/>
                <a:ea typeface="Glacial Indifference"/>
                <a:cs typeface="Glacial Indifference"/>
                <a:sym typeface="Glacial Indifference"/>
              </a:rPr>
              <a:t>.</a:t>
            </a:r>
          </a:p>
          <a:p>
            <a:pPr algn="l">
              <a:lnSpc>
                <a:spcPts val="2623"/>
              </a:lnSpc>
              <a:spcBef>
                <a:spcPct val="0"/>
              </a:spcBef>
            </a:pPr>
          </a:p>
          <a:p>
            <a:pPr algn="l">
              <a:lnSpc>
                <a:spcPts val="2623"/>
              </a:lnSpc>
              <a:spcBef>
                <a:spcPct val="0"/>
              </a:spcBef>
            </a:pPr>
            <a:r>
              <a:rPr lang="en-US" sz="1873">
                <a:solidFill>
                  <a:srgbClr val="827564"/>
                </a:solidFill>
                <a:latin typeface="Glacial Indifference"/>
                <a:ea typeface="Glacial Indifference"/>
                <a:cs typeface="Glacial Indifference"/>
                <a:sym typeface="Glacial Indifference"/>
              </a:rPr>
              <a:t>Συνολικά διατίθενται</a:t>
            </a:r>
            <a:r>
              <a:rPr lang="en-US" b="true" sz="1873">
                <a:solidFill>
                  <a:srgbClr val="827564"/>
                </a:solidFill>
                <a:latin typeface="Glacial Indifference Bold"/>
                <a:ea typeface="Glacial Indifference Bold"/>
                <a:cs typeface="Glacial Indifference Bold"/>
                <a:sym typeface="Glacial Indifference Bold"/>
              </a:rPr>
              <a:t> 6898 αναπνευστικοί κύκλοι</a:t>
            </a:r>
            <a:r>
              <a:rPr lang="en-US" sz="1873">
                <a:solidFill>
                  <a:srgbClr val="827564"/>
                </a:solidFill>
                <a:latin typeface="Glacial Indifference"/>
                <a:ea typeface="Glacial Indifference"/>
                <a:cs typeface="Glacial Indifference"/>
                <a:sym typeface="Glacial Indifference"/>
              </a:rPr>
              <a:t>, με διάρκεια από έως ,καθένας από τους οποίους συνοδεύεται από σχολιασμό εξειδικευμένων ιατρών και φυσιοθεραπευτών σε annotation files ως προς την παρουσία:</a:t>
            </a:r>
          </a:p>
          <a:p>
            <a:pPr algn="l">
              <a:lnSpc>
                <a:spcPts val="2903"/>
              </a:lnSpc>
              <a:spcBef>
                <a:spcPct val="0"/>
              </a:spcBef>
            </a:pPr>
            <a:r>
              <a:rPr lang="en-US" sz="2073">
                <a:solidFill>
                  <a:srgbClr val="827564"/>
                </a:solidFill>
                <a:latin typeface="Glacial Indifference"/>
                <a:ea typeface="Glacial Indifference"/>
                <a:cs typeface="Glacial Indifference"/>
                <a:sym typeface="Glacial Indifference"/>
              </a:rPr>
              <a:t>• φυσιολογικών ήχων (</a:t>
            </a:r>
            <a:r>
              <a:rPr lang="en-US" b="true" sz="2073">
                <a:solidFill>
                  <a:srgbClr val="827564"/>
                </a:solidFill>
                <a:latin typeface="Glacial Indifference Bold"/>
                <a:ea typeface="Glacial Indifference Bold"/>
                <a:cs typeface="Glacial Indifference Bold"/>
                <a:sym typeface="Glacial Indifference Bold"/>
              </a:rPr>
              <a:t>Normal</a:t>
            </a:r>
            <a:r>
              <a:rPr lang="en-US" sz="2073">
                <a:solidFill>
                  <a:srgbClr val="827564"/>
                </a:solidFill>
                <a:latin typeface="Glacial Indifference"/>
                <a:ea typeface="Glacial Indifference"/>
                <a:cs typeface="Glacial Indifference"/>
                <a:sym typeface="Glacial Indifference"/>
              </a:rPr>
              <a:t>),</a:t>
            </a:r>
          </a:p>
          <a:p>
            <a:pPr algn="l">
              <a:lnSpc>
                <a:spcPts val="2623"/>
              </a:lnSpc>
              <a:spcBef>
                <a:spcPct val="0"/>
              </a:spcBef>
            </a:pPr>
            <a:r>
              <a:rPr lang="en-US" sz="1873">
                <a:solidFill>
                  <a:srgbClr val="827564"/>
                </a:solidFill>
                <a:latin typeface="Glacial Indifference"/>
                <a:ea typeface="Glacial Indifference"/>
                <a:cs typeface="Glacial Indifference"/>
                <a:sym typeface="Glacial Indifference"/>
              </a:rPr>
              <a:t>• παθολογικών ήχων (</a:t>
            </a:r>
            <a:r>
              <a:rPr lang="en-US" b="true" sz="1873">
                <a:solidFill>
                  <a:srgbClr val="827564"/>
                </a:solidFill>
                <a:latin typeface="Glacial Indifference Bold"/>
                <a:ea typeface="Glacial Indifference Bold"/>
                <a:cs typeface="Glacial Indifference Bold"/>
                <a:sym typeface="Glacial Indifference Bold"/>
              </a:rPr>
              <a:t>Crackle, Wheeze</a:t>
            </a:r>
            <a:r>
              <a:rPr lang="en-US" sz="1873">
                <a:solidFill>
                  <a:srgbClr val="827564"/>
                </a:solidFill>
                <a:latin typeface="Glacial Indifference"/>
                <a:ea typeface="Glacial Indifference"/>
                <a:cs typeface="Glacial Indifference"/>
                <a:sym typeface="Glacial Indifference"/>
              </a:rPr>
              <a:t>),</a:t>
            </a:r>
          </a:p>
          <a:p>
            <a:pPr algn="l">
              <a:lnSpc>
                <a:spcPts val="2623"/>
              </a:lnSpc>
              <a:spcBef>
                <a:spcPct val="0"/>
              </a:spcBef>
            </a:pPr>
            <a:r>
              <a:rPr lang="en-US" sz="1873">
                <a:solidFill>
                  <a:srgbClr val="827564"/>
                </a:solidFill>
                <a:latin typeface="Glacial Indifference"/>
                <a:ea typeface="Glacial Indifference"/>
                <a:cs typeface="Glacial Indifference"/>
                <a:sym typeface="Glacial Indifference"/>
              </a:rPr>
              <a:t>• συνδυασμού αυτών (</a:t>
            </a:r>
            <a:r>
              <a:rPr lang="en-US" b="true" sz="1873">
                <a:solidFill>
                  <a:srgbClr val="827564"/>
                </a:solidFill>
                <a:latin typeface="Glacial Indifference Bold"/>
                <a:ea typeface="Glacial Indifference Bold"/>
                <a:cs typeface="Glacial Indifference Bold"/>
                <a:sym typeface="Glacial Indifference Bold"/>
              </a:rPr>
              <a:t>Both</a:t>
            </a:r>
            <a:r>
              <a:rPr lang="en-US" sz="1873">
                <a:solidFill>
                  <a:srgbClr val="827564"/>
                </a:solidFill>
                <a:latin typeface="Glacial Indifference"/>
                <a:ea typeface="Glacial Indifference"/>
                <a:cs typeface="Glacial Indifference"/>
                <a:sym typeface="Glacial Indifference"/>
              </a:rPr>
              <a:t>).</a:t>
            </a:r>
          </a:p>
          <a:p>
            <a:pPr algn="l">
              <a:lnSpc>
                <a:spcPts val="2623"/>
              </a:lnSpc>
              <a:spcBef>
                <a:spcPct val="0"/>
              </a:spcBef>
            </a:pPr>
            <a:r>
              <a:rPr lang="en-US" sz="1873">
                <a:solidFill>
                  <a:srgbClr val="827564"/>
                </a:solidFill>
                <a:latin typeface="Glacial Indifference"/>
                <a:ea typeface="Glacial Indifference"/>
                <a:cs typeface="Glacial Indifference"/>
                <a:sym typeface="Glacial Indifference"/>
              </a:rPr>
              <a:t>Επίσης συνοδεύεται και από δημογραφικά μεταδεδομένα, όπως </a:t>
            </a:r>
            <a:r>
              <a:rPr lang="en-US" b="true" sz="1873">
                <a:solidFill>
                  <a:srgbClr val="827564"/>
                </a:solidFill>
                <a:latin typeface="Glacial Indifference Bold"/>
                <a:ea typeface="Glacial Indifference Bold"/>
                <a:cs typeface="Glacial Indifference Bold"/>
                <a:sym typeface="Glacial Indifference Bold"/>
              </a:rPr>
              <a:t>φύλο</a:t>
            </a:r>
            <a:r>
              <a:rPr lang="en-US" sz="1873">
                <a:solidFill>
                  <a:srgbClr val="827564"/>
                </a:solidFill>
                <a:latin typeface="Glacial Indifference"/>
                <a:ea typeface="Glacial Indifference"/>
                <a:cs typeface="Glacial Indifference"/>
                <a:sym typeface="Glacial Indifference"/>
              </a:rPr>
              <a:t>, </a:t>
            </a:r>
            <a:r>
              <a:rPr lang="en-US" b="true" sz="1873">
                <a:solidFill>
                  <a:srgbClr val="827564"/>
                </a:solidFill>
                <a:latin typeface="Glacial Indifference Bold"/>
                <a:ea typeface="Glacial Indifference Bold"/>
                <a:cs typeface="Glacial Indifference Bold"/>
                <a:sym typeface="Glacial Indifference Bold"/>
              </a:rPr>
              <a:t>ηλικία</a:t>
            </a:r>
            <a:r>
              <a:rPr lang="en-US" sz="1873">
                <a:solidFill>
                  <a:srgbClr val="827564"/>
                </a:solidFill>
                <a:latin typeface="Glacial Indifference"/>
                <a:ea typeface="Glacial Indifference"/>
                <a:cs typeface="Glacial Indifference"/>
                <a:sym typeface="Glacial Indifference"/>
              </a:rPr>
              <a:t>, </a:t>
            </a:r>
            <a:r>
              <a:rPr lang="en-US" b="true" sz="1873">
                <a:solidFill>
                  <a:srgbClr val="827564"/>
                </a:solidFill>
                <a:latin typeface="Glacial Indifference Bold"/>
                <a:ea typeface="Glacial Indifference Bold"/>
                <a:cs typeface="Glacial Indifference Bold"/>
                <a:sym typeface="Glacial Indifference Bold"/>
              </a:rPr>
              <a:t>βάρος</a:t>
            </a:r>
            <a:r>
              <a:rPr lang="en-US" sz="1873">
                <a:solidFill>
                  <a:srgbClr val="827564"/>
                </a:solidFill>
                <a:latin typeface="Glacial Indifference"/>
                <a:ea typeface="Glacial Indifference"/>
                <a:cs typeface="Glacial Indifference"/>
                <a:sym typeface="Glacial Indifference"/>
              </a:rPr>
              <a:t>, </a:t>
            </a:r>
            <a:r>
              <a:rPr lang="en-US" b="true" sz="1873">
                <a:solidFill>
                  <a:srgbClr val="827564"/>
                </a:solidFill>
                <a:latin typeface="Glacial Indifference Bold"/>
                <a:ea typeface="Glacial Indifference Bold"/>
                <a:cs typeface="Glacial Indifference Bold"/>
                <a:sym typeface="Glacial Indifference Bold"/>
              </a:rPr>
              <a:t>ύψος </a:t>
            </a:r>
            <a:r>
              <a:rPr lang="en-US" sz="1873">
                <a:solidFill>
                  <a:srgbClr val="827564"/>
                </a:solidFill>
                <a:latin typeface="Glacial Indifference"/>
                <a:ea typeface="Glacial Indifference"/>
                <a:cs typeface="Glacial Indifference"/>
                <a:sym typeface="Glacial Indifference"/>
              </a:rPr>
              <a:t>και </a:t>
            </a:r>
            <a:r>
              <a:rPr lang="en-US" b="true" sz="1873">
                <a:solidFill>
                  <a:srgbClr val="827564"/>
                </a:solidFill>
                <a:latin typeface="Glacial Indifference Bold"/>
                <a:ea typeface="Glacial Indifference Bold"/>
                <a:cs typeface="Glacial Indifference Bold"/>
                <a:sym typeface="Glacial Indifference Bold"/>
              </a:rPr>
              <a:t>δείκτης BMI </a:t>
            </a:r>
            <a:r>
              <a:rPr lang="en-US" sz="1873">
                <a:solidFill>
                  <a:srgbClr val="827564"/>
                </a:solidFill>
                <a:latin typeface="Glacial Indifference"/>
                <a:ea typeface="Glacial Indifference"/>
                <a:cs typeface="Glacial Indifference"/>
                <a:sym typeface="Glacial Indifference"/>
              </a:rPr>
              <a:t>.</a:t>
            </a:r>
          </a:p>
        </p:txBody>
      </p:sp>
      <p:sp>
        <p:nvSpPr>
          <p:cNvPr name="TextBox 11" id="11"/>
          <p:cNvSpPr txBox="true"/>
          <p:nvPr/>
        </p:nvSpPr>
        <p:spPr>
          <a:xfrm rot="0">
            <a:off x="368300" y="6932486"/>
            <a:ext cx="10776225" cy="2325814"/>
          </a:xfrm>
          <a:prstGeom prst="rect">
            <a:avLst/>
          </a:prstGeom>
        </p:spPr>
        <p:txBody>
          <a:bodyPr anchor="t" rtlCol="false" tIns="0" lIns="0" bIns="0" rIns="0">
            <a:spAutoFit/>
          </a:bodyPr>
          <a:lstStyle/>
          <a:p>
            <a:pPr algn="l">
              <a:lnSpc>
                <a:spcPts val="2035"/>
              </a:lnSpc>
            </a:pPr>
            <a:r>
              <a:rPr lang="en-US" sz="1770">
                <a:solidFill>
                  <a:srgbClr val="827564"/>
                </a:solidFill>
                <a:latin typeface="Glacial Indifference"/>
                <a:ea typeface="Glacial Indifference"/>
                <a:cs typeface="Glacial Indifference"/>
                <a:sym typeface="Glacial Indifference"/>
              </a:rPr>
              <a:t>Οι κύριες συσκευές καταγραφής που αξιοποιήθηκαν είναι:</a:t>
            </a:r>
          </a:p>
          <a:p>
            <a:pPr algn="l">
              <a:lnSpc>
                <a:spcPts val="2035"/>
              </a:lnSpc>
            </a:pPr>
            <a:r>
              <a:rPr lang="en-US" sz="1770">
                <a:solidFill>
                  <a:srgbClr val="827564"/>
                </a:solidFill>
                <a:latin typeface="Glacial Indifference"/>
                <a:ea typeface="Glacial Indifference"/>
                <a:cs typeface="Glacial Indifference"/>
                <a:sym typeface="Glacial Indifference"/>
              </a:rPr>
              <a:t>• </a:t>
            </a:r>
            <a:r>
              <a:rPr lang="en-US" sz="1770" b="true">
                <a:solidFill>
                  <a:srgbClr val="827564"/>
                </a:solidFill>
                <a:latin typeface="Glacial Indifference Bold"/>
                <a:ea typeface="Glacial Indifference Bold"/>
                <a:cs typeface="Glacial Indifference Bold"/>
                <a:sym typeface="Glacial Indifference Bold"/>
              </a:rPr>
              <a:t>Welch Allyn Master Elite Stethoscope (5079-400) [Litt3200]:</a:t>
            </a:r>
            <a:r>
              <a:rPr lang="en-US" sz="1770">
                <a:solidFill>
                  <a:srgbClr val="827564"/>
                </a:solidFill>
                <a:latin typeface="Glacial Indifference"/>
                <a:ea typeface="Glacial Indifference"/>
                <a:cs typeface="Glacial Indifference"/>
                <a:sym typeface="Glacial Indifference"/>
              </a:rPr>
              <a:t> Ψηφιακό στηθοσκόπιο</a:t>
            </a:r>
          </a:p>
          <a:p>
            <a:pPr algn="l">
              <a:lnSpc>
                <a:spcPts val="2035"/>
              </a:lnSpc>
              <a:spcBef>
                <a:spcPct val="0"/>
              </a:spcBef>
            </a:pPr>
            <a:r>
              <a:rPr lang="en-US" sz="1770">
                <a:solidFill>
                  <a:srgbClr val="827564"/>
                </a:solidFill>
                <a:latin typeface="Glacial Indifference"/>
                <a:ea typeface="Glacial Indifference"/>
                <a:cs typeface="Glacial Indifference"/>
                <a:sym typeface="Glacial Indifference"/>
              </a:rPr>
              <a:t>• </a:t>
            </a:r>
            <a:r>
              <a:rPr lang="en-US" b="true" sz="1770">
                <a:solidFill>
                  <a:srgbClr val="827564"/>
                </a:solidFill>
                <a:latin typeface="Glacial Indifference Bold"/>
                <a:ea typeface="Glacial Indifference Bold"/>
                <a:cs typeface="Glacial Indifference Bold"/>
                <a:sym typeface="Glacial Indifference Bold"/>
              </a:rPr>
              <a:t>3M Littmann Classic II SE [LittC2SE]:</a:t>
            </a:r>
            <a:r>
              <a:rPr lang="en-US" sz="1770">
                <a:solidFill>
                  <a:srgbClr val="827564"/>
                </a:solidFill>
                <a:latin typeface="Glacial Indifference"/>
                <a:ea typeface="Glacial Indifference"/>
                <a:cs typeface="Glacial Indifference"/>
                <a:sym typeface="Glacial Indifference"/>
              </a:rPr>
              <a:t> Κλασικό αναλ</a:t>
            </a:r>
            <a:r>
              <a:rPr lang="en-US" sz="1770">
                <a:solidFill>
                  <a:srgbClr val="827564"/>
                </a:solidFill>
                <a:latin typeface="Glacial Indifference"/>
                <a:ea typeface="Glacial Indifference"/>
                <a:cs typeface="Glacial Indifference"/>
                <a:sym typeface="Glacial Indifference"/>
              </a:rPr>
              <a:t>ογικό στηθοσκόπιο</a:t>
            </a:r>
          </a:p>
          <a:p>
            <a:pPr algn="l">
              <a:lnSpc>
                <a:spcPts val="2035"/>
              </a:lnSpc>
              <a:spcBef>
                <a:spcPct val="0"/>
              </a:spcBef>
            </a:pPr>
            <a:r>
              <a:rPr lang="en-US" sz="1770">
                <a:solidFill>
                  <a:srgbClr val="827564"/>
                </a:solidFill>
                <a:latin typeface="Glacial Indifference"/>
                <a:ea typeface="Glacial Indifference"/>
                <a:cs typeface="Glacial Indifference"/>
                <a:sym typeface="Glacial Indifference"/>
              </a:rPr>
              <a:t>•</a:t>
            </a:r>
            <a:r>
              <a:rPr lang="en-US" b="true" sz="1770">
                <a:solidFill>
                  <a:srgbClr val="827564"/>
                </a:solidFill>
                <a:latin typeface="Glacial Indifference Bold"/>
                <a:ea typeface="Glacial Indifference Bold"/>
                <a:cs typeface="Glacial Indifference Bold"/>
                <a:sym typeface="Glacial Indifference Bold"/>
              </a:rPr>
              <a:t> AKGC417L:</a:t>
            </a:r>
            <a:r>
              <a:rPr lang="en-US" sz="1770">
                <a:solidFill>
                  <a:srgbClr val="827564"/>
                </a:solidFill>
                <a:latin typeface="Glacial Indifference"/>
                <a:ea typeface="Glacial Indifference"/>
                <a:cs typeface="Glacial Indifference"/>
                <a:sym typeface="Glacial Indifference"/>
              </a:rPr>
              <a:t> Αποτελεί τύπο electret μικροφώνου σχεδιασμένο για μη επεμβατικές μετρήσεις. Η συσκευή είναι αερόσυζευκτη (air-coupled) και προσφέρει εξαιρετικά ευαίσθητη καταγραφή ηχητικών σημάτων από την επιφάνεια του θώρακα.</a:t>
            </a:r>
          </a:p>
          <a:p>
            <a:pPr algn="l">
              <a:lnSpc>
                <a:spcPts val="2035"/>
              </a:lnSpc>
              <a:spcBef>
                <a:spcPct val="0"/>
              </a:spcBef>
            </a:pPr>
            <a:r>
              <a:rPr lang="en-US" sz="1770">
                <a:solidFill>
                  <a:srgbClr val="827564"/>
                </a:solidFill>
                <a:latin typeface="Glacial Indifference"/>
                <a:ea typeface="Glacial Indifference"/>
                <a:cs typeface="Glacial Indifference"/>
                <a:sym typeface="Glacial Indifference"/>
              </a:rPr>
              <a:t>• </a:t>
            </a:r>
            <a:r>
              <a:rPr lang="en-US" b="true" sz="1770">
                <a:solidFill>
                  <a:srgbClr val="827564"/>
                </a:solidFill>
                <a:latin typeface="Glacial Indifference Bold"/>
                <a:ea typeface="Glacial Indifference Bold"/>
                <a:cs typeface="Glacial Indifference Bold"/>
                <a:sym typeface="Glacial Indifference Bold"/>
              </a:rPr>
              <a:t>Meditron</a:t>
            </a:r>
            <a:r>
              <a:rPr lang="en-US" sz="1770">
                <a:solidFill>
                  <a:srgbClr val="827564"/>
                </a:solidFill>
                <a:latin typeface="Glacial Indifference"/>
                <a:ea typeface="Glacial Indifference"/>
                <a:cs typeface="Glacial Indifference"/>
                <a:sym typeface="Glacial Indifference"/>
              </a:rPr>
              <a:t>: Πρόκειται για ψηφιακό ηλεκτρονικό στηθοσκόπιο υψηλής ευαισθησίας που χρησιμοποιήθηκε ως τυπική συσκευή αναφοράς στον διαγωνισμό ICBHI. </a:t>
            </a:r>
          </a:p>
          <a:p>
            <a:pPr algn="l">
              <a:lnSpc>
                <a:spcPts val="2035"/>
              </a:lnSpc>
              <a:spcBef>
                <a:spcPct val="0"/>
              </a:spcBef>
            </a:pPr>
          </a:p>
        </p:txBody>
      </p:sp>
      <p:sp>
        <p:nvSpPr>
          <p:cNvPr name="TextBox 12" id="12"/>
          <p:cNvSpPr txBox="true"/>
          <p:nvPr/>
        </p:nvSpPr>
        <p:spPr>
          <a:xfrm rot="0">
            <a:off x="11851240" y="8738330"/>
            <a:ext cx="6436760" cy="1039940"/>
          </a:xfrm>
          <a:prstGeom prst="rect">
            <a:avLst/>
          </a:prstGeom>
        </p:spPr>
        <p:txBody>
          <a:bodyPr anchor="t" rtlCol="false" tIns="0" lIns="0" bIns="0" rIns="0">
            <a:spAutoFit/>
          </a:bodyPr>
          <a:lstStyle/>
          <a:p>
            <a:pPr algn="l">
              <a:lnSpc>
                <a:spcPts val="2035"/>
              </a:lnSpc>
              <a:spcBef>
                <a:spcPct val="0"/>
              </a:spcBef>
            </a:pPr>
            <a:r>
              <a:rPr lang="en-US" sz="1770">
                <a:solidFill>
                  <a:srgbClr val="827564"/>
                </a:solidFill>
                <a:latin typeface="Glacial Indifference"/>
                <a:ea typeface="Glacial Indifference"/>
                <a:cs typeface="Glacial Indifference"/>
                <a:sym typeface="Glacial Indifference"/>
              </a:rPr>
              <a:t>Η ανομοιογένε</a:t>
            </a:r>
            <a:r>
              <a:rPr lang="en-US" sz="1770">
                <a:solidFill>
                  <a:srgbClr val="827564"/>
                </a:solidFill>
                <a:latin typeface="Glacial Indifference"/>
                <a:ea typeface="Glacial Indifference"/>
                <a:cs typeface="Glacial Indifference"/>
                <a:sym typeface="Glacial Indifference"/>
              </a:rPr>
              <a:t>ια της</a:t>
            </a:r>
            <a:r>
              <a:rPr lang="en-US" sz="1770">
                <a:solidFill>
                  <a:srgbClr val="827564"/>
                </a:solidFill>
                <a:latin typeface="Glacial Indifference"/>
                <a:ea typeface="Glacial Indifference"/>
                <a:cs typeface="Glacial Indifference"/>
                <a:sym typeface="Glacial Indifference"/>
              </a:rPr>
              <a:t> </a:t>
            </a:r>
            <a:r>
              <a:rPr lang="en-US" sz="1770">
                <a:solidFill>
                  <a:srgbClr val="827564"/>
                </a:solidFill>
                <a:latin typeface="Glacial Indifference"/>
                <a:ea typeface="Glacial Indifference"/>
                <a:cs typeface="Glacial Indifference"/>
                <a:sym typeface="Glacial Indifference"/>
              </a:rPr>
              <a:t>βά</a:t>
            </a:r>
            <a:r>
              <a:rPr lang="en-US" sz="1770">
                <a:solidFill>
                  <a:srgbClr val="827564"/>
                </a:solidFill>
                <a:latin typeface="Glacial Indifference"/>
                <a:ea typeface="Glacial Indifference"/>
                <a:cs typeface="Glacial Indifference"/>
                <a:sym typeface="Glacial Indifference"/>
              </a:rPr>
              <a:t>σης δεδομένων που παρατηρούμε ενισχύεται από τη χρήση </a:t>
            </a:r>
            <a:r>
              <a:rPr lang="en-US" b="true" sz="1770">
                <a:solidFill>
                  <a:srgbClr val="827564"/>
                </a:solidFill>
                <a:latin typeface="Glacial Indifference Bold"/>
                <a:ea typeface="Glacial Indifference Bold"/>
                <a:cs typeface="Glacial Indifference Bold"/>
                <a:sym typeface="Glacial Indifference Bold"/>
              </a:rPr>
              <a:t>διαφορετικών συσκευών και μεθόδων καταγραφής</a:t>
            </a:r>
            <a:r>
              <a:rPr lang="en-US" sz="1770">
                <a:solidFill>
                  <a:srgbClr val="827564"/>
                </a:solidFill>
                <a:latin typeface="Glacial Indifference"/>
                <a:ea typeface="Glacial Indifference"/>
                <a:cs typeface="Glacial Indifference"/>
                <a:sym typeface="Glacial Indifference"/>
              </a:rPr>
              <a:t>, γεγονός που εισάγει </a:t>
            </a:r>
            <a:r>
              <a:rPr lang="en-US" b="true" sz="1770">
                <a:solidFill>
                  <a:srgbClr val="827564"/>
                </a:solidFill>
                <a:latin typeface="Glacial Indifference Bold"/>
                <a:ea typeface="Glacial Indifference Bold"/>
                <a:cs typeface="Glacial Indifference Bold"/>
                <a:sym typeface="Glacial Indifference Bold"/>
              </a:rPr>
              <a:t>φυσικό domain shift</a:t>
            </a:r>
            <a:r>
              <a:rPr lang="en-US" sz="1770">
                <a:solidFill>
                  <a:srgbClr val="827564"/>
                </a:solidFill>
                <a:latin typeface="Glacial Indifference"/>
                <a:ea typeface="Glacial Indifference"/>
                <a:cs typeface="Glacial Indifference"/>
                <a:sym typeface="Glacial Indifference"/>
              </a:rPr>
              <a:t>.</a:t>
            </a:r>
          </a:p>
        </p:txBody>
      </p:sp>
      <p:sp>
        <p:nvSpPr>
          <p:cNvPr name="TextBox 13" id="13"/>
          <p:cNvSpPr txBox="true"/>
          <p:nvPr/>
        </p:nvSpPr>
        <p:spPr>
          <a:xfrm rot="0">
            <a:off x="11962961" y="5460097"/>
            <a:ext cx="6213317" cy="1297114"/>
          </a:xfrm>
          <a:prstGeom prst="rect">
            <a:avLst/>
          </a:prstGeom>
        </p:spPr>
        <p:txBody>
          <a:bodyPr anchor="t" rtlCol="false" tIns="0" lIns="0" bIns="0" rIns="0">
            <a:spAutoFit/>
          </a:bodyPr>
          <a:lstStyle/>
          <a:p>
            <a:pPr algn="l">
              <a:lnSpc>
                <a:spcPts val="2035"/>
              </a:lnSpc>
              <a:spcBef>
                <a:spcPct val="0"/>
              </a:spcBef>
            </a:pPr>
            <a:r>
              <a:rPr lang="en-US" sz="1770">
                <a:solidFill>
                  <a:srgbClr val="827564"/>
                </a:solidFill>
                <a:latin typeface="Glacial Indifference"/>
                <a:ea typeface="Glacial Indifference"/>
                <a:cs typeface="Glacial Indifference"/>
                <a:sym typeface="Glacial Indifference"/>
              </a:rPr>
              <a:t>Η κατηγορία</a:t>
            </a:r>
            <a:r>
              <a:rPr lang="en-US" sz="1770">
                <a:solidFill>
                  <a:srgbClr val="827564"/>
                </a:solidFill>
                <a:latin typeface="Glacial Indifference"/>
                <a:ea typeface="Glacial Indifference"/>
                <a:cs typeface="Glacial Indifference"/>
                <a:sym typeface="Glacial Indifference"/>
              </a:rPr>
              <a:t> </a:t>
            </a:r>
            <a:r>
              <a:rPr lang="en-US" b="true" sz="1770">
                <a:solidFill>
                  <a:srgbClr val="827564"/>
                </a:solidFill>
                <a:latin typeface="Glacial Indifference Bold"/>
                <a:ea typeface="Glacial Indifference Bold"/>
                <a:cs typeface="Glacial Indifference Bold"/>
                <a:sym typeface="Glacial Indifference Bold"/>
              </a:rPr>
              <a:t>Both </a:t>
            </a:r>
            <a:r>
              <a:rPr lang="en-US" sz="1770">
                <a:solidFill>
                  <a:srgbClr val="827564"/>
                </a:solidFill>
                <a:latin typeface="Glacial Indifference"/>
                <a:ea typeface="Glacial Indifference"/>
                <a:cs typeface="Glacial Indifference"/>
                <a:sym typeface="Glacial Indifference"/>
              </a:rPr>
              <a:t>στη συ</a:t>
            </a:r>
            <a:r>
              <a:rPr lang="en-US" sz="1770">
                <a:solidFill>
                  <a:srgbClr val="827564"/>
                </a:solidFill>
                <a:latin typeface="Glacial Indifference"/>
                <a:ea typeface="Glacial Indifference"/>
                <a:cs typeface="Glacial Indifference"/>
                <a:sym typeface="Glacial Indifference"/>
              </a:rPr>
              <a:t>γκεκριμένη εργασία δεν μας απασχόλησε, συνεπώς </a:t>
            </a:r>
            <a:r>
              <a:rPr lang="en-US" b="true" sz="1770">
                <a:solidFill>
                  <a:srgbClr val="827564"/>
                </a:solidFill>
                <a:latin typeface="Glacial Indifference Bold"/>
                <a:ea typeface="Glacial Indifference Bold"/>
                <a:cs typeface="Glacial Indifference Bold"/>
                <a:sym typeface="Glacial Indifference Bold"/>
              </a:rPr>
              <a:t>αφαιρέθηκαν όλες οι εγγραφές</a:t>
            </a:r>
            <a:r>
              <a:rPr lang="en-US" sz="1770">
                <a:solidFill>
                  <a:srgbClr val="827564"/>
                </a:solidFill>
                <a:latin typeface="Glacial Indifference"/>
                <a:ea typeface="Glacial Indifference"/>
                <a:cs typeface="Glacial Indifference"/>
                <a:sym typeface="Glacial Indifference"/>
              </a:rPr>
              <a:t> </a:t>
            </a:r>
            <a:r>
              <a:rPr lang="en-US" b="true" sz="1770">
                <a:solidFill>
                  <a:srgbClr val="827564"/>
                </a:solidFill>
                <a:latin typeface="Glacial Indifference Bold"/>
                <a:ea typeface="Glacial Indifference Bold"/>
                <a:cs typeface="Glacial Indifference Bold"/>
                <a:sym typeface="Glacial Indifference Bold"/>
              </a:rPr>
              <a:t>με τη συγκεκριμένη ετικέτα</a:t>
            </a:r>
            <a:r>
              <a:rPr lang="en-US" sz="1770">
                <a:solidFill>
                  <a:srgbClr val="827564"/>
                </a:solidFill>
                <a:latin typeface="Glacial Indifference"/>
                <a:ea typeface="Glacial Indifference"/>
                <a:cs typeface="Glacial Indifference"/>
                <a:sym typeface="Glacial Indifference"/>
              </a:rPr>
              <a:t>. Έτσι, παρέμειναν </a:t>
            </a:r>
            <a:r>
              <a:rPr lang="en-US" b="true" sz="1770">
                <a:solidFill>
                  <a:srgbClr val="827564"/>
                </a:solidFill>
                <a:latin typeface="Glacial Indifference Bold"/>
                <a:ea typeface="Glacial Indifference Bold"/>
                <a:cs typeface="Glacial Indifference Bold"/>
                <a:sym typeface="Glacial Indifference Bold"/>
              </a:rPr>
              <a:t>6392 </a:t>
            </a:r>
            <a:r>
              <a:rPr lang="en-US" sz="1770">
                <a:solidFill>
                  <a:srgbClr val="827564"/>
                </a:solidFill>
                <a:latin typeface="Glacial Indifference"/>
                <a:ea typeface="Glacial Indifference"/>
                <a:cs typeface="Glacial Indifference"/>
                <a:sym typeface="Glacial Indifference"/>
              </a:rPr>
              <a:t>αναπνευστικοί κύκλοι, οι οποίοι χωρίστηκαν σε </a:t>
            </a:r>
            <a:r>
              <a:rPr lang="en-US" b="true" sz="1770">
                <a:solidFill>
                  <a:srgbClr val="827564"/>
                </a:solidFill>
                <a:latin typeface="Glacial Indifference Bold"/>
                <a:ea typeface="Glacial Indifference Bold"/>
                <a:cs typeface="Glacial Indifference Bold"/>
                <a:sym typeface="Glacial Indifference Bold"/>
              </a:rPr>
              <a:t>training και test set</a:t>
            </a:r>
            <a:r>
              <a:rPr lang="en-US" sz="1770">
                <a:solidFill>
                  <a:srgbClr val="827564"/>
                </a:solidFill>
                <a:latin typeface="Glacial Indifference"/>
                <a:ea typeface="Glacial Indifference"/>
                <a:cs typeface="Glacial Indifference"/>
                <a:sym typeface="Glacial Indifference"/>
              </a:rPr>
              <a:t> με αναλογία </a:t>
            </a:r>
            <a:r>
              <a:rPr lang="en-US" b="true" sz="1770">
                <a:solidFill>
                  <a:srgbClr val="827564"/>
                </a:solidFill>
                <a:latin typeface="Glacial Indifference Bold"/>
                <a:ea typeface="Glacial Indifference Bold"/>
                <a:cs typeface="Glacial Indifference Bold"/>
                <a:sym typeface="Glacial Indifference Bold"/>
              </a:rPr>
              <a:t>80:20</a:t>
            </a:r>
            <a:r>
              <a:rPr lang="en-US" sz="1770">
                <a:solidFill>
                  <a:srgbClr val="827564"/>
                </a:solidFill>
                <a:latin typeface="Glacial Indifference"/>
                <a:ea typeface="Glacial Indifference"/>
                <a:cs typeface="Glacial Indifference"/>
                <a:sym typeface="Glacial Indifference"/>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3430022" y="1897641"/>
            <a:ext cx="11688724" cy="0"/>
          </a:xfrm>
          <a:prstGeom prst="line">
            <a:avLst/>
          </a:prstGeom>
          <a:ln cap="flat" w="38100">
            <a:solidFill>
              <a:srgbClr val="827564"/>
            </a:solidFill>
            <a:prstDash val="solid"/>
            <a:headEnd type="oval" len="lg" w="lg"/>
            <a:tailEnd type="oval" len="lg" w="lg"/>
          </a:ln>
        </p:spPr>
      </p:sp>
      <p:sp>
        <p:nvSpPr>
          <p:cNvPr name="Freeform 3" id="3"/>
          <p:cNvSpPr/>
          <p:nvPr/>
        </p:nvSpPr>
        <p:spPr>
          <a:xfrm flipH="false" flipV="false" rot="0">
            <a:off x="6586978" y="2543907"/>
            <a:ext cx="4850171" cy="2533881"/>
          </a:xfrm>
          <a:custGeom>
            <a:avLst/>
            <a:gdLst/>
            <a:ahLst/>
            <a:cxnLst/>
            <a:rect r="r" b="b" t="t" l="l"/>
            <a:pathLst>
              <a:path h="2533881" w="4850171">
                <a:moveTo>
                  <a:pt x="0" y="0"/>
                </a:moveTo>
                <a:lnTo>
                  <a:pt x="4850171" y="0"/>
                </a:lnTo>
                <a:lnTo>
                  <a:pt x="4850171" y="2533881"/>
                </a:lnTo>
                <a:lnTo>
                  <a:pt x="0" y="2533881"/>
                </a:lnTo>
                <a:lnTo>
                  <a:pt x="0" y="0"/>
                </a:lnTo>
                <a:close/>
              </a:path>
            </a:pathLst>
          </a:custGeom>
          <a:blipFill>
            <a:blip r:embed="rId2"/>
            <a:stretch>
              <a:fillRect l="0" t="0" r="0" b="0"/>
            </a:stretch>
          </a:blipFill>
        </p:spPr>
      </p:sp>
      <p:sp>
        <p:nvSpPr>
          <p:cNvPr name="Freeform 4" id="4"/>
          <p:cNvSpPr/>
          <p:nvPr/>
        </p:nvSpPr>
        <p:spPr>
          <a:xfrm flipH="false" flipV="false" rot="0">
            <a:off x="1966563" y="2386173"/>
            <a:ext cx="3538843" cy="2950114"/>
          </a:xfrm>
          <a:custGeom>
            <a:avLst/>
            <a:gdLst/>
            <a:ahLst/>
            <a:cxnLst/>
            <a:rect r="r" b="b" t="t" l="l"/>
            <a:pathLst>
              <a:path h="2950114" w="3538843">
                <a:moveTo>
                  <a:pt x="0" y="0"/>
                </a:moveTo>
                <a:lnTo>
                  <a:pt x="3538842" y="0"/>
                </a:lnTo>
                <a:lnTo>
                  <a:pt x="3538842" y="2950114"/>
                </a:lnTo>
                <a:lnTo>
                  <a:pt x="0" y="2950114"/>
                </a:lnTo>
                <a:lnTo>
                  <a:pt x="0" y="0"/>
                </a:lnTo>
                <a:close/>
              </a:path>
            </a:pathLst>
          </a:custGeom>
          <a:blipFill>
            <a:blip r:embed="rId3"/>
            <a:stretch>
              <a:fillRect l="0" t="0" r="0" b="0"/>
            </a:stretch>
          </a:blipFill>
        </p:spPr>
      </p:sp>
      <p:sp>
        <p:nvSpPr>
          <p:cNvPr name="Freeform 5" id="5"/>
          <p:cNvSpPr/>
          <p:nvPr/>
        </p:nvSpPr>
        <p:spPr>
          <a:xfrm flipH="false" flipV="false" rot="0">
            <a:off x="12339431" y="2335791"/>
            <a:ext cx="4425171" cy="2950114"/>
          </a:xfrm>
          <a:custGeom>
            <a:avLst/>
            <a:gdLst/>
            <a:ahLst/>
            <a:cxnLst/>
            <a:rect r="r" b="b" t="t" l="l"/>
            <a:pathLst>
              <a:path h="2950114" w="4425171">
                <a:moveTo>
                  <a:pt x="0" y="0"/>
                </a:moveTo>
                <a:lnTo>
                  <a:pt x="4425171" y="0"/>
                </a:lnTo>
                <a:lnTo>
                  <a:pt x="4425171" y="2950113"/>
                </a:lnTo>
                <a:lnTo>
                  <a:pt x="0" y="2950113"/>
                </a:lnTo>
                <a:lnTo>
                  <a:pt x="0" y="0"/>
                </a:lnTo>
                <a:close/>
              </a:path>
            </a:pathLst>
          </a:custGeom>
          <a:blipFill>
            <a:blip r:embed="rId4"/>
            <a:stretch>
              <a:fillRect l="0" t="0" r="0" b="0"/>
            </a:stretch>
          </a:blipFill>
        </p:spPr>
      </p:sp>
      <p:sp>
        <p:nvSpPr>
          <p:cNvPr name="Freeform 6" id="6"/>
          <p:cNvSpPr/>
          <p:nvPr/>
        </p:nvSpPr>
        <p:spPr>
          <a:xfrm flipH="false" flipV="false" rot="0">
            <a:off x="5657620" y="3810848"/>
            <a:ext cx="1006899" cy="672433"/>
          </a:xfrm>
          <a:custGeom>
            <a:avLst/>
            <a:gdLst/>
            <a:ahLst/>
            <a:cxnLst/>
            <a:rect r="r" b="b" t="t" l="l"/>
            <a:pathLst>
              <a:path h="672433" w="1006899">
                <a:moveTo>
                  <a:pt x="0" y="0"/>
                </a:moveTo>
                <a:lnTo>
                  <a:pt x="1006898" y="0"/>
                </a:lnTo>
                <a:lnTo>
                  <a:pt x="1006898" y="672433"/>
                </a:lnTo>
                <a:lnTo>
                  <a:pt x="0" y="6724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177483" y="812232"/>
            <a:ext cx="15266793"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Βασικό θεωρητικό υπόβαθρο</a:t>
            </a:r>
          </a:p>
        </p:txBody>
      </p:sp>
      <p:sp>
        <p:nvSpPr>
          <p:cNvPr name="TextBox 8" id="8"/>
          <p:cNvSpPr txBox="true"/>
          <p:nvPr/>
        </p:nvSpPr>
        <p:spPr>
          <a:xfrm rot="0">
            <a:off x="1310898" y="5332096"/>
            <a:ext cx="4850171" cy="3926204"/>
          </a:xfrm>
          <a:prstGeom prst="rect">
            <a:avLst/>
          </a:prstGeom>
        </p:spPr>
        <p:txBody>
          <a:bodyPr anchor="t" rtlCol="false" tIns="0" lIns="0" bIns="0" rIns="0">
            <a:spAutoFit/>
          </a:bodyPr>
          <a:lstStyle/>
          <a:p>
            <a:pPr algn="ctr" marL="0" indent="0" lvl="0">
              <a:lnSpc>
                <a:spcPts val="3960"/>
              </a:lnSpc>
            </a:pPr>
            <a:r>
              <a:rPr lang="en-US" sz="2000">
                <a:solidFill>
                  <a:srgbClr val="827564"/>
                </a:solidFill>
                <a:latin typeface="Glacial Indifference"/>
                <a:ea typeface="Glacial Indifference"/>
                <a:cs typeface="Glacial Indifference"/>
                <a:sym typeface="Glacial Indifference"/>
              </a:rPr>
              <a:t>Το</a:t>
            </a:r>
            <a:r>
              <a:rPr lang="en-US" sz="2000" strike="noStrike" u="none">
                <a:solidFill>
                  <a:srgbClr val="827564"/>
                </a:solidFill>
                <a:latin typeface="Glacial Indifference"/>
                <a:ea typeface="Glacial Indifference"/>
                <a:cs typeface="Glacial Indifference"/>
                <a:sym typeface="Glacial Indifference"/>
              </a:rPr>
              <a:t> </a:t>
            </a:r>
            <a:r>
              <a:rPr lang="en-US" b="true" sz="2000" strike="noStrike" u="none">
                <a:solidFill>
                  <a:srgbClr val="827564"/>
                </a:solidFill>
                <a:latin typeface="Glacial Indifference Bold"/>
                <a:ea typeface="Glacial Indifference Bold"/>
                <a:cs typeface="Glacial Indifference Bold"/>
                <a:sym typeface="Glacial Indifference Bold"/>
              </a:rPr>
              <a:t>αναπνευστικό σύστημα</a:t>
            </a:r>
            <a:r>
              <a:rPr lang="en-US" sz="2000" strike="noStrike" u="none">
                <a:solidFill>
                  <a:srgbClr val="827564"/>
                </a:solidFill>
                <a:latin typeface="Glacial Indifference"/>
                <a:ea typeface="Glacial Indifference"/>
                <a:cs typeface="Glacial Indifference"/>
                <a:sym typeface="Glacial Indifference"/>
              </a:rPr>
              <a:t> περιλαμβάνει τη </a:t>
            </a:r>
            <a:r>
              <a:rPr lang="en-US" b="true" sz="2000" strike="noStrike" u="none">
                <a:solidFill>
                  <a:srgbClr val="827564"/>
                </a:solidFill>
                <a:latin typeface="Glacial Indifference Bold"/>
                <a:ea typeface="Glacial Indifference Bold"/>
                <a:cs typeface="Glacial Indifference Bold"/>
                <a:sym typeface="Glacial Indifference Bold"/>
              </a:rPr>
              <a:t>ροή του αέρα</a:t>
            </a:r>
            <a:r>
              <a:rPr lang="en-US" sz="2000" strike="noStrike" u="none">
                <a:solidFill>
                  <a:srgbClr val="827564"/>
                </a:solidFill>
                <a:latin typeface="Glacial Indifference"/>
                <a:ea typeface="Glacial Indifference"/>
                <a:cs typeface="Glacial Indifference"/>
                <a:sym typeface="Glacial Indifference"/>
              </a:rPr>
              <a:t> από την </a:t>
            </a:r>
            <a:r>
              <a:rPr lang="en-US" b="true" sz="2000" strike="noStrike" u="none">
                <a:solidFill>
                  <a:srgbClr val="827564"/>
                </a:solidFill>
                <a:latin typeface="Glacial Indifference Bold"/>
                <a:ea typeface="Glacial Indifference Bold"/>
                <a:cs typeface="Glacial Indifference Bold"/>
                <a:sym typeface="Glacial Indifference Bold"/>
              </a:rPr>
              <a:t>τραχεία</a:t>
            </a:r>
            <a:r>
              <a:rPr lang="en-US" sz="2000" strike="noStrike" u="none">
                <a:solidFill>
                  <a:srgbClr val="827564"/>
                </a:solidFill>
                <a:latin typeface="Glacial Indifference"/>
                <a:ea typeface="Glacial Indifference"/>
                <a:cs typeface="Glacial Indifference"/>
                <a:sym typeface="Glacial Indifference"/>
              </a:rPr>
              <a:t> και τους </a:t>
            </a:r>
            <a:r>
              <a:rPr lang="en-US" b="true" sz="2000" strike="noStrike" u="none">
                <a:solidFill>
                  <a:srgbClr val="827564"/>
                </a:solidFill>
                <a:latin typeface="Glacial Indifference Bold"/>
                <a:ea typeface="Glacial Indifference Bold"/>
                <a:cs typeface="Glacial Indifference Bold"/>
                <a:sym typeface="Glacial Indifference Bold"/>
              </a:rPr>
              <a:t>βρόγχους </a:t>
            </a:r>
            <a:r>
              <a:rPr lang="en-US" sz="2000" strike="noStrike" u="none">
                <a:solidFill>
                  <a:srgbClr val="827564"/>
                </a:solidFill>
                <a:latin typeface="Glacial Indifference"/>
                <a:ea typeface="Glacial Indifference"/>
                <a:cs typeface="Glacial Indifference"/>
                <a:sym typeface="Glacial Indifference"/>
              </a:rPr>
              <a:t>προς τις </a:t>
            </a:r>
            <a:r>
              <a:rPr lang="en-US" b="true" sz="2000" strike="noStrike" u="none">
                <a:solidFill>
                  <a:srgbClr val="827564"/>
                </a:solidFill>
                <a:latin typeface="Glacial Indifference Bold"/>
                <a:ea typeface="Glacial Indifference Bold"/>
                <a:cs typeface="Glacial Indifference Bold"/>
                <a:sym typeface="Glacial Indifference Bold"/>
              </a:rPr>
              <a:t>κυψελίδες</a:t>
            </a:r>
            <a:r>
              <a:rPr lang="en-US" sz="2000" strike="noStrike" u="none">
                <a:solidFill>
                  <a:srgbClr val="827564"/>
                </a:solidFill>
                <a:latin typeface="Glacial Indifference"/>
                <a:ea typeface="Glacial Indifference"/>
                <a:cs typeface="Glacial Indifference"/>
                <a:sym typeface="Glacial Indifference"/>
              </a:rPr>
              <a:t>, όπου πραγματοποιείται η </a:t>
            </a:r>
            <a:r>
              <a:rPr lang="en-US" b="true" sz="2000" strike="noStrike" u="none">
                <a:solidFill>
                  <a:srgbClr val="827564"/>
                </a:solidFill>
                <a:latin typeface="Glacial Indifference Bold"/>
                <a:ea typeface="Glacial Indifference Bold"/>
                <a:cs typeface="Glacial Indifference Bold"/>
                <a:sym typeface="Glacial Indifference Bold"/>
              </a:rPr>
              <a:t>ανταλλαγή αερίων.</a:t>
            </a:r>
            <a:r>
              <a:rPr lang="en-US" sz="2000" strike="noStrike" u="none">
                <a:solidFill>
                  <a:srgbClr val="827564"/>
                </a:solidFill>
                <a:latin typeface="Glacial Indifference"/>
                <a:ea typeface="Glacial Indifference"/>
                <a:cs typeface="Glacial Indifference"/>
                <a:sym typeface="Glacial Indifference"/>
              </a:rPr>
              <a:t> Κατά τη δίοδο του αέρα δημιουργούνται </a:t>
            </a:r>
            <a:r>
              <a:rPr lang="en-US" b="true" sz="2000" strike="noStrike" u="none">
                <a:solidFill>
                  <a:srgbClr val="827564"/>
                </a:solidFill>
                <a:latin typeface="Glacial Indifference Bold"/>
                <a:ea typeface="Glacial Indifference Bold"/>
                <a:cs typeface="Glacial Indifference Bold"/>
                <a:sym typeface="Glacial Indifference Bold"/>
              </a:rPr>
              <a:t>στροβιλισμοί</a:t>
            </a:r>
            <a:r>
              <a:rPr lang="en-US" sz="2000" strike="noStrike" u="none">
                <a:solidFill>
                  <a:srgbClr val="827564"/>
                </a:solidFill>
                <a:latin typeface="Glacial Indifference"/>
                <a:ea typeface="Glacial Indifference"/>
                <a:cs typeface="Glacial Indifference"/>
                <a:sym typeface="Glacial Indifference"/>
              </a:rPr>
              <a:t> και </a:t>
            </a:r>
            <a:r>
              <a:rPr lang="en-US" b="true" sz="2000" strike="noStrike" u="none">
                <a:solidFill>
                  <a:srgbClr val="827564"/>
                </a:solidFill>
                <a:latin typeface="Glacial Indifference Bold"/>
                <a:ea typeface="Glacial Indifference Bold"/>
                <a:cs typeface="Glacial Indifference Bold"/>
                <a:sym typeface="Glacial Indifference Bold"/>
              </a:rPr>
              <a:t>δονήσεις</a:t>
            </a:r>
            <a:r>
              <a:rPr lang="en-US" sz="2000" strike="noStrike" u="none">
                <a:solidFill>
                  <a:srgbClr val="827564"/>
                </a:solidFill>
                <a:latin typeface="Glacial Indifference"/>
                <a:ea typeface="Glacial Indifference"/>
                <a:cs typeface="Glacial Indifference"/>
                <a:sym typeface="Glacial Indifference"/>
              </a:rPr>
              <a:t>, οι οποίες αποτελούν την πηγή των αναπνευστικών ήχων.</a:t>
            </a:r>
          </a:p>
        </p:txBody>
      </p:sp>
      <p:sp>
        <p:nvSpPr>
          <p:cNvPr name="TextBox 9" id="9"/>
          <p:cNvSpPr txBox="true"/>
          <p:nvPr/>
        </p:nvSpPr>
        <p:spPr>
          <a:xfrm rot="0">
            <a:off x="3430022" y="705930"/>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2</a:t>
            </a:r>
          </a:p>
        </p:txBody>
      </p:sp>
      <p:sp>
        <p:nvSpPr>
          <p:cNvPr name="TextBox 10" id="10"/>
          <p:cNvSpPr txBox="true"/>
          <p:nvPr/>
        </p:nvSpPr>
        <p:spPr>
          <a:xfrm rot="0">
            <a:off x="6586978" y="5351146"/>
            <a:ext cx="4850171" cy="3764660"/>
          </a:xfrm>
          <a:prstGeom prst="rect">
            <a:avLst/>
          </a:prstGeom>
        </p:spPr>
        <p:txBody>
          <a:bodyPr anchor="t" rtlCol="false" tIns="0" lIns="0" bIns="0" rIns="0">
            <a:spAutoFit/>
          </a:bodyPr>
          <a:lstStyle/>
          <a:p>
            <a:pPr algn="ctr" marL="0" indent="0" lvl="0">
              <a:lnSpc>
                <a:spcPts val="3762"/>
              </a:lnSpc>
            </a:pPr>
            <a:r>
              <a:rPr lang="en-US" sz="1900">
                <a:solidFill>
                  <a:srgbClr val="827564"/>
                </a:solidFill>
                <a:latin typeface="Glacial Indifference"/>
                <a:ea typeface="Glacial Indifference"/>
                <a:cs typeface="Glacial Indifference"/>
                <a:sym typeface="Glacial Indifference"/>
              </a:rPr>
              <a:t>Οι</a:t>
            </a:r>
            <a:r>
              <a:rPr lang="en-US" sz="1900" strike="noStrike" u="none">
                <a:solidFill>
                  <a:srgbClr val="827564"/>
                </a:solidFill>
                <a:latin typeface="Glacial Indifference"/>
                <a:ea typeface="Glacial Indifference"/>
                <a:cs typeface="Glacial Indifference"/>
                <a:sym typeface="Glacial Indifference"/>
              </a:rPr>
              <a:t> </a:t>
            </a:r>
            <a:r>
              <a:rPr lang="en-US" b="true" sz="1900" strike="noStrike" u="none">
                <a:solidFill>
                  <a:srgbClr val="827564"/>
                </a:solidFill>
                <a:latin typeface="Glacial Indifference Bold"/>
                <a:ea typeface="Glacial Indifference Bold"/>
                <a:cs typeface="Glacial Indifference Bold"/>
                <a:sym typeface="Glacial Indifference Bold"/>
              </a:rPr>
              <a:t>δονήσεις </a:t>
            </a:r>
            <a:r>
              <a:rPr lang="en-US" sz="1900" strike="noStrike" u="none">
                <a:solidFill>
                  <a:srgbClr val="827564"/>
                </a:solidFill>
                <a:latin typeface="Glacial Indifference"/>
                <a:ea typeface="Glacial Indifference"/>
                <a:cs typeface="Glacial Indifference"/>
                <a:sym typeface="Glacial Indifference"/>
              </a:rPr>
              <a:t>αυτές καταγράφονται μέσω </a:t>
            </a:r>
            <a:r>
              <a:rPr lang="en-US" b="true" sz="1900" strike="noStrike" u="none">
                <a:solidFill>
                  <a:srgbClr val="827564"/>
                </a:solidFill>
                <a:latin typeface="Glacial Indifference Bold"/>
                <a:ea typeface="Glacial Indifference Bold"/>
                <a:cs typeface="Glacial Indifference Bold"/>
                <a:sym typeface="Glacial Indifference Bold"/>
              </a:rPr>
              <a:t>στηθοσκοπίων </a:t>
            </a:r>
            <a:r>
              <a:rPr lang="en-US" sz="1900" strike="noStrike" u="none">
                <a:solidFill>
                  <a:srgbClr val="827564"/>
                </a:solidFill>
                <a:latin typeface="Glacial Indifference"/>
                <a:ea typeface="Glacial Indifference"/>
                <a:cs typeface="Glacial Indifference"/>
                <a:sym typeface="Glacial Indifference"/>
              </a:rPr>
              <a:t>και </a:t>
            </a:r>
            <a:r>
              <a:rPr lang="en-US" b="true" sz="1900" strike="noStrike" u="none">
                <a:solidFill>
                  <a:srgbClr val="827564"/>
                </a:solidFill>
                <a:latin typeface="Glacial Indifference Bold"/>
                <a:ea typeface="Glacial Indifference Bold"/>
                <a:cs typeface="Glacial Indifference Bold"/>
                <a:sym typeface="Glacial Indifference Bold"/>
              </a:rPr>
              <a:t>ηλεκτρονικών αισθητήρων</a:t>
            </a:r>
            <a:r>
              <a:rPr lang="en-US" sz="1900" strike="noStrike" u="none">
                <a:solidFill>
                  <a:srgbClr val="827564"/>
                </a:solidFill>
                <a:latin typeface="Glacial Indifference"/>
                <a:ea typeface="Glacial Indifference"/>
                <a:cs typeface="Glacial Indifference"/>
                <a:sym typeface="Glacial Indifference"/>
              </a:rPr>
              <a:t>. Η </a:t>
            </a:r>
            <a:r>
              <a:rPr lang="en-US" b="true" sz="1900" strike="noStrike" u="none">
                <a:solidFill>
                  <a:srgbClr val="827564"/>
                </a:solidFill>
                <a:latin typeface="Glacial Indifference Bold"/>
                <a:ea typeface="Glacial Indifference Bold"/>
                <a:cs typeface="Glacial Indifference Bold"/>
                <a:sym typeface="Glacial Indifference Bold"/>
              </a:rPr>
              <a:t>μεμβράνη (diaphragm) </a:t>
            </a:r>
            <a:r>
              <a:rPr lang="en-US" sz="1900" strike="noStrike" u="none">
                <a:solidFill>
                  <a:srgbClr val="827564"/>
                </a:solidFill>
                <a:latin typeface="Glacial Indifference"/>
                <a:ea typeface="Glacial Indifference"/>
                <a:cs typeface="Glacial Indifference"/>
                <a:sym typeface="Glacial Indifference"/>
              </a:rPr>
              <a:t>του στηθοσκοπίου</a:t>
            </a:r>
            <a:r>
              <a:rPr lang="en-US" sz="1900" strike="noStrike" u="none">
                <a:solidFill>
                  <a:srgbClr val="827564"/>
                </a:solidFill>
                <a:latin typeface="Glacial Indifference"/>
                <a:ea typeface="Glacial Indifference"/>
                <a:cs typeface="Glacial Indifference"/>
                <a:sym typeface="Glacial Indifference"/>
              </a:rPr>
              <a:t> ή του μικροφώνου </a:t>
            </a:r>
            <a:r>
              <a:rPr lang="en-US" b="true" sz="1900" strike="noStrike" u="none">
                <a:solidFill>
                  <a:srgbClr val="827564"/>
                </a:solidFill>
                <a:latin typeface="Glacial Indifference Bold"/>
                <a:ea typeface="Glacial Indifference Bold"/>
                <a:cs typeface="Glacial Indifference Bold"/>
                <a:sym typeface="Glacial Indifference Bold"/>
              </a:rPr>
              <a:t>ταλαντώνεται </a:t>
            </a:r>
            <a:r>
              <a:rPr lang="en-US" sz="1900" strike="noStrike" u="none">
                <a:solidFill>
                  <a:srgbClr val="827564"/>
                </a:solidFill>
                <a:latin typeface="Glacial Indifference"/>
                <a:ea typeface="Glacial Indifference"/>
                <a:cs typeface="Glacial Indifference"/>
                <a:sym typeface="Glacial Indifference"/>
              </a:rPr>
              <a:t>από τις μεταβολές της πίεσης και μετατρέπει τους ήχους σε </a:t>
            </a:r>
            <a:r>
              <a:rPr lang="en-US" b="true" sz="1900" strike="noStrike" u="none">
                <a:solidFill>
                  <a:srgbClr val="827564"/>
                </a:solidFill>
                <a:latin typeface="Glacial Indifference Bold"/>
                <a:ea typeface="Glacial Indifference Bold"/>
                <a:cs typeface="Glacial Indifference Bold"/>
                <a:sym typeface="Glacial Indifference Bold"/>
              </a:rPr>
              <a:t>ηλεκτρικό σήμα,</a:t>
            </a:r>
            <a:r>
              <a:rPr lang="en-US" sz="1900" strike="noStrike" u="none">
                <a:solidFill>
                  <a:srgbClr val="827564"/>
                </a:solidFill>
                <a:latin typeface="Glacial Indifference"/>
                <a:ea typeface="Glacial Indifference"/>
                <a:cs typeface="Glacial Indifference"/>
                <a:sym typeface="Glacial Indifference"/>
              </a:rPr>
              <a:t> το οποίο στη συνέχεια </a:t>
            </a:r>
            <a:r>
              <a:rPr lang="en-US" b="true" sz="1900" strike="noStrike" u="none">
                <a:solidFill>
                  <a:srgbClr val="827564"/>
                </a:solidFill>
                <a:latin typeface="Glacial Indifference Bold"/>
                <a:ea typeface="Glacial Indifference Bold"/>
                <a:cs typeface="Glacial Indifference Bold"/>
                <a:sym typeface="Glacial Indifference Bold"/>
              </a:rPr>
              <a:t>ψηφιοποιείται</a:t>
            </a:r>
            <a:r>
              <a:rPr lang="en-US" sz="1900" strike="noStrike" u="none">
                <a:solidFill>
                  <a:srgbClr val="827564"/>
                </a:solidFill>
                <a:latin typeface="Glacial Indifference"/>
                <a:ea typeface="Glacial Indifference"/>
                <a:cs typeface="Glacial Indifference"/>
                <a:sym typeface="Glacial Indifference"/>
              </a:rPr>
              <a:t>.</a:t>
            </a:r>
          </a:p>
        </p:txBody>
      </p:sp>
      <p:sp>
        <p:nvSpPr>
          <p:cNvPr name="TextBox 11" id="11"/>
          <p:cNvSpPr txBox="true"/>
          <p:nvPr/>
        </p:nvSpPr>
        <p:spPr>
          <a:xfrm rot="0">
            <a:off x="12126931" y="5332096"/>
            <a:ext cx="4850171" cy="3926204"/>
          </a:xfrm>
          <a:prstGeom prst="rect">
            <a:avLst/>
          </a:prstGeom>
        </p:spPr>
        <p:txBody>
          <a:bodyPr anchor="t" rtlCol="false" tIns="0" lIns="0" bIns="0" rIns="0">
            <a:spAutoFit/>
          </a:bodyPr>
          <a:lstStyle/>
          <a:p>
            <a:pPr algn="ctr" marL="0" indent="0" lvl="0">
              <a:lnSpc>
                <a:spcPts val="3960"/>
              </a:lnSpc>
            </a:pPr>
            <a:r>
              <a:rPr lang="en-US" sz="2000">
                <a:solidFill>
                  <a:srgbClr val="827564"/>
                </a:solidFill>
                <a:latin typeface="Glacial Indifference"/>
                <a:ea typeface="Glacial Indifference"/>
                <a:cs typeface="Glacial Indifference"/>
                <a:sym typeface="Glacial Indifference"/>
              </a:rPr>
              <a:t>Η</a:t>
            </a:r>
            <a:r>
              <a:rPr lang="en-US" sz="2000" strike="noStrike" u="none">
                <a:solidFill>
                  <a:srgbClr val="827564"/>
                </a:solidFill>
                <a:latin typeface="Glacial Indifference"/>
                <a:ea typeface="Glacial Indifference"/>
                <a:cs typeface="Glacial Indifference"/>
                <a:sym typeface="Glacial Indifference"/>
              </a:rPr>
              <a:t> καταγραφή πραγματοποιείται μέσω τοποθέτησης των ειδικών συσκευών σε συγκεκριμένα σημεία του </a:t>
            </a:r>
            <a:r>
              <a:rPr lang="en-US" b="true" sz="2000" strike="noStrike" u="none">
                <a:solidFill>
                  <a:srgbClr val="827564"/>
                </a:solidFill>
                <a:latin typeface="Glacial Indifference Bold"/>
                <a:ea typeface="Glacial Indifference Bold"/>
                <a:cs typeface="Glacial Indifference Bold"/>
                <a:sym typeface="Glacial Indifference Bold"/>
              </a:rPr>
              <a:t>θώρακα </a:t>
            </a:r>
            <a:r>
              <a:rPr lang="en-US" sz="2000" strike="noStrike" u="none">
                <a:solidFill>
                  <a:srgbClr val="827564"/>
                </a:solidFill>
                <a:latin typeface="Glacial Indifference"/>
                <a:ea typeface="Glacial Indifference"/>
                <a:cs typeface="Glacial Indifference"/>
                <a:sym typeface="Glacial Indifference"/>
              </a:rPr>
              <a:t>και της </a:t>
            </a:r>
            <a:r>
              <a:rPr lang="en-US" b="true" sz="2000" strike="noStrike" u="none">
                <a:solidFill>
                  <a:srgbClr val="827564"/>
                </a:solidFill>
                <a:latin typeface="Glacial Indifference Bold"/>
                <a:ea typeface="Glacial Indifference Bold"/>
                <a:cs typeface="Glacial Indifference Bold"/>
                <a:sym typeface="Glacial Indifference Bold"/>
              </a:rPr>
              <a:t>ράχης</a:t>
            </a:r>
            <a:r>
              <a:rPr lang="en-US" sz="2000" strike="noStrike" u="none">
                <a:solidFill>
                  <a:srgbClr val="827564"/>
                </a:solidFill>
                <a:latin typeface="Glacial Indifference"/>
                <a:ea typeface="Glacial Indifference"/>
                <a:cs typeface="Glacial Indifference"/>
                <a:sym typeface="Glacial Indifference"/>
              </a:rPr>
              <a:t>, ώστε να αποτυπώνονται οι ήχοι που προέρχονται από διαφορετικά τμήματα των πνευμόνων. Η επιλογή των θέσεων είναι κρίσιμη για την αξιόπιστη διάγνωση και ανάλυση.</a:t>
            </a:r>
          </a:p>
        </p:txBody>
      </p:sp>
      <p:sp>
        <p:nvSpPr>
          <p:cNvPr name="Freeform 12" id="12"/>
          <p:cNvSpPr/>
          <p:nvPr/>
        </p:nvSpPr>
        <p:spPr>
          <a:xfrm flipH="false" flipV="false" rot="0">
            <a:off x="11437149" y="3810848"/>
            <a:ext cx="1006899" cy="672433"/>
          </a:xfrm>
          <a:custGeom>
            <a:avLst/>
            <a:gdLst/>
            <a:ahLst/>
            <a:cxnLst/>
            <a:rect r="r" b="b" t="t" l="l"/>
            <a:pathLst>
              <a:path h="672433" w="1006899">
                <a:moveTo>
                  <a:pt x="0" y="0"/>
                </a:moveTo>
                <a:lnTo>
                  <a:pt x="1006898" y="0"/>
                </a:lnTo>
                <a:lnTo>
                  <a:pt x="1006898" y="672433"/>
                </a:lnTo>
                <a:lnTo>
                  <a:pt x="0" y="6724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349779" y="1092721"/>
            <a:ext cx="4909720" cy="1944076"/>
          </a:xfrm>
          <a:custGeom>
            <a:avLst/>
            <a:gdLst/>
            <a:ahLst/>
            <a:cxnLst/>
            <a:rect r="r" b="b" t="t" l="l"/>
            <a:pathLst>
              <a:path h="1944076" w="4909720">
                <a:moveTo>
                  <a:pt x="0" y="0"/>
                </a:moveTo>
                <a:lnTo>
                  <a:pt x="4909721" y="0"/>
                </a:lnTo>
                <a:lnTo>
                  <a:pt x="4909721" y="1944076"/>
                </a:lnTo>
                <a:lnTo>
                  <a:pt x="0" y="1944076"/>
                </a:lnTo>
                <a:lnTo>
                  <a:pt x="0" y="0"/>
                </a:lnTo>
                <a:close/>
              </a:path>
            </a:pathLst>
          </a:custGeom>
          <a:blipFill>
            <a:blip r:embed="rId2"/>
            <a:stretch>
              <a:fillRect l="0" t="0" r="0" b="0"/>
            </a:stretch>
          </a:blipFill>
        </p:spPr>
      </p:sp>
      <p:sp>
        <p:nvSpPr>
          <p:cNvPr name="Freeform 3" id="3"/>
          <p:cNvSpPr/>
          <p:nvPr/>
        </p:nvSpPr>
        <p:spPr>
          <a:xfrm flipH="false" flipV="false" rot="0">
            <a:off x="12509558" y="1118881"/>
            <a:ext cx="4321936" cy="1970236"/>
          </a:xfrm>
          <a:custGeom>
            <a:avLst/>
            <a:gdLst/>
            <a:ahLst/>
            <a:cxnLst/>
            <a:rect r="r" b="b" t="t" l="l"/>
            <a:pathLst>
              <a:path h="1970236" w="4321936">
                <a:moveTo>
                  <a:pt x="0" y="0"/>
                </a:moveTo>
                <a:lnTo>
                  <a:pt x="4321936" y="0"/>
                </a:lnTo>
                <a:lnTo>
                  <a:pt x="4321936" y="1970237"/>
                </a:lnTo>
                <a:lnTo>
                  <a:pt x="0" y="1970237"/>
                </a:lnTo>
                <a:lnTo>
                  <a:pt x="0" y="0"/>
                </a:lnTo>
                <a:close/>
              </a:path>
            </a:pathLst>
          </a:custGeom>
          <a:blipFill>
            <a:blip r:embed="rId3"/>
            <a:stretch>
              <a:fillRect l="0" t="0" r="-36589" b="0"/>
            </a:stretch>
          </a:blipFill>
        </p:spPr>
      </p:sp>
      <p:sp>
        <p:nvSpPr>
          <p:cNvPr name="Freeform 4" id="4"/>
          <p:cNvSpPr/>
          <p:nvPr/>
        </p:nvSpPr>
        <p:spPr>
          <a:xfrm flipH="false" flipV="false" rot="0">
            <a:off x="7064311" y="1118881"/>
            <a:ext cx="4321936" cy="1917916"/>
          </a:xfrm>
          <a:custGeom>
            <a:avLst/>
            <a:gdLst/>
            <a:ahLst/>
            <a:cxnLst/>
            <a:rect r="r" b="b" t="t" l="l"/>
            <a:pathLst>
              <a:path h="1917916" w="4321936">
                <a:moveTo>
                  <a:pt x="0" y="0"/>
                </a:moveTo>
                <a:lnTo>
                  <a:pt x="4321936" y="0"/>
                </a:lnTo>
                <a:lnTo>
                  <a:pt x="4321936" y="1917916"/>
                </a:lnTo>
                <a:lnTo>
                  <a:pt x="0" y="1917916"/>
                </a:lnTo>
                <a:lnTo>
                  <a:pt x="0" y="0"/>
                </a:lnTo>
                <a:close/>
              </a:path>
            </a:pathLst>
          </a:custGeom>
          <a:blipFill>
            <a:blip r:embed="rId4"/>
            <a:stretch>
              <a:fillRect l="0" t="0" r="-133559" b="0"/>
            </a:stretch>
          </a:blipFill>
        </p:spPr>
      </p:sp>
      <p:sp>
        <p:nvSpPr>
          <p:cNvPr name="TextBox 5" id="5"/>
          <p:cNvSpPr txBox="true"/>
          <p:nvPr/>
        </p:nvSpPr>
        <p:spPr>
          <a:xfrm rot="0">
            <a:off x="1491342" y="3098753"/>
            <a:ext cx="4626595" cy="6159547"/>
          </a:xfrm>
          <a:prstGeom prst="rect">
            <a:avLst/>
          </a:prstGeom>
        </p:spPr>
        <p:txBody>
          <a:bodyPr anchor="t" rtlCol="false" tIns="0" lIns="0" bIns="0" rIns="0">
            <a:spAutoFit/>
          </a:bodyPr>
          <a:lstStyle/>
          <a:p>
            <a:pPr algn="ctr" marL="0" indent="0" lvl="0">
              <a:lnSpc>
                <a:spcPts val="3537"/>
              </a:lnSpc>
            </a:pPr>
            <a:r>
              <a:rPr lang="en-US" sz="1786">
                <a:solidFill>
                  <a:srgbClr val="827564"/>
                </a:solidFill>
                <a:latin typeface="Glacial Indifference"/>
                <a:ea typeface="Glacial Indifference"/>
                <a:cs typeface="Glacial Indifference"/>
                <a:sym typeface="Glacial Indifference"/>
              </a:rPr>
              <a:t>Το</a:t>
            </a:r>
            <a:r>
              <a:rPr lang="en-US" sz="1786" strike="noStrike" u="none">
                <a:solidFill>
                  <a:srgbClr val="827564"/>
                </a:solidFill>
                <a:latin typeface="Glacial Indifference"/>
                <a:ea typeface="Glacial Indifference"/>
                <a:cs typeface="Glacial Indifference"/>
                <a:sym typeface="Glacial Indifference"/>
              </a:rPr>
              <a:t> αναλογικό σήμα του αναπνευστικού ήχου που προκύπτει από την καταγραφή οδηγείται αρχικά σε </a:t>
            </a:r>
            <a:r>
              <a:rPr lang="en-US" b="true" sz="1786" strike="noStrike" u="none">
                <a:solidFill>
                  <a:srgbClr val="827564"/>
                </a:solidFill>
                <a:latin typeface="Glacial Indifference Bold"/>
                <a:ea typeface="Glacial Indifference Bold"/>
                <a:cs typeface="Glacial Indifference Bold"/>
                <a:sym typeface="Glacial Indifference Bold"/>
              </a:rPr>
              <a:t>ενίσχυση </a:t>
            </a:r>
            <a:r>
              <a:rPr lang="en-US" sz="1786" strike="noStrike" u="none">
                <a:solidFill>
                  <a:srgbClr val="827564"/>
                </a:solidFill>
                <a:latin typeface="Glacial Indifference"/>
                <a:ea typeface="Glacial Indifference"/>
                <a:cs typeface="Glacial Indifference"/>
                <a:sym typeface="Glacial Indifference"/>
              </a:rPr>
              <a:t>και στη συνέχεια σε μετατροπέα αναλογικού σε ψηφιακό σήμα (</a:t>
            </a:r>
            <a:r>
              <a:rPr lang="en-US" b="true" sz="1786" strike="noStrike" u="none">
                <a:solidFill>
                  <a:srgbClr val="827564"/>
                </a:solidFill>
                <a:latin typeface="Glacial Indifference Bold"/>
                <a:ea typeface="Glacial Indifference Bold"/>
                <a:cs typeface="Glacial Indifference Bold"/>
                <a:sym typeface="Glacial Indifference Bold"/>
              </a:rPr>
              <a:t>A/D converter</a:t>
            </a:r>
            <a:r>
              <a:rPr lang="en-US" sz="1786" strike="noStrike" u="none">
                <a:solidFill>
                  <a:srgbClr val="827564"/>
                </a:solidFill>
                <a:latin typeface="Glacial Indifference"/>
                <a:ea typeface="Glacial Indifference"/>
                <a:cs typeface="Glacial Indifference"/>
                <a:sym typeface="Glacial Indifference"/>
              </a:rPr>
              <a:t>). Εκεί εφαρμόζεται </a:t>
            </a:r>
            <a:r>
              <a:rPr lang="en-US" b="true" sz="1786" strike="noStrike" u="none">
                <a:solidFill>
                  <a:srgbClr val="827564"/>
                </a:solidFill>
                <a:latin typeface="Glacial Indifference Bold"/>
                <a:ea typeface="Glacial Indifference Bold"/>
                <a:cs typeface="Glacial Indifference Bold"/>
                <a:sym typeface="Glacial Indifference Bold"/>
              </a:rPr>
              <a:t>δειγματοληψία</a:t>
            </a:r>
            <a:r>
              <a:rPr lang="en-US" sz="1786" strike="noStrike" u="none">
                <a:solidFill>
                  <a:srgbClr val="827564"/>
                </a:solidFill>
                <a:latin typeface="Glacial Indifference"/>
                <a:ea typeface="Glacial Indifference"/>
                <a:cs typeface="Glacial Indifference"/>
                <a:sym typeface="Glacial Indifference"/>
              </a:rPr>
              <a:t>, δηλαδή καταγραφή τιμών του σήματος σε τακτά χρονικά διαστήματα και </a:t>
            </a:r>
            <a:r>
              <a:rPr lang="en-US" b="true" sz="1786" strike="noStrike" u="none">
                <a:solidFill>
                  <a:srgbClr val="827564"/>
                </a:solidFill>
                <a:latin typeface="Glacial Indifference Bold"/>
                <a:ea typeface="Glacial Indifference Bold"/>
                <a:cs typeface="Glacial Indifference Bold"/>
                <a:sym typeface="Glacial Indifference Bold"/>
              </a:rPr>
              <a:t>κβάντιση</a:t>
            </a:r>
            <a:r>
              <a:rPr lang="en-US" sz="1786" strike="noStrike" u="none">
                <a:solidFill>
                  <a:srgbClr val="827564"/>
                </a:solidFill>
                <a:latin typeface="Glacial Indifference"/>
                <a:ea typeface="Glacial Indifference"/>
                <a:cs typeface="Glacial Indifference"/>
                <a:sym typeface="Glacial Indifference"/>
              </a:rPr>
              <a:t>, δηλαδή αποτύπωση των τιμών σε διακριτά επίπεδα πλάτους. Το αποτέλεσμα είναι μια</a:t>
            </a:r>
            <a:r>
              <a:rPr lang="en-US" b="true" sz="1786" strike="noStrike" u="none">
                <a:solidFill>
                  <a:srgbClr val="827564"/>
                </a:solidFill>
                <a:latin typeface="Glacial Indifference Bold"/>
                <a:ea typeface="Glacial Indifference Bold"/>
                <a:cs typeface="Glacial Indifference Bold"/>
                <a:sym typeface="Glacial Indifference Bold"/>
              </a:rPr>
              <a:t> ψηφιακή ακολουθία</a:t>
            </a:r>
            <a:r>
              <a:rPr lang="en-US" sz="1786" strike="noStrike" u="none">
                <a:solidFill>
                  <a:srgbClr val="827564"/>
                </a:solidFill>
                <a:latin typeface="Glacial Indifference"/>
                <a:ea typeface="Glacial Indifference"/>
                <a:cs typeface="Glacial Indifference"/>
                <a:sym typeface="Glacial Indifference"/>
              </a:rPr>
              <a:t>, η οποία υφίσταται </a:t>
            </a:r>
            <a:r>
              <a:rPr lang="en-US" b="true" sz="1786" strike="noStrike" u="none">
                <a:solidFill>
                  <a:srgbClr val="827564"/>
                </a:solidFill>
                <a:latin typeface="Glacial Indifference Bold"/>
                <a:ea typeface="Glacial Indifference Bold"/>
                <a:cs typeface="Glacial Indifference Bold"/>
                <a:sym typeface="Glacial Indifference Bold"/>
              </a:rPr>
              <a:t>δυαδική κωδικοποίηση</a:t>
            </a:r>
            <a:r>
              <a:rPr lang="en-US" sz="1786" strike="noStrike" u="none">
                <a:solidFill>
                  <a:srgbClr val="827564"/>
                </a:solidFill>
                <a:latin typeface="Glacial Indifference"/>
                <a:ea typeface="Glacial Indifference"/>
                <a:cs typeface="Glacial Indifference"/>
                <a:sym typeface="Glacial Indifference"/>
              </a:rPr>
              <a:t> και μπορεί πλέον να αποθηκευτεί και να υποβληθεί σε υπολογιστική επεξεργασία.</a:t>
            </a:r>
          </a:p>
        </p:txBody>
      </p:sp>
      <p:sp>
        <p:nvSpPr>
          <p:cNvPr name="TextBox 6" id="6"/>
          <p:cNvSpPr txBox="true"/>
          <p:nvPr/>
        </p:nvSpPr>
        <p:spPr>
          <a:xfrm rot="0">
            <a:off x="12509558" y="3108278"/>
            <a:ext cx="4428663" cy="5601443"/>
          </a:xfrm>
          <a:prstGeom prst="rect">
            <a:avLst/>
          </a:prstGeom>
        </p:spPr>
        <p:txBody>
          <a:bodyPr anchor="t" rtlCol="false" tIns="0" lIns="0" bIns="0" rIns="0">
            <a:spAutoFit/>
          </a:bodyPr>
          <a:lstStyle/>
          <a:p>
            <a:pPr algn="ctr" marL="0" indent="0" lvl="0">
              <a:lnSpc>
                <a:spcPts val="3448"/>
              </a:lnSpc>
            </a:pPr>
            <a:r>
              <a:rPr lang="en-US" sz="1741">
                <a:solidFill>
                  <a:srgbClr val="827564"/>
                </a:solidFill>
                <a:latin typeface="Glacial Indifference"/>
                <a:ea typeface="Glacial Indifference"/>
                <a:cs typeface="Glacial Indifference"/>
                <a:sym typeface="Glacial Indifference"/>
              </a:rPr>
              <a:t>Το </a:t>
            </a:r>
            <a:r>
              <a:rPr lang="en-US" b="true" sz="1741">
                <a:solidFill>
                  <a:srgbClr val="827564"/>
                </a:solidFill>
                <a:latin typeface="Glacial Indifference Bold"/>
                <a:ea typeface="Glacial Indifference Bold"/>
                <a:cs typeface="Glacial Indifference Bold"/>
                <a:sym typeface="Glacial Indifference Bold"/>
              </a:rPr>
              <a:t>φασματογράφημα </a:t>
            </a:r>
            <a:r>
              <a:rPr lang="en-US" sz="1741">
                <a:solidFill>
                  <a:srgbClr val="827564"/>
                </a:solidFill>
                <a:latin typeface="Glacial Indifference"/>
                <a:ea typeface="Glacial Indifference"/>
                <a:cs typeface="Glacial Indifference"/>
                <a:sym typeface="Glacial Indifference"/>
              </a:rPr>
              <a:t>προκύπτει</a:t>
            </a:r>
            <a:r>
              <a:rPr lang="en-US" sz="1741" strike="noStrike" u="none">
                <a:solidFill>
                  <a:srgbClr val="827564"/>
                </a:solidFill>
                <a:latin typeface="Glacial Indifference"/>
                <a:ea typeface="Glacial Indifference"/>
                <a:cs typeface="Glacial Indifference"/>
                <a:sym typeface="Glacial Indifference"/>
              </a:rPr>
              <a:t> εφαρμόζοντας τον </a:t>
            </a:r>
            <a:r>
              <a:rPr lang="en-US" b="true" sz="1741" strike="noStrike" u="none">
                <a:solidFill>
                  <a:srgbClr val="827564"/>
                </a:solidFill>
                <a:latin typeface="Glacial Indifference Bold"/>
                <a:ea typeface="Glacial Indifference Bold"/>
                <a:cs typeface="Glacial Indifference Bold"/>
                <a:sym typeface="Glacial Indifference Bold"/>
              </a:rPr>
              <a:t>Μετασχηματισμό Fourier Βραχέως Χρόνου (STFT),</a:t>
            </a:r>
            <a:r>
              <a:rPr lang="en-US" sz="1741" strike="noStrike" u="none">
                <a:solidFill>
                  <a:srgbClr val="827564"/>
                </a:solidFill>
                <a:latin typeface="Glacial Indifference"/>
                <a:ea typeface="Glacial Indifference"/>
                <a:cs typeface="Glacial Indifference"/>
                <a:sym typeface="Glacial Indifference"/>
              </a:rPr>
              <a:t> ο οποίος αναλύει το σήμα σε μικρότερα χρονικά τμήματα. Με αυτόν τον τρόπο, απεικονίζεται ταυτόχρονα η </a:t>
            </a:r>
            <a:r>
              <a:rPr lang="en-US" b="true" sz="1741" strike="noStrike" u="none">
                <a:solidFill>
                  <a:srgbClr val="827564"/>
                </a:solidFill>
                <a:latin typeface="Glacial Indifference Bold"/>
                <a:ea typeface="Glacial Indifference Bold"/>
                <a:cs typeface="Glacial Indifference Bold"/>
                <a:sym typeface="Glacial Indifference Bold"/>
              </a:rPr>
              <a:t>εξέλιξη </a:t>
            </a:r>
            <a:r>
              <a:rPr lang="en-US" sz="1741" strike="noStrike" u="none">
                <a:solidFill>
                  <a:srgbClr val="827564"/>
                </a:solidFill>
                <a:latin typeface="Glacial Indifference"/>
                <a:ea typeface="Glacial Indifference"/>
                <a:cs typeface="Glacial Indifference"/>
                <a:sym typeface="Glacial Indifference"/>
              </a:rPr>
              <a:t>του σήματος </a:t>
            </a:r>
            <a:r>
              <a:rPr lang="en-US" b="true" sz="1741" strike="noStrike" u="none">
                <a:solidFill>
                  <a:srgbClr val="827564"/>
                </a:solidFill>
                <a:latin typeface="Glacial Indifference Bold"/>
                <a:ea typeface="Glacial Indifference Bold"/>
                <a:cs typeface="Glacial Indifference Bold"/>
                <a:sym typeface="Glacial Indifference Bold"/>
              </a:rPr>
              <a:t>στον χρόνο </a:t>
            </a:r>
            <a:r>
              <a:rPr lang="en-US" sz="1741" strike="noStrike" u="none">
                <a:solidFill>
                  <a:srgbClr val="827564"/>
                </a:solidFill>
                <a:latin typeface="Glacial Indifference"/>
                <a:ea typeface="Glacial Indifference"/>
                <a:cs typeface="Glacial Indifference"/>
                <a:sym typeface="Glacial Indifference"/>
              </a:rPr>
              <a:t>και η </a:t>
            </a:r>
            <a:r>
              <a:rPr lang="en-US" b="true" sz="1741" strike="noStrike" u="none">
                <a:solidFill>
                  <a:srgbClr val="827564"/>
                </a:solidFill>
                <a:latin typeface="Glacial Indifference Bold"/>
                <a:ea typeface="Glacial Indifference Bold"/>
                <a:cs typeface="Glacial Indifference Bold"/>
                <a:sym typeface="Glacial Indifference Bold"/>
              </a:rPr>
              <a:t>κατανομή της ενέργειας </a:t>
            </a:r>
            <a:r>
              <a:rPr lang="en-US" sz="1741" strike="noStrike" u="none">
                <a:solidFill>
                  <a:srgbClr val="827564"/>
                </a:solidFill>
                <a:latin typeface="Glacial Indifference"/>
                <a:ea typeface="Glacial Indifference"/>
                <a:cs typeface="Glacial Indifference"/>
                <a:sym typeface="Glacial Indifference"/>
              </a:rPr>
              <a:t>στις διάφορες </a:t>
            </a:r>
            <a:r>
              <a:rPr lang="en-US" b="true" sz="1741" strike="noStrike" u="none">
                <a:solidFill>
                  <a:srgbClr val="827564"/>
                </a:solidFill>
                <a:latin typeface="Glacial Indifference Bold"/>
                <a:ea typeface="Glacial Indifference Bold"/>
                <a:cs typeface="Glacial Indifference Bold"/>
                <a:sym typeface="Glacial Indifference Bold"/>
              </a:rPr>
              <a:t>συχνότητες</a:t>
            </a:r>
            <a:r>
              <a:rPr lang="en-US" sz="1741" strike="noStrike" u="none">
                <a:solidFill>
                  <a:srgbClr val="827564"/>
                </a:solidFill>
                <a:latin typeface="Glacial Indifference"/>
                <a:ea typeface="Glacial Indifference"/>
                <a:cs typeface="Glacial Indifference"/>
                <a:sym typeface="Glacial Indifference"/>
              </a:rPr>
              <a:t>. Η χρωματική κλίμακα αποδίδει την ένταση του ήχου ανά συχνότητα και χρονική στιγμή, επιτρέποντας την ανίχνευση χαρακτηριστικών προτύπων που δεν είναι ορατά στην απλή κυματομορφή.</a:t>
            </a:r>
          </a:p>
        </p:txBody>
      </p:sp>
      <p:sp>
        <p:nvSpPr>
          <p:cNvPr name="TextBox 7" id="7"/>
          <p:cNvSpPr txBox="true"/>
          <p:nvPr/>
        </p:nvSpPr>
        <p:spPr>
          <a:xfrm rot="0">
            <a:off x="7010947" y="3098753"/>
            <a:ext cx="4428663" cy="5474769"/>
          </a:xfrm>
          <a:prstGeom prst="rect">
            <a:avLst/>
          </a:prstGeom>
        </p:spPr>
        <p:txBody>
          <a:bodyPr anchor="t" rtlCol="false" tIns="0" lIns="0" bIns="0" rIns="0">
            <a:spAutoFit/>
          </a:bodyPr>
          <a:lstStyle/>
          <a:p>
            <a:pPr algn="ctr" marL="0" indent="0" lvl="0">
              <a:lnSpc>
                <a:spcPts val="3620"/>
              </a:lnSpc>
            </a:pPr>
            <a:r>
              <a:rPr lang="en-US" sz="1828">
                <a:solidFill>
                  <a:srgbClr val="827564"/>
                </a:solidFill>
                <a:latin typeface="Glacial Indifference"/>
                <a:ea typeface="Glacial Indifference"/>
                <a:cs typeface="Glacial Indifference"/>
                <a:sym typeface="Glacial Indifference"/>
              </a:rPr>
              <a:t>Μετά τη ψηφιοποίηση του αναπνευστικού σήματος μπορούμε να το αναπαραστήσουμε είτε στο </a:t>
            </a:r>
            <a:r>
              <a:rPr lang="en-US" b="true" sz="1828">
                <a:solidFill>
                  <a:srgbClr val="827564"/>
                </a:solidFill>
                <a:latin typeface="Glacial Indifference Bold"/>
                <a:ea typeface="Glacial Indifference Bold"/>
                <a:cs typeface="Glacial Indifference Bold"/>
                <a:sym typeface="Glacial Indifference Bold"/>
              </a:rPr>
              <a:t>πεδίο του χρόνου</a:t>
            </a:r>
            <a:r>
              <a:rPr lang="en-US" sz="1828">
                <a:solidFill>
                  <a:srgbClr val="827564"/>
                </a:solidFill>
                <a:latin typeface="Glacial Indifference"/>
                <a:ea typeface="Glacial Indifference"/>
                <a:cs typeface="Glacial Indifference"/>
                <a:sym typeface="Glacial Indifference"/>
              </a:rPr>
              <a:t> είτε στο </a:t>
            </a:r>
            <a:r>
              <a:rPr lang="en-US" b="true" sz="1828">
                <a:solidFill>
                  <a:srgbClr val="827564"/>
                </a:solidFill>
                <a:latin typeface="Glacial Indifference Bold"/>
                <a:ea typeface="Glacial Indifference Bold"/>
                <a:cs typeface="Glacial Indifference Bold"/>
                <a:sym typeface="Glacial Indifference Bold"/>
              </a:rPr>
              <a:t>πεδίο του χρόνου-συχνότητας.</a:t>
            </a:r>
            <a:r>
              <a:rPr lang="en-US" sz="1828">
                <a:solidFill>
                  <a:srgbClr val="827564"/>
                </a:solidFill>
                <a:latin typeface="Glacial Indifference"/>
                <a:ea typeface="Glacial Indifference"/>
                <a:cs typeface="Glacial Indifference"/>
                <a:sym typeface="Glacial Indifference"/>
              </a:rPr>
              <a:t> Η</a:t>
            </a:r>
            <a:r>
              <a:rPr lang="en-US" sz="1828" strike="noStrike" u="none">
                <a:solidFill>
                  <a:srgbClr val="827564"/>
                </a:solidFill>
                <a:latin typeface="Glacial Indifference"/>
                <a:ea typeface="Glacial Indifference"/>
                <a:cs typeface="Glacial Indifference"/>
                <a:sym typeface="Glacial Indifference"/>
              </a:rPr>
              <a:t> </a:t>
            </a:r>
            <a:r>
              <a:rPr lang="en-US" b="true" sz="1828" strike="noStrike" u="none">
                <a:solidFill>
                  <a:srgbClr val="827564"/>
                </a:solidFill>
                <a:latin typeface="Glacial Indifference Bold"/>
                <a:ea typeface="Glacial Indifference Bold"/>
                <a:cs typeface="Glacial Indifference Bold"/>
                <a:sym typeface="Glacial Indifference Bold"/>
              </a:rPr>
              <a:t>κυματομορφή</a:t>
            </a:r>
            <a:r>
              <a:rPr lang="en-US" sz="1828" strike="noStrike" u="none">
                <a:solidFill>
                  <a:srgbClr val="827564"/>
                </a:solidFill>
                <a:latin typeface="Glacial Indifference"/>
                <a:ea typeface="Glacial Indifference"/>
                <a:cs typeface="Glacial Indifference"/>
                <a:sym typeface="Glacial Indifference"/>
              </a:rPr>
              <a:t> (waveform) </a:t>
            </a:r>
            <a:r>
              <a:rPr lang="en-US" sz="1828" strike="noStrike" u="none">
                <a:solidFill>
                  <a:srgbClr val="827564"/>
                </a:solidFill>
                <a:latin typeface="Glacial Indifference"/>
                <a:ea typeface="Glacial Indifference"/>
                <a:cs typeface="Glacial Indifference"/>
                <a:sym typeface="Glacial Indifference"/>
              </a:rPr>
              <a:t>αποτελεί την απλούστερη αναπαράσταση στο πεδίο του χρόνου, η οποία παρουσιάζει τις</a:t>
            </a:r>
            <a:r>
              <a:rPr lang="en-US" b="true" sz="1828" strike="noStrike" u="none">
                <a:solidFill>
                  <a:srgbClr val="827564"/>
                </a:solidFill>
                <a:latin typeface="Glacial Indifference Bold"/>
                <a:ea typeface="Glacial Indifference Bold"/>
                <a:cs typeface="Glacial Indifference Bold"/>
                <a:sym typeface="Glacial Indifference Bold"/>
              </a:rPr>
              <a:t> στιγμιαίες διακυμάνσεις του σήματος</a:t>
            </a:r>
            <a:r>
              <a:rPr lang="en-US" sz="1828" strike="noStrike" u="none">
                <a:solidFill>
                  <a:srgbClr val="827564"/>
                </a:solidFill>
                <a:latin typeface="Glacial Indifference"/>
                <a:ea typeface="Glacial Indifference"/>
                <a:cs typeface="Glacial Indifference"/>
                <a:sym typeface="Glacial Indifference"/>
              </a:rPr>
              <a:t> και επιτρέπει την οπτική διάκριση των φάσεων της αναπνοής και τυχόν ανωμαλιών.</a:t>
            </a:r>
          </a:p>
        </p:txBody>
      </p:sp>
      <p:sp>
        <p:nvSpPr>
          <p:cNvPr name="Freeform 8" id="8"/>
          <p:cNvSpPr/>
          <p:nvPr/>
        </p:nvSpPr>
        <p:spPr>
          <a:xfrm flipH="false" flipV="false" rot="0">
            <a:off x="6216903" y="2064759"/>
            <a:ext cx="736807" cy="492059"/>
          </a:xfrm>
          <a:custGeom>
            <a:avLst/>
            <a:gdLst/>
            <a:ahLst/>
            <a:cxnLst/>
            <a:rect r="r" b="b" t="t" l="l"/>
            <a:pathLst>
              <a:path h="492059" w="736807">
                <a:moveTo>
                  <a:pt x="0" y="0"/>
                </a:moveTo>
                <a:lnTo>
                  <a:pt x="736807" y="0"/>
                </a:lnTo>
                <a:lnTo>
                  <a:pt x="736807" y="492059"/>
                </a:lnTo>
                <a:lnTo>
                  <a:pt x="0" y="4920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1579499" y="1997400"/>
            <a:ext cx="736807" cy="492059"/>
          </a:xfrm>
          <a:custGeom>
            <a:avLst/>
            <a:gdLst/>
            <a:ahLst/>
            <a:cxnLst/>
            <a:rect r="r" b="b" t="t" l="l"/>
            <a:pathLst>
              <a:path h="492059" w="736807">
                <a:moveTo>
                  <a:pt x="0" y="0"/>
                </a:moveTo>
                <a:lnTo>
                  <a:pt x="736807" y="0"/>
                </a:lnTo>
                <a:lnTo>
                  <a:pt x="736807" y="492059"/>
                </a:lnTo>
                <a:lnTo>
                  <a:pt x="0" y="4920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202819">
            <a:off x="-9714351" y="-5233967"/>
            <a:ext cx="18930865" cy="18758766"/>
          </a:xfrm>
          <a:custGeom>
            <a:avLst/>
            <a:gdLst/>
            <a:ahLst/>
            <a:cxnLst/>
            <a:rect r="r" b="b" t="t" l="l"/>
            <a:pathLst>
              <a:path h="18758766" w="18930865">
                <a:moveTo>
                  <a:pt x="0" y="0"/>
                </a:moveTo>
                <a:lnTo>
                  <a:pt x="18930865" y="0"/>
                </a:lnTo>
                <a:lnTo>
                  <a:pt x="18930865" y="18758767"/>
                </a:lnTo>
                <a:lnTo>
                  <a:pt x="0" y="18758767"/>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16578" y="5739751"/>
            <a:ext cx="3092302" cy="1977758"/>
          </a:xfrm>
          <a:custGeom>
            <a:avLst/>
            <a:gdLst/>
            <a:ahLst/>
            <a:cxnLst/>
            <a:rect r="r" b="b" t="t" l="l"/>
            <a:pathLst>
              <a:path h="1977758" w="3092302">
                <a:moveTo>
                  <a:pt x="0" y="0"/>
                </a:moveTo>
                <a:lnTo>
                  <a:pt x="3092302" y="0"/>
                </a:lnTo>
                <a:lnTo>
                  <a:pt x="3092302" y="1977758"/>
                </a:lnTo>
                <a:lnTo>
                  <a:pt x="0" y="1977758"/>
                </a:lnTo>
                <a:lnTo>
                  <a:pt x="0" y="0"/>
                </a:lnTo>
                <a:close/>
              </a:path>
            </a:pathLst>
          </a:custGeom>
          <a:blipFill>
            <a:blip r:embed="rId4"/>
            <a:stretch>
              <a:fillRect l="0" t="0" r="0" b="-121052"/>
            </a:stretch>
          </a:blipFill>
        </p:spPr>
      </p:sp>
      <p:sp>
        <p:nvSpPr>
          <p:cNvPr name="Freeform 4" id="4"/>
          <p:cNvSpPr/>
          <p:nvPr/>
        </p:nvSpPr>
        <p:spPr>
          <a:xfrm flipH="false" flipV="false" rot="0">
            <a:off x="9669237" y="1690538"/>
            <a:ext cx="8115300" cy="2454878"/>
          </a:xfrm>
          <a:custGeom>
            <a:avLst/>
            <a:gdLst/>
            <a:ahLst/>
            <a:cxnLst/>
            <a:rect r="r" b="b" t="t" l="l"/>
            <a:pathLst>
              <a:path h="2454878" w="8115300">
                <a:moveTo>
                  <a:pt x="0" y="0"/>
                </a:moveTo>
                <a:lnTo>
                  <a:pt x="8115300" y="0"/>
                </a:lnTo>
                <a:lnTo>
                  <a:pt x="8115300" y="2454878"/>
                </a:lnTo>
                <a:lnTo>
                  <a:pt x="0" y="2454878"/>
                </a:lnTo>
                <a:lnTo>
                  <a:pt x="0" y="0"/>
                </a:lnTo>
                <a:close/>
              </a:path>
            </a:pathLst>
          </a:custGeom>
          <a:blipFill>
            <a:blip r:embed="rId5"/>
            <a:stretch>
              <a:fillRect l="0" t="0" r="0" b="0"/>
            </a:stretch>
          </a:blipFill>
        </p:spPr>
      </p:sp>
      <p:sp>
        <p:nvSpPr>
          <p:cNvPr name="Freeform 5" id="5"/>
          <p:cNvSpPr/>
          <p:nvPr/>
        </p:nvSpPr>
        <p:spPr>
          <a:xfrm flipH="false" flipV="false" rot="5956934">
            <a:off x="14785357" y="4690312"/>
            <a:ext cx="1457886" cy="399096"/>
          </a:xfrm>
          <a:custGeom>
            <a:avLst/>
            <a:gdLst/>
            <a:ahLst/>
            <a:cxnLst/>
            <a:rect r="r" b="b" t="t" l="l"/>
            <a:pathLst>
              <a:path h="399096" w="1457886">
                <a:moveTo>
                  <a:pt x="0" y="0"/>
                </a:moveTo>
                <a:lnTo>
                  <a:pt x="1457886" y="0"/>
                </a:lnTo>
                <a:lnTo>
                  <a:pt x="1457886" y="399097"/>
                </a:lnTo>
                <a:lnTo>
                  <a:pt x="0" y="3990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313522" y="6492495"/>
            <a:ext cx="315113" cy="304800"/>
          </a:xfrm>
          <a:custGeom>
            <a:avLst/>
            <a:gdLst/>
            <a:ahLst/>
            <a:cxnLst/>
            <a:rect r="r" b="b" t="t" l="l"/>
            <a:pathLst>
              <a:path h="304800" w="315113">
                <a:moveTo>
                  <a:pt x="0" y="0"/>
                </a:moveTo>
                <a:lnTo>
                  <a:pt x="315113" y="0"/>
                </a:lnTo>
                <a:lnTo>
                  <a:pt x="315113" y="304800"/>
                </a:lnTo>
                <a:lnTo>
                  <a:pt x="0" y="30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566043">
            <a:off x="10288845" y="6846403"/>
            <a:ext cx="1457886" cy="399096"/>
          </a:xfrm>
          <a:custGeom>
            <a:avLst/>
            <a:gdLst/>
            <a:ahLst/>
            <a:cxnLst/>
            <a:rect r="r" b="b" t="t" l="l"/>
            <a:pathLst>
              <a:path h="399096" w="1457886">
                <a:moveTo>
                  <a:pt x="0" y="0"/>
                </a:moveTo>
                <a:lnTo>
                  <a:pt x="1457886" y="0"/>
                </a:lnTo>
                <a:lnTo>
                  <a:pt x="1457886" y="399096"/>
                </a:lnTo>
                <a:lnTo>
                  <a:pt x="0" y="3990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284061" y="1028700"/>
            <a:ext cx="2187018" cy="794202"/>
          </a:xfrm>
          <a:custGeom>
            <a:avLst/>
            <a:gdLst/>
            <a:ahLst/>
            <a:cxnLst/>
            <a:rect r="r" b="b" t="t" l="l"/>
            <a:pathLst>
              <a:path h="794202" w="2187018">
                <a:moveTo>
                  <a:pt x="0" y="0"/>
                </a:moveTo>
                <a:lnTo>
                  <a:pt x="2187018" y="0"/>
                </a:lnTo>
                <a:lnTo>
                  <a:pt x="2187018" y="794202"/>
                </a:lnTo>
                <a:lnTo>
                  <a:pt x="0" y="794202"/>
                </a:lnTo>
                <a:lnTo>
                  <a:pt x="0" y="0"/>
                </a:lnTo>
                <a:close/>
              </a:path>
            </a:pathLst>
          </a:custGeom>
          <a:blipFill>
            <a:blip r:embed="rId10"/>
            <a:stretch>
              <a:fillRect l="0" t="0" r="0" b="0"/>
            </a:stretch>
          </a:blipFill>
        </p:spPr>
      </p:sp>
      <p:sp>
        <p:nvSpPr>
          <p:cNvPr name="Freeform 9" id="9"/>
          <p:cNvSpPr/>
          <p:nvPr/>
        </p:nvSpPr>
        <p:spPr>
          <a:xfrm flipH="false" flipV="false" rot="0">
            <a:off x="11305792" y="3349924"/>
            <a:ext cx="181941" cy="255992"/>
          </a:xfrm>
          <a:custGeom>
            <a:avLst/>
            <a:gdLst/>
            <a:ahLst/>
            <a:cxnLst/>
            <a:rect r="r" b="b" t="t" l="l"/>
            <a:pathLst>
              <a:path h="255992" w="181941">
                <a:moveTo>
                  <a:pt x="0" y="0"/>
                </a:moveTo>
                <a:lnTo>
                  <a:pt x="181941" y="0"/>
                </a:lnTo>
                <a:lnTo>
                  <a:pt x="181941" y="255992"/>
                </a:lnTo>
                <a:lnTo>
                  <a:pt x="0" y="255992"/>
                </a:lnTo>
                <a:lnTo>
                  <a:pt x="0" y="0"/>
                </a:lnTo>
                <a:close/>
              </a:path>
            </a:pathLst>
          </a:custGeom>
          <a:blipFill>
            <a:blip r:embed="rId10"/>
            <a:stretch>
              <a:fillRect l="-486742" t="-26581" r="-615304" b="-183663"/>
            </a:stretch>
          </a:blipFill>
        </p:spPr>
      </p:sp>
      <p:sp>
        <p:nvSpPr>
          <p:cNvPr name="Freeform 10" id="10"/>
          <p:cNvSpPr/>
          <p:nvPr/>
        </p:nvSpPr>
        <p:spPr>
          <a:xfrm flipH="false" flipV="false" rot="0">
            <a:off x="12183194" y="1998538"/>
            <a:ext cx="201734" cy="302601"/>
          </a:xfrm>
          <a:custGeom>
            <a:avLst/>
            <a:gdLst/>
            <a:ahLst/>
            <a:cxnLst/>
            <a:rect r="r" b="b" t="t" l="l"/>
            <a:pathLst>
              <a:path h="302601" w="201734">
                <a:moveTo>
                  <a:pt x="0" y="0"/>
                </a:moveTo>
                <a:lnTo>
                  <a:pt x="201734" y="0"/>
                </a:lnTo>
                <a:lnTo>
                  <a:pt x="201734" y="302601"/>
                </a:lnTo>
                <a:lnTo>
                  <a:pt x="0" y="302601"/>
                </a:lnTo>
                <a:lnTo>
                  <a:pt x="0" y="0"/>
                </a:lnTo>
                <a:close/>
              </a:path>
            </a:pathLst>
          </a:custGeom>
          <a:blipFill>
            <a:blip r:embed="rId10"/>
            <a:stretch>
              <a:fillRect l="-618359" t="-15239" r="-365750" b="-147219"/>
            </a:stretch>
          </a:blipFill>
        </p:spPr>
      </p:sp>
      <p:sp>
        <p:nvSpPr>
          <p:cNvPr name="Freeform 11" id="11"/>
          <p:cNvSpPr/>
          <p:nvPr/>
        </p:nvSpPr>
        <p:spPr>
          <a:xfrm flipH="false" flipV="false" rot="0">
            <a:off x="11758614" y="5725824"/>
            <a:ext cx="2484731" cy="1838141"/>
          </a:xfrm>
          <a:custGeom>
            <a:avLst/>
            <a:gdLst/>
            <a:ahLst/>
            <a:cxnLst/>
            <a:rect r="r" b="b" t="t" l="l"/>
            <a:pathLst>
              <a:path h="1838141" w="2484731">
                <a:moveTo>
                  <a:pt x="0" y="0"/>
                </a:moveTo>
                <a:lnTo>
                  <a:pt x="2484730" y="0"/>
                </a:lnTo>
                <a:lnTo>
                  <a:pt x="2484730" y="1838141"/>
                </a:lnTo>
                <a:lnTo>
                  <a:pt x="0" y="1838141"/>
                </a:lnTo>
                <a:lnTo>
                  <a:pt x="0" y="0"/>
                </a:lnTo>
                <a:close/>
              </a:path>
            </a:pathLst>
          </a:custGeom>
          <a:blipFill>
            <a:blip r:embed="rId5"/>
            <a:stretch>
              <a:fillRect l="-186086" t="0" r="-40520" b="-33552"/>
            </a:stretch>
          </a:blipFill>
        </p:spPr>
      </p:sp>
      <p:sp>
        <p:nvSpPr>
          <p:cNvPr name="Freeform 12" id="12"/>
          <p:cNvSpPr/>
          <p:nvPr/>
        </p:nvSpPr>
        <p:spPr>
          <a:xfrm flipH="false" flipV="false" rot="0">
            <a:off x="7825083" y="6210481"/>
            <a:ext cx="2385204" cy="1670941"/>
          </a:xfrm>
          <a:custGeom>
            <a:avLst/>
            <a:gdLst/>
            <a:ahLst/>
            <a:cxnLst/>
            <a:rect r="r" b="b" t="t" l="l"/>
            <a:pathLst>
              <a:path h="1670941" w="2385204">
                <a:moveTo>
                  <a:pt x="0" y="0"/>
                </a:moveTo>
                <a:lnTo>
                  <a:pt x="2385205" y="0"/>
                </a:lnTo>
                <a:lnTo>
                  <a:pt x="2385205" y="1670941"/>
                </a:lnTo>
                <a:lnTo>
                  <a:pt x="0" y="1670941"/>
                </a:lnTo>
                <a:lnTo>
                  <a:pt x="0" y="0"/>
                </a:lnTo>
                <a:close/>
              </a:path>
            </a:pathLst>
          </a:custGeom>
          <a:blipFill>
            <a:blip r:embed="rId11"/>
            <a:stretch>
              <a:fillRect l="-12307" t="-4153" r="-106311" b="0"/>
            </a:stretch>
          </a:blipFill>
        </p:spPr>
      </p:sp>
      <p:sp>
        <p:nvSpPr>
          <p:cNvPr name="Freeform 13" id="13"/>
          <p:cNvSpPr/>
          <p:nvPr/>
        </p:nvSpPr>
        <p:spPr>
          <a:xfrm flipH="false" flipV="false" rot="0">
            <a:off x="12221471" y="7888959"/>
            <a:ext cx="4184103" cy="1071717"/>
          </a:xfrm>
          <a:custGeom>
            <a:avLst/>
            <a:gdLst/>
            <a:ahLst/>
            <a:cxnLst/>
            <a:rect r="r" b="b" t="t" l="l"/>
            <a:pathLst>
              <a:path h="1071717" w="4184103">
                <a:moveTo>
                  <a:pt x="0" y="0"/>
                </a:moveTo>
                <a:lnTo>
                  <a:pt x="4184102" y="0"/>
                </a:lnTo>
                <a:lnTo>
                  <a:pt x="4184102" y="1071718"/>
                </a:lnTo>
                <a:lnTo>
                  <a:pt x="0" y="1071718"/>
                </a:lnTo>
                <a:lnTo>
                  <a:pt x="0" y="0"/>
                </a:lnTo>
                <a:close/>
              </a:path>
            </a:pathLst>
          </a:custGeom>
          <a:blipFill>
            <a:blip r:embed="rId12"/>
            <a:stretch>
              <a:fillRect l="0" t="0" r="0" b="0"/>
            </a:stretch>
          </a:blipFill>
        </p:spPr>
      </p:sp>
      <p:sp>
        <p:nvSpPr>
          <p:cNvPr name="TextBox 14" id="14"/>
          <p:cNvSpPr txBox="true"/>
          <p:nvPr/>
        </p:nvSpPr>
        <p:spPr>
          <a:xfrm rot="0">
            <a:off x="519203" y="752348"/>
            <a:ext cx="6468076" cy="1246190"/>
          </a:xfrm>
          <a:prstGeom prst="rect">
            <a:avLst/>
          </a:prstGeom>
        </p:spPr>
        <p:txBody>
          <a:bodyPr anchor="t" rtlCol="false" tIns="0" lIns="0" bIns="0" rIns="0">
            <a:spAutoFit/>
          </a:bodyPr>
          <a:lstStyle/>
          <a:p>
            <a:pPr algn="ctr">
              <a:lnSpc>
                <a:spcPts val="4887"/>
              </a:lnSpc>
            </a:pPr>
            <a:r>
              <a:rPr lang="en-US" sz="4250" b="true">
                <a:solidFill>
                  <a:srgbClr val="695C4A"/>
                </a:solidFill>
                <a:latin typeface="Glacial Indifference Bold"/>
                <a:ea typeface="Glacial Indifference Bold"/>
                <a:cs typeface="Glacial Indifference Bold"/>
                <a:sym typeface="Glacial Indifference Bold"/>
              </a:rPr>
              <a:t>Βασική Αρχή Λειτουργίας STFT</a:t>
            </a:r>
          </a:p>
        </p:txBody>
      </p:sp>
      <p:sp>
        <p:nvSpPr>
          <p:cNvPr name="TextBox 15" id="15"/>
          <p:cNvSpPr txBox="true"/>
          <p:nvPr/>
        </p:nvSpPr>
        <p:spPr>
          <a:xfrm rot="0">
            <a:off x="11506085" y="8140784"/>
            <a:ext cx="878843" cy="428134"/>
          </a:xfrm>
          <a:prstGeom prst="rect">
            <a:avLst/>
          </a:prstGeom>
        </p:spPr>
        <p:txBody>
          <a:bodyPr anchor="t" rtlCol="false" tIns="0" lIns="0" bIns="0" rIns="0">
            <a:spAutoFit/>
          </a:bodyPr>
          <a:lstStyle/>
          <a:p>
            <a:pPr algn="l">
              <a:lnSpc>
                <a:spcPts val="3361"/>
              </a:lnSpc>
            </a:pPr>
            <a:r>
              <a:rPr lang="en-US" sz="2922" b="true">
                <a:solidFill>
                  <a:srgbClr val="695C4A"/>
                </a:solidFill>
                <a:latin typeface="Glacial Indifference Bold"/>
                <a:ea typeface="Glacial Indifference Bold"/>
                <a:cs typeface="Glacial Indifference Bold"/>
                <a:sym typeface="Glacial Indifference Bold"/>
              </a:rPr>
              <a:t>DFT</a:t>
            </a:r>
          </a:p>
        </p:txBody>
      </p:sp>
      <p:sp>
        <p:nvSpPr>
          <p:cNvPr name="TextBox 16" id="16"/>
          <p:cNvSpPr txBox="true"/>
          <p:nvPr/>
        </p:nvSpPr>
        <p:spPr>
          <a:xfrm rot="0">
            <a:off x="201319" y="2166388"/>
            <a:ext cx="7303869" cy="6752511"/>
          </a:xfrm>
          <a:prstGeom prst="rect">
            <a:avLst/>
          </a:prstGeom>
        </p:spPr>
        <p:txBody>
          <a:bodyPr anchor="t" rtlCol="false" tIns="0" lIns="0" bIns="0" rIns="0">
            <a:spAutoFit/>
          </a:bodyPr>
          <a:lstStyle/>
          <a:p>
            <a:pPr algn="l" marL="440057" indent="-220029" lvl="1">
              <a:lnSpc>
                <a:spcPts val="2853"/>
              </a:lnSpc>
              <a:spcBef>
                <a:spcPct val="0"/>
              </a:spcBef>
              <a:buAutoNum type="arabicPeriod" startAt="1"/>
            </a:pPr>
            <a:r>
              <a:rPr lang="en-US" sz="2038">
                <a:solidFill>
                  <a:srgbClr val="695C4A"/>
                </a:solidFill>
                <a:latin typeface="Glacial Indifference"/>
                <a:ea typeface="Glacial Indifference"/>
                <a:cs typeface="Glacial Indifference"/>
                <a:sym typeface="Glacial Indifference"/>
              </a:rPr>
              <a:t> Τ</a:t>
            </a:r>
            <a:r>
              <a:rPr lang="en-US" sz="2038">
                <a:solidFill>
                  <a:srgbClr val="695C4A"/>
                </a:solidFill>
                <a:latin typeface="Glacial Indifference"/>
                <a:ea typeface="Glacial Indifference"/>
                <a:cs typeface="Glacial Indifference"/>
                <a:sym typeface="Glacial Indifference"/>
              </a:rPr>
              <a:t>ο σήμα </a:t>
            </a:r>
            <a:r>
              <a:rPr lang="en-US" b="true" sz="2038">
                <a:solidFill>
                  <a:srgbClr val="695C4A"/>
                </a:solidFill>
                <a:latin typeface="Glacial Indifference Bold"/>
                <a:ea typeface="Glacial Indifference Bold"/>
                <a:cs typeface="Glacial Indifference Bold"/>
                <a:sym typeface="Glacial Indifference Bold"/>
              </a:rPr>
              <a:t>διασπάται </a:t>
            </a:r>
            <a:r>
              <a:rPr lang="en-US" sz="2038">
                <a:solidFill>
                  <a:srgbClr val="695C4A"/>
                </a:solidFill>
                <a:latin typeface="Glacial Indifference"/>
                <a:ea typeface="Glacial Indifference"/>
                <a:cs typeface="Glacial Indifference"/>
                <a:sym typeface="Glacial Indifference"/>
              </a:rPr>
              <a:t>σε διαδοχικά τοπικά χρονικά </a:t>
            </a:r>
            <a:r>
              <a:rPr lang="en-US" b="true" sz="2038">
                <a:solidFill>
                  <a:srgbClr val="695C4A"/>
                </a:solidFill>
                <a:latin typeface="Glacial Indifference Bold"/>
                <a:ea typeface="Glacial Indifference Bold"/>
                <a:cs typeface="Glacial Indifference Bold"/>
                <a:sym typeface="Glacial Indifference Bold"/>
              </a:rPr>
              <a:t>καρέ</a:t>
            </a:r>
            <a:r>
              <a:rPr lang="en-US" sz="2038">
                <a:solidFill>
                  <a:srgbClr val="695C4A"/>
                </a:solidFill>
                <a:latin typeface="Glacial Indifference"/>
                <a:ea typeface="Glacial Indifference"/>
                <a:cs typeface="Glacial Indifference"/>
                <a:sym typeface="Glacial Indifference"/>
              </a:rPr>
              <a:t> (frames) μέσα στα οποία το σήμα θεωρείται προσεγγιστικά </a:t>
            </a:r>
            <a:r>
              <a:rPr lang="en-US" b="true" sz="2038">
                <a:solidFill>
                  <a:srgbClr val="695C4A"/>
                </a:solidFill>
                <a:latin typeface="Glacial Indifference Bold"/>
                <a:ea typeface="Glacial Indifference Bold"/>
                <a:cs typeface="Glacial Indifference Bold"/>
                <a:sym typeface="Glacial Indifference Bold"/>
              </a:rPr>
              <a:t>στάσιμο</a:t>
            </a:r>
            <a:r>
              <a:rPr lang="en-US" sz="2038">
                <a:solidFill>
                  <a:srgbClr val="695C4A"/>
                </a:solidFill>
                <a:latin typeface="Glacial Indifference"/>
                <a:ea typeface="Glacial Indifference"/>
                <a:cs typeface="Glacial Indifference"/>
                <a:sym typeface="Glacial Indifference"/>
              </a:rPr>
              <a:t>. </a:t>
            </a:r>
          </a:p>
          <a:p>
            <a:pPr algn="l" marL="440057" indent="-220029" lvl="1">
              <a:lnSpc>
                <a:spcPts val="2853"/>
              </a:lnSpc>
              <a:spcBef>
                <a:spcPct val="0"/>
              </a:spcBef>
              <a:buAutoNum type="arabicPeriod" startAt="1"/>
            </a:pPr>
            <a:r>
              <a:rPr lang="en-US" sz="2038">
                <a:solidFill>
                  <a:srgbClr val="695C4A"/>
                </a:solidFill>
                <a:latin typeface="Glacial Indifference"/>
                <a:ea typeface="Glacial Indifference"/>
                <a:cs typeface="Glacial Indifference"/>
                <a:sym typeface="Glacial Indifference"/>
              </a:rPr>
              <a:t>Συχνά εφαρμόζεται και </a:t>
            </a:r>
            <a:r>
              <a:rPr lang="en-US" b="true" sz="2038">
                <a:solidFill>
                  <a:srgbClr val="695C4A"/>
                </a:solidFill>
                <a:latin typeface="Glacial Indifference Bold"/>
                <a:ea typeface="Glacial Indifference Bold"/>
                <a:cs typeface="Glacial Indifference Bold"/>
                <a:sym typeface="Glacial Indifference Bold"/>
              </a:rPr>
              <a:t>επικάλυψη </a:t>
            </a:r>
            <a:r>
              <a:rPr lang="en-US" sz="2038">
                <a:solidFill>
                  <a:srgbClr val="695C4A"/>
                </a:solidFill>
                <a:latin typeface="Glacial Indifference"/>
                <a:ea typeface="Glacial Indifference"/>
                <a:cs typeface="Glacial Indifference"/>
                <a:sym typeface="Glacial Indifference"/>
              </a:rPr>
              <a:t>(overlap) μεταξύ διαδοχικών καρέ, δηλαδή διατηρείται </a:t>
            </a:r>
            <a:r>
              <a:rPr lang="en-US" b="true" sz="2038">
                <a:solidFill>
                  <a:srgbClr val="695C4A"/>
                </a:solidFill>
                <a:latin typeface="Glacial Indifference Bold"/>
                <a:ea typeface="Glacial Indifference Bold"/>
                <a:cs typeface="Glacial Indifference Bold"/>
                <a:sym typeface="Glacial Indifference Bold"/>
              </a:rPr>
              <a:t>κοινό ένα τμήμα του σήματος</a:t>
            </a:r>
            <a:r>
              <a:rPr lang="en-US" sz="2038">
                <a:solidFill>
                  <a:srgbClr val="695C4A"/>
                </a:solidFill>
                <a:latin typeface="Glacial Indifference"/>
                <a:ea typeface="Glacial Indifference"/>
                <a:cs typeface="Glacial Indifference"/>
                <a:sym typeface="Glacial Indifference"/>
              </a:rPr>
              <a:t> μεταξύ τους. Έτσι αποφεύγονται ασυνέχειες ή απότομες μεταβολές μεταξύ καρέ.</a:t>
            </a:r>
          </a:p>
          <a:p>
            <a:pPr algn="l" marL="440057" indent="-220029" lvl="1">
              <a:lnSpc>
                <a:spcPts val="2853"/>
              </a:lnSpc>
              <a:spcBef>
                <a:spcPct val="0"/>
              </a:spcBef>
              <a:buAutoNum type="arabicPeriod" startAt="1"/>
            </a:pPr>
            <a:r>
              <a:rPr lang="en-US" sz="2038">
                <a:solidFill>
                  <a:srgbClr val="695C4A"/>
                </a:solidFill>
                <a:latin typeface="Glacial Indifference"/>
                <a:ea typeface="Glacial Indifference"/>
                <a:cs typeface="Glacial Indifference"/>
                <a:sym typeface="Glacial Indifference"/>
              </a:rPr>
              <a:t> Σε κάθε καρέ το σήμα </a:t>
            </a:r>
            <a:r>
              <a:rPr lang="en-US" b="true" sz="2038">
                <a:solidFill>
                  <a:srgbClr val="695C4A"/>
                </a:solidFill>
                <a:latin typeface="Glacial Indifference Bold"/>
                <a:ea typeface="Glacial Indifference Bold"/>
                <a:cs typeface="Glacial Indifference Bold"/>
                <a:sym typeface="Glacial Indifference Bold"/>
              </a:rPr>
              <a:t>πολλαπλασιάζεται με μια συνάρτηση παραθύρου</a:t>
            </a:r>
            <a:r>
              <a:rPr lang="en-US" sz="2038">
                <a:solidFill>
                  <a:srgbClr val="695C4A"/>
                </a:solidFill>
                <a:latin typeface="Glacial Indifference"/>
                <a:ea typeface="Glacial Indifference"/>
                <a:cs typeface="Glacial Indifference"/>
                <a:sym typeface="Glacial Indifference"/>
              </a:rPr>
              <a:t> w[n], η οποία δίνει μεγαλύτερη έμφαση στο κέντρο και μειώνει σταδιακά την επιρροή των άκρων. Έτσι, αποφεύγεται η διαρροή φασματικής πληροφορίας. Οι πιο διαδεδομένες συναρτήσεις είναι τα παράθυρα </a:t>
            </a:r>
            <a:r>
              <a:rPr lang="en-US" b="true" sz="2038">
                <a:solidFill>
                  <a:srgbClr val="695C4A"/>
                </a:solidFill>
                <a:latin typeface="Glacial Indifference Bold"/>
                <a:ea typeface="Glacial Indifference Bold"/>
                <a:cs typeface="Glacial Indifference Bold"/>
                <a:sym typeface="Glacial Indifference Bold"/>
              </a:rPr>
              <a:t>Hann, Hamming</a:t>
            </a:r>
            <a:r>
              <a:rPr lang="en-US" sz="2038">
                <a:solidFill>
                  <a:srgbClr val="695C4A"/>
                </a:solidFill>
                <a:latin typeface="Glacial Indifference"/>
                <a:ea typeface="Glacial Indifference"/>
                <a:cs typeface="Glacial Indifference"/>
                <a:sym typeface="Glacial Indifference"/>
              </a:rPr>
              <a:t>. </a:t>
            </a:r>
          </a:p>
          <a:p>
            <a:pPr algn="l" marL="440057" indent="-220029" lvl="1">
              <a:lnSpc>
                <a:spcPts val="2853"/>
              </a:lnSpc>
              <a:spcBef>
                <a:spcPct val="0"/>
              </a:spcBef>
              <a:buAutoNum type="arabicPeriod" startAt="1"/>
            </a:pPr>
            <a:r>
              <a:rPr lang="en-US" sz="2038">
                <a:solidFill>
                  <a:srgbClr val="695C4A"/>
                </a:solidFill>
                <a:latin typeface="Glacial Indifference"/>
                <a:ea typeface="Glacial Indifference"/>
                <a:cs typeface="Glacial Indifference"/>
                <a:sym typeface="Glacial Indifference"/>
              </a:rPr>
              <a:t>Εντός κάθε καρέ εφαρμόζεται στο τελικό σήμα ο </a:t>
            </a:r>
            <a:r>
              <a:rPr lang="en-US" b="true" sz="2038">
                <a:solidFill>
                  <a:srgbClr val="695C4A"/>
                </a:solidFill>
                <a:latin typeface="Glacial Indifference Bold"/>
                <a:ea typeface="Glacial Indifference Bold"/>
                <a:cs typeface="Glacial Indifference Bold"/>
                <a:sym typeface="Glacial Indifference Bold"/>
              </a:rPr>
              <a:t>Διακριτός Μετασχηματισμός Fourier</a:t>
            </a:r>
            <a:r>
              <a:rPr lang="en-US" sz="2038">
                <a:solidFill>
                  <a:srgbClr val="695C4A"/>
                </a:solidFill>
                <a:latin typeface="Glacial Indifference"/>
                <a:ea typeface="Glacial Indifference"/>
                <a:cs typeface="Glacial Indifference"/>
                <a:sym typeface="Glacial Indifference"/>
              </a:rPr>
              <a:t> (DFT). Αφού υπολογιστεί εξάγεται η</a:t>
            </a:r>
            <a:r>
              <a:rPr lang="en-US" b="true" sz="2038">
                <a:solidFill>
                  <a:srgbClr val="695C4A"/>
                </a:solidFill>
                <a:latin typeface="Glacial Indifference Bold"/>
                <a:ea typeface="Glacial Indifference Bold"/>
                <a:cs typeface="Glacial Indifference Bold"/>
                <a:sym typeface="Glacial Indifference Bold"/>
              </a:rPr>
              <a:t> ισχύς της απόκρισης πλάτους</a:t>
            </a:r>
            <a:r>
              <a:rPr lang="en-US" sz="2038">
                <a:solidFill>
                  <a:srgbClr val="695C4A"/>
                </a:solidFill>
                <a:latin typeface="Glacial Indifference"/>
                <a:ea typeface="Glacial Indifference"/>
                <a:cs typeface="Glacial Indifference"/>
                <a:sym typeface="Glacial Indifference"/>
              </a:rPr>
              <a:t> που προέκυψε, η οποία χρωματίζεται κατάλληλα ανάλογα με την </a:t>
            </a:r>
            <a:r>
              <a:rPr lang="en-US" b="true" sz="2038">
                <a:solidFill>
                  <a:srgbClr val="695C4A"/>
                </a:solidFill>
                <a:latin typeface="Glacial Indifference Bold"/>
                <a:ea typeface="Glacial Indifference Bold"/>
                <a:cs typeface="Glacial Indifference Bold"/>
                <a:sym typeface="Glacial Indifference Bold"/>
              </a:rPr>
              <a:t>ένταση </a:t>
            </a:r>
            <a:r>
              <a:rPr lang="en-US" sz="2038">
                <a:solidFill>
                  <a:srgbClr val="695C4A"/>
                </a:solidFill>
                <a:latin typeface="Glacial Indifference"/>
                <a:ea typeface="Glacial Indifference"/>
                <a:cs typeface="Glacial Indifference"/>
                <a:sym typeface="Glacial Indifference"/>
              </a:rPr>
              <a:t>του σήματος που αντιστοιχεί στη συχνότητα k κατά τη χρονική στιγμή m.</a:t>
            </a:r>
          </a:p>
        </p:txBody>
      </p:sp>
      <p:sp>
        <p:nvSpPr>
          <p:cNvPr name="TextBox 17" id="17"/>
          <p:cNvSpPr txBox="true"/>
          <p:nvPr/>
        </p:nvSpPr>
        <p:spPr>
          <a:xfrm rot="-5400000">
            <a:off x="7227697" y="6943154"/>
            <a:ext cx="855828" cy="205595"/>
          </a:xfrm>
          <a:prstGeom prst="rect">
            <a:avLst/>
          </a:prstGeom>
        </p:spPr>
        <p:txBody>
          <a:bodyPr anchor="t" rtlCol="false" tIns="0" lIns="0" bIns="0" rIns="0">
            <a:spAutoFit/>
          </a:bodyPr>
          <a:lstStyle/>
          <a:p>
            <a:pPr algn="l">
              <a:lnSpc>
                <a:spcPts val="1792"/>
              </a:lnSpc>
              <a:spcBef>
                <a:spcPct val="0"/>
              </a:spcBef>
            </a:pPr>
            <a:r>
              <a:rPr lang="en-US" sz="1280">
                <a:solidFill>
                  <a:srgbClr val="695C4A"/>
                </a:solidFill>
                <a:latin typeface="Glacial Indifference"/>
                <a:ea typeface="Glacial Indifference"/>
                <a:cs typeface="Glacial Indifference"/>
                <a:sym typeface="Glacial Indifference"/>
              </a:rPr>
              <a:t>Συχνότητα</a:t>
            </a:r>
          </a:p>
        </p:txBody>
      </p:sp>
      <p:sp>
        <p:nvSpPr>
          <p:cNvPr name="TextBox 18" id="18"/>
          <p:cNvSpPr txBox="true"/>
          <p:nvPr/>
        </p:nvSpPr>
        <p:spPr>
          <a:xfrm rot="0">
            <a:off x="8604904" y="7925664"/>
            <a:ext cx="581508" cy="205595"/>
          </a:xfrm>
          <a:prstGeom prst="rect">
            <a:avLst/>
          </a:prstGeom>
        </p:spPr>
        <p:txBody>
          <a:bodyPr anchor="t" rtlCol="false" tIns="0" lIns="0" bIns="0" rIns="0">
            <a:spAutoFit/>
          </a:bodyPr>
          <a:lstStyle/>
          <a:p>
            <a:pPr algn="l">
              <a:lnSpc>
                <a:spcPts val="1792"/>
              </a:lnSpc>
              <a:spcBef>
                <a:spcPct val="0"/>
              </a:spcBef>
            </a:pPr>
            <a:r>
              <a:rPr lang="en-US" sz="1280">
                <a:solidFill>
                  <a:srgbClr val="695C4A"/>
                </a:solidFill>
                <a:latin typeface="Glacial Indifference"/>
                <a:ea typeface="Glacial Indifference"/>
                <a:cs typeface="Glacial Indifference"/>
                <a:sym typeface="Glacial Indifference"/>
              </a:rPr>
              <a:t>Χρόνος</a:t>
            </a:r>
          </a:p>
        </p:txBody>
      </p:sp>
      <p:sp>
        <p:nvSpPr>
          <p:cNvPr name="TextBox 19" id="19"/>
          <p:cNvSpPr txBox="true"/>
          <p:nvPr/>
        </p:nvSpPr>
        <p:spPr>
          <a:xfrm rot="0">
            <a:off x="15514300" y="5641445"/>
            <a:ext cx="4046125" cy="397654"/>
          </a:xfrm>
          <a:prstGeom prst="rect">
            <a:avLst/>
          </a:prstGeom>
        </p:spPr>
        <p:txBody>
          <a:bodyPr anchor="t" rtlCol="false" tIns="0" lIns="0" bIns="0" rIns="0">
            <a:spAutoFit/>
          </a:bodyPr>
          <a:lstStyle/>
          <a:p>
            <a:pPr algn="l">
              <a:lnSpc>
                <a:spcPts val="3016"/>
              </a:lnSpc>
            </a:pPr>
            <a:r>
              <a:rPr lang="en-US" sz="2622" b="true">
                <a:solidFill>
                  <a:srgbClr val="695C4A"/>
                </a:solidFill>
                <a:latin typeface="Glacial Indifference Bold"/>
                <a:ea typeface="Glacial Indifference Bold"/>
                <a:cs typeface="Glacial Indifference Bold"/>
                <a:sym typeface="Glacial Indifference Bold"/>
              </a:rPr>
              <a:t>Hann window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621042" y="-1247769"/>
            <a:ext cx="4757958" cy="5054149"/>
          </a:xfrm>
          <a:custGeom>
            <a:avLst/>
            <a:gdLst/>
            <a:ahLst/>
            <a:cxnLst/>
            <a:rect r="r" b="b" t="t" l="l"/>
            <a:pathLst>
              <a:path h="5054149" w="4757958">
                <a:moveTo>
                  <a:pt x="0" y="0"/>
                </a:moveTo>
                <a:lnTo>
                  <a:pt x="4757958" y="0"/>
                </a:lnTo>
                <a:lnTo>
                  <a:pt x="4757958" y="5054149"/>
                </a:lnTo>
                <a:lnTo>
                  <a:pt x="0" y="5054149"/>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7899" y="51435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893301" y="51435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774201" y="518930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473701" y="518930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327416" y="4048086"/>
            <a:ext cx="789686" cy="810044"/>
          </a:xfrm>
          <a:custGeom>
            <a:avLst/>
            <a:gdLst/>
            <a:ahLst/>
            <a:cxnLst/>
            <a:rect r="r" b="b" t="t" l="l"/>
            <a:pathLst>
              <a:path h="810044" w="789686">
                <a:moveTo>
                  <a:pt x="0" y="0"/>
                </a:moveTo>
                <a:lnTo>
                  <a:pt x="789685" y="0"/>
                </a:lnTo>
                <a:lnTo>
                  <a:pt x="789685" y="810044"/>
                </a:lnTo>
                <a:lnTo>
                  <a:pt x="0" y="8100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90742" y="4074872"/>
            <a:ext cx="3646173" cy="580645"/>
          </a:xfrm>
          <a:prstGeom prst="rect">
            <a:avLst/>
          </a:prstGeom>
        </p:spPr>
        <p:txBody>
          <a:bodyPr anchor="t" rtlCol="false" tIns="0" lIns="0" bIns="0" rIns="0">
            <a:spAutoFit/>
          </a:bodyPr>
          <a:lstStyle/>
          <a:p>
            <a:pPr algn="ctr" marL="0" indent="0" lvl="0">
              <a:lnSpc>
                <a:spcPts val="5147"/>
              </a:lnSpc>
            </a:pPr>
            <a:r>
              <a:rPr lang="en-US" b="true" sz="2599" spc="402">
                <a:solidFill>
                  <a:srgbClr val="695C4A"/>
                </a:solidFill>
                <a:latin typeface="Open Sauce Bold"/>
                <a:ea typeface="Open Sauce Bold"/>
                <a:cs typeface="Open Sauce Bold"/>
                <a:sym typeface="Open Sauce Bold"/>
              </a:rPr>
              <a:t>ΠΡΟΕΠΕΞΕΡΓΑΣΙΑ</a:t>
            </a:r>
          </a:p>
        </p:txBody>
      </p:sp>
      <p:sp>
        <p:nvSpPr>
          <p:cNvPr name="TextBox 9" id="9"/>
          <p:cNvSpPr txBox="true"/>
          <p:nvPr/>
        </p:nvSpPr>
        <p:spPr>
          <a:xfrm rot="0">
            <a:off x="4774201" y="3751022"/>
            <a:ext cx="4114800" cy="1228345"/>
          </a:xfrm>
          <a:prstGeom prst="rect">
            <a:avLst/>
          </a:prstGeom>
        </p:spPr>
        <p:txBody>
          <a:bodyPr anchor="t" rtlCol="false" tIns="0" lIns="0" bIns="0" rIns="0">
            <a:spAutoFit/>
          </a:bodyPr>
          <a:lstStyle/>
          <a:p>
            <a:pPr algn="ctr" marL="0" indent="0" lvl="0">
              <a:lnSpc>
                <a:spcPts val="5147"/>
              </a:lnSpc>
            </a:pPr>
            <a:r>
              <a:rPr lang="en-US" b="true" sz="2599" spc="402">
                <a:solidFill>
                  <a:srgbClr val="695C4A"/>
                </a:solidFill>
                <a:latin typeface="Open Sauce Bold"/>
                <a:ea typeface="Open Sauce Bold"/>
                <a:cs typeface="Open Sauce Bold"/>
                <a:sym typeface="Open Sauce Bold"/>
              </a:rPr>
              <a:t>ΕΞΑΓΩΓΗ ΧΑΡΑΚΤΗΡΙΣΤΙΚΩΝ</a:t>
            </a:r>
          </a:p>
        </p:txBody>
      </p:sp>
      <p:sp>
        <p:nvSpPr>
          <p:cNvPr name="TextBox 10" id="10"/>
          <p:cNvSpPr txBox="true"/>
          <p:nvPr/>
        </p:nvSpPr>
        <p:spPr>
          <a:xfrm rot="0">
            <a:off x="9708014" y="3751022"/>
            <a:ext cx="3646173" cy="1228345"/>
          </a:xfrm>
          <a:prstGeom prst="rect">
            <a:avLst/>
          </a:prstGeom>
        </p:spPr>
        <p:txBody>
          <a:bodyPr anchor="t" rtlCol="false" tIns="0" lIns="0" bIns="0" rIns="0">
            <a:spAutoFit/>
          </a:bodyPr>
          <a:lstStyle/>
          <a:p>
            <a:pPr algn="ctr" marL="0" indent="0" lvl="0">
              <a:lnSpc>
                <a:spcPts val="5147"/>
              </a:lnSpc>
            </a:pPr>
            <a:r>
              <a:rPr lang="en-US" b="true" sz="2599" spc="402">
                <a:solidFill>
                  <a:srgbClr val="695C4A"/>
                </a:solidFill>
                <a:latin typeface="Open Sauce Bold"/>
                <a:ea typeface="Open Sauce Bold"/>
                <a:cs typeface="Open Sauce Bold"/>
                <a:sym typeface="Open Sauce Bold"/>
              </a:rPr>
              <a:t>ΠΡΟΣΑΡΜΟΓΗ ΠΕΔΙΟΥ</a:t>
            </a:r>
          </a:p>
        </p:txBody>
      </p:sp>
      <p:sp>
        <p:nvSpPr>
          <p:cNvPr name="TextBox 11" id="11"/>
          <p:cNvSpPr txBox="true"/>
          <p:nvPr/>
        </p:nvSpPr>
        <p:spPr>
          <a:xfrm rot="0">
            <a:off x="14127614" y="3751022"/>
            <a:ext cx="3646173" cy="1228345"/>
          </a:xfrm>
          <a:prstGeom prst="rect">
            <a:avLst/>
          </a:prstGeom>
        </p:spPr>
        <p:txBody>
          <a:bodyPr anchor="t" rtlCol="false" tIns="0" lIns="0" bIns="0" rIns="0">
            <a:spAutoFit/>
          </a:bodyPr>
          <a:lstStyle/>
          <a:p>
            <a:pPr algn="ctr" marL="0" indent="0" lvl="0">
              <a:lnSpc>
                <a:spcPts val="5147"/>
              </a:lnSpc>
            </a:pPr>
            <a:r>
              <a:rPr lang="en-US" b="true" sz="2599" spc="402">
                <a:solidFill>
                  <a:srgbClr val="695C4A"/>
                </a:solidFill>
                <a:latin typeface="Open Sauce Bold"/>
                <a:ea typeface="Open Sauce Bold"/>
                <a:cs typeface="Open Sauce Bold"/>
                <a:sym typeface="Open Sauce Bold"/>
              </a:rPr>
              <a:t>ΤΑΞΙΝΟΜΗΣΗ &amp; ΑΞΙΟΛΟΓΗΣΗ</a:t>
            </a:r>
          </a:p>
        </p:txBody>
      </p:sp>
      <p:sp>
        <p:nvSpPr>
          <p:cNvPr name="Freeform 12" id="12"/>
          <p:cNvSpPr/>
          <p:nvPr/>
        </p:nvSpPr>
        <p:spPr>
          <a:xfrm flipH="false" flipV="false" rot="0">
            <a:off x="9078858" y="4048086"/>
            <a:ext cx="789686" cy="810044"/>
          </a:xfrm>
          <a:custGeom>
            <a:avLst/>
            <a:gdLst/>
            <a:ahLst/>
            <a:cxnLst/>
            <a:rect r="r" b="b" t="t" l="l"/>
            <a:pathLst>
              <a:path h="810044" w="789686">
                <a:moveTo>
                  <a:pt x="0" y="0"/>
                </a:moveTo>
                <a:lnTo>
                  <a:pt x="789686" y="0"/>
                </a:lnTo>
                <a:lnTo>
                  <a:pt x="789686" y="810044"/>
                </a:lnTo>
                <a:lnTo>
                  <a:pt x="0" y="8100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3354187" y="3941522"/>
            <a:ext cx="789686" cy="810044"/>
          </a:xfrm>
          <a:custGeom>
            <a:avLst/>
            <a:gdLst/>
            <a:ahLst/>
            <a:cxnLst/>
            <a:rect r="r" b="b" t="t" l="l"/>
            <a:pathLst>
              <a:path h="810044" w="789686">
                <a:moveTo>
                  <a:pt x="0" y="0"/>
                </a:moveTo>
                <a:lnTo>
                  <a:pt x="789686" y="0"/>
                </a:lnTo>
                <a:lnTo>
                  <a:pt x="789686" y="810044"/>
                </a:lnTo>
                <a:lnTo>
                  <a:pt x="0" y="8100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5678547" y="1735077"/>
            <a:ext cx="12609453" cy="639446"/>
          </a:xfrm>
          <a:prstGeom prst="rect">
            <a:avLst/>
          </a:prstGeom>
        </p:spPr>
        <p:txBody>
          <a:bodyPr anchor="t" rtlCol="false" tIns="0" lIns="0" bIns="0" rIns="0">
            <a:spAutoFit/>
          </a:bodyPr>
          <a:lstStyle/>
          <a:p>
            <a:pPr algn="l">
              <a:lnSpc>
                <a:spcPts val="5179"/>
              </a:lnSpc>
              <a:spcBef>
                <a:spcPct val="0"/>
              </a:spcBef>
            </a:pPr>
            <a:r>
              <a:rPr lang="en-US" b="true" sz="3699" spc="1553">
                <a:solidFill>
                  <a:srgbClr val="827564"/>
                </a:solidFill>
                <a:latin typeface="Open Sauce Bold"/>
                <a:ea typeface="Open Sauce Bold"/>
                <a:cs typeface="Open Sauce Bold"/>
                <a:sym typeface="Open Sauce Bold"/>
              </a:rPr>
              <a:t>ΠΡΟΤΕΙΝΟΜΕΝΗ ΜΕΘΟΔΟΛΟΓΙΑ</a:t>
            </a:r>
          </a:p>
        </p:txBody>
      </p:sp>
      <p:sp>
        <p:nvSpPr>
          <p:cNvPr name="TextBox 15" id="15"/>
          <p:cNvSpPr txBox="true"/>
          <p:nvPr/>
        </p:nvSpPr>
        <p:spPr>
          <a:xfrm rot="0">
            <a:off x="765941" y="6028719"/>
            <a:ext cx="3298716" cy="2340725"/>
          </a:xfrm>
          <a:prstGeom prst="rect">
            <a:avLst/>
          </a:prstGeom>
        </p:spPr>
        <p:txBody>
          <a:bodyPr anchor="t" rtlCol="false" tIns="0" lIns="0" bIns="0" rIns="0">
            <a:spAutoFit/>
          </a:bodyPr>
          <a:lstStyle/>
          <a:p>
            <a:pPr algn="ctr">
              <a:lnSpc>
                <a:spcPts val="2333"/>
              </a:lnSpc>
              <a:spcBef>
                <a:spcPct val="0"/>
              </a:spcBef>
            </a:pPr>
            <a:r>
              <a:rPr lang="en-US" sz="1178" spc="182">
                <a:solidFill>
                  <a:srgbClr val="000000"/>
                </a:solidFill>
                <a:latin typeface="Glacial Indifference"/>
                <a:ea typeface="Glacial Indifference"/>
                <a:cs typeface="Glacial Indifference"/>
                <a:sym typeface="Glacial Indifference"/>
              </a:rPr>
              <a:t>ΤΟ </a:t>
            </a:r>
            <a:r>
              <a:rPr lang="en-US" b="true" sz="1178" spc="182">
                <a:solidFill>
                  <a:srgbClr val="000000"/>
                </a:solidFill>
                <a:latin typeface="Glacial Indifference Bold"/>
                <a:ea typeface="Glacial Indifference Bold"/>
                <a:cs typeface="Glacial Indifference Bold"/>
                <a:sym typeface="Glacial Indifference Bold"/>
              </a:rPr>
              <a:t>PREPROCESSING MODULE</a:t>
            </a:r>
            <a:r>
              <a:rPr lang="en-US" sz="1178" spc="182">
                <a:solidFill>
                  <a:srgbClr val="000000"/>
                </a:solidFill>
                <a:latin typeface="Glacial Indifference"/>
                <a:ea typeface="Glacial Indifference"/>
                <a:cs typeface="Glacial Indifference"/>
                <a:sym typeface="Glacial Indifference"/>
              </a:rPr>
              <a:t> ΈΧΕΙ ΩΣ ΣΤΌΧΟ ΤΗΝ ΤΥΠΟΠΟΊΗΣΗ ΚΑΙ ΚΑΘΑΡΙΣΜΌ ΤΩΝ ΕΙΣΕΡΧΌΜΕΝΩΝ ΑΝΑΠΝΕΥΣΤΙΚΏΝ ΚΎΚΛΩΝ, ΏΣΤΕ ΝΑ ΔΙΑΣΦΑΛΙΣΤΕΊ Η ΟΜΟΙΟΜΟΡΦΊΑ ΤΩΝ ΔΕΔΟΜΈΝΩΝ ΠΡΙΝ ΑΠΌ ΤΗ ΔΙΑΔΙΚΑΣΊΑ ΕΞΑΓΩΓΉΣ ΧΑΡΑΚΤΗΡΙΣΤΙΚΏΝ. </a:t>
            </a:r>
          </a:p>
        </p:txBody>
      </p:sp>
      <p:sp>
        <p:nvSpPr>
          <p:cNvPr name="TextBox 16" id="16"/>
          <p:cNvSpPr txBox="true"/>
          <p:nvPr/>
        </p:nvSpPr>
        <p:spPr>
          <a:xfrm rot="0">
            <a:off x="5285853" y="5881164"/>
            <a:ext cx="3091496" cy="2635834"/>
          </a:xfrm>
          <a:prstGeom prst="rect">
            <a:avLst/>
          </a:prstGeom>
        </p:spPr>
        <p:txBody>
          <a:bodyPr anchor="t" rtlCol="false" tIns="0" lIns="0" bIns="0" rIns="0">
            <a:spAutoFit/>
          </a:bodyPr>
          <a:lstStyle/>
          <a:p>
            <a:pPr algn="ctr">
              <a:lnSpc>
                <a:spcPts val="2336"/>
              </a:lnSpc>
              <a:spcBef>
                <a:spcPct val="0"/>
              </a:spcBef>
            </a:pPr>
            <a:r>
              <a:rPr lang="en-US" sz="1179" spc="182">
                <a:solidFill>
                  <a:srgbClr val="000000"/>
                </a:solidFill>
                <a:latin typeface="Glacial Indifference"/>
                <a:ea typeface="Glacial Indifference"/>
                <a:cs typeface="Glacial Indifference"/>
                <a:sym typeface="Glacial Indifference"/>
              </a:rPr>
              <a:t>ΤΟ </a:t>
            </a:r>
            <a:r>
              <a:rPr lang="en-US" b="true" sz="1179" spc="182">
                <a:solidFill>
                  <a:srgbClr val="000000"/>
                </a:solidFill>
                <a:latin typeface="Glacial Indifference Bold"/>
                <a:ea typeface="Glacial Indifference Bold"/>
                <a:cs typeface="Glacial Indifference Bold"/>
                <a:sym typeface="Glacial Indifference Bold"/>
              </a:rPr>
              <a:t>FEATURE EXTRACTION MODULE</a:t>
            </a:r>
            <a:r>
              <a:rPr lang="en-US" sz="1179" spc="182">
                <a:solidFill>
                  <a:srgbClr val="000000"/>
                </a:solidFill>
                <a:latin typeface="Glacial Indifference"/>
                <a:ea typeface="Glacial Indifference"/>
                <a:cs typeface="Glacial Indifference"/>
                <a:sym typeface="Glacial Indifference"/>
              </a:rPr>
              <a:t> ΈΧΕΙ ΩΣ ΣΤΌΧΟ ΤΗΝ ΕΞΑΓΩΓΉ ΤΩΝ ΑΚΟΥΣΤΙΚΏΝ ΧΑΡΑ-</a:t>
            </a:r>
          </a:p>
          <a:p>
            <a:pPr algn="ctr">
              <a:lnSpc>
                <a:spcPts val="2336"/>
              </a:lnSpc>
              <a:spcBef>
                <a:spcPct val="0"/>
              </a:spcBef>
            </a:pPr>
            <a:r>
              <a:rPr lang="en-US" sz="1179" spc="182">
                <a:solidFill>
                  <a:srgbClr val="000000"/>
                </a:solidFill>
                <a:latin typeface="Glacial Indifference"/>
                <a:ea typeface="Glacial Indifference"/>
                <a:cs typeface="Glacial Indifference"/>
                <a:sym typeface="Glacial Indifference"/>
              </a:rPr>
              <a:t>ΚΤΗΡΙΣΤΙΚΏΝ ΑΠΌ ΤΑ ΠΡΟΕΠΕΞΕΡΓΑΣΜΈΝΑ .WAV ΑΡΧΕΊΑ ΤΩΝ ΑΝΑΠΝΕΥΣΤΙΚΏΝ ΚΎΚΛΩΝ, ΔΗΛΑΔΉ ΤΗΝ</a:t>
            </a:r>
          </a:p>
          <a:p>
            <a:pPr algn="ctr">
              <a:lnSpc>
                <a:spcPts val="2336"/>
              </a:lnSpc>
              <a:spcBef>
                <a:spcPct val="0"/>
              </a:spcBef>
            </a:pPr>
            <a:r>
              <a:rPr lang="en-US" sz="1179" spc="182">
                <a:solidFill>
                  <a:srgbClr val="000000"/>
                </a:solidFill>
                <a:latin typeface="Glacial Indifference"/>
                <a:ea typeface="Glacial Indifference"/>
                <a:cs typeface="Glacial Indifference"/>
                <a:sym typeface="Glacial Indifference"/>
              </a:rPr>
              <a:t>ΔΗΜΙΟΥΡΓΊΑ ΤΟΥ ΤΕΛΙΚΟΎ ΜΗΤΡΏΟΥ ΧΑΡΑΚΤΗΡΙΣΤΙΚΏΝ. </a:t>
            </a:r>
          </a:p>
        </p:txBody>
      </p:sp>
      <p:sp>
        <p:nvSpPr>
          <p:cNvPr name="TextBox 17" id="17"/>
          <p:cNvSpPr txBox="true"/>
          <p:nvPr/>
        </p:nvSpPr>
        <p:spPr>
          <a:xfrm rot="0">
            <a:off x="9868544" y="5890689"/>
            <a:ext cx="3299132" cy="2646073"/>
          </a:xfrm>
          <a:prstGeom prst="rect">
            <a:avLst/>
          </a:prstGeom>
        </p:spPr>
        <p:txBody>
          <a:bodyPr anchor="t" rtlCol="false" tIns="0" lIns="0" bIns="0" rIns="0">
            <a:spAutoFit/>
          </a:bodyPr>
          <a:lstStyle/>
          <a:p>
            <a:pPr algn="ctr">
              <a:lnSpc>
                <a:spcPts val="2131"/>
              </a:lnSpc>
              <a:spcBef>
                <a:spcPct val="0"/>
              </a:spcBef>
            </a:pPr>
            <a:r>
              <a:rPr lang="en-US" sz="1076" spc="166">
                <a:solidFill>
                  <a:srgbClr val="000000"/>
                </a:solidFill>
                <a:latin typeface="Glacial Indifference"/>
                <a:ea typeface="Glacial Indifference"/>
                <a:cs typeface="Glacial Indifference"/>
                <a:sym typeface="Glacial Indifference"/>
              </a:rPr>
              <a:t>ΤΟ </a:t>
            </a:r>
            <a:r>
              <a:rPr lang="en-US" b="true" sz="1076" spc="166">
                <a:solidFill>
                  <a:srgbClr val="000000"/>
                </a:solidFill>
                <a:latin typeface="Glacial Indifference Bold"/>
                <a:ea typeface="Glacial Indifference Bold"/>
                <a:cs typeface="Glacial Indifference Bold"/>
                <a:sym typeface="Glacial Indifference Bold"/>
              </a:rPr>
              <a:t>DOMAIN ADAPTATION MODULE</a:t>
            </a:r>
            <a:r>
              <a:rPr lang="en-US" sz="1076" spc="166">
                <a:solidFill>
                  <a:srgbClr val="000000"/>
                </a:solidFill>
                <a:latin typeface="Glacial Indifference"/>
                <a:ea typeface="Glacial Indifference"/>
                <a:cs typeface="Glacial Indifference"/>
                <a:sym typeface="Glacial Indifference"/>
              </a:rPr>
              <a:t> ΈΧΕΙ ΩΣ ΣΤΌΧΟ ΔΎΟ ΠΡΆΓΜΑΤΑ: ΝΑ ΑΦΑΙΡΈΣΕΙ ΜΈΣΩ DEEP</a:t>
            </a:r>
          </a:p>
          <a:p>
            <a:pPr algn="ctr">
              <a:lnSpc>
                <a:spcPts val="2131"/>
              </a:lnSpc>
              <a:spcBef>
                <a:spcPct val="0"/>
              </a:spcBef>
            </a:pPr>
            <a:r>
              <a:rPr lang="en-US" sz="1076" spc="166">
                <a:solidFill>
                  <a:srgbClr val="000000"/>
                </a:solidFill>
                <a:latin typeface="Glacial Indifference"/>
                <a:ea typeface="Glacial Indifference"/>
                <a:cs typeface="Glacial Indifference"/>
                <a:sym typeface="Glacial Indifference"/>
              </a:rPr>
              <a:t>ADVERSARIAL-BASED ΤΕΧΝΙΚΏΝ ΑΠΌ ΤΑ ΔΕΔΟΜΈΝΑ ΤΗ ΜΕΡΟΛΗΨΊΑ ΤΗΣ ΣΥΣΚΕΥΉΣ ΚΆΝΟΝΤΑΣ ΤΑ ΠΕΡΙΣ-</a:t>
            </a:r>
          </a:p>
          <a:p>
            <a:pPr algn="ctr">
              <a:lnSpc>
                <a:spcPts val="2131"/>
              </a:lnSpc>
              <a:spcBef>
                <a:spcPct val="0"/>
              </a:spcBef>
            </a:pPr>
            <a:r>
              <a:rPr lang="en-US" sz="1076" spc="166">
                <a:solidFill>
                  <a:srgbClr val="000000"/>
                </a:solidFill>
                <a:latin typeface="Glacial Indifference"/>
                <a:ea typeface="Glacial Indifference"/>
                <a:cs typeface="Glacial Indifference"/>
                <a:sym typeface="Glacial Indifference"/>
              </a:rPr>
              <a:t>ΣΌΤΕΡΟ ΕΠΙΚΑΛΥΠΤΌΜΕΝΑ ΩΣ ΠΡΟΣ ΤΙΣ ΣΥΣΚΕΥΈΣ ΚΑΙ ΤΑΥΤΌΧΡΟΝΑ ΝΑ ΚΆΝΕΙ ΤΑ ΔΕΔΟΜΈΝΑ ΑΚΌΜΗ ΠΙΟ</a:t>
            </a:r>
          </a:p>
          <a:p>
            <a:pPr algn="ctr">
              <a:lnSpc>
                <a:spcPts val="2131"/>
              </a:lnSpc>
              <a:spcBef>
                <a:spcPct val="0"/>
              </a:spcBef>
            </a:pPr>
            <a:r>
              <a:rPr lang="en-US" sz="1076" spc="166">
                <a:solidFill>
                  <a:srgbClr val="000000"/>
                </a:solidFill>
                <a:latin typeface="Glacial Indifference"/>
                <a:ea typeface="Glacial Indifference"/>
                <a:cs typeface="Glacial Indifference"/>
                <a:sym typeface="Glacial Indifference"/>
              </a:rPr>
              <a:t>ΔΙΑΧΩΡΊΣΙΜΑ ΩΣ ΠΡΟΣ ΤΙΣ ΚΛΆΣΕΙΣ.</a:t>
            </a:r>
          </a:p>
        </p:txBody>
      </p:sp>
      <p:sp>
        <p:nvSpPr>
          <p:cNvPr name="TextBox 18" id="18"/>
          <p:cNvSpPr txBox="true"/>
          <p:nvPr/>
        </p:nvSpPr>
        <p:spPr>
          <a:xfrm rot="0">
            <a:off x="14422843" y="5600355"/>
            <a:ext cx="3055715" cy="3178971"/>
          </a:xfrm>
          <a:prstGeom prst="rect">
            <a:avLst/>
          </a:prstGeom>
        </p:spPr>
        <p:txBody>
          <a:bodyPr anchor="t" rtlCol="false" tIns="0" lIns="0" bIns="0" rIns="0">
            <a:spAutoFit/>
          </a:bodyPr>
          <a:lstStyle/>
          <a:p>
            <a:pPr algn="ctr">
              <a:lnSpc>
                <a:spcPts val="2141"/>
              </a:lnSpc>
              <a:spcBef>
                <a:spcPct val="0"/>
              </a:spcBef>
            </a:pPr>
            <a:r>
              <a:rPr lang="en-US" sz="1081" spc="167">
                <a:solidFill>
                  <a:srgbClr val="000000"/>
                </a:solidFill>
                <a:latin typeface="Glacial Indifference"/>
                <a:ea typeface="Glacial Indifference"/>
                <a:cs typeface="Glacial Indifference"/>
                <a:sym typeface="Glacial Indifference"/>
              </a:rPr>
              <a:t>ΤΟ </a:t>
            </a:r>
            <a:r>
              <a:rPr lang="en-US" b="true" sz="1081" spc="167">
                <a:solidFill>
                  <a:srgbClr val="000000"/>
                </a:solidFill>
                <a:latin typeface="Glacial Indifference Bold"/>
                <a:ea typeface="Glacial Indifference Bold"/>
                <a:cs typeface="Glacial Indifference Bold"/>
                <a:sym typeface="Glacial Indifference Bold"/>
              </a:rPr>
              <a:t>CLASSIFICATION MODULE</a:t>
            </a:r>
            <a:r>
              <a:rPr lang="en-US" sz="1081" spc="167">
                <a:solidFill>
                  <a:srgbClr val="000000"/>
                </a:solidFill>
                <a:latin typeface="Glacial Indifference"/>
                <a:ea typeface="Glacial Indifference"/>
                <a:cs typeface="Glacial Indifference"/>
                <a:sym typeface="Glacial Indifference"/>
              </a:rPr>
              <a:t> ΣΤΟ ΤΕΛΟΣ ΈΧΕΙ ΩΣ ΣΤΌΧΟ ΤΗΝ ΔΗΜΙΟΥΡΓΊΑ ΤΩΝ ΠΡΟΒΛΈΨΕ-</a:t>
            </a:r>
          </a:p>
          <a:p>
            <a:pPr algn="ctr">
              <a:lnSpc>
                <a:spcPts val="2141"/>
              </a:lnSpc>
              <a:spcBef>
                <a:spcPct val="0"/>
              </a:spcBef>
            </a:pPr>
            <a:r>
              <a:rPr lang="en-US" sz="1081" spc="167">
                <a:solidFill>
                  <a:srgbClr val="000000"/>
                </a:solidFill>
                <a:latin typeface="Glacial Indifference"/>
                <a:ea typeface="Glacial Indifference"/>
                <a:cs typeface="Glacial Indifference"/>
                <a:sym typeface="Glacial Indifference"/>
              </a:rPr>
              <a:t>ΩΝ ΓΙΑ ΤΙΣ ΚΛΆΣΕΙΣ ΧΡΗΣΙΜΟΠΟΙΏΝΤΑΣ ΤΟΥΣ ΚΛΑΣΙΚΟΎΣ ΑΛΓΟΡΊΘΜΟΥΣ ΤΑΞΙΝΌΜΗΣΗΣ ΜΕ ΕΊΣΟΔΟ ΤΙΣ</a:t>
            </a:r>
          </a:p>
          <a:p>
            <a:pPr algn="ctr">
              <a:lnSpc>
                <a:spcPts val="2141"/>
              </a:lnSpc>
              <a:spcBef>
                <a:spcPct val="0"/>
              </a:spcBef>
            </a:pPr>
            <a:r>
              <a:rPr lang="en-US" sz="1081" spc="167">
                <a:solidFill>
                  <a:srgbClr val="000000"/>
                </a:solidFill>
                <a:latin typeface="Glacial Indifference"/>
                <a:ea typeface="Glacial Indifference"/>
                <a:cs typeface="Glacial Indifference"/>
                <a:sym typeface="Glacial Indifference"/>
              </a:rPr>
              <a:t>ΕΝΣΩΜΑΤΏΣΕΙΣ ΜΕ ΤΑ ΔΕΔΟΜΈΝΑ, ΔΗΛΑΔΉ ΤΟ ΝΈΟ ΜΗΤΡΏΟ ΧΑΡΑΚΤΗΡΙΣΤΙΚΏΝ ΠΟΥ ΕΞΉΧΘΗ ΑΠΌ ΤΟ</a:t>
            </a:r>
          </a:p>
          <a:p>
            <a:pPr algn="ctr">
              <a:lnSpc>
                <a:spcPts val="2141"/>
              </a:lnSpc>
              <a:spcBef>
                <a:spcPct val="0"/>
              </a:spcBef>
            </a:pPr>
            <a:r>
              <a:rPr lang="en-US" sz="1081" spc="167">
                <a:solidFill>
                  <a:srgbClr val="000000"/>
                </a:solidFill>
                <a:latin typeface="Glacial Indifference"/>
                <a:ea typeface="Glacial Indifference"/>
                <a:cs typeface="Glacial Indifference"/>
                <a:sym typeface="Glacial Indifference"/>
              </a:rPr>
              <a:t>DOMAIN ADAPTATION MODULE.</a:t>
            </a:r>
          </a:p>
        </p:txBody>
      </p:sp>
      <p:sp>
        <p:nvSpPr>
          <p:cNvPr name="AutoShape 19" id="19"/>
          <p:cNvSpPr/>
          <p:nvPr/>
        </p:nvSpPr>
        <p:spPr>
          <a:xfrm flipH="true">
            <a:off x="5678547" y="2585931"/>
            <a:ext cx="12329527" cy="0"/>
          </a:xfrm>
          <a:prstGeom prst="line">
            <a:avLst/>
          </a:prstGeom>
          <a:ln cap="flat" w="38100">
            <a:solidFill>
              <a:srgbClr val="827564"/>
            </a:solidFill>
            <a:prstDash val="solid"/>
            <a:headEnd type="oval" len="lg" w="lg"/>
            <a:tailEnd type="oval" len="lg" w="lg"/>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12827" y="523229"/>
            <a:ext cx="11688724" cy="0"/>
          </a:xfrm>
          <a:prstGeom prst="line">
            <a:avLst/>
          </a:prstGeom>
          <a:ln cap="flat" w="38100">
            <a:solidFill>
              <a:srgbClr val="827564"/>
            </a:solidFill>
            <a:prstDash val="solid"/>
            <a:headEnd type="none" len="sm" w="sm"/>
            <a:tailEnd type="none" len="sm" w="sm"/>
          </a:ln>
        </p:spPr>
      </p:sp>
      <p:sp>
        <p:nvSpPr>
          <p:cNvPr name="AutoShape 3" id="3"/>
          <p:cNvSpPr/>
          <p:nvPr/>
        </p:nvSpPr>
        <p:spPr>
          <a:xfrm flipH="true" flipV="true">
            <a:off x="1295077" y="-664538"/>
            <a:ext cx="0" cy="2197866"/>
          </a:xfrm>
          <a:prstGeom prst="line">
            <a:avLst/>
          </a:prstGeom>
          <a:ln cap="flat" w="38100">
            <a:solidFill>
              <a:srgbClr val="827564"/>
            </a:solidFill>
            <a:prstDash val="solid"/>
            <a:headEnd type="none" len="sm" w="sm"/>
            <a:tailEnd type="none" len="sm" w="sm"/>
          </a:ln>
        </p:spPr>
      </p:sp>
      <p:sp>
        <p:nvSpPr>
          <p:cNvPr name="Freeform 4" id="4"/>
          <p:cNvSpPr/>
          <p:nvPr/>
        </p:nvSpPr>
        <p:spPr>
          <a:xfrm flipH="false" flipV="false" rot="0">
            <a:off x="1024117" y="252270"/>
            <a:ext cx="541920" cy="541920"/>
          </a:xfrm>
          <a:custGeom>
            <a:avLst/>
            <a:gdLst/>
            <a:ahLst/>
            <a:cxnLst/>
            <a:rect r="r" b="b" t="t" l="l"/>
            <a:pathLst>
              <a:path h="541920" w="541920">
                <a:moveTo>
                  <a:pt x="0" y="0"/>
                </a:moveTo>
                <a:lnTo>
                  <a:pt x="541920" y="0"/>
                </a:lnTo>
                <a:lnTo>
                  <a:pt x="541920" y="541919"/>
                </a:lnTo>
                <a:lnTo>
                  <a:pt x="0" y="541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166143" y="1663005"/>
            <a:ext cx="7250761" cy="2610274"/>
          </a:xfrm>
          <a:custGeom>
            <a:avLst/>
            <a:gdLst/>
            <a:ahLst/>
            <a:cxnLst/>
            <a:rect r="r" b="b" t="t" l="l"/>
            <a:pathLst>
              <a:path h="2610274" w="7250761">
                <a:moveTo>
                  <a:pt x="0" y="0"/>
                </a:moveTo>
                <a:lnTo>
                  <a:pt x="7250762" y="0"/>
                </a:lnTo>
                <a:lnTo>
                  <a:pt x="7250762" y="2610274"/>
                </a:lnTo>
                <a:lnTo>
                  <a:pt x="0" y="2610274"/>
                </a:lnTo>
                <a:lnTo>
                  <a:pt x="0" y="0"/>
                </a:lnTo>
                <a:close/>
              </a:path>
            </a:pathLst>
          </a:custGeom>
          <a:blipFill>
            <a:blip r:embed="rId4"/>
            <a:stretch>
              <a:fillRect l="0" t="0" r="0" b="0"/>
            </a:stretch>
          </a:blipFill>
        </p:spPr>
      </p:sp>
      <p:sp>
        <p:nvSpPr>
          <p:cNvPr name="Freeform 6" id="6"/>
          <p:cNvSpPr/>
          <p:nvPr/>
        </p:nvSpPr>
        <p:spPr>
          <a:xfrm flipH="false" flipV="false" rot="0">
            <a:off x="14333364" y="-394395"/>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5">
              <a:alphaModFix amt="9999"/>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156771" y="4570828"/>
            <a:ext cx="4137025" cy="575945"/>
          </a:xfrm>
          <a:prstGeom prst="rect">
            <a:avLst/>
          </a:prstGeom>
        </p:spPr>
        <p:txBody>
          <a:bodyPr anchor="t" rtlCol="false" tIns="0" lIns="0" bIns="0" rIns="0">
            <a:spAutoFit/>
          </a:bodyPr>
          <a:lstStyle/>
          <a:p>
            <a:pPr algn="ctr">
              <a:lnSpc>
                <a:spcPts val="2380"/>
              </a:lnSpc>
              <a:spcBef>
                <a:spcPct val="0"/>
              </a:spcBef>
            </a:pPr>
            <a:r>
              <a:rPr lang="en-US" sz="1700" spc="714">
                <a:solidFill>
                  <a:srgbClr val="827564"/>
                </a:solidFill>
                <a:latin typeface="Open Sauce"/>
                <a:ea typeface="Open Sauce"/>
                <a:cs typeface="Open Sauce"/>
                <a:sym typeface="Open Sauce"/>
              </a:rPr>
              <a:t>ΚΑΝΟΝΙΚΟΠΟΙΗΣΗ ΔΙΑΡΚΕΙΑΣ</a:t>
            </a:r>
          </a:p>
        </p:txBody>
      </p:sp>
      <p:sp>
        <p:nvSpPr>
          <p:cNvPr name="TextBox 8" id="8"/>
          <p:cNvSpPr txBox="true"/>
          <p:nvPr/>
        </p:nvSpPr>
        <p:spPr>
          <a:xfrm rot="0">
            <a:off x="9589972" y="4570828"/>
            <a:ext cx="4137025" cy="575945"/>
          </a:xfrm>
          <a:prstGeom prst="rect">
            <a:avLst/>
          </a:prstGeom>
        </p:spPr>
        <p:txBody>
          <a:bodyPr anchor="t" rtlCol="false" tIns="0" lIns="0" bIns="0" rIns="0">
            <a:spAutoFit/>
          </a:bodyPr>
          <a:lstStyle/>
          <a:p>
            <a:pPr algn="ctr">
              <a:lnSpc>
                <a:spcPts val="2380"/>
              </a:lnSpc>
              <a:spcBef>
                <a:spcPct val="0"/>
              </a:spcBef>
            </a:pPr>
            <a:r>
              <a:rPr lang="en-US" sz="1700" spc="714">
                <a:solidFill>
                  <a:srgbClr val="827564"/>
                </a:solidFill>
                <a:latin typeface="Open Sauce"/>
                <a:ea typeface="Open Sauce"/>
                <a:cs typeface="Open Sauce"/>
                <a:sym typeface="Open Sauce"/>
              </a:rPr>
              <a:t>ΚΑΝΟΝΙΚΟΠΟΙΗΣΗ ΠΛΑΤΟΥΣ</a:t>
            </a:r>
          </a:p>
        </p:txBody>
      </p:sp>
      <p:sp>
        <p:nvSpPr>
          <p:cNvPr name="Freeform 9" id="9"/>
          <p:cNvSpPr/>
          <p:nvPr/>
        </p:nvSpPr>
        <p:spPr>
          <a:xfrm flipH="false" flipV="false" rot="0">
            <a:off x="4804713" y="4744644"/>
            <a:ext cx="573405" cy="382935"/>
          </a:xfrm>
          <a:custGeom>
            <a:avLst/>
            <a:gdLst/>
            <a:ahLst/>
            <a:cxnLst/>
            <a:rect r="r" b="b" t="t" l="l"/>
            <a:pathLst>
              <a:path h="382935" w="573405">
                <a:moveTo>
                  <a:pt x="0" y="0"/>
                </a:moveTo>
                <a:lnTo>
                  <a:pt x="573405" y="0"/>
                </a:lnTo>
                <a:lnTo>
                  <a:pt x="573405" y="382934"/>
                </a:lnTo>
                <a:lnTo>
                  <a:pt x="0" y="3829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8994859" y="4754932"/>
            <a:ext cx="597874" cy="399276"/>
          </a:xfrm>
          <a:custGeom>
            <a:avLst/>
            <a:gdLst/>
            <a:ahLst/>
            <a:cxnLst/>
            <a:rect r="r" b="b" t="t" l="l"/>
            <a:pathLst>
              <a:path h="399276" w="597874">
                <a:moveTo>
                  <a:pt x="0" y="0"/>
                </a:moveTo>
                <a:lnTo>
                  <a:pt x="597874" y="0"/>
                </a:lnTo>
                <a:lnTo>
                  <a:pt x="597874" y="399276"/>
                </a:lnTo>
                <a:lnTo>
                  <a:pt x="0" y="3992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3385888" y="4810064"/>
            <a:ext cx="515321" cy="344144"/>
          </a:xfrm>
          <a:custGeom>
            <a:avLst/>
            <a:gdLst/>
            <a:ahLst/>
            <a:cxnLst/>
            <a:rect r="r" b="b" t="t" l="l"/>
            <a:pathLst>
              <a:path h="344144" w="515321">
                <a:moveTo>
                  <a:pt x="0" y="0"/>
                </a:moveTo>
                <a:lnTo>
                  <a:pt x="515321" y="0"/>
                </a:lnTo>
                <a:lnTo>
                  <a:pt x="515321" y="344144"/>
                </a:lnTo>
                <a:lnTo>
                  <a:pt x="0" y="3441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4683215" y="7693938"/>
            <a:ext cx="4327456" cy="2316038"/>
          </a:xfrm>
          <a:custGeom>
            <a:avLst/>
            <a:gdLst/>
            <a:ahLst/>
            <a:cxnLst/>
            <a:rect r="r" b="b" t="t" l="l"/>
            <a:pathLst>
              <a:path h="2316038" w="4327456">
                <a:moveTo>
                  <a:pt x="0" y="0"/>
                </a:moveTo>
                <a:lnTo>
                  <a:pt x="4327456" y="0"/>
                </a:lnTo>
                <a:lnTo>
                  <a:pt x="4327456" y="2316037"/>
                </a:lnTo>
                <a:lnTo>
                  <a:pt x="0" y="2316037"/>
                </a:lnTo>
                <a:lnTo>
                  <a:pt x="0" y="0"/>
                </a:lnTo>
                <a:close/>
              </a:path>
            </a:pathLst>
          </a:custGeom>
          <a:blipFill>
            <a:blip r:embed="rId9"/>
            <a:stretch>
              <a:fillRect l="-3298" t="-14361" r="-16272" b="0"/>
            </a:stretch>
          </a:blipFill>
        </p:spPr>
      </p:sp>
      <p:sp>
        <p:nvSpPr>
          <p:cNvPr name="Freeform 13" id="13"/>
          <p:cNvSpPr/>
          <p:nvPr/>
        </p:nvSpPr>
        <p:spPr>
          <a:xfrm flipH="false" flipV="false" rot="0">
            <a:off x="13243689" y="7671665"/>
            <a:ext cx="4454276" cy="2338310"/>
          </a:xfrm>
          <a:custGeom>
            <a:avLst/>
            <a:gdLst/>
            <a:ahLst/>
            <a:cxnLst/>
            <a:rect r="r" b="b" t="t" l="l"/>
            <a:pathLst>
              <a:path h="2338310" w="4454276">
                <a:moveTo>
                  <a:pt x="0" y="0"/>
                </a:moveTo>
                <a:lnTo>
                  <a:pt x="4454276" y="0"/>
                </a:lnTo>
                <a:lnTo>
                  <a:pt x="4454276" y="2338310"/>
                </a:lnTo>
                <a:lnTo>
                  <a:pt x="0" y="2338310"/>
                </a:lnTo>
                <a:lnTo>
                  <a:pt x="0" y="0"/>
                </a:lnTo>
                <a:close/>
              </a:path>
            </a:pathLst>
          </a:custGeom>
          <a:blipFill>
            <a:blip r:embed="rId10"/>
            <a:stretch>
              <a:fillRect l="-3411" t="-16316" r="-14785" b="0"/>
            </a:stretch>
          </a:blipFill>
        </p:spPr>
      </p:sp>
      <p:sp>
        <p:nvSpPr>
          <p:cNvPr name="Freeform 14" id="14"/>
          <p:cNvSpPr/>
          <p:nvPr/>
        </p:nvSpPr>
        <p:spPr>
          <a:xfrm flipH="false" flipV="false" rot="0">
            <a:off x="339776" y="5478058"/>
            <a:ext cx="4381966" cy="2125253"/>
          </a:xfrm>
          <a:custGeom>
            <a:avLst/>
            <a:gdLst/>
            <a:ahLst/>
            <a:cxnLst/>
            <a:rect r="r" b="b" t="t" l="l"/>
            <a:pathLst>
              <a:path h="2125253" w="4381966">
                <a:moveTo>
                  <a:pt x="0" y="0"/>
                </a:moveTo>
                <a:lnTo>
                  <a:pt x="4381965" y="0"/>
                </a:lnTo>
                <a:lnTo>
                  <a:pt x="4381965" y="2125254"/>
                </a:lnTo>
                <a:lnTo>
                  <a:pt x="0" y="2125254"/>
                </a:lnTo>
                <a:lnTo>
                  <a:pt x="0" y="0"/>
                </a:lnTo>
                <a:close/>
              </a:path>
            </a:pathLst>
          </a:custGeom>
          <a:blipFill>
            <a:blip r:embed="rId11"/>
            <a:stretch>
              <a:fillRect l="0" t="0" r="-100000" b="0"/>
            </a:stretch>
          </a:blipFill>
        </p:spPr>
      </p:sp>
      <p:sp>
        <p:nvSpPr>
          <p:cNvPr name="Freeform 15" id="15"/>
          <p:cNvSpPr/>
          <p:nvPr/>
        </p:nvSpPr>
        <p:spPr>
          <a:xfrm flipH="false" flipV="false" rot="0">
            <a:off x="4722347" y="5478058"/>
            <a:ext cx="4249192" cy="2125253"/>
          </a:xfrm>
          <a:custGeom>
            <a:avLst/>
            <a:gdLst/>
            <a:ahLst/>
            <a:cxnLst/>
            <a:rect r="r" b="b" t="t" l="l"/>
            <a:pathLst>
              <a:path h="2125253" w="4249192">
                <a:moveTo>
                  <a:pt x="0" y="0"/>
                </a:moveTo>
                <a:lnTo>
                  <a:pt x="4249192" y="0"/>
                </a:lnTo>
                <a:lnTo>
                  <a:pt x="4249192" y="2125254"/>
                </a:lnTo>
                <a:lnTo>
                  <a:pt x="0" y="2125254"/>
                </a:lnTo>
                <a:lnTo>
                  <a:pt x="0" y="0"/>
                </a:lnTo>
                <a:close/>
              </a:path>
            </a:pathLst>
          </a:custGeom>
          <a:blipFill>
            <a:blip r:embed="rId11"/>
            <a:stretch>
              <a:fillRect l="-106249" t="0" r="0" b="0"/>
            </a:stretch>
          </a:blipFill>
        </p:spPr>
      </p:sp>
      <p:sp>
        <p:nvSpPr>
          <p:cNvPr name="Freeform 16" id="16"/>
          <p:cNvSpPr/>
          <p:nvPr/>
        </p:nvSpPr>
        <p:spPr>
          <a:xfrm flipH="false" flipV="false" rot="0">
            <a:off x="9059663" y="5511484"/>
            <a:ext cx="4184027" cy="2160181"/>
          </a:xfrm>
          <a:custGeom>
            <a:avLst/>
            <a:gdLst/>
            <a:ahLst/>
            <a:cxnLst/>
            <a:rect r="r" b="b" t="t" l="l"/>
            <a:pathLst>
              <a:path h="2160181" w="4184027">
                <a:moveTo>
                  <a:pt x="0" y="0"/>
                </a:moveTo>
                <a:lnTo>
                  <a:pt x="4184026" y="0"/>
                </a:lnTo>
                <a:lnTo>
                  <a:pt x="4184026" y="2160181"/>
                </a:lnTo>
                <a:lnTo>
                  <a:pt x="0" y="2160181"/>
                </a:lnTo>
                <a:lnTo>
                  <a:pt x="0" y="0"/>
                </a:lnTo>
                <a:close/>
              </a:path>
            </a:pathLst>
          </a:custGeom>
          <a:blipFill>
            <a:blip r:embed="rId12"/>
            <a:stretch>
              <a:fillRect l="-112904" t="0" r="0" b="0"/>
            </a:stretch>
          </a:blipFill>
        </p:spPr>
      </p:sp>
      <p:sp>
        <p:nvSpPr>
          <p:cNvPr name="Freeform 17" id="17"/>
          <p:cNvSpPr/>
          <p:nvPr/>
        </p:nvSpPr>
        <p:spPr>
          <a:xfrm flipH="false" flipV="false" rot="0">
            <a:off x="339776" y="7699986"/>
            <a:ext cx="4383177" cy="2303941"/>
          </a:xfrm>
          <a:custGeom>
            <a:avLst/>
            <a:gdLst/>
            <a:ahLst/>
            <a:cxnLst/>
            <a:rect r="r" b="b" t="t" l="l"/>
            <a:pathLst>
              <a:path h="2303941" w="4383177">
                <a:moveTo>
                  <a:pt x="0" y="0"/>
                </a:moveTo>
                <a:lnTo>
                  <a:pt x="4383176" y="0"/>
                </a:lnTo>
                <a:lnTo>
                  <a:pt x="4383176" y="2303941"/>
                </a:lnTo>
                <a:lnTo>
                  <a:pt x="0" y="2303941"/>
                </a:lnTo>
                <a:lnTo>
                  <a:pt x="0" y="0"/>
                </a:lnTo>
                <a:close/>
              </a:path>
            </a:pathLst>
          </a:custGeom>
          <a:blipFill>
            <a:blip r:embed="rId13"/>
            <a:stretch>
              <a:fillRect l="0" t="-13741" r="-16796" b="0"/>
            </a:stretch>
          </a:blipFill>
        </p:spPr>
      </p:sp>
      <p:sp>
        <p:nvSpPr>
          <p:cNvPr name="Freeform 18" id="18"/>
          <p:cNvSpPr/>
          <p:nvPr/>
        </p:nvSpPr>
        <p:spPr>
          <a:xfrm flipH="false" flipV="false" rot="0">
            <a:off x="17651973" y="7325236"/>
            <a:ext cx="597927" cy="2678691"/>
          </a:xfrm>
          <a:custGeom>
            <a:avLst/>
            <a:gdLst/>
            <a:ahLst/>
            <a:cxnLst/>
            <a:rect r="r" b="b" t="t" l="l"/>
            <a:pathLst>
              <a:path h="2678691" w="597927">
                <a:moveTo>
                  <a:pt x="0" y="0"/>
                </a:moveTo>
                <a:lnTo>
                  <a:pt x="597927" y="0"/>
                </a:lnTo>
                <a:lnTo>
                  <a:pt x="597927" y="2678691"/>
                </a:lnTo>
                <a:lnTo>
                  <a:pt x="0" y="2678691"/>
                </a:lnTo>
                <a:lnTo>
                  <a:pt x="0" y="0"/>
                </a:lnTo>
                <a:close/>
              </a:path>
            </a:pathLst>
          </a:custGeom>
          <a:blipFill>
            <a:blip r:embed="rId13"/>
            <a:stretch>
              <a:fillRect l="-769042" t="0" r="-6150" b="0"/>
            </a:stretch>
          </a:blipFill>
        </p:spPr>
      </p:sp>
      <p:sp>
        <p:nvSpPr>
          <p:cNvPr name="Freeform 19" id="19"/>
          <p:cNvSpPr/>
          <p:nvPr/>
        </p:nvSpPr>
        <p:spPr>
          <a:xfrm flipH="false" flipV="false" rot="0">
            <a:off x="8971260" y="7683322"/>
            <a:ext cx="4272430" cy="2326653"/>
          </a:xfrm>
          <a:custGeom>
            <a:avLst/>
            <a:gdLst/>
            <a:ahLst/>
            <a:cxnLst/>
            <a:rect r="r" b="b" t="t" l="l"/>
            <a:pathLst>
              <a:path h="2326653" w="4272430">
                <a:moveTo>
                  <a:pt x="0" y="0"/>
                </a:moveTo>
                <a:lnTo>
                  <a:pt x="4272429" y="0"/>
                </a:lnTo>
                <a:lnTo>
                  <a:pt x="4272429" y="2326653"/>
                </a:lnTo>
                <a:lnTo>
                  <a:pt x="0" y="2326653"/>
                </a:lnTo>
                <a:lnTo>
                  <a:pt x="0" y="0"/>
                </a:lnTo>
                <a:close/>
              </a:path>
            </a:pathLst>
          </a:custGeom>
          <a:blipFill>
            <a:blip r:embed="rId14"/>
            <a:stretch>
              <a:fillRect l="-3157" t="-14093" r="-18222" b="0"/>
            </a:stretch>
          </a:blipFill>
        </p:spPr>
      </p:sp>
      <p:sp>
        <p:nvSpPr>
          <p:cNvPr name="Freeform 20" id="20"/>
          <p:cNvSpPr/>
          <p:nvPr/>
        </p:nvSpPr>
        <p:spPr>
          <a:xfrm flipH="false" flipV="false" rot="0">
            <a:off x="13329414" y="5511484"/>
            <a:ext cx="4360659" cy="2119547"/>
          </a:xfrm>
          <a:custGeom>
            <a:avLst/>
            <a:gdLst/>
            <a:ahLst/>
            <a:cxnLst/>
            <a:rect r="r" b="b" t="t" l="l"/>
            <a:pathLst>
              <a:path h="2119547" w="4360659">
                <a:moveTo>
                  <a:pt x="0" y="0"/>
                </a:moveTo>
                <a:lnTo>
                  <a:pt x="4360659" y="0"/>
                </a:lnTo>
                <a:lnTo>
                  <a:pt x="4360659" y="2119548"/>
                </a:lnTo>
                <a:lnTo>
                  <a:pt x="0" y="2119548"/>
                </a:lnTo>
                <a:lnTo>
                  <a:pt x="0" y="0"/>
                </a:lnTo>
                <a:close/>
              </a:path>
            </a:pathLst>
          </a:custGeom>
          <a:blipFill>
            <a:blip r:embed="rId15"/>
            <a:stretch>
              <a:fillRect l="-4923" t="0" r="0" b="0"/>
            </a:stretch>
          </a:blipFill>
        </p:spPr>
      </p:sp>
      <p:sp>
        <p:nvSpPr>
          <p:cNvPr name="TextBox 21" id="21"/>
          <p:cNvSpPr txBox="true"/>
          <p:nvPr/>
        </p:nvSpPr>
        <p:spPr>
          <a:xfrm rot="0">
            <a:off x="3436173" y="693040"/>
            <a:ext cx="6360618"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Προεπεξεργασία</a:t>
            </a:r>
          </a:p>
        </p:txBody>
      </p:sp>
      <p:sp>
        <p:nvSpPr>
          <p:cNvPr name="TextBox 22" id="22"/>
          <p:cNvSpPr txBox="true"/>
          <p:nvPr/>
        </p:nvSpPr>
        <p:spPr>
          <a:xfrm rot="0">
            <a:off x="2659928" y="547677"/>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3</a:t>
            </a:r>
          </a:p>
        </p:txBody>
      </p:sp>
      <p:sp>
        <p:nvSpPr>
          <p:cNvPr name="TextBox 23" id="23"/>
          <p:cNvSpPr txBox="true"/>
          <p:nvPr/>
        </p:nvSpPr>
        <p:spPr>
          <a:xfrm rot="0">
            <a:off x="497530" y="4718465"/>
            <a:ext cx="4137025" cy="280670"/>
          </a:xfrm>
          <a:prstGeom prst="rect">
            <a:avLst/>
          </a:prstGeom>
        </p:spPr>
        <p:txBody>
          <a:bodyPr anchor="t" rtlCol="false" tIns="0" lIns="0" bIns="0" rIns="0">
            <a:spAutoFit/>
          </a:bodyPr>
          <a:lstStyle/>
          <a:p>
            <a:pPr algn="l">
              <a:lnSpc>
                <a:spcPts val="2380"/>
              </a:lnSpc>
              <a:spcBef>
                <a:spcPct val="0"/>
              </a:spcBef>
            </a:pPr>
            <a:r>
              <a:rPr lang="en-US" sz="1700" spc="714">
                <a:solidFill>
                  <a:srgbClr val="827564"/>
                </a:solidFill>
                <a:latin typeface="Open Sauce"/>
                <a:ea typeface="Open Sauce"/>
                <a:cs typeface="Open Sauce"/>
                <a:sym typeface="Open Sauce"/>
              </a:rPr>
              <a:t>ΕΠΑΝΑΔΕΙΓΜΑΤΟΛΗΨΙΑ</a:t>
            </a:r>
          </a:p>
        </p:txBody>
      </p:sp>
      <p:sp>
        <p:nvSpPr>
          <p:cNvPr name="TextBox 24" id="24"/>
          <p:cNvSpPr txBox="true"/>
          <p:nvPr/>
        </p:nvSpPr>
        <p:spPr>
          <a:xfrm rot="0">
            <a:off x="14072659" y="4781489"/>
            <a:ext cx="4137025" cy="280670"/>
          </a:xfrm>
          <a:prstGeom prst="rect">
            <a:avLst/>
          </a:prstGeom>
        </p:spPr>
        <p:txBody>
          <a:bodyPr anchor="t" rtlCol="false" tIns="0" lIns="0" bIns="0" rIns="0">
            <a:spAutoFit/>
          </a:bodyPr>
          <a:lstStyle/>
          <a:p>
            <a:pPr algn="l">
              <a:lnSpc>
                <a:spcPts val="2380"/>
              </a:lnSpc>
              <a:spcBef>
                <a:spcPct val="0"/>
              </a:spcBef>
            </a:pPr>
            <a:r>
              <a:rPr lang="en-US" sz="1700" spc="714">
                <a:solidFill>
                  <a:srgbClr val="827564"/>
                </a:solidFill>
                <a:latin typeface="Open Sauce"/>
                <a:ea typeface="Open Sauce"/>
                <a:cs typeface="Open Sauce"/>
                <a:sym typeface="Open Sauce"/>
              </a:rPr>
              <a:t>ΑΠΟΘΟΡΥΒΟΠΟΙΗΣΗ</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441783" y="6799860"/>
            <a:ext cx="4049024" cy="1466016"/>
          </a:xfrm>
          <a:custGeom>
            <a:avLst/>
            <a:gdLst/>
            <a:ahLst/>
            <a:cxnLst/>
            <a:rect r="r" b="b" t="t" l="l"/>
            <a:pathLst>
              <a:path h="1466016" w="4049024">
                <a:moveTo>
                  <a:pt x="0" y="0"/>
                </a:moveTo>
                <a:lnTo>
                  <a:pt x="4049024" y="0"/>
                </a:lnTo>
                <a:lnTo>
                  <a:pt x="4049024" y="1466016"/>
                </a:lnTo>
                <a:lnTo>
                  <a:pt x="0" y="1466016"/>
                </a:lnTo>
                <a:lnTo>
                  <a:pt x="0" y="0"/>
                </a:lnTo>
                <a:close/>
              </a:path>
            </a:pathLst>
          </a:custGeom>
          <a:blipFill>
            <a:blip r:embed="rId2"/>
            <a:stretch>
              <a:fillRect l="-10840" t="-10816" r="-7718" b="-20551"/>
            </a:stretch>
          </a:blipFill>
        </p:spPr>
      </p:sp>
      <p:sp>
        <p:nvSpPr>
          <p:cNvPr name="TextBox 3" id="3"/>
          <p:cNvSpPr txBox="true"/>
          <p:nvPr/>
        </p:nvSpPr>
        <p:spPr>
          <a:xfrm rot="0">
            <a:off x="374613" y="723194"/>
            <a:ext cx="4116194" cy="281892"/>
          </a:xfrm>
          <a:prstGeom prst="rect">
            <a:avLst/>
          </a:prstGeom>
        </p:spPr>
        <p:txBody>
          <a:bodyPr anchor="t" rtlCol="false" tIns="0" lIns="0" bIns="0" rIns="0">
            <a:spAutoFit/>
          </a:bodyPr>
          <a:lstStyle/>
          <a:p>
            <a:pPr algn="l">
              <a:lnSpc>
                <a:spcPts val="2301"/>
              </a:lnSpc>
              <a:spcBef>
                <a:spcPct val="0"/>
              </a:spcBef>
            </a:pPr>
            <a:r>
              <a:rPr lang="en-US" b="true" sz="1644" spc="690">
                <a:solidFill>
                  <a:srgbClr val="827564"/>
                </a:solidFill>
                <a:latin typeface="Open Sauce Bold"/>
                <a:ea typeface="Open Sauce Bold"/>
                <a:cs typeface="Open Sauce Bold"/>
                <a:sym typeface="Open Sauce Bold"/>
              </a:rPr>
              <a:t>ΕΠΑΝΑΔΕΙΓΜΑΤΟΛΗΨΙΑ</a:t>
            </a:r>
          </a:p>
        </p:txBody>
      </p:sp>
      <p:sp>
        <p:nvSpPr>
          <p:cNvPr name="TextBox 4" id="4"/>
          <p:cNvSpPr txBox="true"/>
          <p:nvPr/>
        </p:nvSpPr>
        <p:spPr>
          <a:xfrm rot="0">
            <a:off x="4867475" y="452755"/>
            <a:ext cx="4137025" cy="575945"/>
          </a:xfrm>
          <a:prstGeom prst="rect">
            <a:avLst/>
          </a:prstGeom>
        </p:spPr>
        <p:txBody>
          <a:bodyPr anchor="t" rtlCol="false" tIns="0" lIns="0" bIns="0" rIns="0">
            <a:spAutoFit/>
          </a:bodyPr>
          <a:lstStyle/>
          <a:p>
            <a:pPr algn="ctr">
              <a:lnSpc>
                <a:spcPts val="2380"/>
              </a:lnSpc>
              <a:spcBef>
                <a:spcPct val="0"/>
              </a:spcBef>
            </a:pPr>
            <a:r>
              <a:rPr lang="en-US" b="true" sz="1700" spc="714">
                <a:solidFill>
                  <a:srgbClr val="827564"/>
                </a:solidFill>
                <a:latin typeface="Open Sauce Bold"/>
                <a:ea typeface="Open Sauce Bold"/>
                <a:cs typeface="Open Sauce Bold"/>
                <a:sym typeface="Open Sauce Bold"/>
              </a:rPr>
              <a:t>ΚΑΝΟΝΙΚΟΠΟΙΗΣΗ ΔΙΑΡΚΕΙΑΣ</a:t>
            </a:r>
          </a:p>
        </p:txBody>
      </p:sp>
      <p:sp>
        <p:nvSpPr>
          <p:cNvPr name="TextBox 5" id="5"/>
          <p:cNvSpPr txBox="true"/>
          <p:nvPr/>
        </p:nvSpPr>
        <p:spPr>
          <a:xfrm rot="0">
            <a:off x="9374064" y="431165"/>
            <a:ext cx="4137025" cy="575945"/>
          </a:xfrm>
          <a:prstGeom prst="rect">
            <a:avLst/>
          </a:prstGeom>
        </p:spPr>
        <p:txBody>
          <a:bodyPr anchor="t" rtlCol="false" tIns="0" lIns="0" bIns="0" rIns="0">
            <a:spAutoFit/>
          </a:bodyPr>
          <a:lstStyle/>
          <a:p>
            <a:pPr algn="ctr">
              <a:lnSpc>
                <a:spcPts val="2380"/>
              </a:lnSpc>
              <a:spcBef>
                <a:spcPct val="0"/>
              </a:spcBef>
            </a:pPr>
            <a:r>
              <a:rPr lang="en-US" b="true" sz="1700" spc="714">
                <a:solidFill>
                  <a:srgbClr val="827564"/>
                </a:solidFill>
                <a:latin typeface="Open Sauce Bold"/>
                <a:ea typeface="Open Sauce Bold"/>
                <a:cs typeface="Open Sauce Bold"/>
                <a:sym typeface="Open Sauce Bold"/>
              </a:rPr>
              <a:t>ΚΑΝΟΝΙΚΟΠΟΙΗΣΗ ΠΛΑΤΟΥΣ</a:t>
            </a:r>
          </a:p>
        </p:txBody>
      </p:sp>
      <p:sp>
        <p:nvSpPr>
          <p:cNvPr name="TextBox 6" id="6"/>
          <p:cNvSpPr txBox="true"/>
          <p:nvPr/>
        </p:nvSpPr>
        <p:spPr>
          <a:xfrm rot="0">
            <a:off x="14122057" y="690089"/>
            <a:ext cx="3551945" cy="283038"/>
          </a:xfrm>
          <a:prstGeom prst="rect">
            <a:avLst/>
          </a:prstGeom>
        </p:spPr>
        <p:txBody>
          <a:bodyPr anchor="t" rtlCol="false" tIns="0" lIns="0" bIns="0" rIns="0">
            <a:spAutoFit/>
          </a:bodyPr>
          <a:lstStyle/>
          <a:p>
            <a:pPr algn="l">
              <a:lnSpc>
                <a:spcPts val="2312"/>
              </a:lnSpc>
              <a:spcBef>
                <a:spcPct val="0"/>
              </a:spcBef>
            </a:pPr>
            <a:r>
              <a:rPr lang="en-US" b="true" sz="1651" spc="693">
                <a:solidFill>
                  <a:srgbClr val="827564"/>
                </a:solidFill>
                <a:latin typeface="Open Sauce Bold"/>
                <a:ea typeface="Open Sauce Bold"/>
                <a:cs typeface="Open Sauce Bold"/>
                <a:sym typeface="Open Sauce Bold"/>
              </a:rPr>
              <a:t>ΑΠΟΘΟΡΥΒΟΠΟΙΗΣΗ</a:t>
            </a:r>
          </a:p>
        </p:txBody>
      </p:sp>
      <p:sp>
        <p:nvSpPr>
          <p:cNvPr name="TextBox 7" id="7"/>
          <p:cNvSpPr txBox="true"/>
          <p:nvPr/>
        </p:nvSpPr>
        <p:spPr>
          <a:xfrm rot="0">
            <a:off x="345234" y="1145932"/>
            <a:ext cx="4129250" cy="5386799"/>
          </a:xfrm>
          <a:prstGeom prst="rect">
            <a:avLst/>
          </a:prstGeom>
        </p:spPr>
        <p:txBody>
          <a:bodyPr anchor="t" rtlCol="false" tIns="0" lIns="0" bIns="0" rIns="0">
            <a:spAutoFit/>
          </a:bodyPr>
          <a:lstStyle/>
          <a:p>
            <a:pPr algn="ctr" marL="0" indent="0" lvl="0">
              <a:lnSpc>
                <a:spcPts val="3063"/>
              </a:lnSpc>
            </a:pPr>
            <a:r>
              <a:rPr lang="en-US" sz="1547">
                <a:solidFill>
                  <a:srgbClr val="827564"/>
                </a:solidFill>
                <a:latin typeface="Glacial Indifference"/>
                <a:ea typeface="Glacial Indifference"/>
                <a:cs typeface="Glacial Indifference"/>
                <a:sym typeface="Glacial Indifference"/>
              </a:rPr>
              <a:t>Πρ</a:t>
            </a:r>
            <a:r>
              <a:rPr lang="en-US" sz="1547" strike="noStrike" u="none">
                <a:solidFill>
                  <a:srgbClr val="827564"/>
                </a:solidFill>
                <a:latin typeface="Glacial Indifference"/>
                <a:ea typeface="Glacial Indifference"/>
                <a:cs typeface="Glacial Indifference"/>
                <a:sym typeface="Glacial Indifference"/>
              </a:rPr>
              <a:t>όκειται για τη διαδικασία</a:t>
            </a:r>
          </a:p>
          <a:p>
            <a:pPr algn="ctr" marL="0" indent="0" lvl="0">
              <a:lnSpc>
                <a:spcPts val="3063"/>
              </a:lnSpc>
            </a:pPr>
            <a:r>
              <a:rPr lang="en-US" b="true" sz="1547" strike="noStrike" u="none">
                <a:solidFill>
                  <a:srgbClr val="827564"/>
                </a:solidFill>
                <a:latin typeface="Glacial Indifference Bold"/>
                <a:ea typeface="Glacial Indifference Bold"/>
                <a:cs typeface="Glacial Indifference Bold"/>
                <a:sym typeface="Glacial Indifference Bold"/>
              </a:rPr>
              <a:t>μετατροπής της συχνότητας δειγματοληψίας </a:t>
            </a:r>
            <a:r>
              <a:rPr lang="en-US" sz="1547" strike="noStrike" u="none">
                <a:solidFill>
                  <a:srgbClr val="827564"/>
                </a:solidFill>
                <a:latin typeface="Glacial Indifference"/>
                <a:ea typeface="Glacial Indifference"/>
                <a:cs typeface="Glacial Indifference"/>
                <a:sym typeface="Glacial Indifference"/>
              </a:rPr>
              <a:t>ενός</a:t>
            </a:r>
            <a:r>
              <a:rPr lang="en-US" sz="1547" strike="noStrike" u="none">
                <a:solidFill>
                  <a:srgbClr val="827564"/>
                </a:solidFill>
                <a:latin typeface="Glacial Indifference"/>
                <a:ea typeface="Glacial Indifference"/>
                <a:cs typeface="Glacial Indifference"/>
                <a:sym typeface="Glacial Indifference"/>
              </a:rPr>
              <a:t> διακριτού σήματος από μια </a:t>
            </a:r>
            <a:r>
              <a:rPr lang="en-US" b="true" sz="1547" strike="noStrike" u="none">
                <a:solidFill>
                  <a:srgbClr val="827564"/>
                </a:solidFill>
                <a:latin typeface="Glacial Indifference Bold"/>
                <a:ea typeface="Glacial Indifference Bold"/>
                <a:cs typeface="Glacial Indifference Bold"/>
                <a:sym typeface="Glacial Indifference Bold"/>
              </a:rPr>
              <a:t>αρχική τιμή fs</a:t>
            </a:r>
          </a:p>
          <a:p>
            <a:pPr algn="ctr" marL="0" indent="0" lvl="0">
              <a:lnSpc>
                <a:spcPts val="3063"/>
              </a:lnSpc>
            </a:pPr>
            <a:r>
              <a:rPr lang="en-US" sz="1547" strike="noStrike" u="none">
                <a:solidFill>
                  <a:srgbClr val="827564"/>
                </a:solidFill>
                <a:latin typeface="Glacial Indifference"/>
                <a:ea typeface="Glacial Indifference"/>
                <a:cs typeface="Glacial Indifference"/>
                <a:sym typeface="Glacial Indifference"/>
              </a:rPr>
              <a:t>σε μια νέα,</a:t>
            </a:r>
            <a:r>
              <a:rPr lang="en-US" b="true" sz="1547" strike="noStrike" u="none">
                <a:solidFill>
                  <a:srgbClr val="827564"/>
                </a:solidFill>
                <a:latin typeface="Glacial Indifference Bold"/>
                <a:ea typeface="Glacial Indifference Bold"/>
                <a:cs typeface="Glacial Indifference Bold"/>
                <a:sym typeface="Glacial Indifference Bold"/>
              </a:rPr>
              <a:t> επιθυμητή συχνότητα f’s</a:t>
            </a:r>
            <a:r>
              <a:rPr lang="en-US" sz="1547" strike="noStrike" u="none">
                <a:solidFill>
                  <a:srgbClr val="827564"/>
                </a:solidFill>
                <a:latin typeface="Glacial Indifference"/>
                <a:ea typeface="Glacial Indifference"/>
                <a:cs typeface="Glacial Indifference"/>
                <a:sym typeface="Glacial Indifference"/>
              </a:rPr>
              <a:t>. Ουσιαστικά, το σήμα </a:t>
            </a:r>
            <a:r>
              <a:rPr lang="en-US" sz="1547" strike="noStrike" u="none">
                <a:solidFill>
                  <a:srgbClr val="827564"/>
                </a:solidFill>
                <a:latin typeface="Glacial Indifference"/>
                <a:ea typeface="Glacial Indifference"/>
                <a:cs typeface="Glacial Indifference"/>
                <a:sym typeface="Glacial Indifference"/>
              </a:rPr>
              <a:t>x[n] ανα</a:t>
            </a:r>
            <a:r>
              <a:rPr lang="en-US" sz="1547" strike="noStrike" u="none">
                <a:solidFill>
                  <a:srgbClr val="827564"/>
                </a:solidFill>
                <a:latin typeface="Glacial Indifference"/>
                <a:ea typeface="Glacial Indifference"/>
                <a:cs typeface="Glacial Indifference"/>
                <a:sym typeface="Glacial Indifference"/>
              </a:rPr>
              <a:t>δο</a:t>
            </a:r>
            <a:r>
              <a:rPr lang="en-US" sz="1547" strike="noStrike" u="none">
                <a:solidFill>
                  <a:srgbClr val="827564"/>
                </a:solidFill>
                <a:latin typeface="Glacial Indifference"/>
                <a:ea typeface="Glacial Indifference"/>
                <a:cs typeface="Glacial Indifference"/>
                <a:sym typeface="Glacial Indifference"/>
              </a:rPr>
              <a:t>με</a:t>
            </a:r>
            <a:r>
              <a:rPr lang="en-US" sz="1547" strike="noStrike" u="none">
                <a:solidFill>
                  <a:srgbClr val="827564"/>
                </a:solidFill>
                <a:latin typeface="Glacial Indifference"/>
                <a:ea typeface="Glacial Indifference"/>
                <a:cs typeface="Glacial Indifference"/>
                <a:sym typeface="Glacial Indifference"/>
              </a:rPr>
              <a:t>ί</a:t>
            </a:r>
            <a:r>
              <a:rPr lang="en-US" sz="1547" strike="noStrike" u="none">
                <a:solidFill>
                  <a:srgbClr val="827564"/>
                </a:solidFill>
                <a:latin typeface="Glacial Indifference"/>
                <a:ea typeface="Glacial Indifference"/>
                <a:cs typeface="Glacial Indifference"/>
                <a:sym typeface="Glacial Indifference"/>
              </a:rPr>
              <a:t>τ</a:t>
            </a:r>
            <a:r>
              <a:rPr lang="en-US" sz="1547" strike="noStrike" u="none">
                <a:solidFill>
                  <a:srgbClr val="827564"/>
                </a:solidFill>
                <a:latin typeface="Glacial Indifference"/>
                <a:ea typeface="Glacial Indifference"/>
                <a:cs typeface="Glacial Indifference"/>
                <a:sym typeface="Glacial Indifference"/>
              </a:rPr>
              <a:t>αι σε μια νέα μορφή x′[m] που αντιστοιχεί σε διαφορετική χρονική ανάλυση. Η ανάγκη για επαναδειγματοληψία προκύπτει από το γεγονός ότι τα σήματα έχουν καταγραφεί με διαφορετικές συχνότητες ανάλογα με τη συσκευή καταγραφής. Η </a:t>
            </a:r>
            <a:r>
              <a:rPr lang="en-US" b="true" sz="1547" strike="noStrike" u="none">
                <a:solidFill>
                  <a:srgbClr val="827564"/>
                </a:solidFill>
                <a:latin typeface="Glacial Indifference Bold"/>
                <a:ea typeface="Glacial Indifference Bold"/>
                <a:cs typeface="Glacial Indifference Bold"/>
                <a:sym typeface="Glacial Indifference Bold"/>
              </a:rPr>
              <a:t>κοινή συχνότητα δειγματοληψίας</a:t>
            </a:r>
            <a:r>
              <a:rPr lang="en-US" sz="1547" strike="noStrike" u="none">
                <a:solidFill>
                  <a:srgbClr val="827564"/>
                </a:solidFill>
                <a:latin typeface="Glacial Indifference"/>
                <a:ea typeface="Glacial Indifference"/>
                <a:cs typeface="Glacial Indifference"/>
                <a:sym typeface="Glacial Indifference"/>
              </a:rPr>
              <a:t> έχει επιλεχθεί να είναι τα </a:t>
            </a:r>
            <a:r>
              <a:rPr lang="en-US" b="true" sz="1547" strike="noStrike" u="none">
                <a:solidFill>
                  <a:srgbClr val="827564"/>
                </a:solidFill>
                <a:latin typeface="Glacial Indifference Bold"/>
                <a:ea typeface="Glacial Indifference Bold"/>
                <a:cs typeface="Glacial Indifference Bold"/>
                <a:sym typeface="Glacial Indifference Bold"/>
              </a:rPr>
              <a:t>4 kHz</a:t>
            </a:r>
            <a:r>
              <a:rPr lang="en-US" sz="1547" strike="noStrike" u="none">
                <a:solidFill>
                  <a:srgbClr val="827564"/>
                </a:solidFill>
                <a:latin typeface="Glacial Indifference"/>
                <a:ea typeface="Glacial Indifference"/>
                <a:cs typeface="Glacial Indifference"/>
                <a:sym typeface="Glacial Indifference"/>
              </a:rPr>
              <a:t>.</a:t>
            </a:r>
          </a:p>
        </p:txBody>
      </p:sp>
      <p:sp>
        <p:nvSpPr>
          <p:cNvPr name="TextBox 8" id="8"/>
          <p:cNvSpPr txBox="true"/>
          <p:nvPr/>
        </p:nvSpPr>
        <p:spPr>
          <a:xfrm rot="0">
            <a:off x="4801052" y="1156970"/>
            <a:ext cx="4269871" cy="7566279"/>
          </a:xfrm>
          <a:prstGeom prst="rect">
            <a:avLst/>
          </a:prstGeom>
        </p:spPr>
        <p:txBody>
          <a:bodyPr anchor="t" rtlCol="false" tIns="0" lIns="0" bIns="0" rIns="0">
            <a:spAutoFit/>
          </a:bodyPr>
          <a:lstStyle/>
          <a:p>
            <a:pPr algn="ctr" marL="0" indent="0" lvl="0">
              <a:lnSpc>
                <a:spcPts val="3167"/>
              </a:lnSpc>
            </a:pPr>
            <a:r>
              <a:rPr lang="en-US" sz="1599">
                <a:solidFill>
                  <a:srgbClr val="827564"/>
                </a:solidFill>
                <a:latin typeface="Glacial Indifference"/>
                <a:ea typeface="Glacial Indifference"/>
                <a:cs typeface="Glacial Indifference"/>
                <a:sym typeface="Glacial Indifference"/>
              </a:rPr>
              <a:t>Πρ</a:t>
            </a:r>
            <a:r>
              <a:rPr lang="en-US" sz="1599" strike="noStrike" u="none">
                <a:solidFill>
                  <a:srgbClr val="827564"/>
                </a:solidFill>
                <a:latin typeface="Glacial Indifference"/>
                <a:ea typeface="Glacial Indifference"/>
                <a:cs typeface="Glacial Indifference"/>
                <a:sym typeface="Glacial Indifference"/>
              </a:rPr>
              <a:t>όκειται για τη διαδικασία</a:t>
            </a:r>
          </a:p>
          <a:p>
            <a:pPr algn="ctr" marL="0" indent="0" lvl="0">
              <a:lnSpc>
                <a:spcPts val="3167"/>
              </a:lnSpc>
            </a:pPr>
            <a:r>
              <a:rPr lang="en-US" b="true" sz="1599" strike="noStrike" u="none">
                <a:solidFill>
                  <a:srgbClr val="827564"/>
                </a:solidFill>
                <a:latin typeface="Glacial Indifference Bold"/>
                <a:ea typeface="Glacial Indifference Bold"/>
                <a:cs typeface="Glacial Indifference Bold"/>
                <a:sym typeface="Glacial Indifference Bold"/>
              </a:rPr>
              <a:t>καθορισμού των χρονικών ορίων </a:t>
            </a:r>
            <a:r>
              <a:rPr lang="en-US" sz="1599" strike="noStrike" u="none">
                <a:solidFill>
                  <a:srgbClr val="827564"/>
                </a:solidFill>
                <a:latin typeface="Glacial Indifference"/>
                <a:ea typeface="Glacial Indifference"/>
                <a:cs typeface="Glacial Indifference"/>
                <a:sym typeface="Glacial Indifference"/>
              </a:rPr>
              <a:t>της διάρκειας κάθε αναπνευστικού κύκλου σε</a:t>
            </a:r>
            <a:r>
              <a:rPr lang="en-US" b="true" sz="1599" strike="noStrike" u="none">
                <a:solidFill>
                  <a:srgbClr val="827564"/>
                </a:solidFill>
                <a:latin typeface="Glacial Indifference Bold"/>
                <a:ea typeface="Glacial Indifference Bold"/>
                <a:cs typeface="Glacial Indifference Bold"/>
                <a:sym typeface="Glacial Indifference Bold"/>
              </a:rPr>
              <a:t> κοινή κλίμακα</a:t>
            </a:r>
            <a:r>
              <a:rPr lang="en-US" sz="1599" strike="noStrike" u="none">
                <a:solidFill>
                  <a:srgbClr val="827564"/>
                </a:solidFill>
                <a:latin typeface="Glacial Indifference"/>
                <a:ea typeface="Glacial Indifference"/>
                <a:cs typeface="Glacial Indifference"/>
                <a:sym typeface="Glacial Indifference"/>
              </a:rPr>
              <a:t>. Η σταθερότητα αυτή των διαστάσεων διευκολύνει την λειτουργία των μοντέλων μηχανικής μάθησης. Ως </a:t>
            </a:r>
            <a:r>
              <a:rPr lang="en-US" b="true" sz="1599" strike="noStrike" u="none">
                <a:solidFill>
                  <a:srgbClr val="827564"/>
                </a:solidFill>
                <a:latin typeface="Glacial Indifference Bold"/>
                <a:ea typeface="Glacial Indifference Bold"/>
                <a:cs typeface="Glacial Indifference Bold"/>
                <a:sym typeface="Glacial Indifference Bold"/>
              </a:rPr>
              <a:t>κοινή διάρκεια</a:t>
            </a:r>
            <a:r>
              <a:rPr lang="en-US" sz="1599" strike="noStrike" u="none">
                <a:solidFill>
                  <a:srgbClr val="827564"/>
                </a:solidFill>
                <a:latin typeface="Glacial Indifference"/>
                <a:ea typeface="Glacial Indifference"/>
                <a:cs typeface="Glacial Indifference"/>
                <a:sym typeface="Glacial Indifference"/>
              </a:rPr>
              <a:t> έχουν επιλεχθεί τα </a:t>
            </a:r>
            <a:r>
              <a:rPr lang="en-US" b="true" sz="1599" strike="noStrike" u="none">
                <a:solidFill>
                  <a:srgbClr val="827564"/>
                </a:solidFill>
                <a:latin typeface="Glacial Indifference Bold"/>
                <a:ea typeface="Glacial Indifference Bold"/>
                <a:cs typeface="Glacial Indifference Bold"/>
                <a:sym typeface="Glacial Indifference Bold"/>
              </a:rPr>
              <a:t>3 s</a:t>
            </a:r>
            <a:r>
              <a:rPr lang="en-US" sz="1599" strike="noStrike" u="none">
                <a:solidFill>
                  <a:srgbClr val="827564"/>
                </a:solidFill>
                <a:latin typeface="Glacial Indifference"/>
                <a:ea typeface="Glacial Indifference"/>
                <a:cs typeface="Glacial Indifference"/>
                <a:sym typeface="Glacial Indifference"/>
              </a:rPr>
              <a:t> και συνεπώς σήματα με </a:t>
            </a:r>
            <a:r>
              <a:rPr lang="en-US" b="true" sz="1599" strike="noStrike" u="none">
                <a:solidFill>
                  <a:srgbClr val="827564"/>
                </a:solidFill>
                <a:latin typeface="Glacial Indifference Bold"/>
                <a:ea typeface="Glacial Indifference Bold"/>
                <a:cs typeface="Glacial Indifference Bold"/>
                <a:sym typeface="Glacial Indifference Bold"/>
              </a:rPr>
              <a:t>μεγαλύτερη διάρκεια</a:t>
            </a:r>
            <a:r>
              <a:rPr lang="en-US" sz="1599" strike="noStrike" u="none">
                <a:solidFill>
                  <a:srgbClr val="827564"/>
                </a:solidFill>
                <a:latin typeface="Glacial Indifference"/>
                <a:ea typeface="Glacial Indifference"/>
                <a:cs typeface="Glacial Indifference"/>
                <a:sym typeface="Glacial Indifference"/>
              </a:rPr>
              <a:t> αποκόπτονται μέσω </a:t>
            </a:r>
            <a:r>
              <a:rPr lang="en-US" b="true" sz="1599" strike="noStrike" u="none">
                <a:solidFill>
                  <a:srgbClr val="827564"/>
                </a:solidFill>
                <a:latin typeface="Glacial Indifference Bold"/>
                <a:ea typeface="Glacial Indifference Bold"/>
                <a:cs typeface="Glacial Indifference Bold"/>
                <a:sym typeface="Glacial Indifference Bold"/>
              </a:rPr>
              <a:t>trimming</a:t>
            </a:r>
            <a:r>
              <a:rPr lang="en-US" sz="1599" strike="noStrike" u="none">
                <a:solidFill>
                  <a:srgbClr val="827564"/>
                </a:solidFill>
                <a:latin typeface="Glacial Indifference"/>
                <a:ea typeface="Glacial Indifference"/>
                <a:cs typeface="Glacial Indifference"/>
                <a:sym typeface="Glacial Indifference"/>
              </a:rPr>
              <a:t> αφαιρώντας τις τιμές των δειγμάτων από το τέλος μέχρι να φτάσουμε στην επιθυμητή διάρκεια. Από την άλλη, σήματα με</a:t>
            </a:r>
            <a:r>
              <a:rPr lang="en-US" b="true" sz="1599" strike="noStrike" u="none">
                <a:solidFill>
                  <a:srgbClr val="827564"/>
                </a:solidFill>
                <a:latin typeface="Glacial Indifference Bold"/>
                <a:ea typeface="Glacial Indifference Bold"/>
                <a:cs typeface="Glacial Indifference Bold"/>
                <a:sym typeface="Glacial Indifference Bold"/>
              </a:rPr>
              <a:t> μικρότερη διάρκεια</a:t>
            </a:r>
            <a:r>
              <a:rPr lang="en-US" sz="1599" strike="noStrike" u="none">
                <a:solidFill>
                  <a:srgbClr val="827564"/>
                </a:solidFill>
                <a:latin typeface="Glacial Indifference"/>
                <a:ea typeface="Glacial Indifference"/>
                <a:cs typeface="Glacial Indifference"/>
                <a:sym typeface="Glacial Indifference"/>
              </a:rPr>
              <a:t> συμπληρώνονται μέσω </a:t>
            </a:r>
            <a:r>
              <a:rPr lang="en-US" b="true" sz="1599" strike="noStrike" u="none">
                <a:solidFill>
                  <a:srgbClr val="827564"/>
                </a:solidFill>
                <a:latin typeface="Glacial Indifference Bold"/>
                <a:ea typeface="Glacial Indifference Bold"/>
                <a:cs typeface="Glacial Indifference Bold"/>
                <a:sym typeface="Glacial Indifference Bold"/>
              </a:rPr>
              <a:t>circular padding</a:t>
            </a:r>
            <a:r>
              <a:rPr lang="en-US" sz="1599" strike="noStrike" u="none">
                <a:solidFill>
                  <a:srgbClr val="827564"/>
                </a:solidFill>
                <a:latin typeface="Glacial Indifference"/>
                <a:ea typeface="Glacial Indifference"/>
                <a:cs typeface="Glacial Indifference"/>
                <a:sym typeface="Glacial Indifference"/>
              </a:rPr>
              <a:t>, δηλαδή γίνεται κυκλική επανάληψη των δειγμάτων του σήματος σαν να ήταν</a:t>
            </a:r>
          </a:p>
          <a:p>
            <a:pPr algn="ctr" marL="0" indent="0" lvl="0">
              <a:lnSpc>
                <a:spcPts val="3167"/>
              </a:lnSpc>
            </a:pPr>
            <a:r>
              <a:rPr lang="en-US" sz="1599" strike="noStrike" u="none">
                <a:solidFill>
                  <a:srgbClr val="827564"/>
                </a:solidFill>
                <a:latin typeface="Glacial Indifference"/>
                <a:ea typeface="Glacial Indifference"/>
                <a:cs typeface="Glacial Indifference"/>
                <a:sym typeface="Glacial Indifference"/>
              </a:rPr>
              <a:t>περιοδικό. Έτσι δεν εισάγουμε απότομες</a:t>
            </a:r>
          </a:p>
          <a:p>
            <a:pPr algn="ctr" marL="0" indent="0" lvl="0">
              <a:lnSpc>
                <a:spcPts val="3167"/>
              </a:lnSpc>
            </a:pPr>
            <a:r>
              <a:rPr lang="en-US" sz="1599" strike="noStrike" u="none">
                <a:solidFill>
                  <a:srgbClr val="827564"/>
                </a:solidFill>
                <a:latin typeface="Glacial Indifference"/>
                <a:ea typeface="Glacial Indifference"/>
                <a:cs typeface="Glacial Indifference"/>
                <a:sym typeface="Glacial Indifference"/>
              </a:rPr>
              <a:t>μεταβάσεις στο σήμα, οι οποίες ενδέχεται να εκληφθούν ως τεχνητοί θόρυβοι ή παθολογικά γεγονότα.</a:t>
            </a:r>
          </a:p>
        </p:txBody>
      </p:sp>
      <p:sp>
        <p:nvSpPr>
          <p:cNvPr name="TextBox 9" id="9"/>
          <p:cNvSpPr txBox="true"/>
          <p:nvPr/>
        </p:nvSpPr>
        <p:spPr>
          <a:xfrm rot="0">
            <a:off x="9307641" y="1178560"/>
            <a:ext cx="4269871" cy="3565779"/>
          </a:xfrm>
          <a:prstGeom prst="rect">
            <a:avLst/>
          </a:prstGeom>
        </p:spPr>
        <p:txBody>
          <a:bodyPr anchor="t" rtlCol="false" tIns="0" lIns="0" bIns="0" rIns="0">
            <a:spAutoFit/>
          </a:bodyPr>
          <a:lstStyle/>
          <a:p>
            <a:pPr algn="ctr" marL="0" indent="0" lvl="0">
              <a:lnSpc>
                <a:spcPts val="3167"/>
              </a:lnSpc>
            </a:pPr>
            <a:r>
              <a:rPr lang="en-US" sz="1599">
                <a:solidFill>
                  <a:srgbClr val="827564"/>
                </a:solidFill>
                <a:latin typeface="Glacial Indifference"/>
                <a:ea typeface="Glacial Indifference"/>
                <a:cs typeface="Glacial Indifference"/>
                <a:sym typeface="Glacial Indifference"/>
              </a:rPr>
              <a:t>Πρ</a:t>
            </a:r>
            <a:r>
              <a:rPr lang="en-US" sz="1599" strike="noStrike" u="none">
                <a:solidFill>
                  <a:srgbClr val="827564"/>
                </a:solidFill>
                <a:latin typeface="Glacial Indifference"/>
                <a:ea typeface="Glacial Indifference"/>
                <a:cs typeface="Glacial Indifference"/>
                <a:sym typeface="Glacial Indifference"/>
              </a:rPr>
              <a:t>όκειται για τη διαδικασία</a:t>
            </a:r>
          </a:p>
          <a:p>
            <a:pPr algn="ctr" marL="0" indent="0" lvl="0">
              <a:lnSpc>
                <a:spcPts val="3167"/>
              </a:lnSpc>
            </a:pPr>
            <a:r>
              <a:rPr lang="en-US" b="true" sz="1599" strike="noStrike" u="none">
                <a:solidFill>
                  <a:srgbClr val="827564"/>
                </a:solidFill>
                <a:latin typeface="Glacial Indifference Bold"/>
                <a:ea typeface="Glacial Indifference Bold"/>
                <a:cs typeface="Glacial Indifference Bold"/>
                <a:sym typeface="Glacial Indifference Bold"/>
              </a:rPr>
              <a:t>μετατροπής των σημάτων σε κοινή κλίμακα έντασης. </a:t>
            </a:r>
            <a:r>
              <a:rPr lang="en-US" sz="1599" strike="noStrike" u="none">
                <a:solidFill>
                  <a:srgbClr val="827564"/>
                </a:solidFill>
                <a:latin typeface="Glacial Indifference"/>
                <a:ea typeface="Glacial Indifference"/>
                <a:cs typeface="Glacial Indifference"/>
                <a:sym typeface="Glacial Indifference"/>
              </a:rPr>
              <a:t>Πιο συγκεκριμένα, το σήμα x[n] διαιρείται με</a:t>
            </a:r>
          </a:p>
          <a:p>
            <a:pPr algn="ctr" marL="0" indent="0" lvl="0">
              <a:lnSpc>
                <a:spcPts val="3167"/>
              </a:lnSpc>
            </a:pPr>
            <a:r>
              <a:rPr lang="en-US" sz="1599" strike="noStrike" u="none">
                <a:solidFill>
                  <a:srgbClr val="827564"/>
                </a:solidFill>
                <a:latin typeface="Glacial Indifference"/>
                <a:ea typeface="Glacial Indifference"/>
                <a:cs typeface="Glacial Indifference"/>
                <a:sym typeface="Glacial Indifference"/>
              </a:rPr>
              <a:t>τη μέγιστη απόλυτη τιμή του ώστε το νέο σήμα να έχει μέγιστο πλάτος ίσο με 1. Το επιλεγμένο </a:t>
            </a:r>
            <a:r>
              <a:rPr lang="en-US" b="true" sz="1599" strike="noStrike" u="none">
                <a:solidFill>
                  <a:srgbClr val="827564"/>
                </a:solidFill>
                <a:latin typeface="Glacial Indifference Bold"/>
                <a:ea typeface="Glacial Indifference Bold"/>
                <a:cs typeface="Glacial Indifference Bold"/>
                <a:sym typeface="Glacial Indifference Bold"/>
              </a:rPr>
              <a:t>εύρος τιμών για το πλάτος</a:t>
            </a:r>
            <a:r>
              <a:rPr lang="en-US" sz="1599" strike="noStrike" u="none">
                <a:solidFill>
                  <a:srgbClr val="827564"/>
                </a:solidFill>
                <a:latin typeface="Glacial Indifference"/>
                <a:ea typeface="Glacial Indifference"/>
                <a:cs typeface="Glacial Indifference"/>
                <a:sym typeface="Glacial Indifference"/>
              </a:rPr>
              <a:t> όλων των αναπνευστικών κύκλων έχει τεθεί στο διάστημα</a:t>
            </a:r>
            <a:r>
              <a:rPr lang="en-US" b="true" sz="1599" strike="noStrike" u="none">
                <a:solidFill>
                  <a:srgbClr val="827564"/>
                </a:solidFill>
                <a:latin typeface="Glacial Indifference Bold"/>
                <a:ea typeface="Glacial Indifference Bold"/>
                <a:cs typeface="Glacial Indifference Bold"/>
                <a:sym typeface="Glacial Indifference Bold"/>
              </a:rPr>
              <a:t> [-1, 1]</a:t>
            </a:r>
            <a:r>
              <a:rPr lang="en-US" sz="1599" strike="noStrike" u="none">
                <a:solidFill>
                  <a:srgbClr val="827564"/>
                </a:solidFill>
                <a:latin typeface="Glacial Indifference"/>
                <a:ea typeface="Glacial Indifference"/>
                <a:cs typeface="Glacial Indifference"/>
                <a:sym typeface="Glacial Indifference"/>
              </a:rPr>
              <a:t>. </a:t>
            </a:r>
          </a:p>
        </p:txBody>
      </p:sp>
      <p:sp>
        <p:nvSpPr>
          <p:cNvPr name="TextBox 10" id="10"/>
          <p:cNvSpPr txBox="true"/>
          <p:nvPr/>
        </p:nvSpPr>
        <p:spPr>
          <a:xfrm rot="0">
            <a:off x="13823704" y="1136194"/>
            <a:ext cx="4148651" cy="8521070"/>
          </a:xfrm>
          <a:prstGeom prst="rect">
            <a:avLst/>
          </a:prstGeom>
        </p:spPr>
        <p:txBody>
          <a:bodyPr anchor="t" rtlCol="false" tIns="0" lIns="0" bIns="0" rIns="0">
            <a:spAutoFit/>
          </a:bodyPr>
          <a:lstStyle/>
          <a:p>
            <a:pPr algn="ctr" marL="0" indent="0" lvl="0">
              <a:lnSpc>
                <a:spcPts val="3078"/>
              </a:lnSpc>
            </a:pPr>
            <a:r>
              <a:rPr lang="en-US" sz="1554">
                <a:solidFill>
                  <a:srgbClr val="827564"/>
                </a:solidFill>
                <a:latin typeface="Glacial Indifference"/>
                <a:ea typeface="Glacial Indifference"/>
                <a:cs typeface="Glacial Indifference"/>
                <a:sym typeface="Glacial Indifference"/>
              </a:rPr>
              <a:t>Πρ</a:t>
            </a:r>
            <a:r>
              <a:rPr lang="en-US" sz="1554" strike="noStrike" u="none">
                <a:solidFill>
                  <a:srgbClr val="827564"/>
                </a:solidFill>
                <a:latin typeface="Glacial Indifference"/>
                <a:ea typeface="Glacial Indifference"/>
                <a:cs typeface="Glacial Indifference"/>
                <a:sym typeface="Glacial Indifference"/>
              </a:rPr>
              <a:t>όκειται για τη διαδικασία</a:t>
            </a:r>
            <a:r>
              <a:rPr lang="en-US" b="true" sz="1554" strike="noStrike" u="none">
                <a:solidFill>
                  <a:srgbClr val="827564"/>
                </a:solidFill>
                <a:latin typeface="Glacial Indifference Bold"/>
                <a:ea typeface="Glacial Indifference Bold"/>
                <a:cs typeface="Glacial Indifference Bold"/>
                <a:sym typeface="Glacial Indifference Bold"/>
              </a:rPr>
              <a:t> απομάκρυνσης </a:t>
            </a:r>
          </a:p>
          <a:p>
            <a:pPr algn="ctr" marL="0" indent="0" lvl="0">
              <a:lnSpc>
                <a:spcPts val="3078"/>
              </a:lnSpc>
            </a:pPr>
            <a:r>
              <a:rPr lang="en-US" b="true" sz="1554" strike="noStrike" u="none">
                <a:solidFill>
                  <a:srgbClr val="827564"/>
                </a:solidFill>
                <a:latin typeface="Glacial Indifference Bold"/>
                <a:ea typeface="Glacial Indifference Bold"/>
                <a:cs typeface="Glacial Indifference Bold"/>
                <a:sym typeface="Glacial Indifference Bold"/>
              </a:rPr>
              <a:t>θορυβώδων ή ανεπιθύμητων συνιστωσών </a:t>
            </a:r>
            <a:r>
              <a:rPr lang="en-US" sz="1554" strike="noStrike" u="none">
                <a:solidFill>
                  <a:srgbClr val="827564"/>
                </a:solidFill>
                <a:latin typeface="Glacial Indifference"/>
                <a:ea typeface="Glacial Indifference"/>
                <a:cs typeface="Glacial Indifference"/>
                <a:sym typeface="Glacial Indifference"/>
              </a:rPr>
              <a:t>που δεν σχετίζονται με την επιθυμητή φυσιολογική ή παθολογική πληροφορία. την περίπτωση των αναπνευστικών σημάτων,</a:t>
            </a:r>
          </a:p>
          <a:p>
            <a:pPr algn="ctr" marL="0" indent="0" lvl="0">
              <a:lnSpc>
                <a:spcPts val="3078"/>
              </a:lnSpc>
            </a:pPr>
            <a:r>
              <a:rPr lang="en-US" sz="1554" strike="noStrike" u="none">
                <a:solidFill>
                  <a:srgbClr val="827564"/>
                </a:solidFill>
                <a:latin typeface="Glacial Indifference"/>
                <a:ea typeface="Glacial Indifference"/>
                <a:cs typeface="Glacial Indifference"/>
                <a:sym typeface="Glacial Indifference"/>
              </a:rPr>
              <a:t>αυτοί οι θόρυβοι μπορεί να προέρχονται από ήχους του περιβάλλοντος, καρδιακούς ήχους που επικαλύπτουν το αναπνευστικό</a:t>
            </a:r>
          </a:p>
          <a:p>
            <a:pPr algn="ctr" marL="0" indent="0" lvl="0">
              <a:lnSpc>
                <a:spcPts val="3078"/>
              </a:lnSpc>
            </a:pPr>
            <a:r>
              <a:rPr lang="en-US" sz="1554" strike="noStrike" u="none">
                <a:solidFill>
                  <a:srgbClr val="827564"/>
                </a:solidFill>
                <a:latin typeface="Glacial Indifference"/>
                <a:ea typeface="Glacial Indifference"/>
                <a:cs typeface="Glacial Indifference"/>
                <a:sym typeface="Glacial Indifference"/>
              </a:rPr>
              <a:t>σήμα σε χαμηλές συχνότητες ή και μηχανικούς θορύβους από το ίδιο το στηθοσκόπιο. Έτσι, εφαρμόστηκε </a:t>
            </a:r>
            <a:r>
              <a:rPr lang="en-US" b="true" sz="1554" strike="noStrike" u="none">
                <a:solidFill>
                  <a:srgbClr val="827564"/>
                </a:solidFill>
                <a:latin typeface="Glacial Indifference Bold"/>
                <a:ea typeface="Glacial Indifference Bold"/>
                <a:cs typeface="Glacial Indifference Bold"/>
                <a:sym typeface="Glacial Indifference Bold"/>
              </a:rPr>
              <a:t>ψηφιακό φίλτρο Butterworth 5ης τάξης για διέλευση υψηλών συχνοτήτων (high-pass) </a:t>
            </a:r>
            <a:r>
              <a:rPr lang="en-US" sz="1554" strike="noStrike" u="none">
                <a:solidFill>
                  <a:srgbClr val="827564"/>
                </a:solidFill>
                <a:latin typeface="Glacial Indifference"/>
                <a:ea typeface="Glacial Indifference"/>
                <a:cs typeface="Glacial Indifference"/>
                <a:sym typeface="Glacial Indifference"/>
              </a:rPr>
              <a:t>με στόχο την απομάκρυνση των </a:t>
            </a:r>
            <a:r>
              <a:rPr lang="en-US" b="true" sz="1554" strike="noStrike" u="none">
                <a:solidFill>
                  <a:srgbClr val="827564"/>
                </a:solidFill>
                <a:latin typeface="Glacial Indifference Bold"/>
                <a:ea typeface="Glacial Indifference Bold"/>
                <a:cs typeface="Glacial Indifference Bold"/>
                <a:sym typeface="Glacial Indifference Bold"/>
              </a:rPr>
              <a:t>ανεπιθύμητων χαμηλών</a:t>
            </a:r>
          </a:p>
          <a:p>
            <a:pPr algn="ctr" marL="0" indent="0" lvl="0">
              <a:lnSpc>
                <a:spcPts val="3078"/>
              </a:lnSpc>
            </a:pPr>
            <a:r>
              <a:rPr lang="en-US" b="true" sz="1554" strike="noStrike" u="none">
                <a:solidFill>
                  <a:srgbClr val="827564"/>
                </a:solidFill>
                <a:latin typeface="Glacial Indifference Bold"/>
                <a:ea typeface="Glacial Indifference Bold"/>
                <a:cs typeface="Glacial Indifference Bold"/>
                <a:sym typeface="Glacial Indifference Bold"/>
              </a:rPr>
              <a:t>συχνοτήτων</a:t>
            </a:r>
            <a:r>
              <a:rPr lang="en-US" sz="1554" strike="noStrike" u="none">
                <a:solidFill>
                  <a:srgbClr val="827564"/>
                </a:solidFill>
                <a:latin typeface="Glacial Indifference"/>
                <a:ea typeface="Glacial Indifference"/>
                <a:cs typeface="Glacial Indifference"/>
                <a:sym typeface="Glacial Indifference"/>
              </a:rPr>
              <a:t> από τη καρδιά και το περιβάλλον, οι οποίες κυμαίνονται στο διάστημα </a:t>
            </a:r>
            <a:r>
              <a:rPr lang="en-US" b="true" sz="1554" strike="noStrike" u="none">
                <a:solidFill>
                  <a:srgbClr val="827564"/>
                </a:solidFill>
                <a:latin typeface="Glacial Indifference Bold"/>
                <a:ea typeface="Glacial Indifference Bold"/>
                <a:cs typeface="Glacial Indifference Bold"/>
                <a:sym typeface="Glacial Indifference Bold"/>
              </a:rPr>
              <a:t>0-100 Hz</a:t>
            </a:r>
            <a:r>
              <a:rPr lang="en-US" sz="1554" strike="noStrike" u="none">
                <a:solidFill>
                  <a:srgbClr val="827564"/>
                </a:solidFill>
                <a:latin typeface="Glacial Indifference"/>
                <a:ea typeface="Glacial Indifference"/>
                <a:cs typeface="Glacial Indifference"/>
                <a:sym typeface="Glacial Indifference"/>
              </a:rPr>
              <a:t>. Για το</a:t>
            </a:r>
          </a:p>
          <a:p>
            <a:pPr algn="ctr" marL="0" indent="0" lvl="0">
              <a:lnSpc>
                <a:spcPts val="3078"/>
              </a:lnSpc>
            </a:pPr>
            <a:r>
              <a:rPr lang="en-US" sz="1554" strike="noStrike" u="none">
                <a:solidFill>
                  <a:srgbClr val="827564"/>
                </a:solidFill>
                <a:latin typeface="Glacial Indifference"/>
                <a:ea typeface="Glacial Indifference"/>
                <a:cs typeface="Glacial Indifference"/>
                <a:sym typeface="Glacial Indifference"/>
              </a:rPr>
              <a:t>λόγο αυτό, επιλέχθηκε ως </a:t>
            </a:r>
            <a:r>
              <a:rPr lang="en-US" b="true" sz="1554" strike="noStrike" u="none">
                <a:solidFill>
                  <a:srgbClr val="827564"/>
                </a:solidFill>
                <a:latin typeface="Glacial Indifference Bold"/>
                <a:ea typeface="Glacial Indifference Bold"/>
                <a:cs typeface="Glacial Indifference Bold"/>
                <a:sym typeface="Glacial Indifference Bold"/>
              </a:rPr>
              <a:t>συχνότητα αποκοπής</a:t>
            </a:r>
            <a:r>
              <a:rPr lang="en-US" sz="1554" strike="noStrike" u="none">
                <a:solidFill>
                  <a:srgbClr val="827564"/>
                </a:solidFill>
                <a:latin typeface="Glacial Indifference"/>
                <a:ea typeface="Glacial Indifference"/>
                <a:cs typeface="Glacial Indifference"/>
                <a:sym typeface="Glacial Indifference"/>
              </a:rPr>
              <a:t> η </a:t>
            </a:r>
            <a:r>
              <a:rPr lang="en-US" b="true" sz="1554" strike="noStrike" u="none">
                <a:solidFill>
                  <a:srgbClr val="827564"/>
                </a:solidFill>
                <a:latin typeface="Glacial Indifference Bold"/>
                <a:ea typeface="Glacial Indifference Bold"/>
                <a:cs typeface="Glacial Indifference Bold"/>
                <a:sym typeface="Glacial Indifference Bold"/>
              </a:rPr>
              <a:t>fc=100 Hz.</a:t>
            </a:r>
          </a:p>
        </p:txBody>
      </p:sp>
      <p:grpSp>
        <p:nvGrpSpPr>
          <p:cNvPr name="Group 11" id="11"/>
          <p:cNvGrpSpPr/>
          <p:nvPr/>
        </p:nvGrpSpPr>
        <p:grpSpPr>
          <a:xfrm rot="0">
            <a:off x="142875" y="311674"/>
            <a:ext cx="4458712" cy="8374575"/>
            <a:chOff x="0" y="0"/>
            <a:chExt cx="1468598" cy="2758394"/>
          </a:xfrm>
        </p:grpSpPr>
        <p:sp>
          <p:nvSpPr>
            <p:cNvPr name="Freeform 12" id="12"/>
            <p:cNvSpPr/>
            <p:nvPr/>
          </p:nvSpPr>
          <p:spPr>
            <a:xfrm flipH="false" flipV="false" rot="0">
              <a:off x="0" y="0"/>
              <a:ext cx="1468598" cy="2758394"/>
            </a:xfrm>
            <a:custGeom>
              <a:avLst/>
              <a:gdLst/>
              <a:ahLst/>
              <a:cxnLst/>
              <a:rect r="r" b="b" t="t" l="l"/>
              <a:pathLst>
                <a:path h="2758394" w="1468598">
                  <a:moveTo>
                    <a:pt x="173636" y="0"/>
                  </a:moveTo>
                  <a:lnTo>
                    <a:pt x="1294962" y="0"/>
                  </a:lnTo>
                  <a:cubicBezTo>
                    <a:pt x="1390858" y="0"/>
                    <a:pt x="1468598" y="77739"/>
                    <a:pt x="1468598" y="173636"/>
                  </a:cubicBezTo>
                  <a:lnTo>
                    <a:pt x="1468598" y="2584758"/>
                  </a:lnTo>
                  <a:cubicBezTo>
                    <a:pt x="1468598" y="2680654"/>
                    <a:pt x="1390858" y="2758394"/>
                    <a:pt x="1294962" y="2758394"/>
                  </a:cubicBezTo>
                  <a:lnTo>
                    <a:pt x="173636" y="2758394"/>
                  </a:lnTo>
                  <a:cubicBezTo>
                    <a:pt x="77739" y="2758394"/>
                    <a:pt x="0" y="2680654"/>
                    <a:pt x="0" y="2584758"/>
                  </a:cubicBezTo>
                  <a:lnTo>
                    <a:pt x="0" y="173636"/>
                  </a:lnTo>
                  <a:cubicBezTo>
                    <a:pt x="0" y="77739"/>
                    <a:pt x="77739" y="0"/>
                    <a:pt x="173636" y="0"/>
                  </a:cubicBezTo>
                  <a:close/>
                </a:path>
              </a:pathLst>
            </a:custGeom>
            <a:solidFill>
              <a:srgbClr val="A69C8E">
                <a:alpha val="11765"/>
              </a:srgbClr>
            </a:solidFill>
          </p:spPr>
        </p:sp>
        <p:sp>
          <p:nvSpPr>
            <p:cNvPr name="TextBox 13" id="13"/>
            <p:cNvSpPr txBox="true"/>
            <p:nvPr/>
          </p:nvSpPr>
          <p:spPr>
            <a:xfrm>
              <a:off x="0" y="-57150"/>
              <a:ext cx="1468598" cy="2815544"/>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4763512" y="311674"/>
            <a:ext cx="4380488" cy="8659770"/>
            <a:chOff x="0" y="0"/>
            <a:chExt cx="1395316" cy="2758394"/>
          </a:xfrm>
        </p:grpSpPr>
        <p:sp>
          <p:nvSpPr>
            <p:cNvPr name="Freeform 15" id="15"/>
            <p:cNvSpPr/>
            <p:nvPr/>
          </p:nvSpPr>
          <p:spPr>
            <a:xfrm flipH="false" flipV="false" rot="0">
              <a:off x="0" y="0"/>
              <a:ext cx="1395316" cy="2758394"/>
            </a:xfrm>
            <a:custGeom>
              <a:avLst/>
              <a:gdLst/>
              <a:ahLst/>
              <a:cxnLst/>
              <a:rect r="r" b="b" t="t" l="l"/>
              <a:pathLst>
                <a:path h="2758394" w="1395316">
                  <a:moveTo>
                    <a:pt x="176736" y="0"/>
                  </a:moveTo>
                  <a:lnTo>
                    <a:pt x="1218579" y="0"/>
                  </a:lnTo>
                  <a:cubicBezTo>
                    <a:pt x="1265453" y="0"/>
                    <a:pt x="1310406" y="18620"/>
                    <a:pt x="1343551" y="51765"/>
                  </a:cubicBezTo>
                  <a:cubicBezTo>
                    <a:pt x="1376695" y="84909"/>
                    <a:pt x="1395316" y="129863"/>
                    <a:pt x="1395316" y="176736"/>
                  </a:cubicBezTo>
                  <a:lnTo>
                    <a:pt x="1395316" y="2581657"/>
                  </a:lnTo>
                  <a:cubicBezTo>
                    <a:pt x="1395316" y="2679266"/>
                    <a:pt x="1316188" y="2758394"/>
                    <a:pt x="1218579" y="2758394"/>
                  </a:cubicBezTo>
                  <a:lnTo>
                    <a:pt x="176736" y="2758394"/>
                  </a:lnTo>
                  <a:cubicBezTo>
                    <a:pt x="79128" y="2758394"/>
                    <a:pt x="0" y="2679266"/>
                    <a:pt x="0" y="2581657"/>
                  </a:cubicBezTo>
                  <a:lnTo>
                    <a:pt x="0" y="176736"/>
                  </a:lnTo>
                  <a:cubicBezTo>
                    <a:pt x="0" y="79128"/>
                    <a:pt x="79128" y="0"/>
                    <a:pt x="176736" y="0"/>
                  </a:cubicBezTo>
                  <a:close/>
                </a:path>
              </a:pathLst>
            </a:custGeom>
            <a:solidFill>
              <a:srgbClr val="A69C8E">
                <a:alpha val="11765"/>
              </a:srgbClr>
            </a:solidFill>
          </p:spPr>
        </p:sp>
        <p:sp>
          <p:nvSpPr>
            <p:cNvPr name="TextBox 16" id="16"/>
            <p:cNvSpPr txBox="true"/>
            <p:nvPr/>
          </p:nvSpPr>
          <p:spPr>
            <a:xfrm>
              <a:off x="0" y="-57150"/>
              <a:ext cx="1395316" cy="2815544"/>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0">
            <a:off x="9252332" y="311674"/>
            <a:ext cx="4380488" cy="4690348"/>
            <a:chOff x="0" y="0"/>
            <a:chExt cx="1395316" cy="1494015"/>
          </a:xfrm>
        </p:grpSpPr>
        <p:sp>
          <p:nvSpPr>
            <p:cNvPr name="Freeform 18" id="18"/>
            <p:cNvSpPr/>
            <p:nvPr/>
          </p:nvSpPr>
          <p:spPr>
            <a:xfrm flipH="false" flipV="false" rot="0">
              <a:off x="0" y="0"/>
              <a:ext cx="1395316" cy="1494015"/>
            </a:xfrm>
            <a:custGeom>
              <a:avLst/>
              <a:gdLst/>
              <a:ahLst/>
              <a:cxnLst/>
              <a:rect r="r" b="b" t="t" l="l"/>
              <a:pathLst>
                <a:path h="1494015" w="1395316">
                  <a:moveTo>
                    <a:pt x="176736" y="0"/>
                  </a:moveTo>
                  <a:lnTo>
                    <a:pt x="1218579" y="0"/>
                  </a:lnTo>
                  <a:cubicBezTo>
                    <a:pt x="1265453" y="0"/>
                    <a:pt x="1310406" y="18620"/>
                    <a:pt x="1343551" y="51765"/>
                  </a:cubicBezTo>
                  <a:cubicBezTo>
                    <a:pt x="1376695" y="84909"/>
                    <a:pt x="1395316" y="129863"/>
                    <a:pt x="1395316" y="176736"/>
                  </a:cubicBezTo>
                  <a:lnTo>
                    <a:pt x="1395316" y="1317279"/>
                  </a:lnTo>
                  <a:cubicBezTo>
                    <a:pt x="1395316" y="1414887"/>
                    <a:pt x="1316188" y="1494015"/>
                    <a:pt x="1218579" y="1494015"/>
                  </a:cubicBezTo>
                  <a:lnTo>
                    <a:pt x="176736" y="1494015"/>
                  </a:lnTo>
                  <a:cubicBezTo>
                    <a:pt x="79128" y="1494015"/>
                    <a:pt x="0" y="1414887"/>
                    <a:pt x="0" y="1317279"/>
                  </a:cubicBezTo>
                  <a:lnTo>
                    <a:pt x="0" y="176736"/>
                  </a:lnTo>
                  <a:cubicBezTo>
                    <a:pt x="0" y="79128"/>
                    <a:pt x="79128" y="0"/>
                    <a:pt x="176736" y="0"/>
                  </a:cubicBezTo>
                  <a:close/>
                </a:path>
              </a:pathLst>
            </a:custGeom>
            <a:solidFill>
              <a:srgbClr val="A69C8E">
                <a:alpha val="11765"/>
              </a:srgbClr>
            </a:solidFill>
          </p:spPr>
        </p:sp>
        <p:sp>
          <p:nvSpPr>
            <p:cNvPr name="TextBox 19" id="19"/>
            <p:cNvSpPr txBox="true"/>
            <p:nvPr/>
          </p:nvSpPr>
          <p:spPr>
            <a:xfrm>
              <a:off x="0" y="-57150"/>
              <a:ext cx="1395316" cy="1551165"/>
            </a:xfrm>
            <a:prstGeom prst="rect">
              <a:avLst/>
            </a:prstGeom>
          </p:spPr>
          <p:txBody>
            <a:bodyPr anchor="ctr" rtlCol="false" tIns="50800" lIns="50800" bIns="50800" rIns="50800"/>
            <a:lstStyle/>
            <a:p>
              <a:pPr algn="ctr">
                <a:lnSpc>
                  <a:spcPts val="3359"/>
                </a:lnSpc>
              </a:pPr>
            </a:p>
          </p:txBody>
        </p:sp>
      </p:grpSp>
      <p:grpSp>
        <p:nvGrpSpPr>
          <p:cNvPr name="Group 20" id="20"/>
          <p:cNvGrpSpPr/>
          <p:nvPr/>
        </p:nvGrpSpPr>
        <p:grpSpPr>
          <a:xfrm rot="0">
            <a:off x="13794746" y="297435"/>
            <a:ext cx="4256128" cy="9692131"/>
            <a:chOff x="0" y="0"/>
            <a:chExt cx="1395316" cy="3177437"/>
          </a:xfrm>
        </p:grpSpPr>
        <p:sp>
          <p:nvSpPr>
            <p:cNvPr name="Freeform 21" id="21"/>
            <p:cNvSpPr/>
            <p:nvPr/>
          </p:nvSpPr>
          <p:spPr>
            <a:xfrm flipH="false" flipV="false" rot="0">
              <a:off x="0" y="0"/>
              <a:ext cx="1395316" cy="3177437"/>
            </a:xfrm>
            <a:custGeom>
              <a:avLst/>
              <a:gdLst/>
              <a:ahLst/>
              <a:cxnLst/>
              <a:rect r="r" b="b" t="t" l="l"/>
              <a:pathLst>
                <a:path h="3177437" w="1395316">
                  <a:moveTo>
                    <a:pt x="181901" y="0"/>
                  </a:moveTo>
                  <a:lnTo>
                    <a:pt x="1213415" y="0"/>
                  </a:lnTo>
                  <a:cubicBezTo>
                    <a:pt x="1261658" y="0"/>
                    <a:pt x="1307925" y="19164"/>
                    <a:pt x="1342038" y="53277"/>
                  </a:cubicBezTo>
                  <a:cubicBezTo>
                    <a:pt x="1376151" y="87390"/>
                    <a:pt x="1395316" y="133658"/>
                    <a:pt x="1395316" y="181901"/>
                  </a:cubicBezTo>
                  <a:lnTo>
                    <a:pt x="1395316" y="2995537"/>
                  </a:lnTo>
                  <a:cubicBezTo>
                    <a:pt x="1395316" y="3095998"/>
                    <a:pt x="1313876" y="3177437"/>
                    <a:pt x="1213415" y="3177437"/>
                  </a:cubicBezTo>
                  <a:lnTo>
                    <a:pt x="181901" y="3177437"/>
                  </a:lnTo>
                  <a:cubicBezTo>
                    <a:pt x="81440" y="3177437"/>
                    <a:pt x="0" y="3095998"/>
                    <a:pt x="0" y="2995537"/>
                  </a:cubicBezTo>
                  <a:lnTo>
                    <a:pt x="0" y="181901"/>
                  </a:lnTo>
                  <a:cubicBezTo>
                    <a:pt x="0" y="81440"/>
                    <a:pt x="81440" y="0"/>
                    <a:pt x="181901" y="0"/>
                  </a:cubicBezTo>
                  <a:close/>
                </a:path>
              </a:pathLst>
            </a:custGeom>
            <a:solidFill>
              <a:srgbClr val="A69C8E">
                <a:alpha val="11765"/>
              </a:srgbClr>
            </a:solidFill>
          </p:spPr>
        </p:sp>
        <p:sp>
          <p:nvSpPr>
            <p:cNvPr name="TextBox 22" id="22"/>
            <p:cNvSpPr txBox="true"/>
            <p:nvPr/>
          </p:nvSpPr>
          <p:spPr>
            <a:xfrm>
              <a:off x="0" y="-57150"/>
              <a:ext cx="1395316" cy="3234587"/>
            </a:xfrm>
            <a:prstGeom prst="rect">
              <a:avLst/>
            </a:prstGeom>
          </p:spPr>
          <p:txBody>
            <a:bodyPr anchor="ctr" rtlCol="false" tIns="50800" lIns="50800" bIns="50800" rIns="50800"/>
            <a:lstStyle/>
            <a:p>
              <a:pPr algn="ctr">
                <a:lnSpc>
                  <a:spcPts val="3359"/>
                </a:lnSpc>
              </a:pPr>
            </a:p>
          </p:txBody>
        </p:sp>
      </p:grpSp>
      <p:sp>
        <p:nvSpPr>
          <p:cNvPr name="Freeform 23" id="23"/>
          <p:cNvSpPr/>
          <p:nvPr/>
        </p:nvSpPr>
        <p:spPr>
          <a:xfrm flipH="false" flipV="false" rot="0">
            <a:off x="4490807" y="659191"/>
            <a:ext cx="573405" cy="382935"/>
          </a:xfrm>
          <a:custGeom>
            <a:avLst/>
            <a:gdLst/>
            <a:ahLst/>
            <a:cxnLst/>
            <a:rect r="r" b="b" t="t" l="l"/>
            <a:pathLst>
              <a:path h="382935" w="573405">
                <a:moveTo>
                  <a:pt x="0" y="0"/>
                </a:moveTo>
                <a:lnTo>
                  <a:pt x="573405" y="0"/>
                </a:lnTo>
                <a:lnTo>
                  <a:pt x="573405" y="382935"/>
                </a:lnTo>
                <a:lnTo>
                  <a:pt x="0" y="3829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8965630" y="569826"/>
            <a:ext cx="573405" cy="382935"/>
          </a:xfrm>
          <a:custGeom>
            <a:avLst/>
            <a:gdLst/>
            <a:ahLst/>
            <a:cxnLst/>
            <a:rect r="r" b="b" t="t" l="l"/>
            <a:pathLst>
              <a:path h="382935" w="573405">
                <a:moveTo>
                  <a:pt x="0" y="0"/>
                </a:moveTo>
                <a:lnTo>
                  <a:pt x="573405" y="0"/>
                </a:lnTo>
                <a:lnTo>
                  <a:pt x="573405" y="382935"/>
                </a:lnTo>
                <a:lnTo>
                  <a:pt x="0" y="3829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13444285" y="569826"/>
            <a:ext cx="573405" cy="382935"/>
          </a:xfrm>
          <a:custGeom>
            <a:avLst/>
            <a:gdLst/>
            <a:ahLst/>
            <a:cxnLst/>
            <a:rect r="r" b="b" t="t" l="l"/>
            <a:pathLst>
              <a:path h="382935" w="573405">
                <a:moveTo>
                  <a:pt x="0" y="0"/>
                </a:moveTo>
                <a:lnTo>
                  <a:pt x="573405" y="0"/>
                </a:lnTo>
                <a:lnTo>
                  <a:pt x="573405" y="382935"/>
                </a:lnTo>
                <a:lnTo>
                  <a:pt x="0" y="3829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2308799" y="1405573"/>
            <a:ext cx="13670401" cy="19050"/>
          </a:xfrm>
          <a:prstGeom prst="line">
            <a:avLst/>
          </a:prstGeom>
          <a:ln cap="flat" w="38100">
            <a:solidFill>
              <a:srgbClr val="827564"/>
            </a:solidFill>
            <a:prstDash val="solid"/>
            <a:headEnd type="oval" len="lg" w="lg"/>
            <a:tailEnd type="oval" len="lg" w="lg"/>
          </a:ln>
        </p:spPr>
      </p:sp>
      <p:sp>
        <p:nvSpPr>
          <p:cNvPr name="Freeform 3" id="3"/>
          <p:cNvSpPr/>
          <p:nvPr/>
        </p:nvSpPr>
        <p:spPr>
          <a:xfrm flipH="false" flipV="false" rot="0">
            <a:off x="10793628" y="3098477"/>
            <a:ext cx="6588338" cy="1691259"/>
          </a:xfrm>
          <a:custGeom>
            <a:avLst/>
            <a:gdLst/>
            <a:ahLst/>
            <a:cxnLst/>
            <a:rect r="r" b="b" t="t" l="l"/>
            <a:pathLst>
              <a:path h="1691259" w="6588338">
                <a:moveTo>
                  <a:pt x="0" y="0"/>
                </a:moveTo>
                <a:lnTo>
                  <a:pt x="6588338" y="0"/>
                </a:lnTo>
                <a:lnTo>
                  <a:pt x="6588338" y="1691259"/>
                </a:lnTo>
                <a:lnTo>
                  <a:pt x="0" y="1691259"/>
                </a:lnTo>
                <a:lnTo>
                  <a:pt x="0" y="0"/>
                </a:lnTo>
                <a:close/>
              </a:path>
            </a:pathLst>
          </a:custGeom>
          <a:blipFill>
            <a:blip r:embed="rId2"/>
            <a:stretch>
              <a:fillRect l="0" t="0" r="0" b="0"/>
            </a:stretch>
          </a:blipFill>
        </p:spPr>
      </p:sp>
      <p:sp>
        <p:nvSpPr>
          <p:cNvPr name="Freeform 4" id="4"/>
          <p:cNvSpPr/>
          <p:nvPr/>
        </p:nvSpPr>
        <p:spPr>
          <a:xfrm flipH="false" flipV="false" rot="0">
            <a:off x="11093007" y="5418386"/>
            <a:ext cx="5807494" cy="3761036"/>
          </a:xfrm>
          <a:custGeom>
            <a:avLst/>
            <a:gdLst/>
            <a:ahLst/>
            <a:cxnLst/>
            <a:rect r="r" b="b" t="t" l="l"/>
            <a:pathLst>
              <a:path h="3761036" w="5807494">
                <a:moveTo>
                  <a:pt x="0" y="0"/>
                </a:moveTo>
                <a:lnTo>
                  <a:pt x="5807495" y="0"/>
                </a:lnTo>
                <a:lnTo>
                  <a:pt x="5807495" y="3761035"/>
                </a:lnTo>
                <a:lnTo>
                  <a:pt x="0" y="3761035"/>
                </a:lnTo>
                <a:lnTo>
                  <a:pt x="0" y="0"/>
                </a:lnTo>
                <a:close/>
              </a:path>
            </a:pathLst>
          </a:custGeom>
          <a:blipFill>
            <a:blip r:embed="rId3"/>
            <a:stretch>
              <a:fillRect l="0" t="-17223" r="0" b="0"/>
            </a:stretch>
          </a:blipFill>
        </p:spPr>
      </p:sp>
      <p:sp>
        <p:nvSpPr>
          <p:cNvPr name="Freeform 5" id="5"/>
          <p:cNvSpPr/>
          <p:nvPr/>
        </p:nvSpPr>
        <p:spPr>
          <a:xfrm flipH="false" flipV="false" rot="0">
            <a:off x="11682050" y="4789736"/>
            <a:ext cx="4811494" cy="707529"/>
          </a:xfrm>
          <a:custGeom>
            <a:avLst/>
            <a:gdLst/>
            <a:ahLst/>
            <a:cxnLst/>
            <a:rect r="r" b="b" t="t" l="l"/>
            <a:pathLst>
              <a:path h="707529" w="4811494">
                <a:moveTo>
                  <a:pt x="0" y="0"/>
                </a:moveTo>
                <a:lnTo>
                  <a:pt x="4811494" y="0"/>
                </a:lnTo>
                <a:lnTo>
                  <a:pt x="4811494" y="707528"/>
                </a:lnTo>
                <a:lnTo>
                  <a:pt x="0" y="707528"/>
                </a:lnTo>
                <a:lnTo>
                  <a:pt x="0" y="0"/>
                </a:lnTo>
                <a:close/>
              </a:path>
            </a:pathLst>
          </a:custGeom>
          <a:blipFill>
            <a:blip r:embed="rId3"/>
            <a:stretch>
              <a:fillRect l="-53217" t="0" r="0" b="-691006"/>
            </a:stretch>
          </a:blipFill>
        </p:spPr>
      </p:sp>
      <p:sp>
        <p:nvSpPr>
          <p:cNvPr name="Freeform 6" id="6"/>
          <p:cNvSpPr/>
          <p:nvPr/>
        </p:nvSpPr>
        <p:spPr>
          <a:xfrm flipH="false" flipV="false" rot="0">
            <a:off x="365024" y="2068196"/>
            <a:ext cx="8257992" cy="4686410"/>
          </a:xfrm>
          <a:custGeom>
            <a:avLst/>
            <a:gdLst/>
            <a:ahLst/>
            <a:cxnLst/>
            <a:rect r="r" b="b" t="t" l="l"/>
            <a:pathLst>
              <a:path h="4686410" w="8257992">
                <a:moveTo>
                  <a:pt x="0" y="0"/>
                </a:moveTo>
                <a:lnTo>
                  <a:pt x="8257992" y="0"/>
                </a:lnTo>
                <a:lnTo>
                  <a:pt x="8257992" y="4686410"/>
                </a:lnTo>
                <a:lnTo>
                  <a:pt x="0" y="4686410"/>
                </a:lnTo>
                <a:lnTo>
                  <a:pt x="0" y="0"/>
                </a:lnTo>
                <a:close/>
              </a:path>
            </a:pathLst>
          </a:custGeom>
          <a:blipFill>
            <a:blip r:embed="rId4"/>
            <a:stretch>
              <a:fillRect l="0" t="0" r="0" b="0"/>
            </a:stretch>
          </a:blipFill>
        </p:spPr>
      </p:sp>
      <p:sp>
        <p:nvSpPr>
          <p:cNvPr name="TextBox 7" id="7"/>
          <p:cNvSpPr txBox="true"/>
          <p:nvPr/>
        </p:nvSpPr>
        <p:spPr>
          <a:xfrm rot="0">
            <a:off x="2308799" y="570547"/>
            <a:ext cx="16523683" cy="596901"/>
          </a:xfrm>
          <a:prstGeom prst="rect">
            <a:avLst/>
          </a:prstGeom>
        </p:spPr>
        <p:txBody>
          <a:bodyPr anchor="t" rtlCol="false" tIns="0" lIns="0" bIns="0" rIns="0">
            <a:spAutoFit/>
          </a:bodyPr>
          <a:lstStyle/>
          <a:p>
            <a:pPr algn="l">
              <a:lnSpc>
                <a:spcPts val="4899"/>
              </a:lnSpc>
              <a:spcBef>
                <a:spcPct val="0"/>
              </a:spcBef>
            </a:pPr>
            <a:r>
              <a:rPr lang="en-US" b="true" sz="3499" spc="1469">
                <a:solidFill>
                  <a:srgbClr val="827564"/>
                </a:solidFill>
                <a:latin typeface="Open Sauce Bold"/>
                <a:ea typeface="Open Sauce Bold"/>
                <a:cs typeface="Open Sauce Bold"/>
                <a:sym typeface="Open Sauce Bold"/>
              </a:rPr>
              <a:t>ΕΠΑΥΞΗΣΗ ΑΝΑΠΝΕΥΣΤΙΚΩΝ ΚΥΚΛΩΝ</a:t>
            </a:r>
          </a:p>
        </p:txBody>
      </p:sp>
      <p:sp>
        <p:nvSpPr>
          <p:cNvPr name="TextBox 8" id="8"/>
          <p:cNvSpPr txBox="true"/>
          <p:nvPr/>
        </p:nvSpPr>
        <p:spPr>
          <a:xfrm rot="0">
            <a:off x="11093007" y="2077721"/>
            <a:ext cx="6468076" cy="944565"/>
          </a:xfrm>
          <a:prstGeom prst="rect">
            <a:avLst/>
          </a:prstGeom>
        </p:spPr>
        <p:txBody>
          <a:bodyPr anchor="t" rtlCol="false" tIns="0" lIns="0" bIns="0" rIns="0">
            <a:spAutoFit/>
          </a:bodyPr>
          <a:lstStyle/>
          <a:p>
            <a:pPr algn="ctr">
              <a:lnSpc>
                <a:spcPts val="3737"/>
              </a:lnSpc>
            </a:pPr>
            <a:r>
              <a:rPr lang="en-US" sz="3250" b="true">
                <a:solidFill>
                  <a:srgbClr val="695C4A"/>
                </a:solidFill>
                <a:latin typeface="Glacial Indifference Bold"/>
                <a:ea typeface="Glacial Indifference Bold"/>
                <a:cs typeface="Glacial Indifference Bold"/>
                <a:sym typeface="Glacial Indifference Bold"/>
              </a:rPr>
              <a:t>Βασική Αρχή Λειτουργίας VTLP-Patch Augmentation</a:t>
            </a:r>
          </a:p>
        </p:txBody>
      </p:sp>
      <p:sp>
        <p:nvSpPr>
          <p:cNvPr name="TextBox 9" id="9"/>
          <p:cNvSpPr txBox="true"/>
          <p:nvPr/>
        </p:nvSpPr>
        <p:spPr>
          <a:xfrm rot="0">
            <a:off x="365024" y="6939258"/>
            <a:ext cx="9591415" cy="2127775"/>
          </a:xfrm>
          <a:prstGeom prst="rect">
            <a:avLst/>
          </a:prstGeom>
        </p:spPr>
        <p:txBody>
          <a:bodyPr anchor="t" rtlCol="false" tIns="0" lIns="0" bIns="0" rIns="0">
            <a:spAutoFit/>
          </a:bodyPr>
          <a:lstStyle/>
          <a:p>
            <a:pPr algn="l">
              <a:lnSpc>
                <a:spcPts val="2421"/>
              </a:lnSpc>
              <a:spcBef>
                <a:spcPct val="0"/>
              </a:spcBef>
            </a:pPr>
            <a:r>
              <a:rPr lang="en-US" sz="1729">
                <a:solidFill>
                  <a:srgbClr val="695C4A"/>
                </a:solidFill>
                <a:latin typeface="Glacial Indifference"/>
                <a:ea typeface="Glacial Indifference"/>
                <a:cs typeface="Glacial Indifference"/>
                <a:sym typeface="Glacial Indifference"/>
              </a:rPr>
              <a:t>Η τεχνική </a:t>
            </a:r>
            <a:r>
              <a:rPr lang="en-US" b="true" sz="1729">
                <a:solidFill>
                  <a:srgbClr val="695C4A"/>
                </a:solidFill>
                <a:latin typeface="Glacial Indifference Bold"/>
                <a:ea typeface="Glacial Indifference Bold"/>
                <a:cs typeface="Glacial Indifference Bold"/>
                <a:sym typeface="Glacial Indifference Bold"/>
              </a:rPr>
              <a:t>Vocal Tract Length Perturbation (VTLP)</a:t>
            </a:r>
            <a:r>
              <a:rPr lang="en-US" sz="1729">
                <a:solidFill>
                  <a:srgbClr val="695C4A"/>
                </a:solidFill>
                <a:latin typeface="Glacial Indifference"/>
                <a:ea typeface="Glacial Indifference"/>
                <a:cs typeface="Glacial Indifference"/>
                <a:sym typeface="Glacial Indifference"/>
              </a:rPr>
              <a:t> </a:t>
            </a:r>
            <a:r>
              <a:rPr lang="en-US" sz="1729">
                <a:solidFill>
                  <a:srgbClr val="695C4A"/>
                </a:solidFill>
                <a:latin typeface="Glacial Indifference"/>
                <a:ea typeface="Glacial Indifference"/>
                <a:cs typeface="Glacial Indifference"/>
                <a:sym typeface="Glacial Indifference"/>
              </a:rPr>
              <a:t>εφαρμόζεται για την επαύξηση των αναπνευστικών κύκλων μέσω πα</a:t>
            </a:r>
            <a:r>
              <a:rPr lang="en-US" sz="1729">
                <a:solidFill>
                  <a:srgbClr val="695C4A"/>
                </a:solidFill>
                <a:latin typeface="Glacial Indifference"/>
                <a:ea typeface="Glacial Indifference"/>
                <a:cs typeface="Glacial Indifference"/>
                <a:sym typeface="Glacial Indifference"/>
              </a:rPr>
              <a:t>ραμ</a:t>
            </a:r>
            <a:r>
              <a:rPr lang="en-US" sz="1729">
                <a:solidFill>
                  <a:srgbClr val="695C4A"/>
                </a:solidFill>
                <a:latin typeface="Glacial Indifference"/>
                <a:ea typeface="Glacial Indifference"/>
                <a:cs typeface="Glacial Indifference"/>
                <a:sym typeface="Glacial Indifference"/>
              </a:rPr>
              <a:t>όρφωσ</a:t>
            </a:r>
            <a:r>
              <a:rPr lang="en-US" sz="1729">
                <a:solidFill>
                  <a:srgbClr val="695C4A"/>
                </a:solidFill>
                <a:latin typeface="Glacial Indifference"/>
                <a:ea typeface="Glacial Indifference"/>
                <a:cs typeface="Glacial Indifference"/>
                <a:sym typeface="Glacial Indifference"/>
              </a:rPr>
              <a:t>ης </a:t>
            </a:r>
            <a:r>
              <a:rPr lang="en-US" sz="1729">
                <a:solidFill>
                  <a:srgbClr val="695C4A"/>
                </a:solidFill>
                <a:latin typeface="Glacial Indifference"/>
                <a:ea typeface="Glacial Indifference"/>
                <a:cs typeface="Glacial Indifference"/>
                <a:sym typeface="Glacial Indifference"/>
              </a:rPr>
              <a:t>στη συχνοτική κλίμακα,</a:t>
            </a:r>
            <a:r>
              <a:rPr lang="en-US" b="true" sz="1729">
                <a:solidFill>
                  <a:srgbClr val="695C4A"/>
                </a:solidFill>
                <a:latin typeface="Glacial Indifference Bold"/>
                <a:ea typeface="Glacial Indifference Bold"/>
                <a:cs typeface="Glacial Indifference Bold"/>
                <a:sym typeface="Glacial Indifference Bold"/>
              </a:rPr>
              <a:t> προσομοιώνοντας διαφοροποιήσεις στη φυσιολογία του φων</a:t>
            </a:r>
            <a:r>
              <a:rPr lang="en-US" b="true" sz="1729">
                <a:solidFill>
                  <a:srgbClr val="695C4A"/>
                </a:solidFill>
                <a:latin typeface="Glacial Indifference Bold"/>
                <a:ea typeface="Glacial Indifference Bold"/>
                <a:cs typeface="Glacial Indifference Bold"/>
                <a:sym typeface="Glacial Indifference Bold"/>
              </a:rPr>
              <a:t>ητικού/αναπνευστικού σωλήνα</a:t>
            </a:r>
            <a:r>
              <a:rPr lang="en-US" sz="1729">
                <a:solidFill>
                  <a:srgbClr val="695C4A"/>
                </a:solidFill>
                <a:latin typeface="Glacial Indifference"/>
                <a:ea typeface="Glacial Indifference"/>
                <a:cs typeface="Glacial Indifference"/>
                <a:sym typeface="Glacial Indifference"/>
              </a:rPr>
              <a:t>.</a:t>
            </a:r>
            <a:r>
              <a:rPr lang="en-US" sz="1729">
                <a:solidFill>
                  <a:srgbClr val="695C4A"/>
                </a:solidFill>
                <a:latin typeface="Glacial Indifference"/>
                <a:ea typeface="Glacial Indifference"/>
                <a:cs typeface="Glacial Indifference"/>
                <a:sym typeface="Glacial Indifference"/>
              </a:rPr>
              <a:t> </a:t>
            </a:r>
            <a:r>
              <a:rPr lang="en-US" sz="1729">
                <a:solidFill>
                  <a:srgbClr val="695C4A"/>
                </a:solidFill>
                <a:latin typeface="Glacial Indifference"/>
                <a:ea typeface="Glacial Indifference"/>
                <a:cs typeface="Glacial Indifference"/>
                <a:sym typeface="Glacial Indifference"/>
              </a:rPr>
              <a:t>Μ</a:t>
            </a:r>
            <a:r>
              <a:rPr lang="en-US" sz="1729">
                <a:solidFill>
                  <a:srgbClr val="695C4A"/>
                </a:solidFill>
                <a:latin typeface="Glacial Indifference"/>
                <a:ea typeface="Glacial Indifference"/>
                <a:cs typeface="Glacial Indifference"/>
                <a:sym typeface="Glacial Indifference"/>
              </a:rPr>
              <a:t>ε α</a:t>
            </a:r>
            <a:r>
              <a:rPr lang="en-US" sz="1729">
                <a:solidFill>
                  <a:srgbClr val="695C4A"/>
                </a:solidFill>
                <a:latin typeface="Glacial Indifference"/>
                <a:ea typeface="Glacial Indifference"/>
                <a:cs typeface="Glacial Indifference"/>
                <a:sym typeface="Glacial Indifference"/>
              </a:rPr>
              <a:t>υτό</a:t>
            </a:r>
            <a:r>
              <a:rPr lang="en-US" sz="1729">
                <a:solidFill>
                  <a:srgbClr val="695C4A"/>
                </a:solidFill>
                <a:latin typeface="Glacial Indifference"/>
                <a:ea typeface="Glacial Indifference"/>
                <a:cs typeface="Glacial Indifference"/>
                <a:sym typeface="Glacial Indifference"/>
              </a:rPr>
              <a:t>ν τ</a:t>
            </a:r>
            <a:r>
              <a:rPr lang="en-US" sz="1729">
                <a:solidFill>
                  <a:srgbClr val="695C4A"/>
                </a:solidFill>
                <a:latin typeface="Glacial Indifference"/>
                <a:ea typeface="Glacial Indifference"/>
                <a:cs typeface="Glacial Indifference"/>
                <a:sym typeface="Glacial Indifference"/>
              </a:rPr>
              <a:t>ο</a:t>
            </a:r>
            <a:r>
              <a:rPr lang="en-US" sz="1729">
                <a:solidFill>
                  <a:srgbClr val="695C4A"/>
                </a:solidFill>
                <a:latin typeface="Glacial Indifference"/>
                <a:ea typeface="Glacial Indifference"/>
                <a:cs typeface="Glacial Indifference"/>
                <a:sym typeface="Glacial Indifference"/>
              </a:rPr>
              <a:t>ν</a:t>
            </a:r>
            <a:r>
              <a:rPr lang="en-US" sz="1729">
                <a:solidFill>
                  <a:srgbClr val="695C4A"/>
                </a:solidFill>
                <a:latin typeface="Glacial Indifference"/>
                <a:ea typeface="Glacial Indifference"/>
                <a:cs typeface="Glacial Indifference"/>
                <a:sym typeface="Glacial Indifference"/>
              </a:rPr>
              <a:t> </a:t>
            </a:r>
            <a:r>
              <a:rPr lang="en-US" sz="1729">
                <a:solidFill>
                  <a:srgbClr val="695C4A"/>
                </a:solidFill>
                <a:latin typeface="Glacial Indifference"/>
                <a:ea typeface="Glacial Indifference"/>
                <a:cs typeface="Glacial Indifference"/>
                <a:sym typeface="Glacial Indifference"/>
              </a:rPr>
              <a:t>τ</a:t>
            </a:r>
            <a:r>
              <a:rPr lang="en-US" sz="1729">
                <a:solidFill>
                  <a:srgbClr val="695C4A"/>
                </a:solidFill>
                <a:latin typeface="Glacial Indifference"/>
                <a:ea typeface="Glacial Indifference"/>
                <a:cs typeface="Glacial Indifference"/>
                <a:sym typeface="Glacial Indifference"/>
              </a:rPr>
              <a:t>ρόπο</a:t>
            </a:r>
            <a:r>
              <a:rPr lang="en-US" sz="1729">
                <a:solidFill>
                  <a:srgbClr val="695C4A"/>
                </a:solidFill>
                <a:latin typeface="Glacial Indifference"/>
                <a:ea typeface="Glacial Indifference"/>
                <a:cs typeface="Glacial Indifference"/>
                <a:sym typeface="Glacial Indifference"/>
              </a:rPr>
              <a:t> δ</a:t>
            </a:r>
            <a:r>
              <a:rPr lang="en-US" sz="1729">
                <a:solidFill>
                  <a:srgbClr val="695C4A"/>
                </a:solidFill>
                <a:latin typeface="Glacial Indifference"/>
                <a:ea typeface="Glacial Indifference"/>
                <a:cs typeface="Glacial Indifference"/>
                <a:sym typeface="Glacial Indifference"/>
              </a:rPr>
              <a:t>ημ</a:t>
            </a:r>
            <a:r>
              <a:rPr lang="en-US" sz="1729">
                <a:solidFill>
                  <a:srgbClr val="695C4A"/>
                </a:solidFill>
                <a:latin typeface="Glacial Indifference"/>
                <a:ea typeface="Glacial Indifference"/>
                <a:cs typeface="Glacial Indifference"/>
                <a:sym typeface="Glacial Indifference"/>
              </a:rPr>
              <a:t>ι</a:t>
            </a:r>
            <a:r>
              <a:rPr lang="en-US" sz="1729">
                <a:solidFill>
                  <a:srgbClr val="695C4A"/>
                </a:solidFill>
                <a:latin typeface="Glacial Indifference"/>
                <a:ea typeface="Glacial Indifference"/>
                <a:cs typeface="Glacial Indifference"/>
                <a:sym typeface="Glacial Indifference"/>
              </a:rPr>
              <a:t>ουργού</a:t>
            </a:r>
            <a:r>
              <a:rPr lang="en-US" sz="1729">
                <a:solidFill>
                  <a:srgbClr val="695C4A"/>
                </a:solidFill>
                <a:latin typeface="Glacial Indifference"/>
                <a:ea typeface="Glacial Indifference"/>
                <a:cs typeface="Glacial Indifference"/>
                <a:sym typeface="Glacial Indifference"/>
              </a:rPr>
              <a:t>ν</a:t>
            </a:r>
            <a:r>
              <a:rPr lang="en-US" sz="1729">
                <a:solidFill>
                  <a:srgbClr val="695C4A"/>
                </a:solidFill>
                <a:latin typeface="Glacial Indifference"/>
                <a:ea typeface="Glacial Indifference"/>
                <a:cs typeface="Glacial Indifference"/>
                <a:sym typeface="Glacial Indifference"/>
              </a:rPr>
              <a:t>ται ελ</a:t>
            </a:r>
            <a:r>
              <a:rPr lang="en-US" sz="1729">
                <a:solidFill>
                  <a:srgbClr val="695C4A"/>
                </a:solidFill>
                <a:latin typeface="Glacial Indifference"/>
                <a:ea typeface="Glacial Indifference"/>
                <a:cs typeface="Glacial Indifference"/>
                <a:sym typeface="Glacial Indifference"/>
              </a:rPr>
              <a:t>α</a:t>
            </a:r>
            <a:r>
              <a:rPr lang="en-US" sz="1729">
                <a:solidFill>
                  <a:srgbClr val="695C4A"/>
                </a:solidFill>
                <a:latin typeface="Glacial Indifference"/>
                <a:ea typeface="Glacial Indifference"/>
                <a:cs typeface="Glacial Indifference"/>
                <a:sym typeface="Glacial Indifference"/>
              </a:rPr>
              <a:t>φρώ</a:t>
            </a:r>
            <a:r>
              <a:rPr lang="en-US" sz="1729">
                <a:solidFill>
                  <a:srgbClr val="695C4A"/>
                </a:solidFill>
                <a:latin typeface="Glacial Indifference"/>
                <a:ea typeface="Glacial Indifference"/>
                <a:cs typeface="Glacial Indifference"/>
                <a:sym typeface="Glacial Indifference"/>
              </a:rPr>
              <a:t>ς παρα</a:t>
            </a:r>
            <a:r>
              <a:rPr lang="en-US" sz="1729">
                <a:solidFill>
                  <a:srgbClr val="695C4A"/>
                </a:solidFill>
                <a:latin typeface="Glacial Indifference"/>
                <a:ea typeface="Glacial Indifference"/>
                <a:cs typeface="Glacial Indifference"/>
                <a:sym typeface="Glacial Indifference"/>
              </a:rPr>
              <a:t>λλαγμένες εκδοχές του ίδιου σήματος, διατηρών</a:t>
            </a:r>
            <a:r>
              <a:rPr lang="en-US" sz="1729">
                <a:solidFill>
                  <a:srgbClr val="695C4A"/>
                </a:solidFill>
                <a:latin typeface="Glacial Indifference"/>
                <a:ea typeface="Glacial Indifference"/>
                <a:cs typeface="Glacial Indifference"/>
                <a:sym typeface="Glacial Indifference"/>
              </a:rPr>
              <a:t>τας τ</a:t>
            </a:r>
            <a:r>
              <a:rPr lang="en-US" sz="1729">
                <a:solidFill>
                  <a:srgbClr val="695C4A"/>
                </a:solidFill>
                <a:latin typeface="Glacial Indifference"/>
                <a:ea typeface="Glacial Indifference"/>
                <a:cs typeface="Glacial Indifference"/>
                <a:sym typeface="Glacial Indifference"/>
              </a:rPr>
              <a:t>η φασματική του δομή αλλά </a:t>
            </a:r>
            <a:r>
              <a:rPr lang="en-US" b="true" sz="1729">
                <a:solidFill>
                  <a:srgbClr val="695C4A"/>
                </a:solidFill>
                <a:latin typeface="Glacial Indifference Bold"/>
                <a:ea typeface="Glacial Indifference Bold"/>
                <a:cs typeface="Glacial Indifference Bold"/>
                <a:sym typeface="Glacial Indifference Bold"/>
              </a:rPr>
              <a:t>εμπλουτίζοντας το σύνολο εκπαίδευσης</a:t>
            </a:r>
            <a:r>
              <a:rPr lang="en-US" sz="1729">
                <a:solidFill>
                  <a:srgbClr val="695C4A"/>
                </a:solidFill>
                <a:latin typeface="Glacial Indifference"/>
                <a:ea typeface="Glacial Indifference"/>
                <a:cs typeface="Glacial Indifference"/>
                <a:sym typeface="Glacial Indifference"/>
              </a:rPr>
              <a:t>. Το Patch Augmentation συνδυάζει πολλαπλές τέτοιες παραμορφώσεις, ενισχύοντας τη γενίκευση του μοντέλου και μειώνοντας τον κίνδυνο υπερεκπαίδευσης.</a:t>
            </a:r>
          </a:p>
        </p:txBody>
      </p:sp>
      <p:sp>
        <p:nvSpPr>
          <p:cNvPr name="Freeform 10" id="10"/>
          <p:cNvSpPr/>
          <p:nvPr/>
        </p:nvSpPr>
        <p:spPr>
          <a:xfrm flipH="false" flipV="false" rot="10708669">
            <a:off x="9152850" y="-3960997"/>
            <a:ext cx="18930865" cy="18758766"/>
          </a:xfrm>
          <a:custGeom>
            <a:avLst/>
            <a:gdLst/>
            <a:ahLst/>
            <a:cxnLst/>
            <a:rect r="r" b="b" t="t" l="l"/>
            <a:pathLst>
              <a:path h="18758766" w="18930865">
                <a:moveTo>
                  <a:pt x="0" y="0"/>
                </a:moveTo>
                <a:lnTo>
                  <a:pt x="18930865" y="0"/>
                </a:lnTo>
                <a:lnTo>
                  <a:pt x="18930865" y="18758766"/>
                </a:lnTo>
                <a:lnTo>
                  <a:pt x="0" y="18758766"/>
                </a:lnTo>
                <a:lnTo>
                  <a:pt x="0" y="0"/>
                </a:lnTo>
                <a:close/>
              </a:path>
            </a:pathLst>
          </a:custGeom>
          <a:blipFill>
            <a:blip r:embed="rId5">
              <a:alphaModFix amt="7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0" y="1187768"/>
            <a:ext cx="11688724" cy="0"/>
          </a:xfrm>
          <a:prstGeom prst="line">
            <a:avLst/>
          </a:prstGeom>
          <a:ln cap="flat" w="38100">
            <a:solidFill>
              <a:srgbClr val="827564"/>
            </a:solidFill>
            <a:prstDash val="solid"/>
            <a:headEnd type="none" len="sm" w="sm"/>
            <a:tailEnd type="none" len="sm" w="sm"/>
          </a:ln>
        </p:spPr>
      </p:sp>
      <p:sp>
        <p:nvSpPr>
          <p:cNvPr name="AutoShape 3" id="3"/>
          <p:cNvSpPr/>
          <p:nvPr/>
        </p:nvSpPr>
        <p:spPr>
          <a:xfrm flipH="true" flipV="true">
            <a:off x="1307904" y="0"/>
            <a:ext cx="0" cy="2197866"/>
          </a:xfrm>
          <a:prstGeom prst="line">
            <a:avLst/>
          </a:prstGeom>
          <a:ln cap="flat" w="38100">
            <a:solidFill>
              <a:srgbClr val="827564"/>
            </a:solidFill>
            <a:prstDash val="solid"/>
            <a:headEnd type="none" len="sm" w="sm"/>
            <a:tailEnd type="none" len="sm" w="sm"/>
          </a:ln>
        </p:spPr>
      </p:sp>
      <p:sp>
        <p:nvSpPr>
          <p:cNvPr name="Freeform 4" id="4"/>
          <p:cNvSpPr/>
          <p:nvPr/>
        </p:nvSpPr>
        <p:spPr>
          <a:xfrm flipH="false" flipV="false" rot="0">
            <a:off x="1036944" y="916808"/>
            <a:ext cx="541920" cy="541920"/>
          </a:xfrm>
          <a:custGeom>
            <a:avLst/>
            <a:gdLst/>
            <a:ahLst/>
            <a:cxnLst/>
            <a:rect r="r" b="b" t="t" l="l"/>
            <a:pathLst>
              <a:path h="541920" w="541920">
                <a:moveTo>
                  <a:pt x="0" y="0"/>
                </a:moveTo>
                <a:lnTo>
                  <a:pt x="541920" y="0"/>
                </a:lnTo>
                <a:lnTo>
                  <a:pt x="541920" y="541919"/>
                </a:lnTo>
                <a:lnTo>
                  <a:pt x="0" y="541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33364" y="-394395"/>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110541" y="2422277"/>
            <a:ext cx="7578183" cy="2263982"/>
          </a:xfrm>
          <a:custGeom>
            <a:avLst/>
            <a:gdLst/>
            <a:ahLst/>
            <a:cxnLst/>
            <a:rect r="r" b="b" t="t" l="l"/>
            <a:pathLst>
              <a:path h="2263982" w="7578183">
                <a:moveTo>
                  <a:pt x="0" y="0"/>
                </a:moveTo>
                <a:lnTo>
                  <a:pt x="7578183" y="0"/>
                </a:lnTo>
                <a:lnTo>
                  <a:pt x="7578183" y="2263982"/>
                </a:lnTo>
                <a:lnTo>
                  <a:pt x="0" y="2263982"/>
                </a:lnTo>
                <a:lnTo>
                  <a:pt x="0" y="0"/>
                </a:lnTo>
                <a:close/>
              </a:path>
            </a:pathLst>
          </a:custGeom>
          <a:blipFill>
            <a:blip r:embed="rId6"/>
            <a:stretch>
              <a:fillRect l="0" t="0" r="0" b="0"/>
            </a:stretch>
          </a:blipFill>
        </p:spPr>
      </p:sp>
      <p:sp>
        <p:nvSpPr>
          <p:cNvPr name="TextBox 7" id="7"/>
          <p:cNvSpPr txBox="true"/>
          <p:nvPr/>
        </p:nvSpPr>
        <p:spPr>
          <a:xfrm rot="0">
            <a:off x="2383630" y="1371478"/>
            <a:ext cx="10264250"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Εξαγωγή χαρακτηριστικών</a:t>
            </a:r>
          </a:p>
        </p:txBody>
      </p:sp>
      <p:sp>
        <p:nvSpPr>
          <p:cNvPr name="TextBox 8" id="8"/>
          <p:cNvSpPr txBox="true"/>
          <p:nvPr/>
        </p:nvSpPr>
        <p:spPr>
          <a:xfrm rot="0">
            <a:off x="1578864" y="1265176"/>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4</a:t>
            </a:r>
          </a:p>
        </p:txBody>
      </p:sp>
      <p:sp>
        <p:nvSpPr>
          <p:cNvPr name="TextBox 9" id="9"/>
          <p:cNvSpPr txBox="true"/>
          <p:nvPr/>
        </p:nvSpPr>
        <p:spPr>
          <a:xfrm rot="0">
            <a:off x="380444" y="5095875"/>
            <a:ext cx="17527112" cy="3769216"/>
          </a:xfrm>
          <a:prstGeom prst="rect">
            <a:avLst/>
          </a:prstGeom>
        </p:spPr>
        <p:txBody>
          <a:bodyPr anchor="t" rtlCol="false" tIns="0" lIns="0" bIns="0" rIns="0">
            <a:spAutoFit/>
          </a:bodyPr>
          <a:lstStyle/>
          <a:p>
            <a:pPr algn="l">
              <a:lnSpc>
                <a:spcPts val="2772"/>
              </a:lnSpc>
            </a:pPr>
            <a:r>
              <a:rPr lang="en-US" sz="1980">
                <a:solidFill>
                  <a:srgbClr val="695C4A"/>
                </a:solidFill>
                <a:latin typeface="Glacial Indifference"/>
                <a:ea typeface="Glacial Indifference"/>
                <a:cs typeface="Glacial Indifference"/>
                <a:sym typeface="Glacial Indifference"/>
              </a:rPr>
              <a:t>Για την εξαγωγή των ακουστικών χαρακτηριστικών χρησιμοποιείται πάλι ο </a:t>
            </a:r>
            <a:r>
              <a:rPr lang="en-US" sz="1980" b="true">
                <a:solidFill>
                  <a:srgbClr val="695C4A"/>
                </a:solidFill>
                <a:latin typeface="Glacial Indifference Bold"/>
                <a:ea typeface="Glacial Indifference Bold"/>
                <a:cs typeface="Glacial Indifference Bold"/>
                <a:sym typeface="Glacial Indifference Bold"/>
              </a:rPr>
              <a:t>STFT </a:t>
            </a:r>
            <a:r>
              <a:rPr lang="en-US" sz="1980">
                <a:solidFill>
                  <a:srgbClr val="695C4A"/>
                </a:solidFill>
                <a:latin typeface="Glacial Indifference"/>
                <a:ea typeface="Glacial Indifference"/>
                <a:cs typeface="Glacial Indifference"/>
                <a:sym typeface="Glacial Indifference"/>
              </a:rPr>
              <a:t>ως θεμελιώδες εργαλείο. Για την υλοποίηση του STFT οι αναπνευστικοί κύκλοι διάρκειας 3s διαχωρίστηκαν σε </a:t>
            </a:r>
            <a:r>
              <a:rPr lang="en-US" sz="1980" b="true">
                <a:solidFill>
                  <a:srgbClr val="695C4A"/>
                </a:solidFill>
                <a:latin typeface="Glacial Indifference Bold"/>
                <a:ea typeface="Glacial Indifference Bold"/>
                <a:cs typeface="Glacial Indifference Bold"/>
                <a:sym typeface="Glacial Indifference Bold"/>
              </a:rPr>
              <a:t>frames διάρκειας 60ms</a:t>
            </a:r>
            <a:r>
              <a:rPr lang="en-US" sz="1980">
                <a:solidFill>
                  <a:srgbClr val="695C4A"/>
                </a:solidFill>
                <a:latin typeface="Glacial Indifference"/>
                <a:ea typeface="Glacial Indifference"/>
                <a:cs typeface="Glacial Indifference"/>
                <a:sym typeface="Glacial Indifference"/>
              </a:rPr>
              <a:t> και </a:t>
            </a:r>
            <a:r>
              <a:rPr lang="en-US" sz="1980" b="true">
                <a:solidFill>
                  <a:srgbClr val="695C4A"/>
                </a:solidFill>
                <a:latin typeface="Glacial Indifference Bold"/>
                <a:ea typeface="Glacial Indifference Bold"/>
                <a:cs typeface="Glacial Indifference Bold"/>
                <a:sym typeface="Glacial Indifference Bold"/>
              </a:rPr>
              <a:t>βήμα επικάλυψης 30ms</a:t>
            </a:r>
            <a:r>
              <a:rPr lang="en-US" sz="1980">
                <a:solidFill>
                  <a:srgbClr val="695C4A"/>
                </a:solidFill>
                <a:latin typeface="Glacial Indifference"/>
                <a:ea typeface="Glacial Indifference"/>
                <a:cs typeface="Glacial Indifference"/>
                <a:sym typeface="Glacial Indifference"/>
              </a:rPr>
              <a:t>, δηλαδή ποσοστό </a:t>
            </a:r>
            <a:r>
              <a:rPr lang="en-US" sz="1980" b="true">
                <a:solidFill>
                  <a:srgbClr val="695C4A"/>
                </a:solidFill>
                <a:latin typeface="Glacial Indifference Bold"/>
                <a:ea typeface="Glacial Indifference Bold"/>
                <a:cs typeface="Glacial Indifference Bold"/>
                <a:sym typeface="Glacial Indifference Bold"/>
              </a:rPr>
              <a:t>50%</a:t>
            </a:r>
            <a:r>
              <a:rPr lang="en-US" sz="1980">
                <a:solidFill>
                  <a:srgbClr val="695C4A"/>
                </a:solidFill>
                <a:latin typeface="Glacial Indifference"/>
                <a:ea typeface="Glacial Indifference"/>
                <a:cs typeface="Glacial Indifference"/>
                <a:sym typeface="Glacial Indifference"/>
              </a:rPr>
              <a:t>.</a:t>
            </a:r>
          </a:p>
          <a:p>
            <a:pPr algn="l" marL="427629" indent="-213815" lvl="1">
              <a:lnSpc>
                <a:spcPts val="2772"/>
              </a:lnSpc>
              <a:buAutoNum type="arabicPeriod" startAt="1"/>
            </a:pPr>
            <a:r>
              <a:rPr lang="en-US" sz="1980">
                <a:solidFill>
                  <a:srgbClr val="695C4A"/>
                </a:solidFill>
                <a:latin typeface="Glacial Indifference"/>
                <a:ea typeface="Glacial Indifference"/>
                <a:cs typeface="Glacial Indifference"/>
                <a:sym typeface="Glacial Indifference"/>
              </a:rPr>
              <a:t>Για κάθε προεπεξεργασμένο αναπνευστικό κύκλο ξεχωριστά εξάγονται </a:t>
            </a:r>
            <a:r>
              <a:rPr lang="en-US" b="true" sz="1980">
                <a:solidFill>
                  <a:srgbClr val="695C4A"/>
                </a:solidFill>
                <a:latin typeface="Glacial Indifference Bold"/>
                <a:ea typeface="Glacial Indifference Bold"/>
                <a:cs typeface="Glacial Indifference Bold"/>
                <a:sym typeface="Glacial Indifference Bold"/>
              </a:rPr>
              <a:t>41 διαφορετικά χαρακτηριστικά</a:t>
            </a:r>
            <a:r>
              <a:rPr lang="en-US" sz="1980">
                <a:solidFill>
                  <a:srgbClr val="695C4A"/>
                </a:solidFill>
                <a:latin typeface="Glacial Indifference"/>
                <a:ea typeface="Glacial Indifference"/>
                <a:cs typeface="Glacial Indifference"/>
                <a:sym typeface="Glacial Indifference"/>
              </a:rPr>
              <a:t> σε επίπεδο </a:t>
            </a:r>
            <a:r>
              <a:rPr lang="en-US" b="true" sz="1980">
                <a:solidFill>
                  <a:srgbClr val="695C4A"/>
                </a:solidFill>
                <a:latin typeface="Glacial Indifference Bold"/>
                <a:ea typeface="Glacial Indifference Bold"/>
                <a:cs typeface="Glacial Indifference Bold"/>
                <a:sym typeface="Glacial Indifference Bold"/>
              </a:rPr>
              <a:t>frames</a:t>
            </a:r>
            <a:r>
              <a:rPr lang="en-US" sz="1980">
                <a:solidFill>
                  <a:srgbClr val="695C4A"/>
                </a:solidFill>
                <a:latin typeface="Glacial Indifference"/>
                <a:ea typeface="Glacial Indifference"/>
                <a:cs typeface="Glacial Indifference"/>
                <a:sym typeface="Glacial Indifference"/>
              </a:rPr>
              <a:t>. Συνεπώς για κάθε κύκλο παράγεται ένα </a:t>
            </a:r>
            <a:r>
              <a:rPr lang="en-US" b="true" sz="1980">
                <a:solidFill>
                  <a:srgbClr val="695C4A"/>
                </a:solidFill>
                <a:latin typeface="Glacial Indifference Bold"/>
                <a:ea typeface="Glacial Indifference Bold"/>
                <a:cs typeface="Glacial Indifference Bold"/>
                <a:sym typeface="Glacial Indifference Bold"/>
              </a:rPr>
              <a:t>μητρώο χαρακτηριστικών</a:t>
            </a:r>
            <a:r>
              <a:rPr lang="en-US" sz="1980">
                <a:solidFill>
                  <a:srgbClr val="695C4A"/>
                </a:solidFill>
                <a:latin typeface="Glacial Indifference"/>
                <a:ea typeface="Glacial Indifference"/>
                <a:cs typeface="Glacial Indifference"/>
                <a:sym typeface="Glacial Indifference"/>
              </a:rPr>
              <a:t> με διαστάσεις </a:t>
            </a:r>
            <a:r>
              <a:rPr lang="en-US" b="true" sz="1980">
                <a:solidFill>
                  <a:srgbClr val="695C4A"/>
                </a:solidFill>
                <a:latin typeface="Glacial Indifference Bold"/>
                <a:ea typeface="Glacial Indifference Bold"/>
                <a:cs typeface="Glacial Indifference Bold"/>
                <a:sym typeface="Glacial Indifference Bold"/>
              </a:rPr>
              <a:t>(#frames, #features)</a:t>
            </a:r>
            <a:r>
              <a:rPr lang="en-US" sz="1980">
                <a:solidFill>
                  <a:srgbClr val="695C4A"/>
                </a:solidFill>
                <a:latin typeface="Glacial Indifference"/>
                <a:ea typeface="Glacial Indifference"/>
                <a:cs typeface="Glacial Indifference"/>
                <a:sym typeface="Glacial Indifference"/>
              </a:rPr>
              <a:t>.</a:t>
            </a:r>
          </a:p>
          <a:p>
            <a:pPr algn="l" marL="427629" indent="-213815" lvl="1">
              <a:lnSpc>
                <a:spcPts val="2772"/>
              </a:lnSpc>
              <a:buAutoNum type="arabicPeriod" startAt="1"/>
            </a:pPr>
            <a:r>
              <a:rPr lang="en-US" sz="1980">
                <a:solidFill>
                  <a:srgbClr val="695C4A"/>
                </a:solidFill>
                <a:latin typeface="Glacial Indifference"/>
                <a:ea typeface="Glacial Indifference"/>
                <a:cs typeface="Glacial Indifference"/>
                <a:sym typeface="Glacial Indifference"/>
              </a:rPr>
              <a:t>Τα μητρώα χαρακτηριστικών από όλους τους αναπνευστικούς κύκλους </a:t>
            </a:r>
            <a:r>
              <a:rPr lang="en-US" b="true" sz="1980">
                <a:solidFill>
                  <a:srgbClr val="695C4A"/>
                </a:solidFill>
                <a:latin typeface="Glacial Indifference Bold"/>
                <a:ea typeface="Glacial Indifference Bold"/>
                <a:cs typeface="Glacial Indifference Bold"/>
                <a:sym typeface="Glacial Indifference Bold"/>
              </a:rPr>
              <a:t>συγχωνεύονται σε έναν τανυστή 3 διαστάσεων</a:t>
            </a:r>
            <a:r>
              <a:rPr lang="en-US" sz="1980">
                <a:solidFill>
                  <a:srgbClr val="695C4A"/>
                </a:solidFill>
                <a:latin typeface="Glacial Indifference"/>
                <a:ea typeface="Glacial Indifference"/>
                <a:cs typeface="Glacial Indifference"/>
                <a:sym typeface="Glacial Indifference"/>
              </a:rPr>
              <a:t> με σχήμα </a:t>
            </a:r>
            <a:r>
              <a:rPr lang="en-US" b="true" sz="1980">
                <a:solidFill>
                  <a:srgbClr val="695C4A"/>
                </a:solidFill>
                <a:latin typeface="Glacial Indifference Bold"/>
                <a:ea typeface="Glacial Indifference Bold"/>
                <a:cs typeface="Glacial Indifference Bold"/>
                <a:sym typeface="Glacial Indifference Bold"/>
              </a:rPr>
              <a:t>(#cycles, #frames, #features)</a:t>
            </a:r>
            <a:r>
              <a:rPr lang="en-US" sz="1980">
                <a:solidFill>
                  <a:srgbClr val="695C4A"/>
                </a:solidFill>
                <a:latin typeface="Glacial Indifference"/>
                <a:ea typeface="Glacial Indifference"/>
                <a:cs typeface="Glacial Indifference"/>
                <a:sym typeface="Glacial Indifference"/>
              </a:rPr>
              <a:t>.</a:t>
            </a:r>
          </a:p>
          <a:p>
            <a:pPr algn="l" marL="427629" indent="-213815" lvl="1">
              <a:lnSpc>
                <a:spcPts val="2772"/>
              </a:lnSpc>
              <a:buAutoNum type="arabicPeriod" startAt="1"/>
            </a:pPr>
            <a:r>
              <a:rPr lang="en-US" sz="1980">
                <a:solidFill>
                  <a:srgbClr val="695C4A"/>
                </a:solidFill>
                <a:latin typeface="Glacial Indifference"/>
                <a:ea typeface="Glacial Indifference"/>
                <a:cs typeface="Glacial Indifference"/>
                <a:sym typeface="Glacial Indifference"/>
              </a:rPr>
              <a:t> Για να εξαχθεί μια </a:t>
            </a:r>
            <a:r>
              <a:rPr lang="en-US" b="true" sz="1980">
                <a:solidFill>
                  <a:srgbClr val="695C4A"/>
                </a:solidFill>
                <a:latin typeface="Glacial Indifference Bold"/>
                <a:ea typeface="Glacial Indifference Bold"/>
                <a:cs typeface="Glacial Indifference Bold"/>
                <a:sym typeface="Glacial Indifference Bold"/>
              </a:rPr>
              <a:t>συμπαγής 2D αναπαράσταση</a:t>
            </a:r>
            <a:r>
              <a:rPr lang="en-US" sz="1980">
                <a:solidFill>
                  <a:srgbClr val="695C4A"/>
                </a:solidFill>
                <a:latin typeface="Glacial Indifference"/>
                <a:ea typeface="Glacial Indifference"/>
                <a:cs typeface="Glacial Indifference"/>
                <a:sym typeface="Glacial Indifference"/>
              </a:rPr>
              <a:t> για τους κλασικούς αλγορίθμους ταξινόμησης, ο τανυστής χαρακτηριστικών </a:t>
            </a:r>
            <a:r>
              <a:rPr lang="en-US" b="true" sz="1980">
                <a:solidFill>
                  <a:srgbClr val="695C4A"/>
                </a:solidFill>
                <a:latin typeface="Glacial Indifference Bold"/>
                <a:ea typeface="Glacial Indifference Bold"/>
                <a:cs typeface="Glacial Indifference Bold"/>
                <a:sym typeface="Glacial Indifference Bold"/>
              </a:rPr>
              <a:t>aggregation ως προς τον</a:t>
            </a:r>
            <a:r>
              <a:rPr lang="en-US" sz="1980">
                <a:solidFill>
                  <a:srgbClr val="695C4A"/>
                </a:solidFill>
                <a:latin typeface="Glacial Indifference"/>
                <a:ea typeface="Glacial Indifference"/>
                <a:cs typeface="Glacial Indifference"/>
                <a:sym typeface="Glacial Indifference"/>
              </a:rPr>
              <a:t> </a:t>
            </a:r>
            <a:r>
              <a:rPr lang="en-US" b="true" sz="1980">
                <a:solidFill>
                  <a:srgbClr val="695C4A"/>
                </a:solidFill>
                <a:latin typeface="Glacial Indifference Bold"/>
                <a:ea typeface="Glacial Indifference Bold"/>
                <a:cs typeface="Glacial Indifference Bold"/>
                <a:sym typeface="Glacial Indifference Bold"/>
              </a:rPr>
              <a:t>μέσο όρο κατά μήκος των frames</a:t>
            </a:r>
            <a:r>
              <a:rPr lang="en-US" sz="1980">
                <a:solidFill>
                  <a:srgbClr val="695C4A"/>
                </a:solidFill>
                <a:latin typeface="Glacial Indifference"/>
                <a:ea typeface="Glacial Indifference"/>
                <a:cs typeface="Glacial Indifference"/>
                <a:sym typeface="Glacial Indifference"/>
              </a:rPr>
              <a:t>,  έτσι ώστε να μειωθεί η διαστατικότητα των δεδομένων, αλλά παράλληλανα διατηρηθεί η ουσιαστική πληροφορία σε επίπεδο αναπνευστικού κύκλου, αφού τα στατιστικά χαρακτηριστικά (mean) αποτυπώνουν επαρκώς τα μοτίβα που μας ενδιαφέρουν.</a:t>
            </a:r>
          </a:p>
          <a:p>
            <a:pPr algn="l" marL="427629" indent="-213815" lvl="1">
              <a:lnSpc>
                <a:spcPts val="2772"/>
              </a:lnSpc>
              <a:spcBef>
                <a:spcPct val="0"/>
              </a:spcBef>
              <a:buAutoNum type="arabicPeriod" startAt="1"/>
            </a:pPr>
            <a:r>
              <a:rPr lang="en-US" sz="1980">
                <a:solidFill>
                  <a:srgbClr val="695C4A"/>
                </a:solidFill>
                <a:latin typeface="Glacial Indifference"/>
                <a:ea typeface="Glacial Indifference"/>
                <a:cs typeface="Glacial Indifference"/>
                <a:sym typeface="Glacial Indifference"/>
              </a:rPr>
              <a:t>. Έτσι, καταλήγουμε στο τελικό σύνολο αριθμητικών δεδομένων, δηλαδή ένα μητρώο με διαστάσεις </a:t>
            </a:r>
            <a:r>
              <a:rPr lang="en-US" b="true" sz="1980">
                <a:solidFill>
                  <a:srgbClr val="695C4A"/>
                </a:solidFill>
                <a:latin typeface="Glacial Indifference Bold"/>
                <a:ea typeface="Glacial Indifference Bold"/>
                <a:cs typeface="Glacial Indifference Bold"/>
                <a:sym typeface="Glacial Indifference Bold"/>
              </a:rPr>
              <a:t>(#cycles, #features)</a:t>
            </a:r>
            <a:r>
              <a:rPr lang="en-US" sz="1980">
                <a:solidFill>
                  <a:srgbClr val="695C4A"/>
                </a:solidFill>
                <a:latin typeface="Glacial Indifference"/>
                <a:ea typeface="Glacial Indifference"/>
                <a:cs typeface="Glacial Indifference"/>
                <a:sym typeface="Glacial Indifference"/>
              </a:rPr>
              <a: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2233220" y="1221361"/>
            <a:ext cx="13670401" cy="19050"/>
          </a:xfrm>
          <a:prstGeom prst="line">
            <a:avLst/>
          </a:prstGeom>
          <a:ln cap="flat" w="38100">
            <a:solidFill>
              <a:srgbClr val="827564"/>
            </a:solidFill>
            <a:prstDash val="solid"/>
            <a:headEnd type="oval" len="lg" w="lg"/>
            <a:tailEnd type="oval" len="lg" w="lg"/>
          </a:ln>
        </p:spPr>
      </p:sp>
      <p:graphicFrame>
        <p:nvGraphicFramePr>
          <p:cNvPr name="Table 3" id="3"/>
          <p:cNvGraphicFramePr>
            <a:graphicFrameLocks noGrp="true"/>
          </p:cNvGraphicFramePr>
          <p:nvPr/>
        </p:nvGraphicFramePr>
        <p:xfrm>
          <a:off x="858316" y="1637956"/>
          <a:ext cx="16571369" cy="8437409"/>
        </p:xfrm>
        <a:graphic>
          <a:graphicData uri="http://schemas.openxmlformats.org/drawingml/2006/table">
            <a:tbl>
              <a:tblPr/>
              <a:tblGrid>
                <a:gridCol w="5523790"/>
                <a:gridCol w="5523790"/>
                <a:gridCol w="5523790"/>
              </a:tblGrid>
              <a:tr h="1971889">
                <a:tc>
                  <a:txBody>
                    <a:bodyPr anchor="t" rtlCol="false"/>
                    <a:lstStyle/>
                    <a:p>
                      <a:pPr algn="ctr">
                        <a:lnSpc>
                          <a:spcPts val="2380"/>
                        </a:lnSpc>
                        <a:defRPr/>
                      </a:pPr>
                      <a:r>
                        <a:rPr lang="en-US" sz="1700" b="true">
                          <a:solidFill>
                            <a:srgbClr val="FFFFFF"/>
                          </a:solidFill>
                          <a:latin typeface="Glacial Indifference Bold"/>
                          <a:ea typeface="Glacial Indifference Bold"/>
                          <a:cs typeface="Glacial Indifference Bold"/>
                          <a:sym typeface="Glacial Indifference Bold"/>
                        </a:rPr>
                        <a:t>Zero Crossing Rate</a:t>
                      </a:r>
                      <a:endParaRPr lang="en-US" sz="1100"/>
                    </a:p>
                    <a:p>
                      <a:pPr algn="ctr">
                        <a:lnSpc>
                          <a:spcPts val="1540"/>
                        </a:lnSpc>
                      </a:pPr>
                      <a:r>
                        <a:rPr lang="en-US" sz="1100" b="true">
                          <a:solidFill>
                            <a:srgbClr val="FFFFFF"/>
                          </a:solidFill>
                          <a:latin typeface="Glacial Indifference Bold"/>
                          <a:ea typeface="Glacial Indifference Bold"/>
                          <a:cs typeface="Glacial Indifference Bold"/>
                          <a:sym typeface="Glacial Indifference Bold"/>
                        </a:rPr>
                        <a:t>Είναι ένα θεμελιώδες χρονικό χαρακτηριστικό που μετρά τον αριθμό</a:t>
                      </a:r>
                    </a:p>
                    <a:p>
                      <a:pPr algn="ctr">
                        <a:lnSpc>
                          <a:spcPts val="1540"/>
                        </a:lnSpc>
                      </a:pPr>
                      <a:r>
                        <a:rPr lang="en-US" sz="1100" b="true">
                          <a:solidFill>
                            <a:srgbClr val="FFFFFF"/>
                          </a:solidFill>
                          <a:latin typeface="Glacial Indifference Bold"/>
                          <a:ea typeface="Glacial Indifference Bold"/>
                          <a:cs typeface="Glacial Indifference Bold"/>
                          <a:sym typeface="Glacial Indifference Bold"/>
                        </a:rPr>
                        <a:t>των φορών που το πλάτος του σήματος αλλάζει πρόσημο εντός ενός χρονικού παραθύρου.</a:t>
                      </a:r>
                    </a:p>
                    <a:p>
                      <a:pPr algn="ctr">
                        <a:lnSpc>
                          <a:spcPts val="1540"/>
                        </a:lnSpc>
                      </a:pPr>
                      <a:r>
                        <a:rPr lang="en-US" sz="1100" b="true">
                          <a:solidFill>
                            <a:srgbClr val="FFFFFF"/>
                          </a:solidFill>
                          <a:latin typeface="Glacial Indifference Bold"/>
                          <a:ea typeface="Glacial Indifference Bold"/>
                          <a:cs typeface="Glacial Indifference Bold"/>
                          <a:sym typeface="Glacial Indifference Bold"/>
                        </a:rPr>
                        <a:t>Εκφράζει δηλαδή τη συχνότητα με την οποία το σήμα «διέρχεται» από το μηδέν.</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Root Mean Square Energy</a:t>
                      </a:r>
                      <a:endParaRPr lang="en-US" sz="1100"/>
                    </a:p>
                    <a:p>
                      <a:pPr algn="ctr">
                        <a:lnSpc>
                          <a:spcPts val="1540"/>
                        </a:lnSpc>
                      </a:pPr>
                      <a:r>
                        <a:rPr lang="en-US" sz="1100" b="true">
                          <a:solidFill>
                            <a:srgbClr val="FFFFFF"/>
                          </a:solidFill>
                          <a:latin typeface="Open Sauce Bold"/>
                          <a:ea typeface="Open Sauce Bold"/>
                          <a:cs typeface="Open Sauce Bold"/>
                          <a:sym typeface="Open Sauce Bold"/>
                        </a:rPr>
                        <a:t>Α</a:t>
                      </a:r>
                      <a:r>
                        <a:rPr lang="en-US" sz="1100" b="true">
                          <a:solidFill>
                            <a:srgbClr val="FFFFFF"/>
                          </a:solidFill>
                          <a:latin typeface="Open Sauce Bold"/>
                          <a:ea typeface="Open Sauce Bold"/>
                          <a:cs typeface="Open Sauce Bold"/>
                          <a:sym typeface="Open Sauce Bold"/>
                        </a:rPr>
                        <a:t>ποτελεί ένα μέτρο της στιγμιαίας ισχύος ή έντασης του</a:t>
                      </a:r>
                    </a:p>
                    <a:p>
                      <a:pPr algn="ctr">
                        <a:lnSpc>
                          <a:spcPts val="1540"/>
                        </a:lnSpc>
                      </a:pPr>
                      <a:r>
                        <a:rPr lang="en-US" sz="1100" b="true">
                          <a:solidFill>
                            <a:srgbClr val="FFFFFF"/>
                          </a:solidFill>
                          <a:latin typeface="Open Sauce Bold"/>
                          <a:ea typeface="Open Sauce Bold"/>
                          <a:cs typeface="Open Sauce Bold"/>
                          <a:sym typeface="Open Sauce Bold"/>
                        </a:rPr>
                        <a:t>σήματος εντός ενός καρέ. Υπολογίζεται ως η τετραγωνική ρίζα του μέσου τετραγώνου των</a:t>
                      </a:r>
                    </a:p>
                    <a:p>
                      <a:pPr algn="ctr">
                        <a:lnSpc>
                          <a:spcPts val="1540"/>
                        </a:lnSpc>
                      </a:pPr>
                      <a:r>
                        <a:rPr lang="en-US" sz="1100" b="true">
                          <a:solidFill>
                            <a:srgbClr val="FFFFFF"/>
                          </a:solidFill>
                          <a:latin typeface="Open Sauce Bold"/>
                          <a:ea typeface="Open Sauce Bold"/>
                          <a:cs typeface="Open Sauce Bold"/>
                          <a:sym typeface="Open Sauce Bold"/>
                        </a:rPr>
                        <a:t>τιμών του σήματος και αποτυπώνει τη συνολική ενέργεια που «περιέχει» το σήμα σε δεδομένο</a:t>
                      </a:r>
                    </a:p>
                    <a:p>
                      <a:pPr algn="ctr">
                        <a:lnSpc>
                          <a:spcPts val="1540"/>
                        </a:lnSpc>
                      </a:pPr>
                      <a:r>
                        <a:rPr lang="en-US" sz="1100" b="true">
                          <a:solidFill>
                            <a:srgbClr val="FFFFFF"/>
                          </a:solidFill>
                          <a:latin typeface="Open Sauce Bold"/>
                          <a:ea typeface="Open Sauce Bold"/>
                          <a:cs typeface="Open Sauce Bold"/>
                          <a:sym typeface="Open Sauce Bold"/>
                        </a:rPr>
                        <a:t>χρονικό διάστημα.</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Onset Envelope</a:t>
                      </a:r>
                      <a:endParaRPr lang="en-US" sz="1100"/>
                    </a:p>
                    <a:p>
                      <a:pPr algn="ctr">
                        <a:lnSpc>
                          <a:spcPts val="1540"/>
                        </a:lnSpc>
                      </a:pPr>
                      <a:r>
                        <a:rPr lang="en-US" sz="1100" b="true">
                          <a:solidFill>
                            <a:srgbClr val="FFFFFF"/>
                          </a:solidFill>
                          <a:latin typeface="Open Sauce Bold"/>
                          <a:ea typeface="Open Sauce Bold"/>
                          <a:cs typeface="Open Sauce Bold"/>
                          <a:sym typeface="Open Sauce Bold"/>
                        </a:rPr>
                        <a:t>Περιγράφει την εξέλιξη της στιγμιαίας ενεργοποίησης στο σήμα και χρη-σιμοποιείται για την ανίχνευση χρονικών συμβάντων (onsets), δηλαδή απότομων αλλαγών</a:t>
                      </a:r>
                    </a:p>
                    <a:p>
                      <a:pPr algn="ctr">
                        <a:lnSpc>
                          <a:spcPts val="1540"/>
                        </a:lnSpc>
                      </a:pPr>
                      <a:r>
                        <a:rPr lang="en-US" sz="1100" b="true">
                          <a:solidFill>
                            <a:srgbClr val="FFFFFF"/>
                          </a:solidFill>
                          <a:latin typeface="Open Sauce Bold"/>
                          <a:ea typeface="Open Sauce Bold"/>
                          <a:cs typeface="Open Sauce Bold"/>
                          <a:sym typeface="Open Sauce Bold"/>
                        </a:rPr>
                        <a:t>στην ενέργεια ή τη δομή του σήματος, όπως η εμφάνιση παροδικού παθολογικού ήχου.</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r>
              <a:tr h="1908719">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Specttral Centroid</a:t>
                      </a:r>
                      <a:endParaRPr lang="en-US" sz="1100"/>
                    </a:p>
                    <a:p>
                      <a:pPr algn="ctr">
                        <a:lnSpc>
                          <a:spcPts val="1540"/>
                        </a:lnSpc>
                      </a:pPr>
                      <a:r>
                        <a:rPr lang="en-US" sz="1100">
                          <a:solidFill>
                            <a:srgbClr val="FFFFFF"/>
                          </a:solidFill>
                          <a:latin typeface="Open Sauce"/>
                          <a:ea typeface="Open Sauce"/>
                          <a:cs typeface="Open Sauce"/>
                          <a:sym typeface="Open Sauce"/>
                        </a:rPr>
                        <a:t>Εκφράζει το «κέντρο μάζας» του φάσματος ενός σήματος και σχετίζεται άμεσα με το αντιληπτό «ύψος» ή την «οξύτητα» του ήχου, δηλαδή το pitch.</a:t>
                      </a:r>
                    </a:p>
                    <a:p>
                      <a:pPr algn="ctr">
                        <a:lnSpc>
                          <a:spcPts val="2380"/>
                        </a:lnSpc>
                      </a:pP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Spectral Bandwidth</a:t>
                      </a:r>
                      <a:endParaRPr lang="en-US" sz="1100"/>
                    </a:p>
                    <a:p>
                      <a:pPr algn="ctr">
                        <a:lnSpc>
                          <a:spcPts val="1540"/>
                        </a:lnSpc>
                      </a:pPr>
                      <a:r>
                        <a:rPr lang="en-US" sz="1100">
                          <a:solidFill>
                            <a:srgbClr val="FFFFFF"/>
                          </a:solidFill>
                          <a:latin typeface="Open Sauce"/>
                          <a:ea typeface="Open Sauce"/>
                          <a:cs typeface="Open Sauce"/>
                          <a:sym typeface="Open Sauce"/>
                        </a:rPr>
                        <a:t>Ποσοτικοποιεί τη διασπορά του φάσματος γύρω από το κέντρο</a:t>
                      </a:r>
                    </a:p>
                    <a:p>
                      <a:pPr algn="ctr">
                        <a:lnSpc>
                          <a:spcPts val="1540"/>
                        </a:lnSpc>
                      </a:pPr>
                      <a:r>
                        <a:rPr lang="en-US" sz="1100">
                          <a:solidFill>
                            <a:srgbClr val="FFFFFF"/>
                          </a:solidFill>
                          <a:latin typeface="Open Sauce"/>
                          <a:ea typeface="Open Sauce"/>
                          <a:cs typeface="Open Sauce"/>
                          <a:sym typeface="Open Sauce"/>
                        </a:rPr>
                        <a:t>βάρους του. Υπολογίζεται μαθηματικά ως η σταθμισμένη τυπική απόκλιση των συχνοτήτων</a:t>
                      </a:r>
                    </a:p>
                    <a:p>
                      <a:pPr algn="ctr">
                        <a:lnSpc>
                          <a:spcPts val="1540"/>
                        </a:lnSpc>
                      </a:pPr>
                      <a:r>
                        <a:rPr lang="en-US" sz="1100">
                          <a:solidFill>
                            <a:srgbClr val="FFFFFF"/>
                          </a:solidFill>
                          <a:latin typeface="Open Sauce"/>
                          <a:ea typeface="Open Sauce"/>
                          <a:cs typeface="Open Sauce"/>
                          <a:sym typeface="Open Sauce"/>
                        </a:rPr>
                        <a:t>από το spectral centroid </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Spectral Flux</a:t>
                      </a:r>
                      <a:endParaRPr lang="en-US" sz="1100"/>
                    </a:p>
                    <a:p>
                      <a:pPr algn="ctr">
                        <a:lnSpc>
                          <a:spcPts val="1540"/>
                        </a:lnSpc>
                      </a:pPr>
                      <a:r>
                        <a:rPr lang="en-US" sz="1100">
                          <a:solidFill>
                            <a:srgbClr val="FFFFFF"/>
                          </a:solidFill>
                          <a:latin typeface="Open Sauce"/>
                          <a:ea typeface="Open Sauce"/>
                          <a:cs typeface="Open Sauce"/>
                          <a:sym typeface="Open Sauce"/>
                        </a:rPr>
                        <a:t>Μετρά την ποσότητα μεταβολής του φάσματος από καρέ σε καρέ. Εκ-</a:t>
                      </a:r>
                    </a:p>
                    <a:p>
                      <a:pPr algn="ctr">
                        <a:lnSpc>
                          <a:spcPts val="1540"/>
                        </a:lnSpc>
                      </a:pPr>
                      <a:r>
                        <a:rPr lang="en-US" sz="1100">
                          <a:solidFill>
                            <a:srgbClr val="FFFFFF"/>
                          </a:solidFill>
                          <a:latin typeface="Open Sauce"/>
                          <a:ea typeface="Open Sauce"/>
                          <a:cs typeface="Open Sauce"/>
                          <a:sym typeface="Open Sauce"/>
                        </a:rPr>
                        <a:t>φράζει πόσο αλλάζει το φασματικό περιεχόμενο στο χρόνο και υπολογίζεται ως η Ευκλείδεια</a:t>
                      </a:r>
                    </a:p>
                    <a:p>
                      <a:pPr algn="ctr">
                        <a:lnSpc>
                          <a:spcPts val="1540"/>
                        </a:lnSpc>
                      </a:pPr>
                      <a:r>
                        <a:rPr lang="en-US" sz="1100">
                          <a:solidFill>
                            <a:srgbClr val="FFFFFF"/>
                          </a:solidFill>
                          <a:latin typeface="Open Sauce"/>
                          <a:ea typeface="Open Sauce"/>
                          <a:cs typeface="Open Sauce"/>
                          <a:sym typeface="Open Sauce"/>
                        </a:rPr>
                        <a:t>απόσταση μεταξύ φασμάτων διαδοχικών χρονικών frames.</a:t>
                      </a:r>
                    </a:p>
                    <a:p>
                      <a:pPr algn="ctr">
                        <a:lnSpc>
                          <a:spcPts val="2380"/>
                        </a:lnSpc>
                      </a:pP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r>
              <a:tr h="2176230">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Spectral Flatness</a:t>
                      </a:r>
                      <a:endParaRPr lang="en-US" sz="1100"/>
                    </a:p>
                    <a:p>
                      <a:pPr algn="ctr">
                        <a:lnSpc>
                          <a:spcPts val="1540"/>
                        </a:lnSpc>
                      </a:pPr>
                      <a:r>
                        <a:rPr lang="en-US" sz="1100">
                          <a:solidFill>
                            <a:srgbClr val="FFFFFF"/>
                          </a:solidFill>
                          <a:latin typeface="Open Sauce"/>
                          <a:ea typeface="Open Sauce"/>
                          <a:cs typeface="Open Sauce"/>
                          <a:sym typeface="Open Sauce"/>
                        </a:rPr>
                        <a:t>Είναι ένας δείκτης αρμονικότητας ή θορυβώδους φύσης του σήματος. Η τιμή κυμαίνεται μεταξύ 0 και 1. Τείνει στο 1 για φάσματα τύπου λευκού θορύβου (flat)</a:t>
                      </a:r>
                    </a:p>
                    <a:p>
                      <a:pPr algn="ctr">
                        <a:lnSpc>
                          <a:spcPts val="1540"/>
                        </a:lnSpc>
                      </a:pPr>
                      <a:r>
                        <a:rPr lang="en-US" sz="1100">
                          <a:solidFill>
                            <a:srgbClr val="FFFFFF"/>
                          </a:solidFill>
                          <a:latin typeface="Open Sauce"/>
                          <a:ea typeface="Open Sauce"/>
                          <a:cs typeface="Open Sauce"/>
                          <a:sym typeface="Open Sauce"/>
                        </a:rPr>
                        <a:t>και στο 0 για φάσματα με αιχμές σε επιλεγμένες συχνότητες (αρμονικά ή μουσικά σήματα).</a:t>
                      </a:r>
                    </a:p>
                    <a:p>
                      <a:pPr algn="ctr">
                        <a:lnSpc>
                          <a:spcPts val="2380"/>
                        </a:lnSpc>
                      </a:pP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Spectral Rolloff</a:t>
                      </a:r>
                      <a:endParaRPr lang="en-US" sz="1100"/>
                    </a:p>
                    <a:p>
                      <a:pPr algn="ctr">
                        <a:lnSpc>
                          <a:spcPts val="1540"/>
                        </a:lnSpc>
                      </a:pPr>
                      <a:r>
                        <a:rPr lang="en-US" sz="1100">
                          <a:solidFill>
                            <a:srgbClr val="FFFFFF"/>
                          </a:solidFill>
                          <a:latin typeface="Open Sauce"/>
                          <a:ea typeface="Open Sauce"/>
                          <a:cs typeface="Open Sauce"/>
                          <a:sym typeface="Open Sauce"/>
                        </a:rPr>
                        <a:t>Ο</a:t>
                      </a:r>
                      <a:r>
                        <a:rPr lang="en-US" sz="1100">
                          <a:solidFill>
                            <a:srgbClr val="FFFFFF"/>
                          </a:solidFill>
                          <a:latin typeface="Open Sauce"/>
                          <a:ea typeface="Open Sauce"/>
                          <a:cs typeface="Open Sauce"/>
                          <a:sym typeface="Open Sauce"/>
                        </a:rPr>
                        <a:t>ρίζει τη συχνότητα κάτω από την οποία βρίσκεται ένα προκαθορισμένο</a:t>
                      </a:r>
                    </a:p>
                    <a:p>
                      <a:pPr algn="ctr">
                        <a:lnSpc>
                          <a:spcPts val="1540"/>
                        </a:lnSpc>
                      </a:pPr>
                      <a:r>
                        <a:rPr lang="en-US" sz="1100">
                          <a:solidFill>
                            <a:srgbClr val="FFFFFF"/>
                          </a:solidFill>
                          <a:latin typeface="Open Sauce"/>
                          <a:ea typeface="Open Sauce"/>
                          <a:cs typeface="Open Sauce"/>
                          <a:sym typeface="Open Sauce"/>
                        </a:rPr>
                        <a:t>ποσοστό της συνολικής φασματικής ενέργειας, συνήθως 85% ή 95%. Η τιμή του spectral</a:t>
                      </a:r>
                    </a:p>
                    <a:p>
                      <a:pPr algn="ctr">
                        <a:lnSpc>
                          <a:spcPts val="1540"/>
                        </a:lnSpc>
                      </a:pPr>
                      <a:r>
                        <a:rPr lang="en-US" sz="1100">
                          <a:solidFill>
                            <a:srgbClr val="FFFFFF"/>
                          </a:solidFill>
                          <a:latin typeface="Open Sauce"/>
                          <a:ea typeface="Open Sauce"/>
                          <a:cs typeface="Open Sauce"/>
                          <a:sym typeface="Open Sauce"/>
                        </a:rPr>
                        <a:t>rolloff σχετίζεται επίσης με την ασσυμετρία της μορφής του φάσματος. Χρησιμοποιείται για</a:t>
                      </a:r>
                    </a:p>
                    <a:p>
                      <a:pPr algn="ctr">
                        <a:lnSpc>
                          <a:spcPts val="1540"/>
                        </a:lnSpc>
                      </a:pPr>
                      <a:r>
                        <a:rPr lang="en-US" sz="1100">
                          <a:solidFill>
                            <a:srgbClr val="FFFFFF"/>
                          </a:solidFill>
                          <a:latin typeface="Open Sauce"/>
                          <a:ea typeface="Open Sauce"/>
                          <a:cs typeface="Open Sauce"/>
                          <a:sym typeface="Open Sauce"/>
                        </a:rPr>
                        <a:t>τη διάκριση μεταξύ ήχων με φασματική συμπύκνωση και ήχων με εκτεταμένο φάσμα.</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MFCCs</a:t>
                      </a:r>
                      <a:endParaRPr lang="en-US" sz="1100"/>
                    </a:p>
                    <a:p>
                      <a:pPr algn="ctr">
                        <a:lnSpc>
                          <a:spcPts val="1540"/>
                        </a:lnSpc>
                      </a:pPr>
                      <a:r>
                        <a:rPr lang="en-US" sz="1100">
                          <a:solidFill>
                            <a:srgbClr val="FFFFFF"/>
                          </a:solidFill>
                          <a:latin typeface="Open Sauce"/>
                          <a:ea typeface="Open Sauce"/>
                          <a:cs typeface="Open Sauce"/>
                          <a:sym typeface="Open Sauce"/>
                        </a:rPr>
                        <a:t>Αποτελούν ένα από τα πιο διαδεδομένα χαρακτηριστικά στην ανάλυση ήχου και λόγου. Εξάγονται εφαρμόζοντας Fourier Transform, στη συνέχεια Mel-filterbank για προσομοίωση της ανθρώπινης ακοής και τέλος DCT (Discrete Cosine Transform) ώστε να εξαχθούν οι συντελεστές στο cepstral domain. Συμπυκνώνουν την καμπύλη φάσματος σε λίγους συντελεστές (συνήθως 12-13) που περιγράφουν αποτελεσματικά τα φωνητικά/αναπνευστικά σήματα.</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r>
              <a:tr h="2380571">
                <a:tc>
                  <a:txBody>
                    <a:bodyPr anchor="t" rtlCol="false"/>
                    <a:lstStyle/>
                    <a:p>
                      <a:pPr algn="ctr">
                        <a:lnSpc>
                          <a:spcPts val="2380"/>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1F1F1"/>
                    </a:solidFill>
                  </a:tcPr>
                </a:tc>
                <a:tc>
                  <a:txBody>
                    <a:bodyPr anchor="t" rtlCol="false"/>
                    <a:lstStyle/>
                    <a:p>
                      <a:pPr algn="ctr">
                        <a:lnSpc>
                          <a:spcPts val="2380"/>
                        </a:lnSpc>
                        <a:defRPr/>
                      </a:pPr>
                      <a:r>
                        <a:rPr lang="en-US" sz="1700" b="true">
                          <a:solidFill>
                            <a:srgbClr val="FFFFFF"/>
                          </a:solidFill>
                          <a:latin typeface="Open Sauce Bold"/>
                          <a:ea typeface="Open Sauce Bold"/>
                          <a:cs typeface="Open Sauce Bold"/>
                          <a:sym typeface="Open Sauce Bold"/>
                        </a:rPr>
                        <a:t>Log-Mel Filterbank Energies</a:t>
                      </a:r>
                      <a:endParaRPr lang="en-US" sz="1100"/>
                    </a:p>
                    <a:p>
                      <a:pPr algn="ctr">
                        <a:lnSpc>
                          <a:spcPts val="1540"/>
                        </a:lnSpc>
                      </a:pPr>
                      <a:r>
                        <a:rPr lang="en-US" sz="1100">
                          <a:solidFill>
                            <a:srgbClr val="FFFFFF"/>
                          </a:solidFill>
                          <a:latin typeface="Open Sauce"/>
                          <a:ea typeface="Open Sauce"/>
                          <a:cs typeface="Open Sauce"/>
                          <a:sym typeface="Open Sauce"/>
                        </a:rPr>
                        <a:t>Υπολογίζονται εφαρμόζοντας Mel-scaled φίλτρα στο φάσμα ισχύος του σήματος και κατόπιν λογαριθμίζοντας τα αποτελέσματα. Είναι ένα χαρακτηριστικό που συνοψίζει την πληροφορία «πόση ενέργεια</a:t>
                      </a:r>
                    </a:p>
                    <a:p>
                      <a:pPr algn="ctr">
                        <a:lnSpc>
                          <a:spcPts val="1540"/>
                        </a:lnSpc>
                      </a:pPr>
                      <a:r>
                        <a:rPr lang="en-US" sz="1100">
                          <a:solidFill>
                            <a:srgbClr val="FFFFFF"/>
                          </a:solidFill>
                          <a:latin typeface="Open Sauce"/>
                          <a:ea typeface="Open Sauce"/>
                          <a:cs typeface="Open Sauce"/>
                          <a:sym typeface="Open Sauce"/>
                        </a:rPr>
                        <a:t>υπάρχει σε ένα συγκεκριμένο εύρος συχνοτήτων, τη δεδομένη χρονική στιγμή, μετρώντας την</a:t>
                      </a:r>
                    </a:p>
                    <a:p>
                      <a:pPr algn="ctr">
                        <a:lnSpc>
                          <a:spcPts val="1540"/>
                        </a:lnSpc>
                      </a:pPr>
                      <a:r>
                        <a:rPr lang="en-US" sz="1100">
                          <a:solidFill>
                            <a:srgbClr val="FFFFFF"/>
                          </a:solidFill>
                          <a:latin typeface="Open Sauce"/>
                          <a:ea typeface="Open Sauce"/>
                          <a:cs typeface="Open Sauce"/>
                          <a:sym typeface="Open Sauce"/>
                        </a:rPr>
                        <a:t>όπως την αντιλαμβάνεται το ανθρώπινο αυτί». Συνήθως είναι σε πλήθος 40 ή 80 στο τελικό διάνυσμα χαρακτηριστικών.</a:t>
                      </a:r>
                    </a:p>
                    <a:p>
                      <a:pPr algn="ctr">
                        <a:lnSpc>
                          <a:spcPts val="1540"/>
                        </a:lnSpc>
                      </a:pP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A69C8E"/>
                    </a:solidFill>
                  </a:tcPr>
                </a:tc>
                <a:tc>
                  <a:txBody>
                    <a:bodyPr anchor="t" rtlCol="false"/>
                    <a:lstStyle/>
                    <a:p>
                      <a:pPr algn="ctr">
                        <a:lnSpc>
                          <a:spcPts val="2380"/>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1F1F1"/>
                    </a:solidFill>
                  </a:tcPr>
                </a:tc>
              </a:tr>
            </a:tbl>
          </a:graphicData>
        </a:graphic>
      </p:graphicFrame>
      <p:sp>
        <p:nvSpPr>
          <p:cNvPr name="TextBox 4" id="4"/>
          <p:cNvSpPr txBox="true"/>
          <p:nvPr/>
        </p:nvSpPr>
        <p:spPr>
          <a:xfrm rot="0">
            <a:off x="2233193" y="514349"/>
            <a:ext cx="17739734" cy="507366"/>
          </a:xfrm>
          <a:prstGeom prst="rect">
            <a:avLst/>
          </a:prstGeom>
        </p:spPr>
        <p:txBody>
          <a:bodyPr anchor="t" rtlCol="false" tIns="0" lIns="0" bIns="0" rIns="0">
            <a:spAutoFit/>
          </a:bodyPr>
          <a:lstStyle/>
          <a:p>
            <a:pPr algn="l">
              <a:lnSpc>
                <a:spcPts val="4059"/>
              </a:lnSpc>
              <a:spcBef>
                <a:spcPct val="0"/>
              </a:spcBef>
            </a:pPr>
            <a:r>
              <a:rPr lang="en-US" b="true" sz="2899" spc="1217">
                <a:solidFill>
                  <a:srgbClr val="827564"/>
                </a:solidFill>
                <a:latin typeface="Open Sauce Bold"/>
                <a:ea typeface="Open Sauce Bold"/>
                <a:cs typeface="Open Sauce Bold"/>
                <a:sym typeface="Open Sauce Bold"/>
              </a:rPr>
              <a:t>ΠΕΡΙΓΡΑΦΗ ΕΞΑΓΜΕΝΩΝ  ΧΑΡΑΚΤΗΡΙΣΤΙΚΩΝ</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6583012" y="5838825"/>
            <a:ext cx="4824945" cy="3035277"/>
          </a:xfrm>
          <a:custGeom>
            <a:avLst/>
            <a:gdLst/>
            <a:ahLst/>
            <a:cxnLst/>
            <a:rect r="r" b="b" t="t" l="l"/>
            <a:pathLst>
              <a:path h="3035277" w="4824945">
                <a:moveTo>
                  <a:pt x="0" y="0"/>
                </a:moveTo>
                <a:lnTo>
                  <a:pt x="4824945" y="0"/>
                </a:lnTo>
                <a:lnTo>
                  <a:pt x="4824945" y="3035277"/>
                </a:lnTo>
                <a:lnTo>
                  <a:pt x="0" y="3035277"/>
                </a:lnTo>
                <a:lnTo>
                  <a:pt x="0" y="0"/>
                </a:lnTo>
                <a:close/>
              </a:path>
            </a:pathLst>
          </a:custGeom>
          <a:blipFill>
            <a:blip r:embed="rId2"/>
            <a:stretch>
              <a:fillRect l="0" t="0" r="0" b="0"/>
            </a:stretch>
          </a:blipFill>
        </p:spPr>
      </p:sp>
      <p:sp>
        <p:nvSpPr>
          <p:cNvPr name="Freeform 3" id="3"/>
          <p:cNvSpPr/>
          <p:nvPr/>
        </p:nvSpPr>
        <p:spPr>
          <a:xfrm flipH="false" flipV="false" rot="0">
            <a:off x="154665" y="6045582"/>
            <a:ext cx="6292231" cy="2621763"/>
          </a:xfrm>
          <a:custGeom>
            <a:avLst/>
            <a:gdLst/>
            <a:ahLst/>
            <a:cxnLst/>
            <a:rect r="r" b="b" t="t" l="l"/>
            <a:pathLst>
              <a:path h="2621763" w="6292231">
                <a:moveTo>
                  <a:pt x="0" y="0"/>
                </a:moveTo>
                <a:lnTo>
                  <a:pt x="6292231" y="0"/>
                </a:lnTo>
                <a:lnTo>
                  <a:pt x="6292231" y="2621763"/>
                </a:lnTo>
                <a:lnTo>
                  <a:pt x="0" y="2621763"/>
                </a:lnTo>
                <a:lnTo>
                  <a:pt x="0" y="0"/>
                </a:lnTo>
                <a:close/>
              </a:path>
            </a:pathLst>
          </a:custGeom>
          <a:blipFill>
            <a:blip r:embed="rId3"/>
            <a:stretch>
              <a:fillRect l="0" t="0" r="0" b="0"/>
            </a:stretch>
          </a:blipFill>
        </p:spPr>
      </p:sp>
      <p:sp>
        <p:nvSpPr>
          <p:cNvPr name="Freeform 4" id="4"/>
          <p:cNvSpPr/>
          <p:nvPr/>
        </p:nvSpPr>
        <p:spPr>
          <a:xfrm flipH="false" flipV="false" rot="0">
            <a:off x="2984323" y="2694482"/>
            <a:ext cx="8159199" cy="2997691"/>
          </a:xfrm>
          <a:custGeom>
            <a:avLst/>
            <a:gdLst/>
            <a:ahLst/>
            <a:cxnLst/>
            <a:rect r="r" b="b" t="t" l="l"/>
            <a:pathLst>
              <a:path h="2997691" w="8159199">
                <a:moveTo>
                  <a:pt x="0" y="0"/>
                </a:moveTo>
                <a:lnTo>
                  <a:pt x="8159200" y="0"/>
                </a:lnTo>
                <a:lnTo>
                  <a:pt x="8159200" y="2997691"/>
                </a:lnTo>
                <a:lnTo>
                  <a:pt x="0" y="2997691"/>
                </a:lnTo>
                <a:lnTo>
                  <a:pt x="0" y="0"/>
                </a:lnTo>
                <a:close/>
              </a:path>
            </a:pathLst>
          </a:custGeom>
          <a:blipFill>
            <a:blip r:embed="rId4"/>
            <a:stretch>
              <a:fillRect l="-34680" t="-162317" r="0" b="-289964"/>
            </a:stretch>
          </a:blipFill>
        </p:spPr>
      </p:sp>
      <p:sp>
        <p:nvSpPr>
          <p:cNvPr name="Freeform 5" id="5"/>
          <p:cNvSpPr/>
          <p:nvPr/>
        </p:nvSpPr>
        <p:spPr>
          <a:xfrm flipH="false" flipV="false" rot="0">
            <a:off x="3923359" y="2159720"/>
            <a:ext cx="4737744" cy="534762"/>
          </a:xfrm>
          <a:custGeom>
            <a:avLst/>
            <a:gdLst/>
            <a:ahLst/>
            <a:cxnLst/>
            <a:rect r="r" b="b" t="t" l="l"/>
            <a:pathLst>
              <a:path h="534762" w="4737744">
                <a:moveTo>
                  <a:pt x="0" y="0"/>
                </a:moveTo>
                <a:lnTo>
                  <a:pt x="4737744" y="0"/>
                </a:lnTo>
                <a:lnTo>
                  <a:pt x="4737744" y="534762"/>
                </a:lnTo>
                <a:lnTo>
                  <a:pt x="0" y="534762"/>
                </a:lnTo>
                <a:lnTo>
                  <a:pt x="0" y="0"/>
                </a:lnTo>
                <a:close/>
              </a:path>
            </a:pathLst>
          </a:custGeom>
          <a:blipFill>
            <a:blip r:embed="rId4"/>
            <a:stretch>
              <a:fillRect l="-117629" t="-4353" r="-117629" b="-4370596"/>
            </a:stretch>
          </a:blipFill>
        </p:spPr>
      </p:sp>
      <p:sp>
        <p:nvSpPr>
          <p:cNvPr name="TextBox 6" id="6"/>
          <p:cNvSpPr txBox="true"/>
          <p:nvPr/>
        </p:nvSpPr>
        <p:spPr>
          <a:xfrm rot="0">
            <a:off x="3607854" y="799216"/>
            <a:ext cx="16523683" cy="573406"/>
          </a:xfrm>
          <a:prstGeom prst="rect">
            <a:avLst/>
          </a:prstGeom>
        </p:spPr>
        <p:txBody>
          <a:bodyPr anchor="t" rtlCol="false" tIns="0" lIns="0" bIns="0" rIns="0">
            <a:spAutoFit/>
          </a:bodyPr>
          <a:lstStyle/>
          <a:p>
            <a:pPr algn="l">
              <a:lnSpc>
                <a:spcPts val="4619"/>
              </a:lnSpc>
              <a:spcBef>
                <a:spcPct val="0"/>
              </a:spcBef>
            </a:pPr>
            <a:r>
              <a:rPr lang="en-US" b="true" sz="3299" spc="1385">
                <a:solidFill>
                  <a:srgbClr val="827564"/>
                </a:solidFill>
                <a:latin typeface="Open Sauce Bold"/>
                <a:ea typeface="Open Sauce Bold"/>
                <a:cs typeface="Open Sauce Bold"/>
                <a:sym typeface="Open Sauce Bold"/>
              </a:rPr>
              <a:t>ΟΠΤΙΚΟΠΟΙΗΣΗ ΧΑΡΑΚΤΗΡΙΣΤΙΚΩΝ</a:t>
            </a:r>
          </a:p>
        </p:txBody>
      </p:sp>
      <p:sp>
        <p:nvSpPr>
          <p:cNvPr name="Freeform 7" id="7"/>
          <p:cNvSpPr/>
          <p:nvPr/>
        </p:nvSpPr>
        <p:spPr>
          <a:xfrm flipH="false" flipV="false" rot="-4210757">
            <a:off x="11231227" y="-3974306"/>
            <a:ext cx="18930865" cy="18758766"/>
          </a:xfrm>
          <a:custGeom>
            <a:avLst/>
            <a:gdLst/>
            <a:ahLst/>
            <a:cxnLst/>
            <a:rect r="r" b="b" t="t" l="l"/>
            <a:pathLst>
              <a:path h="18758766" w="18930865">
                <a:moveTo>
                  <a:pt x="0" y="0"/>
                </a:moveTo>
                <a:lnTo>
                  <a:pt x="18930865" y="0"/>
                </a:lnTo>
                <a:lnTo>
                  <a:pt x="18930865" y="18758767"/>
                </a:lnTo>
                <a:lnTo>
                  <a:pt x="0" y="18758767"/>
                </a:lnTo>
                <a:lnTo>
                  <a:pt x="0" y="0"/>
                </a:lnTo>
                <a:close/>
              </a:path>
            </a:pathLst>
          </a:custGeom>
          <a:blipFill>
            <a:blip r:embed="rId5">
              <a:alphaModFix amt="7999"/>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42435" y="2811715"/>
            <a:ext cx="2412473" cy="908885"/>
          </a:xfrm>
          <a:custGeom>
            <a:avLst/>
            <a:gdLst/>
            <a:ahLst/>
            <a:cxnLst/>
            <a:rect r="r" b="b" t="t" l="l"/>
            <a:pathLst>
              <a:path h="908885" w="2412473">
                <a:moveTo>
                  <a:pt x="0" y="0"/>
                </a:moveTo>
                <a:lnTo>
                  <a:pt x="2412473" y="0"/>
                </a:lnTo>
                <a:lnTo>
                  <a:pt x="2412473" y="908885"/>
                </a:lnTo>
                <a:lnTo>
                  <a:pt x="0" y="908885"/>
                </a:lnTo>
                <a:lnTo>
                  <a:pt x="0" y="0"/>
                </a:lnTo>
                <a:close/>
              </a:path>
            </a:pathLst>
          </a:custGeom>
          <a:blipFill>
            <a:blip r:embed="rId7"/>
            <a:stretch>
              <a:fillRect l="0" t="0" r="0" b="0"/>
            </a:stretch>
          </a:blipFill>
        </p:spPr>
      </p:sp>
      <p:sp>
        <p:nvSpPr>
          <p:cNvPr name="AutoShape 9" id="9"/>
          <p:cNvSpPr/>
          <p:nvPr/>
        </p:nvSpPr>
        <p:spPr>
          <a:xfrm flipH="true">
            <a:off x="3607854" y="1496769"/>
            <a:ext cx="12329527" cy="0"/>
          </a:xfrm>
          <a:prstGeom prst="line">
            <a:avLst/>
          </a:prstGeom>
          <a:ln cap="flat" w="38100">
            <a:solidFill>
              <a:srgbClr val="827564"/>
            </a:solidFill>
            <a:prstDash val="solid"/>
            <a:headEnd type="oval" len="lg" w="lg"/>
            <a:tailEnd type="oval" len="lg" w="lg"/>
          </a:ln>
        </p:spPr>
      </p:sp>
      <p:sp>
        <p:nvSpPr>
          <p:cNvPr name="Freeform 10" id="10"/>
          <p:cNvSpPr/>
          <p:nvPr/>
        </p:nvSpPr>
        <p:spPr>
          <a:xfrm flipH="false" flipV="false" rot="0">
            <a:off x="154665" y="4193328"/>
            <a:ext cx="2830354" cy="1498846"/>
          </a:xfrm>
          <a:custGeom>
            <a:avLst/>
            <a:gdLst/>
            <a:ahLst/>
            <a:cxnLst/>
            <a:rect r="r" b="b" t="t" l="l"/>
            <a:pathLst>
              <a:path h="1498846" w="2830354">
                <a:moveTo>
                  <a:pt x="0" y="0"/>
                </a:moveTo>
                <a:lnTo>
                  <a:pt x="2830355" y="0"/>
                </a:lnTo>
                <a:lnTo>
                  <a:pt x="2830355" y="1498845"/>
                </a:lnTo>
                <a:lnTo>
                  <a:pt x="0" y="1498845"/>
                </a:lnTo>
                <a:lnTo>
                  <a:pt x="0" y="0"/>
                </a:lnTo>
                <a:close/>
              </a:path>
            </a:pathLst>
          </a:custGeom>
          <a:blipFill>
            <a:blip r:embed="rId4"/>
            <a:stretch>
              <a:fillRect l="0" t="-424634" r="-288250" b="-579929"/>
            </a:stretch>
          </a:blipFill>
        </p:spPr>
      </p:sp>
      <p:sp>
        <p:nvSpPr>
          <p:cNvPr name="Freeform 11" id="11"/>
          <p:cNvSpPr/>
          <p:nvPr/>
        </p:nvSpPr>
        <p:spPr>
          <a:xfrm flipH="false" flipV="false" rot="0">
            <a:off x="154665" y="2718188"/>
            <a:ext cx="2792451" cy="1475139"/>
          </a:xfrm>
          <a:custGeom>
            <a:avLst/>
            <a:gdLst/>
            <a:ahLst/>
            <a:cxnLst/>
            <a:rect r="r" b="b" t="t" l="l"/>
            <a:pathLst>
              <a:path h="1475139" w="2792451">
                <a:moveTo>
                  <a:pt x="0" y="0"/>
                </a:moveTo>
                <a:lnTo>
                  <a:pt x="2792451" y="0"/>
                </a:lnTo>
                <a:lnTo>
                  <a:pt x="2792451" y="1475140"/>
                </a:lnTo>
                <a:lnTo>
                  <a:pt x="0" y="1475140"/>
                </a:lnTo>
                <a:lnTo>
                  <a:pt x="0" y="0"/>
                </a:lnTo>
                <a:close/>
              </a:path>
            </a:pathLst>
          </a:custGeom>
          <a:blipFill>
            <a:blip r:embed="rId4"/>
            <a:stretch>
              <a:fillRect l="0" t="-1018040" r="-292021" b="0"/>
            </a:stretch>
          </a:blipFill>
        </p:spPr>
      </p:sp>
      <p:sp>
        <p:nvSpPr>
          <p:cNvPr name="TextBox 12" id="12"/>
          <p:cNvSpPr txBox="true"/>
          <p:nvPr/>
        </p:nvSpPr>
        <p:spPr>
          <a:xfrm rot="0">
            <a:off x="12506776" y="1792044"/>
            <a:ext cx="5283791" cy="3989651"/>
          </a:xfrm>
          <a:prstGeom prst="rect">
            <a:avLst/>
          </a:prstGeom>
        </p:spPr>
        <p:txBody>
          <a:bodyPr anchor="t" rtlCol="false" tIns="0" lIns="0" bIns="0" rIns="0">
            <a:spAutoFit/>
          </a:bodyPr>
          <a:lstStyle/>
          <a:p>
            <a:pPr algn="l">
              <a:lnSpc>
                <a:spcPts val="2697"/>
              </a:lnSpc>
            </a:pPr>
            <a:r>
              <a:rPr lang="en-US" sz="1927">
                <a:solidFill>
                  <a:srgbClr val="695C4A"/>
                </a:solidFill>
                <a:latin typeface="Glacial Indifference"/>
                <a:ea typeface="Glacial Indifference"/>
                <a:cs typeface="Glacial Indifference"/>
                <a:sym typeface="Glacial Indifference"/>
              </a:rPr>
              <a:t>Σημειώνουμε αρχικά ότι παράγονται συνολικά περίπου </a:t>
            </a:r>
            <a:r>
              <a:rPr lang="en-US" sz="1927" b="true">
                <a:solidFill>
                  <a:srgbClr val="695C4A"/>
                </a:solidFill>
                <a:latin typeface="Glacial Indifference Bold"/>
                <a:ea typeface="Glacial Indifference Bold"/>
                <a:cs typeface="Glacial Indifference Bold"/>
                <a:sym typeface="Glacial Indifference Bold"/>
              </a:rPr>
              <a:t>101 frames, </a:t>
            </a:r>
            <a:r>
              <a:rPr lang="en-US" sz="1927">
                <a:solidFill>
                  <a:srgbClr val="695C4A"/>
                </a:solidFill>
                <a:latin typeface="Glacial Indifference"/>
                <a:ea typeface="Glacial Indifference"/>
                <a:cs typeface="Glacial Indifference"/>
                <a:sym typeface="Glacial Indifference"/>
              </a:rPr>
              <a:t>σύμφωνα με τον τύπο:</a:t>
            </a:r>
          </a:p>
          <a:p>
            <a:pPr algn="l">
              <a:lnSpc>
                <a:spcPts val="2697"/>
              </a:lnSpc>
            </a:pPr>
          </a:p>
          <a:p>
            <a:pPr algn="l">
              <a:lnSpc>
                <a:spcPts val="2697"/>
              </a:lnSpc>
            </a:pPr>
          </a:p>
          <a:p>
            <a:pPr algn="l">
              <a:lnSpc>
                <a:spcPts val="2697"/>
              </a:lnSpc>
            </a:pPr>
          </a:p>
          <a:p>
            <a:pPr algn="l">
              <a:lnSpc>
                <a:spcPts val="2697"/>
              </a:lnSpc>
            </a:pPr>
            <a:r>
              <a:rPr lang="en-US" sz="1927">
                <a:solidFill>
                  <a:srgbClr val="695C4A"/>
                </a:solidFill>
                <a:latin typeface="Glacial Indifference"/>
                <a:ea typeface="Glacial Indifference"/>
                <a:cs typeface="Glacial Indifference"/>
                <a:sym typeface="Glacial Indifference"/>
              </a:rPr>
              <a:t>Ωστόσο, η χρήση του ορίσματος</a:t>
            </a:r>
          </a:p>
          <a:p>
            <a:pPr algn="l">
              <a:lnSpc>
                <a:spcPts val="2697"/>
              </a:lnSpc>
            </a:pPr>
            <a:r>
              <a:rPr lang="en-US" sz="1927" b="true">
                <a:solidFill>
                  <a:srgbClr val="695C4A"/>
                </a:solidFill>
                <a:latin typeface="Glacial Indifference Bold"/>
                <a:ea typeface="Glacial Indifference Bold"/>
                <a:cs typeface="Glacial Indifference Bold"/>
                <a:sym typeface="Glacial Indifference Bold"/>
              </a:rPr>
              <a:t>center=True </a:t>
            </a:r>
            <a:r>
              <a:rPr lang="en-US" sz="1927">
                <a:solidFill>
                  <a:srgbClr val="695C4A"/>
                </a:solidFill>
                <a:latin typeface="Glacial Indifference"/>
                <a:ea typeface="Glacial Indifference"/>
                <a:cs typeface="Glacial Indifference"/>
                <a:sym typeface="Glacial Indifference"/>
              </a:rPr>
              <a:t>(π.χ. στη librosa.stft()) μπορεί να οδηγήσει σε επιπλέον καρέ πέρα από</a:t>
            </a:r>
          </a:p>
          <a:p>
            <a:pPr algn="l">
              <a:lnSpc>
                <a:spcPts val="2697"/>
              </a:lnSpc>
              <a:spcBef>
                <a:spcPct val="0"/>
              </a:spcBef>
            </a:pPr>
            <a:r>
              <a:rPr lang="en-US" sz="1927">
                <a:solidFill>
                  <a:srgbClr val="695C4A"/>
                </a:solidFill>
                <a:latin typeface="Glacial Indifference"/>
                <a:ea typeface="Glacial Indifference"/>
                <a:cs typeface="Glacial Indifference"/>
                <a:sym typeface="Glacial Indifference"/>
              </a:rPr>
              <a:t>τα αυστηρά χρονικά όρια, γι’ αυτό και στη πράξη βλέπουμε ότι προκύπτουν 101 αντί για 98.</a:t>
            </a:r>
          </a:p>
        </p:txBody>
      </p:sp>
      <p:sp>
        <p:nvSpPr>
          <p:cNvPr name="TextBox 13" id="13"/>
          <p:cNvSpPr txBox="true"/>
          <p:nvPr/>
        </p:nvSpPr>
        <p:spPr>
          <a:xfrm rot="0">
            <a:off x="12009343" y="5963974"/>
            <a:ext cx="6278657" cy="4323026"/>
          </a:xfrm>
          <a:prstGeom prst="rect">
            <a:avLst/>
          </a:prstGeom>
        </p:spPr>
        <p:txBody>
          <a:bodyPr anchor="t" rtlCol="false" tIns="0" lIns="0" bIns="0" rIns="0">
            <a:spAutoFit/>
          </a:bodyPr>
          <a:lstStyle/>
          <a:p>
            <a:pPr algn="l" marL="416065" indent="-208032" lvl="1">
              <a:lnSpc>
                <a:spcPts val="2697"/>
              </a:lnSpc>
              <a:buFont typeface="Arial"/>
              <a:buChar char="•"/>
            </a:pPr>
            <a:r>
              <a:rPr lang="en-US" sz="1927">
                <a:solidFill>
                  <a:srgbClr val="695C4A"/>
                </a:solidFill>
                <a:latin typeface="Glacial Indifference"/>
                <a:ea typeface="Glacial Indifference"/>
                <a:cs typeface="Glacial Indifference"/>
                <a:sym typeface="Glacial Indifference"/>
              </a:rPr>
              <a:t>Τα </a:t>
            </a:r>
            <a:r>
              <a:rPr lang="en-US" b="true" sz="1927">
                <a:solidFill>
                  <a:srgbClr val="695C4A"/>
                </a:solidFill>
                <a:latin typeface="Glacial Indifference Bold"/>
                <a:ea typeface="Glacial Indifference Bold"/>
                <a:cs typeface="Glacial Indifference Bold"/>
                <a:sym typeface="Glacial Indifference Bold"/>
              </a:rPr>
              <a:t>Crackles </a:t>
            </a:r>
            <a:r>
              <a:rPr lang="en-US" sz="1927">
                <a:solidFill>
                  <a:srgbClr val="695C4A"/>
                </a:solidFill>
                <a:latin typeface="Glacial Indifference"/>
                <a:ea typeface="Glacial Indifference"/>
                <a:cs typeface="Glacial Indifference"/>
                <a:sym typeface="Glacial Indifference"/>
              </a:rPr>
              <a:t>εμφανίζουν </a:t>
            </a:r>
            <a:r>
              <a:rPr lang="en-US" b="true" sz="1927">
                <a:solidFill>
                  <a:srgbClr val="695C4A"/>
                </a:solidFill>
                <a:latin typeface="Glacial Indifference Bold"/>
                <a:ea typeface="Glacial Indifference Bold"/>
                <a:cs typeface="Glacial Indifference Bold"/>
                <a:sym typeface="Glacial Indifference Bold"/>
              </a:rPr>
              <a:t>υψηλότερες τιμές σε Spectral Flux, Spectral Roll-off</a:t>
            </a:r>
            <a:r>
              <a:rPr lang="en-US" sz="1927">
                <a:solidFill>
                  <a:srgbClr val="695C4A"/>
                </a:solidFill>
                <a:latin typeface="Glacial Indifference"/>
                <a:ea typeface="Glacial Indifference"/>
                <a:cs typeface="Glacial Indifference"/>
                <a:sym typeface="Glacial Indifference"/>
              </a:rPr>
              <a:t>, </a:t>
            </a:r>
            <a:r>
              <a:rPr lang="en-US" sz="1927">
                <a:solidFill>
                  <a:srgbClr val="695C4A"/>
                </a:solidFill>
                <a:latin typeface="Glacial Indifference"/>
                <a:ea typeface="Glacial Indifference"/>
                <a:cs typeface="Glacial Indifference"/>
                <a:sym typeface="Glacial Indifference"/>
              </a:rPr>
              <a:t>υποδεικνύοντας την απότομη και παροδική φύση τους.</a:t>
            </a:r>
          </a:p>
          <a:p>
            <a:pPr algn="l" marL="416065" indent="-208032" lvl="1">
              <a:lnSpc>
                <a:spcPts val="2697"/>
              </a:lnSpc>
              <a:buFont typeface="Arial"/>
              <a:buChar char="•"/>
            </a:pPr>
            <a:r>
              <a:rPr lang="en-US" sz="1927">
                <a:solidFill>
                  <a:srgbClr val="695C4A"/>
                </a:solidFill>
                <a:latin typeface="Glacial Indifference"/>
                <a:ea typeface="Glacial Indifference"/>
                <a:cs typeface="Glacial Indifference"/>
                <a:sym typeface="Glacial Indifference"/>
              </a:rPr>
              <a:t>Τα </a:t>
            </a:r>
            <a:r>
              <a:rPr lang="en-US" b="true" sz="1927">
                <a:solidFill>
                  <a:srgbClr val="695C4A"/>
                </a:solidFill>
                <a:latin typeface="Glacial Indifference Bold"/>
                <a:ea typeface="Glacial Indifference Bold"/>
                <a:cs typeface="Glacial Indifference Bold"/>
                <a:sym typeface="Glacial Indifference Bold"/>
              </a:rPr>
              <a:t>Wheezes </a:t>
            </a:r>
            <a:r>
              <a:rPr lang="en-US" sz="1927">
                <a:solidFill>
                  <a:srgbClr val="695C4A"/>
                </a:solidFill>
                <a:latin typeface="Glacial Indifference"/>
                <a:ea typeface="Glacial Indifference"/>
                <a:cs typeface="Glacial Indifference"/>
                <a:sym typeface="Glacial Indifference"/>
              </a:rPr>
              <a:t>παρουσιάζουν </a:t>
            </a:r>
            <a:r>
              <a:rPr lang="en-US" b="true" sz="1927">
                <a:solidFill>
                  <a:srgbClr val="695C4A"/>
                </a:solidFill>
                <a:latin typeface="Glacial Indifference Bold"/>
                <a:ea typeface="Glacial Indifference Bold"/>
                <a:cs typeface="Glacial Indifference Bold"/>
                <a:sym typeface="Glacial Indifference Bold"/>
              </a:rPr>
              <a:t>αυξημένο Spectral Flatness </a:t>
            </a:r>
            <a:r>
              <a:rPr lang="en-US" sz="1927">
                <a:solidFill>
                  <a:srgbClr val="695C4A"/>
                </a:solidFill>
                <a:latin typeface="Glacial Indifference"/>
                <a:ea typeface="Glacial Indifference"/>
                <a:cs typeface="Glacial Indifference"/>
                <a:sym typeface="Glacial Indifference"/>
              </a:rPr>
              <a:t>και </a:t>
            </a:r>
            <a:r>
              <a:rPr lang="en-US" b="true" sz="1927">
                <a:solidFill>
                  <a:srgbClr val="695C4A"/>
                </a:solidFill>
                <a:latin typeface="Glacial Indifference Bold"/>
                <a:ea typeface="Glacial Indifference Bold"/>
                <a:cs typeface="Glacial Indifference Bold"/>
                <a:sym typeface="Glacial Indifference Bold"/>
              </a:rPr>
              <a:t>μικρότερο ZCR</a:t>
            </a:r>
            <a:r>
              <a:rPr lang="en-US" sz="1927">
                <a:solidFill>
                  <a:srgbClr val="695C4A"/>
                </a:solidFill>
                <a:latin typeface="Glacial Indifference"/>
                <a:ea typeface="Glacial Indifference"/>
                <a:cs typeface="Glacial Indifference"/>
                <a:sym typeface="Glacial Indifference"/>
              </a:rPr>
              <a:t>, κάτι που συμφωνεί με την πιο «αρμονική» και συνεχόμενη μορφή τους.</a:t>
            </a:r>
          </a:p>
          <a:p>
            <a:pPr algn="l" marL="416065" indent="-208032" lvl="1">
              <a:lnSpc>
                <a:spcPts val="2697"/>
              </a:lnSpc>
              <a:spcBef>
                <a:spcPct val="0"/>
              </a:spcBef>
              <a:buFont typeface="Arial"/>
              <a:buChar char="•"/>
            </a:pPr>
            <a:r>
              <a:rPr lang="en-US" sz="1927">
                <a:solidFill>
                  <a:srgbClr val="695C4A"/>
                </a:solidFill>
                <a:latin typeface="Glacial Indifference"/>
                <a:ea typeface="Glacial Indifference"/>
                <a:cs typeface="Glacial Indifference"/>
                <a:sym typeface="Glacial Indifference"/>
              </a:rPr>
              <a:t>Στα </a:t>
            </a:r>
            <a:r>
              <a:rPr lang="en-US" b="true" sz="1927">
                <a:solidFill>
                  <a:srgbClr val="695C4A"/>
                </a:solidFill>
                <a:latin typeface="Glacial Indifference Bold"/>
                <a:ea typeface="Glacial Indifference Bold"/>
                <a:cs typeface="Glacial Indifference Bold"/>
                <a:sym typeface="Glacial Indifference Bold"/>
              </a:rPr>
              <a:t>MFCCs </a:t>
            </a:r>
            <a:r>
              <a:rPr lang="en-US" sz="1927">
                <a:solidFill>
                  <a:srgbClr val="695C4A"/>
                </a:solidFill>
                <a:latin typeface="Glacial Indifference"/>
                <a:ea typeface="Glacial Indifference"/>
                <a:cs typeface="Glacial Indifference"/>
                <a:sym typeface="Glacial Indifference"/>
              </a:rPr>
              <a:t>και</a:t>
            </a:r>
            <a:r>
              <a:rPr lang="en-US" b="true" sz="1927">
                <a:solidFill>
                  <a:srgbClr val="695C4A"/>
                </a:solidFill>
                <a:latin typeface="Glacial Indifference Bold"/>
                <a:ea typeface="Glacial Indifference Bold"/>
                <a:cs typeface="Glacial Indifference Bold"/>
                <a:sym typeface="Glacial Indifference Bold"/>
              </a:rPr>
              <a:t> Log-Mel Energies</a:t>
            </a:r>
            <a:r>
              <a:rPr lang="en-US" sz="1927">
                <a:solidFill>
                  <a:srgbClr val="695C4A"/>
                </a:solidFill>
                <a:latin typeface="Glacial Indifference"/>
                <a:ea typeface="Glacial Indifference"/>
                <a:cs typeface="Glacial Indifference"/>
                <a:sym typeface="Glacial Indifference"/>
              </a:rPr>
              <a:t>, οι παθολογικοί ήχοι διατηρούν ξεχωριστές χρονικο-συχνοτικές υπογραφές, ιδιαίτερα σε </a:t>
            </a:r>
            <a:r>
              <a:rPr lang="en-US" b="true" sz="1927">
                <a:solidFill>
                  <a:srgbClr val="695C4A"/>
                </a:solidFill>
                <a:latin typeface="Glacial Indifference Bold"/>
                <a:ea typeface="Glacial Indifference Bold"/>
                <a:cs typeface="Glacial Indifference Bold"/>
                <a:sym typeface="Glacial Indifference Bold"/>
              </a:rPr>
              <a:t>μεσαίες και υψηλές συχνότητες</a:t>
            </a:r>
            <a:r>
              <a:rPr lang="en-US" sz="1927">
                <a:solidFill>
                  <a:srgbClr val="695C4A"/>
                </a:solidFill>
                <a:latin typeface="Glacial Indifference"/>
                <a:ea typeface="Glacial Indifference"/>
                <a:cs typeface="Glacial Indifference"/>
                <a:sym typeface="Glacial Indifference"/>
              </a:rPr>
              <a:t>, κάτι που τους καθιστά διαχωρίσιμους από τους φυσιολογικούς.</a:t>
            </a:r>
          </a:p>
          <a:p>
            <a:pPr algn="l">
              <a:lnSpc>
                <a:spcPts val="2697"/>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2886274" y="1236980"/>
            <a:ext cx="13670401" cy="19050"/>
          </a:xfrm>
          <a:prstGeom prst="line">
            <a:avLst/>
          </a:prstGeom>
          <a:ln cap="flat" w="38100">
            <a:solidFill>
              <a:srgbClr val="827564"/>
            </a:solidFill>
            <a:prstDash val="solid"/>
            <a:headEnd type="oval" len="lg" w="lg"/>
            <a:tailEnd type="oval" len="lg" w="lg"/>
          </a:ln>
        </p:spPr>
      </p:sp>
      <p:sp>
        <p:nvSpPr>
          <p:cNvPr name="TextBox 3" id="3"/>
          <p:cNvSpPr txBox="true"/>
          <p:nvPr/>
        </p:nvSpPr>
        <p:spPr>
          <a:xfrm rot="0">
            <a:off x="2886274" y="467995"/>
            <a:ext cx="16523683" cy="530861"/>
          </a:xfrm>
          <a:prstGeom prst="rect">
            <a:avLst/>
          </a:prstGeom>
        </p:spPr>
        <p:txBody>
          <a:bodyPr anchor="t" rtlCol="false" tIns="0" lIns="0" bIns="0" rIns="0">
            <a:spAutoFit/>
          </a:bodyPr>
          <a:lstStyle/>
          <a:p>
            <a:pPr algn="l">
              <a:lnSpc>
                <a:spcPts val="4339"/>
              </a:lnSpc>
              <a:spcBef>
                <a:spcPct val="0"/>
              </a:spcBef>
            </a:pPr>
            <a:r>
              <a:rPr lang="en-US" b="true" sz="3099" spc="1301">
                <a:solidFill>
                  <a:srgbClr val="827564"/>
                </a:solidFill>
                <a:latin typeface="Open Sauce Bold"/>
                <a:ea typeface="Open Sauce Bold"/>
                <a:cs typeface="Open Sauce Bold"/>
                <a:sym typeface="Open Sauce Bold"/>
              </a:rPr>
              <a:t>ΣΤΑΤΙΣΤΙΚΗ ΑΝΑΛΥΣΗ ΧΑΡΑΚΤΗΡΙΣΤΙΚΩΝ</a:t>
            </a:r>
          </a:p>
        </p:txBody>
      </p:sp>
      <p:sp>
        <p:nvSpPr>
          <p:cNvPr name="Freeform 4" id="4"/>
          <p:cNvSpPr/>
          <p:nvPr/>
        </p:nvSpPr>
        <p:spPr>
          <a:xfrm flipH="true" flipV="true" rot="-8100000">
            <a:off x="-9402930" y="-869197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10674" y="1996122"/>
            <a:ext cx="4503759" cy="6759864"/>
          </a:xfrm>
          <a:custGeom>
            <a:avLst/>
            <a:gdLst/>
            <a:ahLst/>
            <a:cxnLst/>
            <a:rect r="r" b="b" t="t" l="l"/>
            <a:pathLst>
              <a:path h="6759864" w="4503759">
                <a:moveTo>
                  <a:pt x="0" y="0"/>
                </a:moveTo>
                <a:lnTo>
                  <a:pt x="4503759" y="0"/>
                </a:lnTo>
                <a:lnTo>
                  <a:pt x="4503759" y="6759864"/>
                </a:lnTo>
                <a:lnTo>
                  <a:pt x="0" y="6759864"/>
                </a:lnTo>
                <a:lnTo>
                  <a:pt x="0" y="0"/>
                </a:lnTo>
                <a:close/>
              </a:path>
            </a:pathLst>
          </a:custGeom>
          <a:blipFill>
            <a:blip r:embed="rId4"/>
            <a:stretch>
              <a:fillRect l="0" t="0" r="0" b="0"/>
            </a:stretch>
          </a:blipFill>
        </p:spPr>
      </p:sp>
      <p:sp>
        <p:nvSpPr>
          <p:cNvPr name="Freeform 6" id="6"/>
          <p:cNvSpPr/>
          <p:nvPr/>
        </p:nvSpPr>
        <p:spPr>
          <a:xfrm flipH="false" flipV="false" rot="0">
            <a:off x="5726768" y="2103604"/>
            <a:ext cx="4638957" cy="6759864"/>
          </a:xfrm>
          <a:custGeom>
            <a:avLst/>
            <a:gdLst/>
            <a:ahLst/>
            <a:cxnLst/>
            <a:rect r="r" b="b" t="t" l="l"/>
            <a:pathLst>
              <a:path h="6759864" w="4638957">
                <a:moveTo>
                  <a:pt x="0" y="0"/>
                </a:moveTo>
                <a:lnTo>
                  <a:pt x="4638956" y="0"/>
                </a:lnTo>
                <a:lnTo>
                  <a:pt x="4638956" y="6759864"/>
                </a:lnTo>
                <a:lnTo>
                  <a:pt x="0" y="6759864"/>
                </a:lnTo>
                <a:lnTo>
                  <a:pt x="0" y="0"/>
                </a:lnTo>
                <a:close/>
              </a:path>
            </a:pathLst>
          </a:custGeom>
          <a:blipFill>
            <a:blip r:embed="rId5"/>
            <a:stretch>
              <a:fillRect l="0" t="0" r="0" b="0"/>
            </a:stretch>
          </a:blipFill>
        </p:spPr>
      </p:sp>
      <p:sp>
        <p:nvSpPr>
          <p:cNvPr name="Freeform 7" id="7"/>
          <p:cNvSpPr/>
          <p:nvPr/>
        </p:nvSpPr>
        <p:spPr>
          <a:xfrm flipH="false" flipV="false" rot="0">
            <a:off x="10986890" y="2211086"/>
            <a:ext cx="6787986" cy="2520040"/>
          </a:xfrm>
          <a:custGeom>
            <a:avLst/>
            <a:gdLst/>
            <a:ahLst/>
            <a:cxnLst/>
            <a:rect r="r" b="b" t="t" l="l"/>
            <a:pathLst>
              <a:path h="2520040" w="6787986">
                <a:moveTo>
                  <a:pt x="0" y="0"/>
                </a:moveTo>
                <a:lnTo>
                  <a:pt x="6787985" y="0"/>
                </a:lnTo>
                <a:lnTo>
                  <a:pt x="6787985" y="2520039"/>
                </a:lnTo>
                <a:lnTo>
                  <a:pt x="0" y="2520039"/>
                </a:lnTo>
                <a:lnTo>
                  <a:pt x="0" y="0"/>
                </a:lnTo>
                <a:close/>
              </a:path>
            </a:pathLst>
          </a:custGeom>
          <a:blipFill>
            <a:blip r:embed="rId6"/>
            <a:stretch>
              <a:fillRect l="0" t="0" r="0" b="0"/>
            </a:stretch>
          </a:blipFill>
        </p:spPr>
      </p:sp>
      <p:sp>
        <p:nvSpPr>
          <p:cNvPr name="Freeform 8" id="8"/>
          <p:cNvSpPr/>
          <p:nvPr/>
        </p:nvSpPr>
        <p:spPr>
          <a:xfrm flipH="false" flipV="false" rot="0">
            <a:off x="10986890" y="4953957"/>
            <a:ext cx="6787986" cy="2520040"/>
          </a:xfrm>
          <a:custGeom>
            <a:avLst/>
            <a:gdLst/>
            <a:ahLst/>
            <a:cxnLst/>
            <a:rect r="r" b="b" t="t" l="l"/>
            <a:pathLst>
              <a:path h="2520040" w="6787986">
                <a:moveTo>
                  <a:pt x="0" y="0"/>
                </a:moveTo>
                <a:lnTo>
                  <a:pt x="6787985" y="0"/>
                </a:lnTo>
                <a:lnTo>
                  <a:pt x="6787985" y="2520039"/>
                </a:lnTo>
                <a:lnTo>
                  <a:pt x="0" y="2520039"/>
                </a:lnTo>
                <a:lnTo>
                  <a:pt x="0" y="0"/>
                </a:lnTo>
                <a:close/>
              </a:path>
            </a:pathLst>
          </a:custGeom>
          <a:blipFill>
            <a:blip r:embed="rId7"/>
            <a:stretch>
              <a:fillRect l="0" t="0" r="0" b="0"/>
            </a:stretch>
          </a:blipFill>
        </p:spPr>
      </p:sp>
      <p:sp>
        <p:nvSpPr>
          <p:cNvPr name="Freeform 9" id="9"/>
          <p:cNvSpPr/>
          <p:nvPr/>
        </p:nvSpPr>
        <p:spPr>
          <a:xfrm flipH="true" flipV="true" rot="-9388001">
            <a:off x="14012573" y="261872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758063" y="1589405"/>
            <a:ext cx="4256371" cy="280670"/>
          </a:xfrm>
          <a:prstGeom prst="rect">
            <a:avLst/>
          </a:prstGeom>
        </p:spPr>
        <p:txBody>
          <a:bodyPr anchor="t" rtlCol="false" tIns="0" lIns="0" bIns="0" rIns="0">
            <a:spAutoFit/>
          </a:bodyPr>
          <a:lstStyle/>
          <a:p>
            <a:pPr algn="l">
              <a:lnSpc>
                <a:spcPts val="2380"/>
              </a:lnSpc>
              <a:spcBef>
                <a:spcPct val="0"/>
              </a:spcBef>
            </a:pPr>
            <a:r>
              <a:rPr lang="en-US" b="true" sz="1700" spc="714">
                <a:solidFill>
                  <a:srgbClr val="827564"/>
                </a:solidFill>
                <a:latin typeface="Open Sauce Bold"/>
                <a:ea typeface="Open Sauce Bold"/>
                <a:cs typeface="Open Sauce Bold"/>
                <a:sym typeface="Open Sauce Bold"/>
              </a:rPr>
              <a:t>KERNEL DENSITY PLOT</a:t>
            </a:r>
          </a:p>
        </p:txBody>
      </p:sp>
      <p:sp>
        <p:nvSpPr>
          <p:cNvPr name="TextBox 11" id="11"/>
          <p:cNvSpPr txBox="true"/>
          <p:nvPr/>
        </p:nvSpPr>
        <p:spPr>
          <a:xfrm rot="0">
            <a:off x="7119074" y="1589405"/>
            <a:ext cx="1763175" cy="280670"/>
          </a:xfrm>
          <a:prstGeom prst="rect">
            <a:avLst/>
          </a:prstGeom>
        </p:spPr>
        <p:txBody>
          <a:bodyPr anchor="t" rtlCol="false" tIns="0" lIns="0" bIns="0" rIns="0">
            <a:spAutoFit/>
          </a:bodyPr>
          <a:lstStyle/>
          <a:p>
            <a:pPr algn="l">
              <a:lnSpc>
                <a:spcPts val="2380"/>
              </a:lnSpc>
              <a:spcBef>
                <a:spcPct val="0"/>
              </a:spcBef>
            </a:pPr>
            <a:r>
              <a:rPr lang="en-US" b="true" sz="1700" spc="714">
                <a:solidFill>
                  <a:srgbClr val="827564"/>
                </a:solidFill>
                <a:latin typeface="Open Sauce Bold"/>
                <a:ea typeface="Open Sauce Bold"/>
                <a:cs typeface="Open Sauce Bold"/>
                <a:sym typeface="Open Sauce Bold"/>
              </a:rPr>
              <a:t>BOXPLOT</a:t>
            </a:r>
          </a:p>
        </p:txBody>
      </p:sp>
      <p:sp>
        <p:nvSpPr>
          <p:cNvPr name="TextBox 12" id="12"/>
          <p:cNvSpPr txBox="true"/>
          <p:nvPr/>
        </p:nvSpPr>
        <p:spPr>
          <a:xfrm rot="0">
            <a:off x="13718292" y="1589405"/>
            <a:ext cx="1325181" cy="280670"/>
          </a:xfrm>
          <a:prstGeom prst="rect">
            <a:avLst/>
          </a:prstGeom>
        </p:spPr>
        <p:txBody>
          <a:bodyPr anchor="t" rtlCol="false" tIns="0" lIns="0" bIns="0" rIns="0">
            <a:spAutoFit/>
          </a:bodyPr>
          <a:lstStyle/>
          <a:p>
            <a:pPr algn="l">
              <a:lnSpc>
                <a:spcPts val="2380"/>
              </a:lnSpc>
              <a:spcBef>
                <a:spcPct val="0"/>
              </a:spcBef>
            </a:pPr>
            <a:r>
              <a:rPr lang="en-US" b="true" sz="1700" spc="714">
                <a:solidFill>
                  <a:srgbClr val="827564"/>
                </a:solidFill>
                <a:latin typeface="Open Sauce Bold"/>
                <a:ea typeface="Open Sauce Bold"/>
                <a:cs typeface="Open Sauce Bold"/>
                <a:sym typeface="Open Sauce Bold"/>
              </a:rPr>
              <a:t>ANOVA</a:t>
            </a:r>
          </a:p>
        </p:txBody>
      </p:sp>
      <p:sp>
        <p:nvSpPr>
          <p:cNvPr name="TextBox 13" id="13"/>
          <p:cNvSpPr txBox="true"/>
          <p:nvPr/>
        </p:nvSpPr>
        <p:spPr>
          <a:xfrm rot="0">
            <a:off x="510674" y="8951900"/>
            <a:ext cx="4503759" cy="1081895"/>
          </a:xfrm>
          <a:prstGeom prst="rect">
            <a:avLst/>
          </a:prstGeom>
        </p:spPr>
        <p:txBody>
          <a:bodyPr anchor="t" rtlCol="false" tIns="0" lIns="0" bIns="0" rIns="0">
            <a:spAutoFit/>
          </a:bodyPr>
          <a:lstStyle/>
          <a:p>
            <a:pPr algn="l">
              <a:lnSpc>
                <a:spcPts val="1792"/>
              </a:lnSpc>
            </a:pPr>
            <a:r>
              <a:rPr lang="en-US" sz="1280">
                <a:solidFill>
                  <a:srgbClr val="695C4A"/>
                </a:solidFill>
                <a:latin typeface="Glacial Indifference"/>
                <a:ea typeface="Glacial Indifference"/>
                <a:cs typeface="Glacial Indifference"/>
                <a:sym typeface="Glacial Indifference"/>
              </a:rPr>
              <a:t>Πιο </a:t>
            </a:r>
            <a:r>
              <a:rPr lang="en-US" sz="1280" b="true">
                <a:solidFill>
                  <a:srgbClr val="695C4A"/>
                </a:solidFill>
                <a:latin typeface="Glacial Indifference Bold"/>
                <a:ea typeface="Glacial Indifference Bold"/>
                <a:cs typeface="Glacial Indifference Bold"/>
                <a:sym typeface="Glacial Indifference Bold"/>
              </a:rPr>
              <a:t>διαχωριστικά </a:t>
            </a:r>
            <a:r>
              <a:rPr lang="en-US" sz="1280">
                <a:solidFill>
                  <a:srgbClr val="695C4A"/>
                </a:solidFill>
                <a:latin typeface="Glacial Indifference"/>
                <a:ea typeface="Glacial Indifference"/>
                <a:cs typeface="Glacial Indifference"/>
                <a:sym typeface="Glacial Indifference"/>
              </a:rPr>
              <a:t>χαρακτηρ</a:t>
            </a:r>
            <a:r>
              <a:rPr lang="en-US" sz="1280">
                <a:solidFill>
                  <a:srgbClr val="695C4A"/>
                </a:solidFill>
                <a:latin typeface="Glacial Indifference"/>
                <a:ea typeface="Glacial Indifference"/>
                <a:cs typeface="Glacial Indifference"/>
                <a:sym typeface="Glacial Indifference"/>
              </a:rPr>
              <a:t>ισ</a:t>
            </a:r>
            <a:r>
              <a:rPr lang="en-US" sz="1280">
                <a:solidFill>
                  <a:srgbClr val="695C4A"/>
                </a:solidFill>
                <a:latin typeface="Glacial Indifference"/>
                <a:ea typeface="Glacial Indifference"/>
                <a:cs typeface="Glacial Indifference"/>
                <a:sym typeface="Glacial Indifference"/>
              </a:rPr>
              <a:t>τικά φαίνεται πως είναι οι </a:t>
            </a:r>
            <a:r>
              <a:rPr lang="en-US" sz="1280" b="true">
                <a:solidFill>
                  <a:srgbClr val="695C4A"/>
                </a:solidFill>
                <a:latin typeface="Glacial Indifference Bold"/>
                <a:ea typeface="Glacial Indifference Bold"/>
                <a:cs typeface="Glacial Indifference Bold"/>
                <a:sym typeface="Glacial Indifference Bold"/>
              </a:rPr>
              <a:t>πρώτοι συντελεστές MFCC (1–3)</a:t>
            </a:r>
            <a:r>
              <a:rPr lang="en-US" sz="1280">
                <a:solidFill>
                  <a:srgbClr val="695C4A"/>
                </a:solidFill>
                <a:latin typeface="Glacial Indifference"/>
                <a:ea typeface="Glacial Indifference"/>
                <a:cs typeface="Glacial Indifference"/>
                <a:sym typeface="Glacial Indifference"/>
              </a:rPr>
              <a:t>, το</a:t>
            </a:r>
            <a:r>
              <a:rPr lang="en-US" sz="1280" b="true">
                <a:solidFill>
                  <a:srgbClr val="695C4A"/>
                </a:solidFill>
                <a:latin typeface="Glacial Indifference Bold"/>
                <a:ea typeface="Glacial Indifference Bold"/>
                <a:cs typeface="Glacial Indifference Bold"/>
                <a:sym typeface="Glacial Indifference Bold"/>
              </a:rPr>
              <a:t> Spectral Centroid</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το </a:t>
            </a:r>
            <a:r>
              <a:rPr lang="en-US" sz="1280" b="true">
                <a:solidFill>
                  <a:srgbClr val="695C4A"/>
                </a:solidFill>
                <a:latin typeface="Glacial Indifference Bold"/>
                <a:ea typeface="Glacial Indifference Bold"/>
                <a:cs typeface="Glacial Indifference Bold"/>
                <a:sym typeface="Glacial Indifference Bold"/>
              </a:rPr>
              <a:t>Spectral Rolloff</a:t>
            </a:r>
            <a:r>
              <a:rPr lang="en-US" sz="1280">
                <a:solidFill>
                  <a:srgbClr val="695C4A"/>
                </a:solidFill>
                <a:latin typeface="Glacial Indifference"/>
                <a:ea typeface="Glacial Indifference"/>
                <a:cs typeface="Glacial Indifference"/>
                <a:sym typeface="Glacial Indifference"/>
              </a:rPr>
              <a:t>, το </a:t>
            </a:r>
            <a:r>
              <a:rPr lang="en-US" sz="1280" b="true">
                <a:solidFill>
                  <a:srgbClr val="695C4A"/>
                </a:solidFill>
                <a:latin typeface="Glacial Indifference Bold"/>
                <a:ea typeface="Glacial Indifference Bold"/>
                <a:cs typeface="Glacial Indifference Bold"/>
                <a:sym typeface="Glacial Indifference Bold"/>
              </a:rPr>
              <a:t>Zero Crossing Rate</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κα</a:t>
            </a:r>
            <a:r>
              <a:rPr lang="en-US" sz="1280">
                <a:solidFill>
                  <a:srgbClr val="695C4A"/>
                </a:solidFill>
                <a:latin typeface="Glacial Indifference"/>
                <a:ea typeface="Glacial Indifference"/>
                <a:cs typeface="Glacial Indifference"/>
                <a:sym typeface="Glacial Indifference"/>
              </a:rPr>
              <a:t>ι το </a:t>
            </a:r>
            <a:r>
              <a:rPr lang="en-US" sz="1280" b="true">
                <a:solidFill>
                  <a:srgbClr val="695C4A"/>
                </a:solidFill>
                <a:latin typeface="Glacial Indifference Bold"/>
                <a:ea typeface="Glacial Indifference Bold"/>
                <a:cs typeface="Glacial Indifference Bold"/>
                <a:sym typeface="Glacial Indifference Bold"/>
              </a:rPr>
              <a:t>Spectral Flux</a:t>
            </a:r>
            <a:r>
              <a:rPr lang="en-US" sz="1280">
                <a:solidFill>
                  <a:srgbClr val="695C4A"/>
                </a:solidFill>
                <a:latin typeface="Glacial Indifference"/>
                <a:ea typeface="Glacial Indifference"/>
                <a:cs typeface="Glacial Indifference"/>
                <a:sym typeface="Glacial Indifference"/>
              </a:rPr>
              <a:t>, ενώ </a:t>
            </a:r>
            <a:r>
              <a:rPr lang="en-US" sz="1280" b="true">
                <a:solidFill>
                  <a:srgbClr val="695C4A"/>
                </a:solidFill>
                <a:latin typeface="Glacial Indifference Bold"/>
                <a:ea typeface="Glacial Indifference Bold"/>
                <a:cs typeface="Glacial Indifference Bold"/>
                <a:sym typeface="Glacial Indifference Bold"/>
              </a:rPr>
              <a:t>λιγότερο χρήσιμα</a:t>
            </a:r>
            <a:r>
              <a:rPr lang="en-US" sz="1280">
                <a:solidFill>
                  <a:srgbClr val="695C4A"/>
                </a:solidFill>
                <a:latin typeface="Glacial Indifference"/>
                <a:ea typeface="Glacial Indifference"/>
                <a:cs typeface="Glacial Indifference"/>
                <a:sym typeface="Glacial Indifference"/>
              </a:rPr>
              <a:t> εμφανίζονται η</a:t>
            </a:r>
            <a:r>
              <a:rPr lang="en-US" sz="1280" b="true">
                <a:solidFill>
                  <a:srgbClr val="695C4A"/>
                </a:solidFill>
                <a:latin typeface="Glacial Indifference Bold"/>
                <a:ea typeface="Glacial Indifference Bold"/>
                <a:cs typeface="Glacial Indifference Bold"/>
                <a:sym typeface="Glacial Indifference Bold"/>
              </a:rPr>
              <a:t> RMS Energy</a:t>
            </a:r>
            <a:r>
              <a:rPr lang="en-US" sz="1280">
                <a:solidFill>
                  <a:srgbClr val="695C4A"/>
                </a:solidFill>
                <a:latin typeface="Glacial Indifference"/>
                <a:ea typeface="Glacial Indifference"/>
                <a:cs typeface="Glacial Indifference"/>
                <a:sym typeface="Glacial Indifference"/>
              </a:rPr>
              <a:t> και</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το </a:t>
            </a:r>
            <a:r>
              <a:rPr lang="en-US" sz="1280" b="true">
                <a:solidFill>
                  <a:srgbClr val="695C4A"/>
                </a:solidFill>
                <a:latin typeface="Glacial Indifference Bold"/>
                <a:ea typeface="Glacial Indifference Bold"/>
                <a:cs typeface="Glacial Indifference Bold"/>
                <a:sym typeface="Glacial Indifference Bold"/>
              </a:rPr>
              <a:t>Spectral Flatness</a:t>
            </a:r>
            <a:r>
              <a:rPr lang="en-US" sz="1280">
                <a:solidFill>
                  <a:srgbClr val="695C4A"/>
                </a:solidFill>
                <a:latin typeface="Glacial Indifference"/>
                <a:ea typeface="Glacial Indifference"/>
                <a:cs typeface="Glacial Indifference"/>
                <a:sym typeface="Glacial Indifference"/>
              </a:rPr>
              <a:t>.</a:t>
            </a:r>
          </a:p>
        </p:txBody>
      </p:sp>
      <p:sp>
        <p:nvSpPr>
          <p:cNvPr name="Freeform 14" id="14"/>
          <p:cNvSpPr/>
          <p:nvPr/>
        </p:nvSpPr>
        <p:spPr>
          <a:xfrm flipH="false" flipV="false" rot="0">
            <a:off x="5014433" y="1504063"/>
            <a:ext cx="736807" cy="492059"/>
          </a:xfrm>
          <a:custGeom>
            <a:avLst/>
            <a:gdLst/>
            <a:ahLst/>
            <a:cxnLst/>
            <a:rect r="r" b="b" t="t" l="l"/>
            <a:pathLst>
              <a:path h="492059" w="736807">
                <a:moveTo>
                  <a:pt x="0" y="0"/>
                </a:moveTo>
                <a:lnTo>
                  <a:pt x="736808" y="0"/>
                </a:lnTo>
                <a:lnTo>
                  <a:pt x="736808" y="492059"/>
                </a:lnTo>
                <a:lnTo>
                  <a:pt x="0" y="4920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0411309" y="1504063"/>
            <a:ext cx="736807" cy="492059"/>
          </a:xfrm>
          <a:custGeom>
            <a:avLst/>
            <a:gdLst/>
            <a:ahLst/>
            <a:cxnLst/>
            <a:rect r="r" b="b" t="t" l="l"/>
            <a:pathLst>
              <a:path h="492059" w="736807">
                <a:moveTo>
                  <a:pt x="0" y="0"/>
                </a:moveTo>
                <a:lnTo>
                  <a:pt x="736807" y="0"/>
                </a:lnTo>
                <a:lnTo>
                  <a:pt x="736807" y="492059"/>
                </a:lnTo>
                <a:lnTo>
                  <a:pt x="0" y="4920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5681183" y="8951900"/>
            <a:ext cx="5098529" cy="1300970"/>
          </a:xfrm>
          <a:prstGeom prst="rect">
            <a:avLst/>
          </a:prstGeom>
        </p:spPr>
        <p:txBody>
          <a:bodyPr anchor="t" rtlCol="false" tIns="0" lIns="0" bIns="0" rIns="0">
            <a:spAutoFit/>
          </a:bodyPr>
          <a:lstStyle/>
          <a:p>
            <a:pPr algn="l">
              <a:lnSpc>
                <a:spcPts val="1792"/>
              </a:lnSpc>
            </a:pPr>
            <a:r>
              <a:rPr lang="en-US" sz="1280">
                <a:solidFill>
                  <a:srgbClr val="695C4A"/>
                </a:solidFill>
                <a:latin typeface="Glacial Indifference"/>
                <a:ea typeface="Glacial Indifference"/>
                <a:cs typeface="Glacial Indifference"/>
                <a:sym typeface="Glacial Indifference"/>
              </a:rPr>
              <a:t>Τα </a:t>
            </a:r>
            <a:r>
              <a:rPr lang="en-US" sz="1280" b="true">
                <a:solidFill>
                  <a:srgbClr val="695C4A"/>
                </a:solidFill>
                <a:latin typeface="Glacial Indifference Bold"/>
                <a:ea typeface="Glacial Indifference Bold"/>
                <a:cs typeface="Glacial Indifference Bold"/>
                <a:sym typeface="Glacial Indifference Bold"/>
              </a:rPr>
              <a:t>Crackle </a:t>
            </a:r>
            <a:r>
              <a:rPr lang="en-US" sz="1280">
                <a:solidFill>
                  <a:srgbClr val="695C4A"/>
                </a:solidFill>
                <a:latin typeface="Glacial Indifference"/>
                <a:ea typeface="Glacial Indifference"/>
                <a:cs typeface="Glacial Indifference"/>
                <a:sym typeface="Glacial Indifference"/>
              </a:rPr>
              <a:t>ξεχωρίζουν με το </a:t>
            </a:r>
            <a:r>
              <a:rPr lang="en-US" sz="1280" b="true">
                <a:solidFill>
                  <a:srgbClr val="695C4A"/>
                </a:solidFill>
                <a:latin typeface="Glacial Indifference Bold"/>
                <a:ea typeface="Glacial Indifference Bold"/>
                <a:cs typeface="Glacial Indifference Bold"/>
                <a:sym typeface="Glacial Indifference Bold"/>
              </a:rPr>
              <a:t>Zero Crossing Rate</a:t>
            </a:r>
            <a:r>
              <a:rPr lang="en-US" sz="1280">
                <a:solidFill>
                  <a:srgbClr val="695C4A"/>
                </a:solidFill>
                <a:latin typeface="Glacial Indifference"/>
                <a:ea typeface="Glacial Indifference"/>
                <a:cs typeface="Glacial Indifference"/>
                <a:sym typeface="Glacial Indifference"/>
              </a:rPr>
              <a:t> και τους </a:t>
            </a:r>
            <a:r>
              <a:rPr lang="en-US" sz="1280" b="true">
                <a:solidFill>
                  <a:srgbClr val="695C4A"/>
                </a:solidFill>
                <a:latin typeface="Glacial Indifference Bold"/>
                <a:ea typeface="Glacial Indifference Bold"/>
                <a:cs typeface="Glacial Indifference Bold"/>
                <a:sym typeface="Glacial Indifference Bold"/>
              </a:rPr>
              <a:t>υψηλούς συντελεστές MFCC</a:t>
            </a:r>
            <a:r>
              <a:rPr lang="en-US" sz="1280">
                <a:solidFill>
                  <a:srgbClr val="695C4A"/>
                </a:solidFill>
                <a:latin typeface="Glacial Indifference"/>
                <a:ea typeface="Glacial Indifference"/>
                <a:cs typeface="Glacial Indifference"/>
                <a:sym typeface="Glacial Indifference"/>
              </a:rPr>
              <a:t>, λόγω των απότομων αιχμών και βραχειών εκρήξεων. Αντίθετα, τα </a:t>
            </a:r>
            <a:r>
              <a:rPr lang="en-US" sz="1280" b="true">
                <a:solidFill>
                  <a:srgbClr val="695C4A"/>
                </a:solidFill>
                <a:latin typeface="Glacial Indifference Bold"/>
                <a:ea typeface="Glacial Indifference Bold"/>
                <a:cs typeface="Glacial Indifference Bold"/>
                <a:sym typeface="Glacial Indifference Bold"/>
              </a:rPr>
              <a:t>Wheeze </a:t>
            </a:r>
            <a:r>
              <a:rPr lang="en-US" sz="1280">
                <a:solidFill>
                  <a:srgbClr val="695C4A"/>
                </a:solidFill>
                <a:latin typeface="Glacial Indifference"/>
                <a:ea typeface="Glacial Indifference"/>
                <a:cs typeface="Glacial Indifference"/>
                <a:sym typeface="Glacial Indifference"/>
              </a:rPr>
              <a:t>δ</a:t>
            </a:r>
            <a:r>
              <a:rPr lang="en-US" sz="1280">
                <a:solidFill>
                  <a:srgbClr val="695C4A"/>
                </a:solidFill>
                <a:latin typeface="Glacial Indifference"/>
                <a:ea typeface="Glacial Indifference"/>
                <a:cs typeface="Glacial Indifference"/>
                <a:sym typeface="Glacial Indifference"/>
              </a:rPr>
              <a:t>ιαχωρίζον</a:t>
            </a:r>
            <a:r>
              <a:rPr lang="en-US" sz="1280">
                <a:solidFill>
                  <a:srgbClr val="695C4A"/>
                </a:solidFill>
                <a:latin typeface="Glacial Indifference"/>
                <a:ea typeface="Glacial Indifference"/>
                <a:cs typeface="Glacial Indifference"/>
                <a:sym typeface="Glacial Indifference"/>
              </a:rPr>
              <a:t>ται κυρίως μέσω του</a:t>
            </a:r>
            <a:r>
              <a:rPr lang="en-US" sz="1280">
                <a:solidFill>
                  <a:srgbClr val="695C4A"/>
                </a:solidFill>
                <a:latin typeface="Glacial Indifference"/>
                <a:ea typeface="Glacial Indifference"/>
                <a:cs typeface="Glacial Indifference"/>
                <a:sym typeface="Glacial Indifference"/>
              </a:rPr>
              <a:t> </a:t>
            </a:r>
            <a:r>
              <a:rPr lang="en-US" sz="1280" b="true">
                <a:solidFill>
                  <a:srgbClr val="695C4A"/>
                </a:solidFill>
                <a:latin typeface="Glacial Indifference Bold"/>
                <a:ea typeface="Glacial Indifference Bold"/>
                <a:cs typeface="Glacial Indifference Bold"/>
                <a:sym typeface="Glacial Indifference Bold"/>
              </a:rPr>
              <a:t>Spectral Centroid</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του</a:t>
            </a:r>
            <a:r>
              <a:rPr lang="en-US" sz="1280">
                <a:solidFill>
                  <a:srgbClr val="695C4A"/>
                </a:solidFill>
                <a:latin typeface="Glacial Indifference"/>
                <a:ea typeface="Glacial Indifference"/>
                <a:cs typeface="Glacial Indifference"/>
                <a:sym typeface="Glacial Indifference"/>
              </a:rPr>
              <a:t> </a:t>
            </a:r>
            <a:r>
              <a:rPr lang="en-US" sz="1280" b="true">
                <a:solidFill>
                  <a:srgbClr val="695C4A"/>
                </a:solidFill>
                <a:latin typeface="Glacial Indifference Bold"/>
                <a:ea typeface="Glacial Indifference Bold"/>
                <a:cs typeface="Glacial Indifference Bold"/>
                <a:sym typeface="Glacial Indifference Bold"/>
              </a:rPr>
              <a:t>Rolloff </a:t>
            </a:r>
            <a:r>
              <a:rPr lang="en-US" sz="1280">
                <a:solidFill>
                  <a:srgbClr val="695C4A"/>
                </a:solidFill>
                <a:latin typeface="Glacial Indifference"/>
                <a:ea typeface="Glacial Indifference"/>
                <a:cs typeface="Glacial Indifference"/>
                <a:sym typeface="Glacial Indifference"/>
              </a:rPr>
              <a:t>κα</a:t>
            </a:r>
            <a:r>
              <a:rPr lang="en-US" sz="1280">
                <a:solidFill>
                  <a:srgbClr val="695C4A"/>
                </a:solidFill>
                <a:latin typeface="Glacial Indifference"/>
                <a:ea typeface="Glacial Indifference"/>
                <a:cs typeface="Glacial Indifference"/>
                <a:sym typeface="Glacial Indifference"/>
              </a:rPr>
              <a:t>ι των </a:t>
            </a:r>
            <a:r>
              <a:rPr lang="en-US" sz="1280" b="true">
                <a:solidFill>
                  <a:srgbClr val="695C4A"/>
                </a:solidFill>
                <a:latin typeface="Glacial Indifference Bold"/>
                <a:ea typeface="Glacial Indifference Bold"/>
                <a:cs typeface="Glacial Indifference Bold"/>
                <a:sym typeface="Glacial Indifference Bold"/>
              </a:rPr>
              <a:t>χαμηλών MFCCs,</a:t>
            </a:r>
            <a:r>
              <a:rPr lang="en-US" sz="1280">
                <a:solidFill>
                  <a:srgbClr val="695C4A"/>
                </a:solidFill>
                <a:latin typeface="Glacial Indifference"/>
                <a:ea typeface="Glacial Indifference"/>
                <a:cs typeface="Glacial Indifference"/>
                <a:sym typeface="Glacial Indifference"/>
              </a:rPr>
              <a:t> καθώς </a:t>
            </a:r>
            <a:r>
              <a:rPr lang="en-US" sz="1280">
                <a:solidFill>
                  <a:srgbClr val="695C4A"/>
                </a:solidFill>
                <a:latin typeface="Glacial Indifference"/>
                <a:ea typeface="Glacial Indifference"/>
                <a:cs typeface="Glacial Indifference"/>
                <a:sym typeface="Glacial Indifference"/>
              </a:rPr>
              <a:t>έ</a:t>
            </a:r>
            <a:r>
              <a:rPr lang="en-US" sz="1280">
                <a:solidFill>
                  <a:srgbClr val="695C4A"/>
                </a:solidFill>
                <a:latin typeface="Glacial Indifference"/>
                <a:ea typeface="Glacial Indifference"/>
                <a:cs typeface="Glacial Indifference"/>
                <a:sym typeface="Glacial Indifference"/>
              </a:rPr>
              <a:t>χ</a:t>
            </a:r>
            <a:r>
              <a:rPr lang="en-US" sz="1280">
                <a:solidFill>
                  <a:srgbClr val="695C4A"/>
                </a:solidFill>
                <a:latin typeface="Glacial Indifference"/>
                <a:ea typeface="Glacial Indifference"/>
                <a:cs typeface="Glacial Indifference"/>
                <a:sym typeface="Glacial Indifference"/>
              </a:rPr>
              <a:t>ο</a:t>
            </a:r>
            <a:r>
              <a:rPr lang="en-US" sz="1280">
                <a:solidFill>
                  <a:srgbClr val="695C4A"/>
                </a:solidFill>
                <a:latin typeface="Glacial Indifference"/>
                <a:ea typeface="Glacial Indifference"/>
                <a:cs typeface="Glacial Indifference"/>
                <a:sym typeface="Glacial Indifference"/>
              </a:rPr>
              <a:t>υ</a:t>
            </a:r>
            <a:r>
              <a:rPr lang="en-US" sz="1280">
                <a:solidFill>
                  <a:srgbClr val="695C4A"/>
                </a:solidFill>
                <a:latin typeface="Glacial Indifference"/>
                <a:ea typeface="Glacial Indifference"/>
                <a:cs typeface="Glacial Indifference"/>
                <a:sym typeface="Glacial Indifference"/>
              </a:rPr>
              <a:t>ν μ</a:t>
            </a:r>
            <a:r>
              <a:rPr lang="en-US" sz="1280">
                <a:solidFill>
                  <a:srgbClr val="695C4A"/>
                </a:solidFill>
                <a:latin typeface="Glacial Indifference"/>
                <a:ea typeface="Glacial Indifference"/>
                <a:cs typeface="Glacial Indifference"/>
                <a:sym typeface="Glacial Indifference"/>
              </a:rPr>
              <a:t>εγαλύ</a:t>
            </a:r>
            <a:r>
              <a:rPr lang="en-US" sz="1280">
                <a:solidFill>
                  <a:srgbClr val="695C4A"/>
                </a:solidFill>
                <a:latin typeface="Glacial Indifference"/>
                <a:ea typeface="Glacial Indifference"/>
                <a:cs typeface="Glacial Indifference"/>
                <a:sym typeface="Glacial Indifference"/>
              </a:rPr>
              <a:t>τ</a:t>
            </a:r>
            <a:r>
              <a:rPr lang="en-US" sz="1280">
                <a:solidFill>
                  <a:srgbClr val="695C4A"/>
                </a:solidFill>
                <a:latin typeface="Glacial Indifference"/>
                <a:ea typeface="Glacial Indifference"/>
                <a:cs typeface="Glacial Indifference"/>
                <a:sym typeface="Glacial Indifference"/>
              </a:rPr>
              <a:t>ερ</a:t>
            </a:r>
            <a:r>
              <a:rPr lang="en-US" sz="1280">
                <a:solidFill>
                  <a:srgbClr val="695C4A"/>
                </a:solidFill>
                <a:latin typeface="Glacial Indifference"/>
                <a:ea typeface="Glacial Indifference"/>
                <a:cs typeface="Glacial Indifference"/>
                <a:sym typeface="Glacial Indifference"/>
              </a:rPr>
              <a:t>η</a:t>
            </a:r>
            <a:r>
              <a:rPr lang="en-US" sz="1280">
                <a:solidFill>
                  <a:srgbClr val="695C4A"/>
                </a:solidFill>
                <a:latin typeface="Glacial Indifference"/>
                <a:ea typeface="Glacial Indifference"/>
                <a:cs typeface="Glacial Indifference"/>
                <a:sym typeface="Glacial Indifference"/>
              </a:rPr>
              <a:t> ενέργεια στις υψηλές σ</a:t>
            </a:r>
            <a:r>
              <a:rPr lang="en-US" sz="1280">
                <a:solidFill>
                  <a:srgbClr val="695C4A"/>
                </a:solidFill>
                <a:latin typeface="Glacial Indifference"/>
                <a:ea typeface="Glacial Indifference"/>
                <a:cs typeface="Glacial Indifference"/>
                <a:sym typeface="Glacial Indifference"/>
              </a:rPr>
              <a:t>υχ</a:t>
            </a:r>
            <a:r>
              <a:rPr lang="en-US" sz="1280">
                <a:solidFill>
                  <a:srgbClr val="695C4A"/>
                </a:solidFill>
                <a:latin typeface="Glacial Indifference"/>
                <a:ea typeface="Glacial Indifference"/>
                <a:cs typeface="Glacial Indifference"/>
                <a:sym typeface="Glacial Indifference"/>
              </a:rPr>
              <a:t>νότ</a:t>
            </a:r>
            <a:r>
              <a:rPr lang="en-US" sz="1280">
                <a:solidFill>
                  <a:srgbClr val="695C4A"/>
                </a:solidFill>
                <a:latin typeface="Glacial Indifference"/>
                <a:ea typeface="Glacial Indifference"/>
                <a:cs typeface="Glacial Indifference"/>
                <a:sym typeface="Glacial Indifference"/>
              </a:rPr>
              <a:t>η</a:t>
            </a:r>
            <a:r>
              <a:rPr lang="en-US" sz="1280">
                <a:solidFill>
                  <a:srgbClr val="695C4A"/>
                </a:solidFill>
                <a:latin typeface="Glacial Indifference"/>
                <a:ea typeface="Glacial Indifference"/>
                <a:cs typeface="Glacial Indifference"/>
                <a:sym typeface="Glacial Indifference"/>
              </a:rPr>
              <a:t>τες.</a:t>
            </a:r>
          </a:p>
          <a:p>
            <a:pPr algn="l">
              <a:lnSpc>
                <a:spcPts val="1792"/>
              </a:lnSpc>
            </a:pPr>
          </a:p>
        </p:txBody>
      </p:sp>
      <p:sp>
        <p:nvSpPr>
          <p:cNvPr name="TextBox 17" id="17"/>
          <p:cNvSpPr txBox="true"/>
          <p:nvPr/>
        </p:nvSpPr>
        <p:spPr>
          <a:xfrm rot="0">
            <a:off x="11353230" y="7674021"/>
            <a:ext cx="6421646" cy="862820"/>
          </a:xfrm>
          <a:prstGeom prst="rect">
            <a:avLst/>
          </a:prstGeom>
        </p:spPr>
        <p:txBody>
          <a:bodyPr anchor="t" rtlCol="false" tIns="0" lIns="0" bIns="0" rIns="0">
            <a:spAutoFit/>
          </a:bodyPr>
          <a:lstStyle/>
          <a:p>
            <a:pPr algn="l">
              <a:lnSpc>
                <a:spcPts val="1792"/>
              </a:lnSpc>
            </a:pPr>
            <a:r>
              <a:rPr lang="en-US" sz="1280">
                <a:solidFill>
                  <a:srgbClr val="695C4A"/>
                </a:solidFill>
                <a:latin typeface="Glacial Indifference"/>
                <a:ea typeface="Glacial Indifference"/>
                <a:cs typeface="Glacial Indifference"/>
                <a:sym typeface="Glacial Indifference"/>
              </a:rPr>
              <a:t>Τα πιο </a:t>
            </a:r>
            <a:r>
              <a:rPr lang="en-US" sz="1280" b="true">
                <a:solidFill>
                  <a:srgbClr val="695C4A"/>
                </a:solidFill>
                <a:latin typeface="Glacial Indifference Bold"/>
                <a:ea typeface="Glacial Indifference Bold"/>
                <a:cs typeface="Glacial Indifference Bold"/>
                <a:sym typeface="Glacial Indifference Bold"/>
              </a:rPr>
              <a:t>διαχωριστικά </a:t>
            </a:r>
            <a:r>
              <a:rPr lang="en-US" sz="1280">
                <a:solidFill>
                  <a:srgbClr val="695C4A"/>
                </a:solidFill>
                <a:latin typeface="Glacial Indifference"/>
                <a:ea typeface="Glacial Indifference"/>
                <a:cs typeface="Glacial Indifference"/>
                <a:sym typeface="Glacial Indifference"/>
              </a:rPr>
              <a:t>χαρακτηρ</a:t>
            </a:r>
            <a:r>
              <a:rPr lang="en-US" sz="1280">
                <a:solidFill>
                  <a:srgbClr val="695C4A"/>
                </a:solidFill>
                <a:latin typeface="Glacial Indifference"/>
                <a:ea typeface="Glacial Indifference"/>
                <a:cs typeface="Glacial Indifference"/>
                <a:sym typeface="Glacial Indifference"/>
              </a:rPr>
              <a:t>ισ</a:t>
            </a:r>
            <a:r>
              <a:rPr lang="en-US" sz="1280">
                <a:solidFill>
                  <a:srgbClr val="695C4A"/>
                </a:solidFill>
                <a:latin typeface="Glacial Indifference"/>
                <a:ea typeface="Glacial Indifference"/>
                <a:cs typeface="Glacial Indifference"/>
                <a:sym typeface="Glacial Indifference"/>
              </a:rPr>
              <a:t>τικά, με βάση το </a:t>
            </a:r>
            <a:r>
              <a:rPr lang="en-US" sz="1280" b="true">
                <a:solidFill>
                  <a:srgbClr val="695C4A"/>
                </a:solidFill>
                <a:latin typeface="Glacial Indifference Bold"/>
                <a:ea typeface="Glacial Indifference Bold"/>
                <a:cs typeface="Glacial Indifference Bold"/>
                <a:sym typeface="Glacial Indifference Bold"/>
              </a:rPr>
              <a:t>F-score</a:t>
            </a:r>
            <a:r>
              <a:rPr lang="en-US" sz="1280">
                <a:solidFill>
                  <a:srgbClr val="695C4A"/>
                </a:solidFill>
                <a:latin typeface="Glacial Indifference"/>
                <a:ea typeface="Glacial Indifference"/>
                <a:cs typeface="Glacial Indifference"/>
                <a:sym typeface="Glacial Indifference"/>
              </a:rPr>
              <a:t> είναι τα </a:t>
            </a:r>
            <a:r>
              <a:rPr lang="en-US" sz="1280" b="true">
                <a:solidFill>
                  <a:srgbClr val="695C4A"/>
                </a:solidFill>
                <a:latin typeface="Glacial Indifference Bold"/>
                <a:ea typeface="Glacial Indifference Bold"/>
                <a:cs typeface="Glacial Indifference Bold"/>
                <a:sym typeface="Glacial Indifference Bold"/>
              </a:rPr>
              <a:t>χαμηλά MFCCs (6,8,10,12),</a:t>
            </a:r>
            <a:r>
              <a:rPr lang="en-US" sz="1280">
                <a:solidFill>
                  <a:srgbClr val="695C4A"/>
                </a:solidFill>
                <a:latin typeface="Glacial Indifference"/>
                <a:ea typeface="Glacial Indifference"/>
                <a:cs typeface="Glacial Indifference"/>
                <a:sym typeface="Glacial Indifference"/>
              </a:rPr>
              <a:t> το</a:t>
            </a:r>
            <a:r>
              <a:rPr lang="en-US" sz="1280">
                <a:solidFill>
                  <a:srgbClr val="695C4A"/>
                </a:solidFill>
                <a:latin typeface="Glacial Indifference"/>
                <a:ea typeface="Glacial Indifference"/>
                <a:cs typeface="Glacial Indifference"/>
                <a:sym typeface="Glacial Indifference"/>
              </a:rPr>
              <a:t> </a:t>
            </a:r>
            <a:r>
              <a:rPr lang="en-US" sz="1280" b="true">
                <a:solidFill>
                  <a:srgbClr val="695C4A"/>
                </a:solidFill>
                <a:latin typeface="Glacial Indifference Bold"/>
                <a:ea typeface="Glacial Indifference Bold"/>
                <a:cs typeface="Glacial Indifference Bold"/>
                <a:sym typeface="Glacial Indifference Bold"/>
              </a:rPr>
              <a:t>Spectral Centroid</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το</a:t>
            </a:r>
            <a:r>
              <a:rPr lang="en-US" sz="1280">
                <a:solidFill>
                  <a:srgbClr val="695C4A"/>
                </a:solidFill>
                <a:latin typeface="Glacial Indifference"/>
                <a:ea typeface="Glacial Indifference"/>
                <a:cs typeface="Glacial Indifference"/>
                <a:sym typeface="Glacial Indifference"/>
              </a:rPr>
              <a:t> </a:t>
            </a:r>
            <a:r>
              <a:rPr lang="en-US" sz="1280" b="true">
                <a:solidFill>
                  <a:srgbClr val="695C4A"/>
                </a:solidFill>
                <a:latin typeface="Glacial Indifference Bold"/>
                <a:ea typeface="Glacial Indifference Bold"/>
                <a:cs typeface="Glacial Indifference Bold"/>
                <a:sym typeface="Glacial Indifference Bold"/>
              </a:rPr>
              <a:t>Spectral Bandwidth </a:t>
            </a:r>
            <a:r>
              <a:rPr lang="en-US" sz="1280">
                <a:solidFill>
                  <a:srgbClr val="695C4A"/>
                </a:solidFill>
                <a:latin typeface="Glacial Indifference"/>
                <a:ea typeface="Glacial Indifference"/>
                <a:cs typeface="Glacial Indifference"/>
                <a:sym typeface="Glacial Indifference"/>
              </a:rPr>
              <a:t>κα</a:t>
            </a:r>
            <a:r>
              <a:rPr lang="en-US" sz="1280">
                <a:solidFill>
                  <a:srgbClr val="695C4A"/>
                </a:solidFill>
                <a:latin typeface="Glacial Indifference"/>
                <a:ea typeface="Glacial Indifference"/>
                <a:cs typeface="Glacial Indifference"/>
                <a:sym typeface="Glacial Indifference"/>
              </a:rPr>
              <a:t>ι το </a:t>
            </a:r>
            <a:r>
              <a:rPr lang="en-US" sz="1280" b="true">
                <a:solidFill>
                  <a:srgbClr val="695C4A"/>
                </a:solidFill>
                <a:latin typeface="Glacial Indifference Bold"/>
                <a:ea typeface="Glacial Indifference Bold"/>
                <a:cs typeface="Glacial Indifference Bold"/>
                <a:sym typeface="Glacial Indifference Bold"/>
              </a:rPr>
              <a:t>ZCR</a:t>
            </a:r>
            <a:r>
              <a:rPr lang="en-US" sz="1280">
                <a:solidFill>
                  <a:srgbClr val="695C4A"/>
                </a:solidFill>
                <a:latin typeface="Glacial Indifference"/>
                <a:ea typeface="Glacial Indifference"/>
                <a:cs typeface="Glacial Indifference"/>
                <a:sym typeface="Glacial Indifference"/>
              </a:rPr>
              <a:t>. Αντίθετα, τα </a:t>
            </a:r>
            <a:r>
              <a:rPr lang="en-US" sz="1280" b="true">
                <a:solidFill>
                  <a:srgbClr val="695C4A"/>
                </a:solidFill>
                <a:latin typeface="Glacial Indifference Bold"/>
                <a:ea typeface="Glacial Indifference Bold"/>
                <a:cs typeface="Glacial Indifference Bold"/>
                <a:sym typeface="Glacial Indifference Bold"/>
              </a:rPr>
              <a:t>υψηλά MFCCs και Log-Mel Energies</a:t>
            </a:r>
            <a:r>
              <a:rPr lang="en-US" sz="1280">
                <a:solidFill>
                  <a:srgbClr val="695C4A"/>
                </a:solidFill>
                <a:latin typeface="Glacial Indifference"/>
                <a:ea typeface="Glacial Indifference"/>
                <a:cs typeface="Glacial Indifference"/>
                <a:sym typeface="Glacial Indifference"/>
              </a:rPr>
              <a:t> κ</a:t>
            </a:r>
            <a:r>
              <a:rPr lang="en-US" sz="1280">
                <a:solidFill>
                  <a:srgbClr val="695C4A"/>
                </a:solidFill>
                <a:latin typeface="Glacial Indifference"/>
                <a:ea typeface="Glacial Indifference"/>
                <a:cs typeface="Glacial Indifference"/>
                <a:sym typeface="Glacial Indifference"/>
              </a:rPr>
              <a:t>αι</a:t>
            </a:r>
            <a:r>
              <a:rPr lang="en-US" sz="1280">
                <a:solidFill>
                  <a:srgbClr val="695C4A"/>
                </a:solidFill>
                <a:latin typeface="Glacial Indifference"/>
                <a:ea typeface="Glacial Indifference"/>
                <a:cs typeface="Glacial Indifference"/>
                <a:sym typeface="Glacial Indifference"/>
              </a:rPr>
              <a:t> δείκτες όπως το </a:t>
            </a:r>
            <a:r>
              <a:rPr lang="en-US" sz="1280" b="true">
                <a:solidFill>
                  <a:srgbClr val="695C4A"/>
                </a:solidFill>
                <a:latin typeface="Glacial Indifference Bold"/>
                <a:ea typeface="Glacial Indifference Bold"/>
                <a:cs typeface="Glacial Indifference Bold"/>
                <a:sym typeface="Glacial Indifference Bold"/>
              </a:rPr>
              <a:t>RMS Energy</a:t>
            </a:r>
            <a:r>
              <a:rPr lang="en-US" sz="1280">
                <a:solidFill>
                  <a:srgbClr val="695C4A"/>
                </a:solidFill>
                <a:latin typeface="Glacial Indifference"/>
                <a:ea typeface="Glacial Indifference"/>
                <a:cs typeface="Glacial Indifference"/>
                <a:sym typeface="Glacial Indifference"/>
              </a:rPr>
              <a:t> &amp; </a:t>
            </a:r>
            <a:r>
              <a:rPr lang="en-US" sz="1280" b="true">
                <a:solidFill>
                  <a:srgbClr val="695C4A"/>
                </a:solidFill>
                <a:latin typeface="Glacial Indifference Bold"/>
                <a:ea typeface="Glacial Indifference Bold"/>
                <a:cs typeface="Glacial Indifference Bold"/>
                <a:sym typeface="Glacial Indifference Bold"/>
              </a:rPr>
              <a:t>Flatness </a:t>
            </a:r>
            <a:r>
              <a:rPr lang="en-US" sz="1280">
                <a:solidFill>
                  <a:srgbClr val="695C4A"/>
                </a:solidFill>
                <a:latin typeface="Glacial Indifference"/>
                <a:ea typeface="Glacial Indifference"/>
                <a:cs typeface="Glacial Indifference"/>
                <a:sym typeface="Glacial Indifference"/>
              </a:rPr>
              <a:t>έχο</a:t>
            </a:r>
            <a:r>
              <a:rPr lang="en-US" sz="1280">
                <a:solidFill>
                  <a:srgbClr val="695C4A"/>
                </a:solidFill>
                <a:latin typeface="Glacial Indifference"/>
                <a:ea typeface="Glacial Indifference"/>
                <a:cs typeface="Glacial Indifference"/>
                <a:sym typeface="Glacial Indifference"/>
              </a:rPr>
              <a:t>υ</a:t>
            </a:r>
            <a:r>
              <a:rPr lang="en-US" sz="1280">
                <a:solidFill>
                  <a:srgbClr val="695C4A"/>
                </a:solidFill>
                <a:latin typeface="Glacial Indifference"/>
                <a:ea typeface="Glacial Indifference"/>
                <a:cs typeface="Glacial Indifference"/>
                <a:sym typeface="Glacial Indifference"/>
              </a:rPr>
              <a:t>ν</a:t>
            </a:r>
            <a:r>
              <a:rPr lang="en-US" sz="1280">
                <a:solidFill>
                  <a:srgbClr val="695C4A"/>
                </a:solidFill>
                <a:latin typeface="Glacial Indifference"/>
                <a:ea typeface="Glacial Indifference"/>
                <a:cs typeface="Glacial Indifference"/>
                <a:sym typeface="Glacial Indifference"/>
              </a:rPr>
              <a:t> </a:t>
            </a:r>
            <a:r>
              <a:rPr lang="en-US" sz="1280" b="true">
                <a:solidFill>
                  <a:srgbClr val="695C4A"/>
                </a:solidFill>
                <a:latin typeface="Glacial Indifference Bold"/>
                <a:ea typeface="Glacial Indifference Bold"/>
                <a:cs typeface="Glacial Indifference Bold"/>
                <a:sym typeface="Glacial Indifference Bold"/>
              </a:rPr>
              <a:t>περιορισμένη συμβολή.</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594299" y="1231081"/>
            <a:ext cx="5045836" cy="6356958"/>
          </a:xfrm>
          <a:custGeom>
            <a:avLst/>
            <a:gdLst/>
            <a:ahLst/>
            <a:cxnLst/>
            <a:rect r="r" b="b" t="t" l="l"/>
            <a:pathLst>
              <a:path h="6356958" w="5045836">
                <a:moveTo>
                  <a:pt x="0" y="0"/>
                </a:moveTo>
                <a:lnTo>
                  <a:pt x="5045836" y="0"/>
                </a:lnTo>
                <a:lnTo>
                  <a:pt x="5045836" y="6356958"/>
                </a:lnTo>
                <a:lnTo>
                  <a:pt x="0" y="6356958"/>
                </a:lnTo>
                <a:lnTo>
                  <a:pt x="0" y="0"/>
                </a:lnTo>
                <a:close/>
              </a:path>
            </a:pathLst>
          </a:custGeom>
          <a:blipFill>
            <a:blip r:embed="rId2"/>
            <a:stretch>
              <a:fillRect l="0" t="0" r="0" b="0"/>
            </a:stretch>
          </a:blipFill>
        </p:spPr>
      </p:sp>
      <p:sp>
        <p:nvSpPr>
          <p:cNvPr name="Freeform 3" id="3"/>
          <p:cNvSpPr/>
          <p:nvPr/>
        </p:nvSpPr>
        <p:spPr>
          <a:xfrm flipH="false" flipV="false" rot="0">
            <a:off x="6107771" y="1231081"/>
            <a:ext cx="7242864" cy="5902363"/>
          </a:xfrm>
          <a:custGeom>
            <a:avLst/>
            <a:gdLst/>
            <a:ahLst/>
            <a:cxnLst/>
            <a:rect r="r" b="b" t="t" l="l"/>
            <a:pathLst>
              <a:path h="5902363" w="7242864">
                <a:moveTo>
                  <a:pt x="0" y="0"/>
                </a:moveTo>
                <a:lnTo>
                  <a:pt x="7242864" y="0"/>
                </a:lnTo>
                <a:lnTo>
                  <a:pt x="7242864" y="5902363"/>
                </a:lnTo>
                <a:lnTo>
                  <a:pt x="0" y="5902363"/>
                </a:lnTo>
                <a:lnTo>
                  <a:pt x="0" y="0"/>
                </a:lnTo>
                <a:close/>
              </a:path>
            </a:pathLst>
          </a:custGeom>
          <a:blipFill>
            <a:blip r:embed="rId3"/>
            <a:stretch>
              <a:fillRect l="0" t="0" r="0" b="0"/>
            </a:stretch>
          </a:blipFill>
        </p:spPr>
      </p:sp>
      <p:sp>
        <p:nvSpPr>
          <p:cNvPr name="Freeform 4" id="4"/>
          <p:cNvSpPr/>
          <p:nvPr/>
        </p:nvSpPr>
        <p:spPr>
          <a:xfrm flipH="false" flipV="false" rot="0">
            <a:off x="14053038" y="1299058"/>
            <a:ext cx="3503865" cy="1979732"/>
          </a:xfrm>
          <a:custGeom>
            <a:avLst/>
            <a:gdLst/>
            <a:ahLst/>
            <a:cxnLst/>
            <a:rect r="r" b="b" t="t" l="l"/>
            <a:pathLst>
              <a:path h="1979732" w="3503865">
                <a:moveTo>
                  <a:pt x="0" y="0"/>
                </a:moveTo>
                <a:lnTo>
                  <a:pt x="3503865" y="0"/>
                </a:lnTo>
                <a:lnTo>
                  <a:pt x="3503865" y="1979732"/>
                </a:lnTo>
                <a:lnTo>
                  <a:pt x="0" y="1979732"/>
                </a:lnTo>
                <a:lnTo>
                  <a:pt x="0" y="0"/>
                </a:lnTo>
                <a:close/>
              </a:path>
            </a:pathLst>
          </a:custGeom>
          <a:blipFill>
            <a:blip r:embed="rId4"/>
            <a:stretch>
              <a:fillRect l="0" t="0" r="-112660" b="0"/>
            </a:stretch>
          </a:blipFill>
        </p:spPr>
      </p:sp>
      <p:sp>
        <p:nvSpPr>
          <p:cNvPr name="Freeform 5" id="5"/>
          <p:cNvSpPr/>
          <p:nvPr/>
        </p:nvSpPr>
        <p:spPr>
          <a:xfrm flipH="false" flipV="false" rot="0">
            <a:off x="14053038" y="3077836"/>
            <a:ext cx="1896821" cy="1979732"/>
          </a:xfrm>
          <a:custGeom>
            <a:avLst/>
            <a:gdLst/>
            <a:ahLst/>
            <a:cxnLst/>
            <a:rect r="r" b="b" t="t" l="l"/>
            <a:pathLst>
              <a:path h="1979732" w="1896821">
                <a:moveTo>
                  <a:pt x="0" y="0"/>
                </a:moveTo>
                <a:lnTo>
                  <a:pt x="1896820" y="0"/>
                </a:lnTo>
                <a:lnTo>
                  <a:pt x="1896820" y="1979732"/>
                </a:lnTo>
                <a:lnTo>
                  <a:pt x="0" y="1979732"/>
                </a:lnTo>
                <a:lnTo>
                  <a:pt x="0" y="0"/>
                </a:lnTo>
                <a:close/>
              </a:path>
            </a:pathLst>
          </a:custGeom>
          <a:blipFill>
            <a:blip r:embed="rId4"/>
            <a:stretch>
              <a:fillRect l="-190928" t="0" r="-101905" b="0"/>
            </a:stretch>
          </a:blipFill>
        </p:spPr>
      </p:sp>
      <p:sp>
        <p:nvSpPr>
          <p:cNvPr name="Freeform 6" id="6"/>
          <p:cNvSpPr/>
          <p:nvPr/>
        </p:nvSpPr>
        <p:spPr>
          <a:xfrm flipH="false" flipV="false" rot="0">
            <a:off x="15949858" y="3077836"/>
            <a:ext cx="1809718" cy="1979732"/>
          </a:xfrm>
          <a:custGeom>
            <a:avLst/>
            <a:gdLst/>
            <a:ahLst/>
            <a:cxnLst/>
            <a:rect r="r" b="b" t="t" l="l"/>
            <a:pathLst>
              <a:path h="1979732" w="1809718">
                <a:moveTo>
                  <a:pt x="0" y="0"/>
                </a:moveTo>
                <a:lnTo>
                  <a:pt x="1809719" y="0"/>
                </a:lnTo>
                <a:lnTo>
                  <a:pt x="1809719" y="1979732"/>
                </a:lnTo>
                <a:lnTo>
                  <a:pt x="0" y="1979732"/>
                </a:lnTo>
                <a:lnTo>
                  <a:pt x="0" y="0"/>
                </a:lnTo>
                <a:close/>
              </a:path>
            </a:pathLst>
          </a:custGeom>
          <a:blipFill>
            <a:blip r:embed="rId4"/>
            <a:stretch>
              <a:fillRect l="-311741" t="0" r="0" b="0"/>
            </a:stretch>
          </a:blipFill>
        </p:spPr>
      </p:sp>
      <p:sp>
        <p:nvSpPr>
          <p:cNvPr name="Freeform 7" id="7"/>
          <p:cNvSpPr/>
          <p:nvPr/>
        </p:nvSpPr>
        <p:spPr>
          <a:xfrm flipH="false" flipV="false" rot="0">
            <a:off x="5869860" y="631706"/>
            <a:ext cx="736807" cy="492059"/>
          </a:xfrm>
          <a:custGeom>
            <a:avLst/>
            <a:gdLst/>
            <a:ahLst/>
            <a:cxnLst/>
            <a:rect r="r" b="b" t="t" l="l"/>
            <a:pathLst>
              <a:path h="492059" w="736807">
                <a:moveTo>
                  <a:pt x="0" y="0"/>
                </a:moveTo>
                <a:lnTo>
                  <a:pt x="736808" y="0"/>
                </a:lnTo>
                <a:lnTo>
                  <a:pt x="736808" y="492059"/>
                </a:lnTo>
                <a:lnTo>
                  <a:pt x="0" y="4920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854475" y="782670"/>
            <a:ext cx="736807" cy="492059"/>
          </a:xfrm>
          <a:custGeom>
            <a:avLst/>
            <a:gdLst/>
            <a:ahLst/>
            <a:cxnLst/>
            <a:rect r="r" b="b" t="t" l="l"/>
            <a:pathLst>
              <a:path h="492059" w="736807">
                <a:moveTo>
                  <a:pt x="0" y="0"/>
                </a:moveTo>
                <a:lnTo>
                  <a:pt x="736808" y="0"/>
                </a:lnTo>
                <a:lnTo>
                  <a:pt x="736808" y="492060"/>
                </a:lnTo>
                <a:lnTo>
                  <a:pt x="0" y="4920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3549678" y="5143500"/>
            <a:ext cx="4329006" cy="2860236"/>
          </a:xfrm>
          <a:custGeom>
            <a:avLst/>
            <a:gdLst/>
            <a:ahLst/>
            <a:cxnLst/>
            <a:rect r="r" b="b" t="t" l="l"/>
            <a:pathLst>
              <a:path h="2860236" w="4329006">
                <a:moveTo>
                  <a:pt x="0" y="0"/>
                </a:moveTo>
                <a:lnTo>
                  <a:pt x="4329006" y="0"/>
                </a:lnTo>
                <a:lnTo>
                  <a:pt x="4329006" y="2860236"/>
                </a:lnTo>
                <a:lnTo>
                  <a:pt x="0" y="2860236"/>
                </a:lnTo>
                <a:lnTo>
                  <a:pt x="0" y="0"/>
                </a:lnTo>
                <a:close/>
              </a:path>
            </a:pathLst>
          </a:custGeom>
          <a:blipFill>
            <a:blip r:embed="rId7"/>
            <a:stretch>
              <a:fillRect l="0" t="0" r="0" b="0"/>
            </a:stretch>
          </a:blipFill>
        </p:spPr>
      </p:sp>
      <p:sp>
        <p:nvSpPr>
          <p:cNvPr name="TextBox 10" id="10"/>
          <p:cNvSpPr txBox="true"/>
          <p:nvPr/>
        </p:nvSpPr>
        <p:spPr>
          <a:xfrm rot="0">
            <a:off x="857567" y="723113"/>
            <a:ext cx="5012294" cy="280670"/>
          </a:xfrm>
          <a:prstGeom prst="rect">
            <a:avLst/>
          </a:prstGeom>
        </p:spPr>
        <p:txBody>
          <a:bodyPr anchor="t" rtlCol="false" tIns="0" lIns="0" bIns="0" rIns="0">
            <a:spAutoFit/>
          </a:bodyPr>
          <a:lstStyle/>
          <a:p>
            <a:pPr algn="l">
              <a:lnSpc>
                <a:spcPts val="2380"/>
              </a:lnSpc>
              <a:spcBef>
                <a:spcPct val="0"/>
              </a:spcBef>
            </a:pPr>
            <a:r>
              <a:rPr lang="en-US" b="true" sz="1700" spc="714">
                <a:solidFill>
                  <a:srgbClr val="827564"/>
                </a:solidFill>
                <a:latin typeface="Open Sauce Bold"/>
                <a:ea typeface="Open Sauce Bold"/>
                <a:cs typeface="Open Sauce Bold"/>
                <a:sym typeface="Open Sauce Bold"/>
              </a:rPr>
              <a:t>FEATURE-CLASS HEATMAP</a:t>
            </a:r>
          </a:p>
        </p:txBody>
      </p:sp>
      <p:sp>
        <p:nvSpPr>
          <p:cNvPr name="TextBox 11" id="11"/>
          <p:cNvSpPr txBox="true"/>
          <p:nvPr/>
        </p:nvSpPr>
        <p:spPr>
          <a:xfrm rot="0">
            <a:off x="7497484" y="723113"/>
            <a:ext cx="4466176" cy="280670"/>
          </a:xfrm>
          <a:prstGeom prst="rect">
            <a:avLst/>
          </a:prstGeom>
        </p:spPr>
        <p:txBody>
          <a:bodyPr anchor="t" rtlCol="false" tIns="0" lIns="0" bIns="0" rIns="0">
            <a:spAutoFit/>
          </a:bodyPr>
          <a:lstStyle/>
          <a:p>
            <a:pPr algn="l">
              <a:lnSpc>
                <a:spcPts val="2380"/>
              </a:lnSpc>
              <a:spcBef>
                <a:spcPct val="0"/>
              </a:spcBef>
            </a:pPr>
            <a:r>
              <a:rPr lang="en-US" b="true" sz="1700" spc="714">
                <a:solidFill>
                  <a:srgbClr val="827564"/>
                </a:solidFill>
                <a:latin typeface="Open Sauce Bold"/>
                <a:ea typeface="Open Sauce Bold"/>
                <a:cs typeface="Open Sauce Bold"/>
                <a:sym typeface="Open Sauce Bold"/>
              </a:rPr>
              <a:t>CORRELATION HEATMAP</a:t>
            </a:r>
          </a:p>
        </p:txBody>
      </p:sp>
      <p:sp>
        <p:nvSpPr>
          <p:cNvPr name="TextBox 12" id="12"/>
          <p:cNvSpPr txBox="true"/>
          <p:nvPr/>
        </p:nvSpPr>
        <p:spPr>
          <a:xfrm rot="0">
            <a:off x="13962248" y="723113"/>
            <a:ext cx="3503865" cy="575945"/>
          </a:xfrm>
          <a:prstGeom prst="rect">
            <a:avLst/>
          </a:prstGeom>
        </p:spPr>
        <p:txBody>
          <a:bodyPr anchor="t" rtlCol="false" tIns="0" lIns="0" bIns="0" rIns="0">
            <a:spAutoFit/>
          </a:bodyPr>
          <a:lstStyle/>
          <a:p>
            <a:pPr algn="ctr">
              <a:lnSpc>
                <a:spcPts val="2380"/>
              </a:lnSpc>
              <a:spcBef>
                <a:spcPct val="0"/>
              </a:spcBef>
            </a:pPr>
            <a:r>
              <a:rPr lang="en-US" b="true" sz="1700" spc="714">
                <a:solidFill>
                  <a:srgbClr val="827564"/>
                </a:solidFill>
                <a:latin typeface="Open Sauce Bold"/>
                <a:ea typeface="Open Sauce Bold"/>
                <a:cs typeface="Open Sauce Bold"/>
                <a:sym typeface="Open Sauce Bold"/>
              </a:rPr>
              <a:t>ΕΠΙΛΟΓΗ 20 ΧΑΡΑΚΤΗΡΙΣΤΙΚΩΝ</a:t>
            </a:r>
          </a:p>
        </p:txBody>
      </p:sp>
      <p:sp>
        <p:nvSpPr>
          <p:cNvPr name="Freeform 13" id="13"/>
          <p:cNvSpPr/>
          <p:nvPr/>
        </p:nvSpPr>
        <p:spPr>
          <a:xfrm flipH="false" flipV="false" rot="-10800000">
            <a:off x="14943849" y="5304519"/>
            <a:ext cx="962458" cy="481229"/>
          </a:xfrm>
          <a:custGeom>
            <a:avLst/>
            <a:gdLst/>
            <a:ahLst/>
            <a:cxnLst/>
            <a:rect r="r" b="b" t="t" l="l"/>
            <a:pathLst>
              <a:path h="481229" w="962458">
                <a:moveTo>
                  <a:pt x="0" y="0"/>
                </a:moveTo>
                <a:lnTo>
                  <a:pt x="962458" y="0"/>
                </a:lnTo>
                <a:lnTo>
                  <a:pt x="962458" y="481230"/>
                </a:lnTo>
                <a:lnTo>
                  <a:pt x="0" y="4812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TextBox 14" id="14"/>
          <p:cNvSpPr txBox="true"/>
          <p:nvPr/>
        </p:nvSpPr>
        <p:spPr>
          <a:xfrm rot="0">
            <a:off x="6238264" y="7114394"/>
            <a:ext cx="6616211" cy="3272645"/>
          </a:xfrm>
          <a:prstGeom prst="rect">
            <a:avLst/>
          </a:prstGeom>
        </p:spPr>
        <p:txBody>
          <a:bodyPr anchor="t" rtlCol="false" tIns="0" lIns="0" bIns="0" rIns="0">
            <a:spAutoFit/>
          </a:bodyPr>
          <a:lstStyle/>
          <a:p>
            <a:pPr algn="l" marL="276503" indent="-138252" lvl="1">
              <a:lnSpc>
                <a:spcPts val="1792"/>
              </a:lnSpc>
              <a:buFont typeface="Arial"/>
              <a:buChar char="•"/>
            </a:pPr>
            <a:r>
              <a:rPr lang="en-US" sz="1280">
                <a:solidFill>
                  <a:srgbClr val="695C4A"/>
                </a:solidFill>
                <a:latin typeface="Glacial Indifference"/>
                <a:ea typeface="Glacial Indifference"/>
                <a:cs typeface="Glacial Indifference"/>
                <a:sym typeface="Glacial Indifference"/>
              </a:rPr>
              <a:t>Τα </a:t>
            </a:r>
            <a:r>
              <a:rPr lang="en-US" b="true" sz="1280">
                <a:solidFill>
                  <a:srgbClr val="695C4A"/>
                </a:solidFill>
                <a:latin typeface="Glacial Indifference Bold"/>
                <a:ea typeface="Glacial Indifference Bold"/>
                <a:cs typeface="Glacial Indifference Bold"/>
                <a:sym typeface="Glacial Indifference Bold"/>
              </a:rPr>
              <a:t>MFCCs </a:t>
            </a:r>
            <a:r>
              <a:rPr lang="en-US" sz="1280">
                <a:solidFill>
                  <a:srgbClr val="695C4A"/>
                </a:solidFill>
                <a:latin typeface="Glacial Indifference"/>
                <a:ea typeface="Glacial Indifference"/>
                <a:cs typeface="Glacial Indifference"/>
                <a:sym typeface="Glacial Indifference"/>
              </a:rPr>
              <a:t>εμφανίζουν </a:t>
            </a:r>
            <a:r>
              <a:rPr lang="en-US" b="true" sz="1280">
                <a:solidFill>
                  <a:srgbClr val="695C4A"/>
                </a:solidFill>
                <a:latin typeface="Glacial Indifference Bold"/>
                <a:ea typeface="Glacial Indifference Bold"/>
                <a:cs typeface="Glacial Indifference Bold"/>
                <a:sym typeface="Glacial Indifference Bold"/>
              </a:rPr>
              <a:t>υψηλή εσωτερική συσχέτιση</a:t>
            </a:r>
            <a:r>
              <a:rPr lang="en-US" sz="1280">
                <a:solidFill>
                  <a:srgbClr val="695C4A"/>
                </a:solidFill>
                <a:latin typeface="Glacial Indifference"/>
                <a:ea typeface="Glacial Indifference"/>
                <a:cs typeface="Glacial Indifference"/>
                <a:sym typeface="Glacial Indifference"/>
              </a:rPr>
              <a:t>, ιδιαίτερα οι χαμηλοί–μεσαίοι</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MF</a:t>
            </a:r>
            <a:r>
              <a:rPr lang="en-US" sz="1280">
                <a:solidFill>
                  <a:srgbClr val="695C4A"/>
                </a:solidFill>
                <a:latin typeface="Glacial Indifference"/>
                <a:ea typeface="Glacial Indifference"/>
                <a:cs typeface="Glacial Indifference"/>
                <a:sym typeface="Glacial Indifference"/>
              </a:rPr>
              <a:t>C</a:t>
            </a:r>
            <a:r>
              <a:rPr lang="en-US" sz="1280">
                <a:solidFill>
                  <a:srgbClr val="695C4A"/>
                </a:solidFill>
                <a:latin typeface="Glacial Indifference"/>
                <a:ea typeface="Glacial Indifference"/>
                <a:cs typeface="Glacial Indifference"/>
                <a:sym typeface="Glacial Indifference"/>
              </a:rPr>
              <a:t>C</a:t>
            </a:r>
            <a:r>
              <a:rPr lang="en-US" sz="1280">
                <a:solidFill>
                  <a:srgbClr val="695C4A"/>
                </a:solidFill>
                <a:latin typeface="Glacial Indifference"/>
                <a:ea typeface="Glacial Indifference"/>
                <a:cs typeface="Glacial Indifference"/>
                <a:sym typeface="Glacial Indifference"/>
              </a:rPr>
              <a:t>s </a:t>
            </a:r>
            <a:r>
              <a:rPr lang="en-US" sz="1280">
                <a:solidFill>
                  <a:srgbClr val="695C4A"/>
                </a:solidFill>
                <a:latin typeface="Glacial Indifference"/>
                <a:ea typeface="Glacial Indifference"/>
                <a:cs typeface="Glacial Indifference"/>
                <a:sym typeface="Glacial Indifference"/>
              </a:rPr>
              <a:t>(1–10) μεταξύ τους.</a:t>
            </a:r>
          </a:p>
          <a:p>
            <a:pPr algn="l" marL="276503" indent="-138252" lvl="1">
              <a:lnSpc>
                <a:spcPts val="1792"/>
              </a:lnSpc>
              <a:buFont typeface="Arial"/>
              <a:buChar char="•"/>
            </a:pPr>
            <a:r>
              <a:rPr lang="en-US" sz="1280">
                <a:solidFill>
                  <a:srgbClr val="695C4A"/>
                </a:solidFill>
                <a:latin typeface="Glacial Indifference"/>
                <a:ea typeface="Glacial Indifference"/>
                <a:cs typeface="Glacial Indifference"/>
                <a:sym typeface="Glacial Indifference"/>
              </a:rPr>
              <a:t>Το</a:t>
            </a:r>
            <a:r>
              <a:rPr lang="en-US" sz="1280">
                <a:solidFill>
                  <a:srgbClr val="695C4A"/>
                </a:solidFill>
                <a:latin typeface="Glacial Indifference"/>
                <a:ea typeface="Glacial Indifference"/>
                <a:cs typeface="Glacial Indifference"/>
                <a:sym typeface="Glacial Indifference"/>
              </a:rPr>
              <a:t> </a:t>
            </a:r>
            <a:r>
              <a:rPr lang="en-US" b="true" sz="1280">
                <a:solidFill>
                  <a:srgbClr val="695C4A"/>
                </a:solidFill>
                <a:latin typeface="Glacial Indifference Bold"/>
                <a:ea typeface="Glacial Indifference Bold"/>
                <a:cs typeface="Glacial Indifference Bold"/>
                <a:sym typeface="Glacial Indifference Bold"/>
              </a:rPr>
              <a:t>Spectral Centroid</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το</a:t>
            </a:r>
            <a:r>
              <a:rPr lang="en-US" b="true" sz="1280">
                <a:solidFill>
                  <a:srgbClr val="695C4A"/>
                </a:solidFill>
                <a:latin typeface="Glacial Indifference Bold"/>
                <a:ea typeface="Glacial Indifference Bold"/>
                <a:cs typeface="Glacial Indifference Bold"/>
                <a:sym typeface="Glacial Indifference Bold"/>
              </a:rPr>
              <a:t> Spectral Rolloff</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κα</a:t>
            </a:r>
            <a:r>
              <a:rPr lang="en-US" sz="1280">
                <a:solidFill>
                  <a:srgbClr val="695C4A"/>
                </a:solidFill>
                <a:latin typeface="Glacial Indifference"/>
                <a:ea typeface="Glacial Indifference"/>
                <a:cs typeface="Glacial Indifference"/>
                <a:sym typeface="Glacial Indifference"/>
              </a:rPr>
              <a:t>ι το </a:t>
            </a:r>
            <a:r>
              <a:rPr lang="en-US" b="true" sz="1280">
                <a:solidFill>
                  <a:srgbClr val="695C4A"/>
                </a:solidFill>
                <a:latin typeface="Glacial Indifference Bold"/>
                <a:ea typeface="Glacial Indifference Bold"/>
                <a:cs typeface="Glacial Indifference Bold"/>
                <a:sym typeface="Glacial Indifference Bold"/>
              </a:rPr>
              <a:t>Spectral Bandwidth </a:t>
            </a:r>
            <a:r>
              <a:rPr lang="en-US" sz="1280">
                <a:solidFill>
                  <a:srgbClr val="695C4A"/>
                </a:solidFill>
                <a:latin typeface="Glacial Indifference"/>
                <a:ea typeface="Glacial Indifference"/>
                <a:cs typeface="Glacial Indifference"/>
                <a:sym typeface="Glacial Indifference"/>
              </a:rPr>
              <a:t>παρουσιάζουν </a:t>
            </a:r>
            <a:r>
              <a:rPr lang="en-US" b="true" sz="1280">
                <a:solidFill>
                  <a:srgbClr val="695C4A"/>
                </a:solidFill>
                <a:latin typeface="Glacial Indifference Bold"/>
                <a:ea typeface="Glacial Indifference Bold"/>
                <a:cs typeface="Glacial Indifference Bold"/>
                <a:sym typeface="Glacial Indifference Bold"/>
              </a:rPr>
              <a:t>πολύ υψηλή συσχέτιση</a:t>
            </a:r>
            <a:r>
              <a:rPr lang="en-US" sz="1280">
                <a:solidFill>
                  <a:srgbClr val="695C4A"/>
                </a:solidFill>
                <a:latin typeface="Glacial Indifference"/>
                <a:ea typeface="Glacial Indifference"/>
                <a:cs typeface="Glacial Indifference"/>
                <a:sym typeface="Glacial Indifference"/>
              </a:rPr>
              <a:t> μετ</a:t>
            </a:r>
            <a:r>
              <a:rPr lang="en-US" sz="1280">
                <a:solidFill>
                  <a:srgbClr val="695C4A"/>
                </a:solidFill>
                <a:latin typeface="Glacial Indifference"/>
                <a:ea typeface="Glacial Indifference"/>
                <a:cs typeface="Glacial Indifference"/>
                <a:sym typeface="Glacial Indifference"/>
              </a:rPr>
              <a:t>α</a:t>
            </a:r>
            <a:r>
              <a:rPr lang="en-US" sz="1280">
                <a:solidFill>
                  <a:srgbClr val="695C4A"/>
                </a:solidFill>
                <a:latin typeface="Glacial Indifference"/>
                <a:ea typeface="Glacial Indifference"/>
                <a:cs typeface="Glacial Indifference"/>
                <a:sym typeface="Glacial Indifference"/>
              </a:rPr>
              <a:t>ξύ τους (κόκκι</a:t>
            </a:r>
            <a:r>
              <a:rPr lang="en-US" sz="1280">
                <a:solidFill>
                  <a:srgbClr val="695C4A"/>
                </a:solidFill>
                <a:latin typeface="Glacial Indifference"/>
                <a:ea typeface="Glacial Indifference"/>
                <a:cs typeface="Glacial Indifference"/>
                <a:sym typeface="Glacial Indifference"/>
              </a:rPr>
              <a:t>ν</a:t>
            </a:r>
            <a:r>
              <a:rPr lang="en-US" sz="1280">
                <a:solidFill>
                  <a:srgbClr val="695C4A"/>
                </a:solidFill>
                <a:latin typeface="Glacial Indifference"/>
                <a:ea typeface="Glacial Indifference"/>
                <a:cs typeface="Glacial Indifference"/>
                <a:sym typeface="Glacial Indifference"/>
              </a:rPr>
              <a:t>ο</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block)</a:t>
            </a:r>
            <a:r>
              <a:rPr lang="en-US" sz="1280">
                <a:solidFill>
                  <a:srgbClr val="695C4A"/>
                </a:solidFill>
                <a:latin typeface="Glacial Indifference"/>
                <a:ea typeface="Glacial Indifference"/>
                <a:cs typeface="Glacial Indifference"/>
                <a:sym typeface="Glacial Indifference"/>
              </a:rPr>
              <a:t>,</a:t>
            </a:r>
            <a:r>
              <a:rPr lang="en-US" sz="1280">
                <a:solidFill>
                  <a:srgbClr val="695C4A"/>
                </a:solidFill>
                <a:latin typeface="Glacial Indifference"/>
                <a:ea typeface="Glacial Indifference"/>
                <a:cs typeface="Glacial Indifference"/>
                <a:sym typeface="Glacial Indifference"/>
              </a:rPr>
              <a:t> κάτι αναμενόμενο καθώς όλα αποτυπών</a:t>
            </a:r>
            <a:r>
              <a:rPr lang="en-US" sz="1280">
                <a:solidFill>
                  <a:srgbClr val="695C4A"/>
                </a:solidFill>
                <a:latin typeface="Glacial Indifference"/>
                <a:ea typeface="Glacial Indifference"/>
                <a:cs typeface="Glacial Indifference"/>
                <a:sym typeface="Glacial Indifference"/>
              </a:rPr>
              <a:t>ο</a:t>
            </a:r>
            <a:r>
              <a:rPr lang="en-US" sz="1280">
                <a:solidFill>
                  <a:srgbClr val="695C4A"/>
                </a:solidFill>
                <a:latin typeface="Glacial Indifference"/>
                <a:ea typeface="Glacial Indifference"/>
                <a:cs typeface="Glacial Indifference"/>
                <a:sym typeface="Glacial Indifference"/>
              </a:rPr>
              <a:t>υ</a:t>
            </a:r>
            <a:r>
              <a:rPr lang="en-US" sz="1280">
                <a:solidFill>
                  <a:srgbClr val="695C4A"/>
                </a:solidFill>
                <a:latin typeface="Glacial Indifference"/>
                <a:ea typeface="Glacial Indifference"/>
                <a:cs typeface="Glacial Indifference"/>
                <a:sym typeface="Glacial Indifference"/>
              </a:rPr>
              <a:t>ν μ</a:t>
            </a:r>
            <a:r>
              <a:rPr lang="en-US" sz="1280">
                <a:solidFill>
                  <a:srgbClr val="695C4A"/>
                </a:solidFill>
                <a:latin typeface="Glacial Indifference"/>
                <a:ea typeface="Glacial Indifference"/>
                <a:cs typeface="Glacial Indifference"/>
                <a:sym typeface="Glacial Indifference"/>
              </a:rPr>
              <a:t>ετα</a:t>
            </a:r>
            <a:r>
              <a:rPr lang="en-US" sz="1280">
                <a:solidFill>
                  <a:srgbClr val="695C4A"/>
                </a:solidFill>
                <a:latin typeface="Glacial Indifference"/>
                <a:ea typeface="Glacial Indifference"/>
                <a:cs typeface="Glacial Indifference"/>
                <a:sym typeface="Glacial Indifference"/>
              </a:rPr>
              <a:t>τοπίσ</a:t>
            </a:r>
            <a:r>
              <a:rPr lang="en-US" sz="1280">
                <a:solidFill>
                  <a:srgbClr val="695C4A"/>
                </a:solidFill>
                <a:latin typeface="Glacial Indifference"/>
                <a:ea typeface="Glacial Indifference"/>
                <a:cs typeface="Glacial Indifference"/>
                <a:sym typeface="Glacial Indifference"/>
              </a:rPr>
              <a:t>εις του φάσματος προς υψηλότερες σ</a:t>
            </a:r>
            <a:r>
              <a:rPr lang="en-US" sz="1280">
                <a:solidFill>
                  <a:srgbClr val="695C4A"/>
                </a:solidFill>
                <a:latin typeface="Glacial Indifference"/>
                <a:ea typeface="Glacial Indifference"/>
                <a:cs typeface="Glacial Indifference"/>
                <a:sym typeface="Glacial Indifference"/>
              </a:rPr>
              <a:t>υχ</a:t>
            </a:r>
            <a:r>
              <a:rPr lang="en-US" sz="1280">
                <a:solidFill>
                  <a:srgbClr val="695C4A"/>
                </a:solidFill>
                <a:latin typeface="Glacial Indifference"/>
                <a:ea typeface="Glacial Indifference"/>
                <a:cs typeface="Glacial Indifference"/>
                <a:sym typeface="Glacial Indifference"/>
              </a:rPr>
              <a:t>νότ</a:t>
            </a:r>
            <a:r>
              <a:rPr lang="en-US" sz="1280">
                <a:solidFill>
                  <a:srgbClr val="695C4A"/>
                </a:solidFill>
                <a:latin typeface="Glacial Indifference"/>
                <a:ea typeface="Glacial Indifference"/>
                <a:cs typeface="Glacial Indifference"/>
                <a:sym typeface="Glacial Indifference"/>
              </a:rPr>
              <a:t>η</a:t>
            </a:r>
            <a:r>
              <a:rPr lang="en-US" sz="1280">
                <a:solidFill>
                  <a:srgbClr val="695C4A"/>
                </a:solidFill>
                <a:latin typeface="Glacial Indifference"/>
                <a:ea typeface="Glacial Indifference"/>
                <a:cs typeface="Glacial Indifference"/>
                <a:sym typeface="Glacial Indifference"/>
              </a:rPr>
              <a:t>τες.</a:t>
            </a:r>
          </a:p>
          <a:p>
            <a:pPr algn="l" marL="276503" indent="-138252" lvl="1">
              <a:lnSpc>
                <a:spcPts val="1792"/>
              </a:lnSpc>
              <a:buFont typeface="Arial"/>
              <a:buChar char="•"/>
            </a:pPr>
            <a:r>
              <a:rPr lang="en-US" sz="1280">
                <a:solidFill>
                  <a:srgbClr val="695C4A"/>
                </a:solidFill>
                <a:latin typeface="Glacial Indifference"/>
                <a:ea typeface="Glacial Indifference"/>
                <a:cs typeface="Glacial Indifference"/>
                <a:sym typeface="Glacial Indifference"/>
              </a:rPr>
              <a:t>Το </a:t>
            </a:r>
            <a:r>
              <a:rPr lang="en-US" b="true" sz="1280">
                <a:solidFill>
                  <a:srgbClr val="695C4A"/>
                </a:solidFill>
                <a:latin typeface="Glacial Indifference Bold"/>
                <a:ea typeface="Glacial Indifference Bold"/>
                <a:cs typeface="Glacial Indifference Bold"/>
                <a:sym typeface="Glacial Indifference Bold"/>
              </a:rPr>
              <a:t>ZCR </a:t>
            </a:r>
            <a:r>
              <a:rPr lang="en-US" sz="1280">
                <a:solidFill>
                  <a:srgbClr val="695C4A"/>
                </a:solidFill>
                <a:latin typeface="Glacial Indifference"/>
                <a:ea typeface="Glacial Indifference"/>
                <a:cs typeface="Glacial Indifference"/>
                <a:sym typeface="Glacial Indifference"/>
              </a:rPr>
              <a:t>έχει </a:t>
            </a:r>
            <a:r>
              <a:rPr lang="en-US" b="true" sz="1280">
                <a:solidFill>
                  <a:srgbClr val="695C4A"/>
                </a:solidFill>
                <a:latin typeface="Glacial Indifference Bold"/>
                <a:ea typeface="Glacial Indifference Bold"/>
                <a:cs typeface="Glacial Indifference Bold"/>
                <a:sym typeface="Glacial Indifference Bold"/>
              </a:rPr>
              <a:t>θετική συσχέτιση</a:t>
            </a:r>
            <a:r>
              <a:rPr lang="en-US" sz="1280">
                <a:solidFill>
                  <a:srgbClr val="695C4A"/>
                </a:solidFill>
                <a:latin typeface="Glacial Indifference"/>
                <a:ea typeface="Glacial Indifference"/>
                <a:cs typeface="Glacial Indifference"/>
                <a:sym typeface="Glacial Indifference"/>
              </a:rPr>
              <a:t> με </a:t>
            </a:r>
            <a:r>
              <a:rPr lang="en-US" b="true" sz="1280">
                <a:solidFill>
                  <a:srgbClr val="695C4A"/>
                </a:solidFill>
                <a:latin typeface="Glacial Indifference Bold"/>
                <a:ea typeface="Glacial Indifference Bold"/>
                <a:cs typeface="Glacial Indifference Bold"/>
                <a:sym typeface="Glacial Indifference Bold"/>
              </a:rPr>
              <a:t>χαρακτηριστικά υψηλών συχνοτήτων</a:t>
            </a:r>
            <a:r>
              <a:rPr lang="en-US" sz="1280">
                <a:solidFill>
                  <a:srgbClr val="695C4A"/>
                </a:solidFill>
                <a:latin typeface="Glacial Indifference"/>
                <a:ea typeface="Glacial Indifference"/>
                <a:cs typeface="Glacial Indifference"/>
                <a:sym typeface="Glacial Indifference"/>
              </a:rPr>
              <a:t> (Centroid, Rolloff), αλλά</a:t>
            </a:r>
            <a:r>
              <a:rPr lang="en-US" b="true" sz="1280">
                <a:solidFill>
                  <a:srgbClr val="695C4A"/>
                </a:solidFill>
                <a:latin typeface="Glacial Indifference Bold"/>
                <a:ea typeface="Glacial Indifference Bold"/>
                <a:cs typeface="Glacial Indifference Bold"/>
                <a:sym typeface="Glacial Indifference Bold"/>
              </a:rPr>
              <a:t> αρνητική με χαμηλούς MFCCs.</a:t>
            </a:r>
          </a:p>
          <a:p>
            <a:pPr algn="l" marL="276503" indent="-138252" lvl="1">
              <a:lnSpc>
                <a:spcPts val="1792"/>
              </a:lnSpc>
              <a:buFont typeface="Arial"/>
              <a:buChar char="•"/>
            </a:pPr>
            <a:r>
              <a:rPr lang="en-US" sz="1280">
                <a:solidFill>
                  <a:srgbClr val="695C4A"/>
                </a:solidFill>
                <a:latin typeface="Glacial Indifference"/>
                <a:ea typeface="Glacial Indifference"/>
                <a:cs typeface="Glacial Indifference"/>
                <a:sym typeface="Glacial Indifference"/>
              </a:rPr>
              <a:t>Το</a:t>
            </a:r>
            <a:r>
              <a:rPr lang="en-US" b="true" sz="1280">
                <a:solidFill>
                  <a:srgbClr val="695C4A"/>
                </a:solidFill>
                <a:latin typeface="Glacial Indifference Bold"/>
                <a:ea typeface="Glacial Indifference Bold"/>
                <a:cs typeface="Glacial Indifference Bold"/>
                <a:sym typeface="Glacial Indifference Bold"/>
              </a:rPr>
              <a:t> RMS Energy </a:t>
            </a:r>
            <a:r>
              <a:rPr lang="en-US" sz="1280">
                <a:solidFill>
                  <a:srgbClr val="695C4A"/>
                </a:solidFill>
                <a:latin typeface="Glacial Indifference"/>
                <a:ea typeface="Glacial Indifference"/>
                <a:cs typeface="Glacial Indifference"/>
                <a:sym typeface="Glacial Indifference"/>
              </a:rPr>
              <a:t>και το </a:t>
            </a:r>
            <a:r>
              <a:rPr lang="en-US" b="true" sz="1280">
                <a:solidFill>
                  <a:srgbClr val="695C4A"/>
                </a:solidFill>
                <a:latin typeface="Glacial Indifference Bold"/>
                <a:ea typeface="Glacial Indifference Bold"/>
                <a:cs typeface="Glacial Indifference Bold"/>
                <a:sym typeface="Glacial Indifference Bold"/>
              </a:rPr>
              <a:t>Spectral Flux </a:t>
            </a:r>
            <a:r>
              <a:rPr lang="en-US" sz="1280">
                <a:solidFill>
                  <a:srgbClr val="695C4A"/>
                </a:solidFill>
                <a:latin typeface="Glacial Indifference"/>
                <a:ea typeface="Glacial Indifference"/>
                <a:cs typeface="Glacial Indifference"/>
                <a:sym typeface="Glacial Indifference"/>
              </a:rPr>
              <a:t>εμφανίζουν </a:t>
            </a:r>
            <a:r>
              <a:rPr lang="en-US" b="true" sz="1280">
                <a:solidFill>
                  <a:srgbClr val="695C4A"/>
                </a:solidFill>
                <a:latin typeface="Glacial Indifference Bold"/>
                <a:ea typeface="Glacial Indifference Bold"/>
                <a:cs typeface="Glacial Indifference Bold"/>
                <a:sym typeface="Glacial Indifference Bold"/>
              </a:rPr>
              <a:t>μέτριες συσχετίσεις </a:t>
            </a:r>
            <a:r>
              <a:rPr lang="en-US" sz="1280">
                <a:solidFill>
                  <a:srgbClr val="695C4A"/>
                </a:solidFill>
                <a:latin typeface="Glacial Indifference"/>
                <a:ea typeface="Glacial Indifference"/>
                <a:cs typeface="Glacial Indifference"/>
                <a:sym typeface="Glacial Indifference"/>
              </a:rPr>
              <a:t>με διάφορους </a:t>
            </a:r>
            <a:r>
              <a:rPr lang="en-US" b="true" sz="1280">
                <a:solidFill>
                  <a:srgbClr val="695C4A"/>
                </a:solidFill>
                <a:latin typeface="Glacial Indifference Bold"/>
                <a:ea typeface="Glacial Indifference Bold"/>
                <a:cs typeface="Glacial Indifference Bold"/>
                <a:sym typeface="Glacial Indifference Bold"/>
              </a:rPr>
              <a:t>MFCCs</a:t>
            </a:r>
            <a:r>
              <a:rPr lang="en-US" sz="1280">
                <a:solidFill>
                  <a:srgbClr val="695C4A"/>
                </a:solidFill>
                <a:latin typeface="Glacial Indifference"/>
                <a:ea typeface="Glacial Indifference"/>
                <a:cs typeface="Glacial Indifference"/>
                <a:sym typeface="Glacial Indifference"/>
              </a:rPr>
              <a:t>, αλλά όχι τόσο ισχυρές όσο τα παραπάνω.</a:t>
            </a:r>
          </a:p>
          <a:p>
            <a:pPr algn="l" marL="276503" indent="-138252" lvl="1">
              <a:lnSpc>
                <a:spcPts val="1792"/>
              </a:lnSpc>
              <a:buFont typeface="Arial"/>
              <a:buChar char="•"/>
            </a:pPr>
            <a:r>
              <a:rPr lang="en-US" sz="1280">
                <a:solidFill>
                  <a:srgbClr val="695C4A"/>
                </a:solidFill>
                <a:latin typeface="Glacial Indifference"/>
                <a:ea typeface="Glacial Indifference"/>
                <a:cs typeface="Glacial Indifference"/>
                <a:sym typeface="Glacial Indifference"/>
              </a:rPr>
              <a:t>Το </a:t>
            </a:r>
            <a:r>
              <a:rPr lang="en-US" b="true" sz="1280">
                <a:solidFill>
                  <a:srgbClr val="695C4A"/>
                </a:solidFill>
                <a:latin typeface="Glacial Indifference Bold"/>
                <a:ea typeface="Glacial Indifference Bold"/>
                <a:cs typeface="Glacial Indifference Bold"/>
                <a:sym typeface="Glacial Indifference Bold"/>
              </a:rPr>
              <a:t>Spectral Flatness</a:t>
            </a:r>
            <a:r>
              <a:rPr lang="en-US" sz="1280">
                <a:solidFill>
                  <a:srgbClr val="695C4A"/>
                </a:solidFill>
                <a:latin typeface="Glacial Indifference"/>
                <a:ea typeface="Glacial Indifference"/>
                <a:cs typeface="Glacial Indifference"/>
                <a:sym typeface="Glacial Indifference"/>
              </a:rPr>
              <a:t> σχετίζεται </a:t>
            </a:r>
            <a:r>
              <a:rPr lang="en-US" b="true" sz="1280">
                <a:solidFill>
                  <a:srgbClr val="695C4A"/>
                </a:solidFill>
                <a:latin typeface="Glacial Indifference Bold"/>
                <a:ea typeface="Glacial Indifference Bold"/>
                <a:cs typeface="Glacial Indifference Bold"/>
                <a:sym typeface="Glacial Indifference Bold"/>
              </a:rPr>
              <a:t>αρνητικά </a:t>
            </a:r>
            <a:r>
              <a:rPr lang="en-US" sz="1280">
                <a:solidFill>
                  <a:srgbClr val="695C4A"/>
                </a:solidFill>
                <a:latin typeface="Glacial Indifference"/>
                <a:ea typeface="Glacial Indifference"/>
                <a:cs typeface="Glacial Indifference"/>
                <a:sym typeface="Glacial Indifference"/>
              </a:rPr>
              <a:t>με </a:t>
            </a:r>
            <a:r>
              <a:rPr lang="en-US" b="true" sz="1280">
                <a:solidFill>
                  <a:srgbClr val="695C4A"/>
                </a:solidFill>
                <a:latin typeface="Glacial Indifference Bold"/>
                <a:ea typeface="Glacial Indifference Bold"/>
                <a:cs typeface="Glacial Indifference Bold"/>
                <a:sym typeface="Glacial Indifference Bold"/>
              </a:rPr>
              <a:t>χαμηλής ενέργειας χαρακτηριστικά (RMS)</a:t>
            </a:r>
            <a:r>
              <a:rPr lang="en-US" sz="1280">
                <a:solidFill>
                  <a:srgbClr val="695C4A"/>
                </a:solidFill>
                <a:latin typeface="Glacial Indifference"/>
                <a:ea typeface="Glacial Indifference"/>
                <a:cs typeface="Glacial Indifference"/>
                <a:sym typeface="Glacial Indifference"/>
              </a:rPr>
              <a:t>, καθώς περιγράφει «λευκότητα» του σήματος.</a:t>
            </a:r>
          </a:p>
          <a:p>
            <a:pPr algn="l" marL="276503" indent="-138252" lvl="1">
              <a:lnSpc>
                <a:spcPts val="1792"/>
              </a:lnSpc>
              <a:buFont typeface="Arial"/>
              <a:buChar char="•"/>
            </a:pPr>
            <a:r>
              <a:rPr lang="en-US" sz="1280">
                <a:solidFill>
                  <a:srgbClr val="695C4A"/>
                </a:solidFill>
                <a:latin typeface="Glacial Indifference"/>
                <a:ea typeface="Glacial Indifference"/>
                <a:cs typeface="Glacial Indifference"/>
                <a:sym typeface="Glacial Indifference"/>
              </a:rPr>
              <a:t>Τα </a:t>
            </a:r>
            <a:r>
              <a:rPr lang="en-US" b="true" sz="1280">
                <a:solidFill>
                  <a:srgbClr val="695C4A"/>
                </a:solidFill>
                <a:latin typeface="Glacial Indifference Bold"/>
                <a:ea typeface="Glacial Indifference Bold"/>
                <a:cs typeface="Glacial Indifference Bold"/>
                <a:sym typeface="Glacial Indifference Bold"/>
              </a:rPr>
              <a:t>Log-Mel energies </a:t>
            </a:r>
            <a:r>
              <a:rPr lang="en-US" sz="1280">
                <a:solidFill>
                  <a:srgbClr val="695C4A"/>
                </a:solidFill>
                <a:latin typeface="Glacial Indifference"/>
                <a:ea typeface="Glacial Indifference"/>
                <a:cs typeface="Glacial Indifference"/>
                <a:sym typeface="Glacial Indifference"/>
              </a:rPr>
              <a:t>παρουσιάζουν </a:t>
            </a:r>
            <a:r>
              <a:rPr lang="en-US" b="true" sz="1280">
                <a:solidFill>
                  <a:srgbClr val="695C4A"/>
                </a:solidFill>
                <a:latin typeface="Glacial Indifference Bold"/>
                <a:ea typeface="Glacial Indifference Bold"/>
                <a:cs typeface="Glacial Indifference Bold"/>
                <a:sym typeface="Glacial Indifference Bold"/>
              </a:rPr>
              <a:t>υψηλή θετική συσχέτιση</a:t>
            </a:r>
            <a:r>
              <a:rPr lang="en-US" sz="1280">
                <a:solidFill>
                  <a:srgbClr val="695C4A"/>
                </a:solidFill>
                <a:latin typeface="Glacial Indifference"/>
                <a:ea typeface="Glacial Indifference"/>
                <a:cs typeface="Glacial Indifference"/>
                <a:sym typeface="Glacial Indifference"/>
              </a:rPr>
              <a:t> σε γειτονικά φίλτρα, ενώ χαμηλές–υψηλές συχνότητες έχουν αρνητική συσχέτιση, αντικατοπτρίζοντας τη μετατόπιση της ενέργειας στο φάσμα.</a:t>
            </a:r>
          </a:p>
          <a:p>
            <a:pPr algn="l">
              <a:lnSpc>
                <a:spcPts val="1792"/>
              </a:lnSpc>
            </a:pPr>
          </a:p>
        </p:txBody>
      </p:sp>
      <p:sp>
        <p:nvSpPr>
          <p:cNvPr name="TextBox 15" id="15"/>
          <p:cNvSpPr txBox="true"/>
          <p:nvPr/>
        </p:nvSpPr>
        <p:spPr>
          <a:xfrm rot="0">
            <a:off x="732759" y="7568989"/>
            <a:ext cx="5137101" cy="2615420"/>
          </a:xfrm>
          <a:prstGeom prst="rect">
            <a:avLst/>
          </a:prstGeom>
        </p:spPr>
        <p:txBody>
          <a:bodyPr anchor="t" rtlCol="false" tIns="0" lIns="0" bIns="0" rIns="0">
            <a:spAutoFit/>
          </a:bodyPr>
          <a:lstStyle/>
          <a:p>
            <a:pPr algn="l" marL="276503" indent="-138252" lvl="1">
              <a:lnSpc>
                <a:spcPts val="1792"/>
              </a:lnSpc>
              <a:buFont typeface="Arial"/>
              <a:buChar char="•"/>
            </a:pPr>
            <a:r>
              <a:rPr lang="en-US" b="true" sz="1280">
                <a:solidFill>
                  <a:srgbClr val="695C4A"/>
                </a:solidFill>
                <a:latin typeface="Glacial Indifference Bold"/>
                <a:ea typeface="Glacial Indifference Bold"/>
                <a:cs typeface="Glacial Indifference Bold"/>
                <a:sym typeface="Glacial Indifference Bold"/>
              </a:rPr>
              <a:t>Crackle</a:t>
            </a:r>
            <a:r>
              <a:rPr lang="en-US" sz="1280">
                <a:solidFill>
                  <a:srgbClr val="695C4A"/>
                </a:solidFill>
                <a:latin typeface="Glacial Indifference"/>
                <a:ea typeface="Glacial Indifference"/>
                <a:cs typeface="Glacial Indifference"/>
                <a:sym typeface="Glacial Indifference"/>
              </a:rPr>
              <a:t>:</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Διαχωρίζον</a:t>
            </a:r>
            <a:r>
              <a:rPr lang="en-US" sz="1280">
                <a:solidFill>
                  <a:srgbClr val="695C4A"/>
                </a:solidFill>
                <a:latin typeface="Glacial Indifference"/>
                <a:ea typeface="Glacial Indifference"/>
                <a:cs typeface="Glacial Indifference"/>
                <a:sym typeface="Glacial Indifference"/>
              </a:rPr>
              <a:t>τ</a:t>
            </a:r>
            <a:r>
              <a:rPr lang="en-US" sz="1280">
                <a:solidFill>
                  <a:srgbClr val="695C4A"/>
                </a:solidFill>
                <a:latin typeface="Glacial Indifference"/>
                <a:ea typeface="Glacial Indifference"/>
                <a:cs typeface="Glacial Indifference"/>
                <a:sym typeface="Glacial Indifference"/>
              </a:rPr>
              <a:t>α</a:t>
            </a:r>
            <a:r>
              <a:rPr lang="en-US" sz="1280">
                <a:solidFill>
                  <a:srgbClr val="695C4A"/>
                </a:solidFill>
                <a:latin typeface="Glacial Indifference"/>
                <a:ea typeface="Glacial Indifference"/>
                <a:cs typeface="Glacial Indifference"/>
                <a:sym typeface="Glacial Indifference"/>
              </a:rPr>
              <a:t>ι </a:t>
            </a:r>
            <a:r>
              <a:rPr lang="en-US" sz="1280">
                <a:solidFill>
                  <a:srgbClr val="695C4A"/>
                </a:solidFill>
                <a:latin typeface="Glacial Indifference"/>
                <a:ea typeface="Glacial Indifference"/>
                <a:cs typeface="Glacial Indifference"/>
                <a:sym typeface="Glacial Indifference"/>
              </a:rPr>
              <a:t>κ</a:t>
            </a:r>
            <a:r>
              <a:rPr lang="en-US" sz="1280">
                <a:solidFill>
                  <a:srgbClr val="695C4A"/>
                </a:solidFill>
                <a:latin typeface="Glacial Indifference"/>
                <a:ea typeface="Glacial Indifference"/>
                <a:cs typeface="Glacial Indifference"/>
                <a:sym typeface="Glacial Indifference"/>
              </a:rPr>
              <a:t>υ</a:t>
            </a:r>
            <a:r>
              <a:rPr lang="en-US" sz="1280">
                <a:solidFill>
                  <a:srgbClr val="695C4A"/>
                </a:solidFill>
                <a:latin typeface="Glacial Indifference"/>
                <a:ea typeface="Glacial Indifference"/>
                <a:cs typeface="Glacial Indifference"/>
                <a:sym typeface="Glacial Indifference"/>
              </a:rPr>
              <a:t>ρίως</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από τους</a:t>
            </a:r>
            <a:r>
              <a:rPr lang="en-US" b="true" sz="1280">
                <a:solidFill>
                  <a:srgbClr val="695C4A"/>
                </a:solidFill>
                <a:latin typeface="Glacial Indifference Bold"/>
                <a:ea typeface="Glacial Indifference Bold"/>
                <a:cs typeface="Glacial Indifference Bold"/>
                <a:sym typeface="Glacial Indifference Bold"/>
              </a:rPr>
              <a:t> υψηλούς και μεσαίους συντελεστές MFCC</a:t>
            </a:r>
            <a:r>
              <a:rPr lang="en-US" sz="1280">
                <a:solidFill>
                  <a:srgbClr val="695C4A"/>
                </a:solidFill>
                <a:latin typeface="Glacial Indifference"/>
                <a:ea typeface="Glacial Indifference"/>
                <a:cs typeface="Glacial Indifference"/>
                <a:sym typeface="Glacial Indifference"/>
              </a:rPr>
              <a:t>, το</a:t>
            </a:r>
            <a:r>
              <a:rPr lang="en-US" b="true" sz="1280">
                <a:solidFill>
                  <a:srgbClr val="695C4A"/>
                </a:solidFill>
                <a:latin typeface="Glacial Indifference Bold"/>
                <a:ea typeface="Glacial Indifference Bold"/>
                <a:cs typeface="Glacial Indifference Bold"/>
                <a:sym typeface="Glacial Indifference Bold"/>
              </a:rPr>
              <a:t> Onset Envelope</a:t>
            </a:r>
            <a:r>
              <a:rPr lang="en-US" sz="1280">
                <a:solidFill>
                  <a:srgbClr val="695C4A"/>
                </a:solidFill>
                <a:latin typeface="Glacial Indifference"/>
                <a:ea typeface="Glacial Indifference"/>
                <a:cs typeface="Glacial Indifference"/>
                <a:sym typeface="Glacial Indifference"/>
              </a:rPr>
              <a:t>, ορισμένα</a:t>
            </a:r>
            <a:r>
              <a:rPr lang="en-US" b="true" sz="1280">
                <a:solidFill>
                  <a:srgbClr val="695C4A"/>
                </a:solidFill>
                <a:latin typeface="Glacial Indifference Bold"/>
                <a:ea typeface="Glacial Indifference Bold"/>
                <a:cs typeface="Glacial Indifference Bold"/>
                <a:sym typeface="Glacial Indifference Bold"/>
              </a:rPr>
              <a:t> Log-Mel energies</a:t>
            </a:r>
            <a:r>
              <a:rPr lang="en-US" sz="1280">
                <a:solidFill>
                  <a:srgbClr val="695C4A"/>
                </a:solidFill>
                <a:latin typeface="Glacial Indifference"/>
                <a:ea typeface="Glacial Indifference"/>
                <a:cs typeface="Glacial Indifference"/>
                <a:sym typeface="Glacial Indifference"/>
              </a:rPr>
              <a:t> και</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τ</a:t>
            </a:r>
            <a:r>
              <a:rPr lang="en-US" sz="1280">
                <a:solidFill>
                  <a:srgbClr val="695C4A"/>
                </a:solidFill>
                <a:latin typeface="Glacial Indifference"/>
                <a:ea typeface="Glacial Indifference"/>
                <a:cs typeface="Glacial Indifference"/>
                <a:sym typeface="Glacial Indifference"/>
              </a:rPr>
              <a:t>ο</a:t>
            </a:r>
            <a:r>
              <a:rPr lang="en-US" sz="1280">
                <a:solidFill>
                  <a:srgbClr val="695C4A"/>
                </a:solidFill>
                <a:latin typeface="Glacial Indifference"/>
                <a:ea typeface="Glacial Indifference"/>
                <a:cs typeface="Glacial Indifference"/>
                <a:sym typeface="Glacial Indifference"/>
              </a:rPr>
              <a:t> </a:t>
            </a:r>
            <a:r>
              <a:rPr lang="en-US" b="true" sz="1280">
                <a:solidFill>
                  <a:srgbClr val="695C4A"/>
                </a:solidFill>
                <a:latin typeface="Glacial Indifference Bold"/>
                <a:ea typeface="Glacial Indifference Bold"/>
                <a:cs typeface="Glacial Indifference Bold"/>
                <a:sym typeface="Glacial Indifference Bold"/>
              </a:rPr>
              <a:t>Spectral Flux</a:t>
            </a:r>
            <a:r>
              <a:rPr lang="en-US" sz="1280">
                <a:solidFill>
                  <a:srgbClr val="695C4A"/>
                </a:solidFill>
                <a:latin typeface="Glacial Indifference"/>
                <a:ea typeface="Glacial Indifference"/>
                <a:cs typeface="Glacial Indifference"/>
                <a:sym typeface="Glacial Indifference"/>
              </a:rPr>
              <a:t>.</a:t>
            </a:r>
          </a:p>
          <a:p>
            <a:pPr algn="l" marL="276503" indent="-138252" lvl="1">
              <a:lnSpc>
                <a:spcPts val="1792"/>
              </a:lnSpc>
              <a:buFont typeface="Arial"/>
              <a:buChar char="•"/>
            </a:pPr>
            <a:r>
              <a:rPr lang="en-US" b="true" sz="1280">
                <a:solidFill>
                  <a:srgbClr val="695C4A"/>
                </a:solidFill>
                <a:latin typeface="Glacial Indifference Bold"/>
                <a:ea typeface="Glacial Indifference Bold"/>
                <a:cs typeface="Glacial Indifference Bold"/>
                <a:sym typeface="Glacial Indifference Bold"/>
              </a:rPr>
              <a:t>Normal</a:t>
            </a:r>
            <a:r>
              <a:rPr lang="en-US" sz="1280">
                <a:solidFill>
                  <a:srgbClr val="695C4A"/>
                </a:solidFill>
                <a:latin typeface="Glacial Indifference"/>
                <a:ea typeface="Glacial Indifference"/>
                <a:cs typeface="Glacial Indifference"/>
                <a:sym typeface="Glacial Indifference"/>
              </a:rPr>
              <a:t>:</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Παρουσιάζουν </a:t>
            </a:r>
            <a:r>
              <a:rPr lang="en-US" b="true" sz="1280">
                <a:solidFill>
                  <a:srgbClr val="695C4A"/>
                </a:solidFill>
                <a:latin typeface="Glacial Indifference Bold"/>
                <a:ea typeface="Glacial Indifference Bold"/>
                <a:cs typeface="Glacial Indifference Bold"/>
                <a:sym typeface="Glacial Indifference Bold"/>
              </a:rPr>
              <a:t>μέτριες προς υψηλές θετικές συσχετίσεις</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με το </a:t>
            </a:r>
            <a:r>
              <a:rPr lang="en-US" b="true" sz="1280">
                <a:solidFill>
                  <a:srgbClr val="695C4A"/>
                </a:solidFill>
                <a:latin typeface="Glacial Indifference Bold"/>
                <a:ea typeface="Glacial Indifference Bold"/>
                <a:cs typeface="Glacial Indifference Bold"/>
                <a:sym typeface="Glacial Indifference Bold"/>
              </a:rPr>
              <a:t>ZCR</a:t>
            </a:r>
            <a:r>
              <a:rPr lang="en-US" sz="1280">
                <a:solidFill>
                  <a:srgbClr val="695C4A"/>
                </a:solidFill>
                <a:latin typeface="Glacial Indifference"/>
                <a:ea typeface="Glacial Indifference"/>
                <a:cs typeface="Glacial Indifference"/>
                <a:sym typeface="Glacial Indifference"/>
              </a:rPr>
              <a:t>, </a:t>
            </a:r>
            <a:r>
              <a:rPr lang="en-US" b="true" sz="1280">
                <a:solidFill>
                  <a:srgbClr val="695C4A"/>
                </a:solidFill>
                <a:latin typeface="Glacial Indifference Bold"/>
                <a:ea typeface="Glacial Indifference Bold"/>
                <a:cs typeface="Glacial Indifference Bold"/>
                <a:sym typeface="Glacial Indifference Bold"/>
              </a:rPr>
              <a:t>RMS Energy </a:t>
            </a:r>
            <a:r>
              <a:rPr lang="en-US" sz="1280">
                <a:solidFill>
                  <a:srgbClr val="695C4A"/>
                </a:solidFill>
                <a:latin typeface="Glacial Indifference"/>
                <a:ea typeface="Glacial Indifference"/>
                <a:cs typeface="Glacial Indifference"/>
                <a:sym typeface="Glacial Indifference"/>
              </a:rPr>
              <a:t>και τα </a:t>
            </a:r>
            <a:r>
              <a:rPr lang="en-US" b="true" sz="1280">
                <a:solidFill>
                  <a:srgbClr val="695C4A"/>
                </a:solidFill>
                <a:latin typeface="Glacial Indifference Bold"/>
                <a:ea typeface="Glacial Indifference Bold"/>
                <a:cs typeface="Glacial Indifference Bold"/>
                <a:sym typeface="Glacial Indifference Bold"/>
              </a:rPr>
              <a:t>Spectral Centroid, Bandwidth, Flux</a:t>
            </a:r>
            <a:r>
              <a:rPr lang="en-US" sz="1280">
                <a:solidFill>
                  <a:srgbClr val="695C4A"/>
                </a:solidFill>
                <a:latin typeface="Glacial Indifference"/>
                <a:ea typeface="Glacial Indifference"/>
                <a:cs typeface="Glacial Indifference"/>
                <a:sym typeface="Glacial Indifference"/>
              </a:rPr>
              <a:t> ενώ </a:t>
            </a:r>
            <a:r>
              <a:rPr lang="en-US" b="true" sz="1280">
                <a:solidFill>
                  <a:srgbClr val="695C4A"/>
                </a:solidFill>
                <a:latin typeface="Glacial Indifference Bold"/>
                <a:ea typeface="Glacial Indifference Bold"/>
                <a:cs typeface="Glacial Indifference Bold"/>
                <a:sym typeface="Glacial Indifference Bold"/>
              </a:rPr>
              <a:t>υψηλή αρνητική συσχέτιση</a:t>
            </a:r>
            <a:r>
              <a:rPr lang="en-US" sz="1280">
                <a:solidFill>
                  <a:srgbClr val="695C4A"/>
                </a:solidFill>
                <a:latin typeface="Glacial Indifference"/>
                <a:ea typeface="Glacial Indifference"/>
                <a:cs typeface="Glacial Indifference"/>
                <a:sym typeface="Glacial Indifference"/>
              </a:rPr>
              <a:t> υπάρχει με τα περισσότερα </a:t>
            </a:r>
            <a:r>
              <a:rPr lang="en-US" b="true" sz="1280">
                <a:solidFill>
                  <a:srgbClr val="695C4A"/>
                </a:solidFill>
                <a:latin typeface="Glacial Indifference Bold"/>
                <a:ea typeface="Glacial Indifference Bold"/>
                <a:cs typeface="Glacial Indifference Bold"/>
                <a:sym typeface="Glacial Indifference Bold"/>
              </a:rPr>
              <a:t>MFCCs</a:t>
            </a:r>
            <a:r>
              <a:rPr lang="en-US" sz="1280">
                <a:solidFill>
                  <a:srgbClr val="695C4A"/>
                </a:solidFill>
                <a:latin typeface="Glacial Indifference"/>
                <a:ea typeface="Glacial Indifference"/>
                <a:cs typeface="Glacial Indifference"/>
                <a:sym typeface="Glacial Indifference"/>
              </a:rPr>
              <a:t> και τα </a:t>
            </a:r>
            <a:r>
              <a:rPr lang="en-US" b="true" sz="1280">
                <a:solidFill>
                  <a:srgbClr val="695C4A"/>
                </a:solidFill>
                <a:latin typeface="Glacial Indifference Bold"/>
                <a:ea typeface="Glacial Indifference Bold"/>
                <a:cs typeface="Glacial Indifference Bold"/>
                <a:sym typeface="Glacial Indifference Bold"/>
              </a:rPr>
              <a:t>υψηλά Log-Mel energies</a:t>
            </a:r>
            <a:r>
              <a:rPr lang="en-US" sz="1280">
                <a:solidFill>
                  <a:srgbClr val="695C4A"/>
                </a:solidFill>
                <a:latin typeface="Glacial Indifference"/>
                <a:ea typeface="Glacial Indifference"/>
                <a:cs typeface="Glacial Indifference"/>
                <a:sym typeface="Glacial Indifference"/>
              </a:rPr>
              <a:t>.</a:t>
            </a:r>
          </a:p>
          <a:p>
            <a:pPr algn="l" marL="276503" indent="-138252" lvl="1">
              <a:lnSpc>
                <a:spcPts val="1792"/>
              </a:lnSpc>
              <a:buFont typeface="Arial"/>
              <a:buChar char="•"/>
            </a:pPr>
            <a:r>
              <a:rPr lang="en-US" b="true" sz="1280">
                <a:solidFill>
                  <a:srgbClr val="695C4A"/>
                </a:solidFill>
                <a:latin typeface="Glacial Indifference Bold"/>
                <a:ea typeface="Glacial Indifference Bold"/>
                <a:cs typeface="Glacial Indifference Bold"/>
                <a:sym typeface="Glacial Indifference Bold"/>
              </a:rPr>
              <a:t>Wheeze</a:t>
            </a:r>
            <a:r>
              <a:rPr lang="en-US" sz="1280">
                <a:solidFill>
                  <a:srgbClr val="695C4A"/>
                </a:solidFill>
                <a:latin typeface="Glacial Indifference"/>
                <a:ea typeface="Glacial Indifference"/>
                <a:cs typeface="Glacial Indifference"/>
                <a:sym typeface="Glacial Indifference"/>
              </a:rPr>
              <a:t>:</a:t>
            </a:r>
            <a:r>
              <a:rPr lang="en-US" sz="1280">
                <a:solidFill>
                  <a:srgbClr val="695C4A"/>
                </a:solidFill>
                <a:latin typeface="Glacial Indifference"/>
                <a:ea typeface="Glacial Indifference"/>
                <a:cs typeface="Glacial Indifference"/>
                <a:sym typeface="Glacial Indifference"/>
              </a:rPr>
              <a:t> </a:t>
            </a:r>
            <a:r>
              <a:rPr lang="en-US" sz="1280">
                <a:solidFill>
                  <a:srgbClr val="695C4A"/>
                </a:solidFill>
                <a:latin typeface="Glacial Indifference"/>
                <a:ea typeface="Glacial Indifference"/>
                <a:cs typeface="Glacial Indifference"/>
                <a:sym typeface="Glacial Indifference"/>
              </a:rPr>
              <a:t>Έχουν </a:t>
            </a:r>
            <a:r>
              <a:rPr lang="en-US" b="true" sz="1280">
                <a:solidFill>
                  <a:srgbClr val="695C4A"/>
                </a:solidFill>
                <a:latin typeface="Glacial Indifference Bold"/>
                <a:ea typeface="Glacial Indifference Bold"/>
                <a:cs typeface="Glacial Indifference Bold"/>
                <a:sym typeface="Glacial Indifference Bold"/>
              </a:rPr>
              <a:t>ισχυρές θετικές συσχετίσεις</a:t>
            </a:r>
            <a:r>
              <a:rPr lang="en-US" sz="1280">
                <a:solidFill>
                  <a:srgbClr val="695C4A"/>
                </a:solidFill>
                <a:latin typeface="Glacial Indifference"/>
                <a:ea typeface="Glacial Indifference"/>
                <a:cs typeface="Glacial Indifference"/>
                <a:sym typeface="Glacial Indifference"/>
              </a:rPr>
              <a:t> με τα περισσότερα </a:t>
            </a:r>
            <a:r>
              <a:rPr lang="en-US" b="true" sz="1280">
                <a:solidFill>
                  <a:srgbClr val="695C4A"/>
                </a:solidFill>
                <a:latin typeface="Glacial Indifference Bold"/>
                <a:ea typeface="Glacial Indifference Bold"/>
                <a:cs typeface="Glacial Indifference Bold"/>
                <a:sym typeface="Glacial Indifference Bold"/>
              </a:rPr>
              <a:t>MFCCs</a:t>
            </a:r>
            <a:r>
              <a:rPr lang="en-US" sz="1280">
                <a:solidFill>
                  <a:srgbClr val="695C4A"/>
                </a:solidFill>
                <a:latin typeface="Glacial Indifference"/>
                <a:ea typeface="Glacial Indifference"/>
                <a:cs typeface="Glacial Indifference"/>
                <a:sym typeface="Glacial Indifference"/>
              </a:rPr>
              <a:t>, ενώ αρνητικές με τα</a:t>
            </a:r>
            <a:r>
              <a:rPr lang="en-US" b="true" sz="1280">
                <a:solidFill>
                  <a:srgbClr val="695C4A"/>
                </a:solidFill>
                <a:latin typeface="Glacial Indifference Bold"/>
                <a:ea typeface="Glacial Indifference Bold"/>
                <a:cs typeface="Glacial Indifference Bold"/>
                <a:sym typeface="Glacial Indifference Bold"/>
              </a:rPr>
              <a:t> Spectral Centroid, Bandwidth,</a:t>
            </a:r>
            <a:r>
              <a:rPr lang="en-US" sz="1280">
                <a:solidFill>
                  <a:srgbClr val="695C4A"/>
                </a:solidFill>
                <a:latin typeface="Glacial Indifference"/>
                <a:ea typeface="Glacial Indifference"/>
                <a:cs typeface="Glacial Indifference"/>
                <a:sym typeface="Glacial Indifference"/>
              </a:rPr>
              <a:t> </a:t>
            </a:r>
            <a:r>
              <a:rPr lang="en-US" b="true" sz="1280">
                <a:solidFill>
                  <a:srgbClr val="695C4A"/>
                </a:solidFill>
                <a:latin typeface="Glacial Indifference Bold"/>
                <a:ea typeface="Glacial Indifference Bold"/>
                <a:cs typeface="Glacial Indifference Bold"/>
                <a:sym typeface="Glacial Indifference Bold"/>
              </a:rPr>
              <a:t>ZCR, RMS Energy</a:t>
            </a:r>
            <a:r>
              <a:rPr lang="en-US" sz="1280">
                <a:solidFill>
                  <a:srgbClr val="695C4A"/>
                </a:solidFill>
                <a:latin typeface="Glacial Indifference"/>
                <a:ea typeface="Glacial Indifference"/>
                <a:cs typeface="Glacial Indifference"/>
                <a:sym typeface="Glacial Indifference"/>
              </a:rPr>
              <a:t> και τα </a:t>
            </a:r>
            <a:r>
              <a:rPr lang="en-US" b="true" sz="1280">
                <a:solidFill>
                  <a:srgbClr val="695C4A"/>
                </a:solidFill>
                <a:latin typeface="Glacial Indifference Bold"/>
                <a:ea typeface="Glacial Indifference Bold"/>
                <a:cs typeface="Glacial Indifference Bold"/>
                <a:sym typeface="Glacial Indifference Bold"/>
              </a:rPr>
              <a:t>χαμηλότερα Log-Mel energies</a:t>
            </a:r>
            <a:r>
              <a:rPr lang="en-US" sz="1280">
                <a:solidFill>
                  <a:srgbClr val="695C4A"/>
                </a:solidFill>
                <a:latin typeface="Glacial Indifference"/>
                <a:ea typeface="Glacial Indifference"/>
                <a:cs typeface="Glacial Indifference"/>
                <a:sym typeface="Glacial Indifference"/>
              </a:rPr>
              <a:t>.</a:t>
            </a:r>
          </a:p>
          <a:p>
            <a:pPr algn="l">
              <a:lnSpc>
                <a:spcPts val="1792"/>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flipV="true">
            <a:off x="-958195" y="986592"/>
            <a:ext cx="11240681" cy="19050"/>
          </a:xfrm>
          <a:prstGeom prst="line">
            <a:avLst/>
          </a:prstGeom>
          <a:ln cap="flat" w="38100">
            <a:solidFill>
              <a:srgbClr val="827564"/>
            </a:solidFill>
            <a:prstDash val="solid"/>
            <a:headEnd type="none" len="sm" w="sm"/>
            <a:tailEnd type="none" len="sm" w="sm"/>
          </a:ln>
        </p:spPr>
      </p:sp>
      <p:sp>
        <p:nvSpPr>
          <p:cNvPr name="AutoShape 3" id="3"/>
          <p:cNvSpPr/>
          <p:nvPr/>
        </p:nvSpPr>
        <p:spPr>
          <a:xfrm flipH="true" flipV="true">
            <a:off x="765984" y="-182126"/>
            <a:ext cx="0" cy="2197866"/>
          </a:xfrm>
          <a:prstGeom prst="line">
            <a:avLst/>
          </a:prstGeom>
          <a:ln cap="flat" w="38100">
            <a:solidFill>
              <a:srgbClr val="827564"/>
            </a:solidFill>
            <a:prstDash val="solid"/>
            <a:headEnd type="none" len="sm" w="sm"/>
            <a:tailEnd type="none" len="sm" w="sm"/>
          </a:ln>
        </p:spPr>
      </p:sp>
      <p:sp>
        <p:nvSpPr>
          <p:cNvPr name="Freeform 4" id="4"/>
          <p:cNvSpPr/>
          <p:nvPr/>
        </p:nvSpPr>
        <p:spPr>
          <a:xfrm flipH="false" flipV="false" rot="0">
            <a:off x="495024" y="734682"/>
            <a:ext cx="541920" cy="541920"/>
          </a:xfrm>
          <a:custGeom>
            <a:avLst/>
            <a:gdLst/>
            <a:ahLst/>
            <a:cxnLst/>
            <a:rect r="r" b="b" t="t" l="l"/>
            <a:pathLst>
              <a:path h="541920" w="541920">
                <a:moveTo>
                  <a:pt x="0" y="0"/>
                </a:moveTo>
                <a:lnTo>
                  <a:pt x="541920" y="0"/>
                </a:lnTo>
                <a:lnTo>
                  <a:pt x="541920" y="541920"/>
                </a:lnTo>
                <a:lnTo>
                  <a:pt x="0" y="54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112123" y="2297470"/>
            <a:ext cx="7193361" cy="2967955"/>
          </a:xfrm>
          <a:custGeom>
            <a:avLst/>
            <a:gdLst/>
            <a:ahLst/>
            <a:cxnLst/>
            <a:rect r="r" b="b" t="t" l="l"/>
            <a:pathLst>
              <a:path h="2967955" w="7193361">
                <a:moveTo>
                  <a:pt x="0" y="0"/>
                </a:moveTo>
                <a:lnTo>
                  <a:pt x="7193361" y="0"/>
                </a:lnTo>
                <a:lnTo>
                  <a:pt x="7193361" y="2967955"/>
                </a:lnTo>
                <a:lnTo>
                  <a:pt x="0" y="2967955"/>
                </a:lnTo>
                <a:lnTo>
                  <a:pt x="0" y="0"/>
                </a:lnTo>
                <a:close/>
              </a:path>
            </a:pathLst>
          </a:custGeom>
          <a:blipFill>
            <a:blip r:embed="rId4"/>
            <a:stretch>
              <a:fillRect l="0" t="0" r="0" b="0"/>
            </a:stretch>
          </a:blipFill>
        </p:spPr>
      </p:sp>
      <p:sp>
        <p:nvSpPr>
          <p:cNvPr name="Freeform 6" id="6"/>
          <p:cNvSpPr/>
          <p:nvPr/>
        </p:nvSpPr>
        <p:spPr>
          <a:xfrm flipH="false" flipV="false" rot="0">
            <a:off x="11764767" y="5762613"/>
            <a:ext cx="5512279" cy="4114800"/>
          </a:xfrm>
          <a:custGeom>
            <a:avLst/>
            <a:gdLst/>
            <a:ahLst/>
            <a:cxnLst/>
            <a:rect r="r" b="b" t="t" l="l"/>
            <a:pathLst>
              <a:path h="4114800" w="5512279">
                <a:moveTo>
                  <a:pt x="0" y="0"/>
                </a:moveTo>
                <a:lnTo>
                  <a:pt x="5512279" y="0"/>
                </a:lnTo>
                <a:lnTo>
                  <a:pt x="5512279" y="4114800"/>
                </a:lnTo>
                <a:lnTo>
                  <a:pt x="0" y="4114800"/>
                </a:lnTo>
                <a:lnTo>
                  <a:pt x="0" y="0"/>
                </a:lnTo>
                <a:close/>
              </a:path>
            </a:pathLst>
          </a:custGeom>
          <a:blipFill>
            <a:blip r:embed="rId5"/>
            <a:stretch>
              <a:fillRect l="0" t="0" r="0" b="0"/>
            </a:stretch>
          </a:blipFill>
        </p:spPr>
      </p:sp>
      <p:sp>
        <p:nvSpPr>
          <p:cNvPr name="TextBox 7" id="7"/>
          <p:cNvSpPr txBox="true"/>
          <p:nvPr/>
        </p:nvSpPr>
        <p:spPr>
          <a:xfrm rot="0">
            <a:off x="1883179" y="1233249"/>
            <a:ext cx="7651249"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Προσαρμογή πεδίου</a:t>
            </a:r>
          </a:p>
        </p:txBody>
      </p:sp>
      <p:sp>
        <p:nvSpPr>
          <p:cNvPr name="TextBox 8" id="8"/>
          <p:cNvSpPr txBox="true"/>
          <p:nvPr/>
        </p:nvSpPr>
        <p:spPr>
          <a:xfrm rot="0">
            <a:off x="1185000" y="1106343"/>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5</a:t>
            </a:r>
          </a:p>
        </p:txBody>
      </p:sp>
      <p:sp>
        <p:nvSpPr>
          <p:cNvPr name="Freeform 9" id="9"/>
          <p:cNvSpPr/>
          <p:nvPr/>
        </p:nvSpPr>
        <p:spPr>
          <a:xfrm flipH="false" flipV="false" rot="-4957795">
            <a:off x="9800046" y="-5930849"/>
            <a:ext cx="18930865" cy="18758766"/>
          </a:xfrm>
          <a:custGeom>
            <a:avLst/>
            <a:gdLst/>
            <a:ahLst/>
            <a:cxnLst/>
            <a:rect r="r" b="b" t="t" l="l"/>
            <a:pathLst>
              <a:path h="18758766" w="18930865">
                <a:moveTo>
                  <a:pt x="0" y="0"/>
                </a:moveTo>
                <a:lnTo>
                  <a:pt x="18930865" y="0"/>
                </a:lnTo>
                <a:lnTo>
                  <a:pt x="18930865" y="18758767"/>
                </a:lnTo>
                <a:lnTo>
                  <a:pt x="0" y="18758767"/>
                </a:lnTo>
                <a:lnTo>
                  <a:pt x="0" y="0"/>
                </a:lnTo>
                <a:close/>
              </a:path>
            </a:pathLst>
          </a:custGeom>
          <a:blipFill>
            <a:blip r:embed="rId6">
              <a:alphaModFix amt="7999"/>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3624644">
            <a:off x="11657171" y="6960959"/>
            <a:ext cx="3012723" cy="1506361"/>
          </a:xfrm>
          <a:custGeom>
            <a:avLst/>
            <a:gdLst/>
            <a:ahLst/>
            <a:cxnLst/>
            <a:rect r="r" b="b" t="t" l="l"/>
            <a:pathLst>
              <a:path h="1506361" w="3012723">
                <a:moveTo>
                  <a:pt x="0" y="0"/>
                </a:moveTo>
                <a:lnTo>
                  <a:pt x="3012723" y="0"/>
                </a:lnTo>
                <a:lnTo>
                  <a:pt x="3012723" y="1506361"/>
                </a:lnTo>
                <a:lnTo>
                  <a:pt x="0" y="15063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11" id="11"/>
          <p:cNvSpPr/>
          <p:nvPr/>
        </p:nvSpPr>
        <p:spPr>
          <a:xfrm flipH="false" flipV="false" rot="7810754">
            <a:off x="14951471" y="7296287"/>
            <a:ext cx="2094902" cy="1047451"/>
          </a:xfrm>
          <a:custGeom>
            <a:avLst/>
            <a:gdLst/>
            <a:ahLst/>
            <a:cxnLst/>
            <a:rect r="r" b="b" t="t" l="l"/>
            <a:pathLst>
              <a:path h="1047451" w="2094902">
                <a:moveTo>
                  <a:pt x="0" y="0"/>
                </a:moveTo>
                <a:lnTo>
                  <a:pt x="2094902" y="0"/>
                </a:lnTo>
                <a:lnTo>
                  <a:pt x="2094902" y="1047451"/>
                </a:lnTo>
                <a:lnTo>
                  <a:pt x="0" y="10474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12" id="12"/>
          <p:cNvSpPr/>
          <p:nvPr/>
        </p:nvSpPr>
        <p:spPr>
          <a:xfrm flipH="false" flipV="false" rot="0">
            <a:off x="11130579" y="916808"/>
            <a:ext cx="5097604" cy="903272"/>
          </a:xfrm>
          <a:custGeom>
            <a:avLst/>
            <a:gdLst/>
            <a:ahLst/>
            <a:cxnLst/>
            <a:rect r="r" b="b" t="t" l="l"/>
            <a:pathLst>
              <a:path h="903272" w="5097604">
                <a:moveTo>
                  <a:pt x="0" y="0"/>
                </a:moveTo>
                <a:lnTo>
                  <a:pt x="5097604" y="0"/>
                </a:lnTo>
                <a:lnTo>
                  <a:pt x="5097604" y="903272"/>
                </a:lnTo>
                <a:lnTo>
                  <a:pt x="0" y="903272"/>
                </a:lnTo>
                <a:lnTo>
                  <a:pt x="0" y="0"/>
                </a:lnTo>
                <a:close/>
              </a:path>
            </a:pathLst>
          </a:custGeom>
          <a:blipFill>
            <a:blip r:embed="rId10"/>
            <a:stretch>
              <a:fillRect l="-33402" t="-38298" r="0" b="-995951"/>
            </a:stretch>
          </a:blipFill>
        </p:spPr>
      </p:sp>
      <p:sp>
        <p:nvSpPr>
          <p:cNvPr name="Freeform 13" id="13"/>
          <p:cNvSpPr/>
          <p:nvPr/>
        </p:nvSpPr>
        <p:spPr>
          <a:xfrm flipH="false" flipV="false" rot="0">
            <a:off x="11130579" y="1820080"/>
            <a:ext cx="5097604" cy="911523"/>
          </a:xfrm>
          <a:custGeom>
            <a:avLst/>
            <a:gdLst/>
            <a:ahLst/>
            <a:cxnLst/>
            <a:rect r="r" b="b" t="t" l="l"/>
            <a:pathLst>
              <a:path h="911523" w="5097604">
                <a:moveTo>
                  <a:pt x="0" y="0"/>
                </a:moveTo>
                <a:lnTo>
                  <a:pt x="5097604" y="0"/>
                </a:lnTo>
                <a:lnTo>
                  <a:pt x="5097604" y="911522"/>
                </a:lnTo>
                <a:lnTo>
                  <a:pt x="0" y="911522"/>
                </a:lnTo>
                <a:lnTo>
                  <a:pt x="0" y="0"/>
                </a:lnTo>
                <a:close/>
              </a:path>
            </a:pathLst>
          </a:custGeom>
          <a:blipFill>
            <a:blip r:embed="rId10"/>
            <a:stretch>
              <a:fillRect l="-33402" t="-137951" r="0" b="-886031"/>
            </a:stretch>
          </a:blipFill>
        </p:spPr>
      </p:sp>
      <p:sp>
        <p:nvSpPr>
          <p:cNvPr name="Freeform 14" id="14"/>
          <p:cNvSpPr/>
          <p:nvPr/>
        </p:nvSpPr>
        <p:spPr>
          <a:xfrm flipH="false" flipV="false" rot="0">
            <a:off x="16169737" y="916808"/>
            <a:ext cx="1821432" cy="903272"/>
          </a:xfrm>
          <a:custGeom>
            <a:avLst/>
            <a:gdLst/>
            <a:ahLst/>
            <a:cxnLst/>
            <a:rect r="r" b="b" t="t" l="l"/>
            <a:pathLst>
              <a:path h="903272" w="1821432">
                <a:moveTo>
                  <a:pt x="0" y="0"/>
                </a:moveTo>
                <a:lnTo>
                  <a:pt x="1821432" y="0"/>
                </a:lnTo>
                <a:lnTo>
                  <a:pt x="1821432" y="903272"/>
                </a:lnTo>
                <a:lnTo>
                  <a:pt x="0" y="903272"/>
                </a:lnTo>
                <a:lnTo>
                  <a:pt x="0" y="0"/>
                </a:lnTo>
                <a:close/>
              </a:path>
            </a:pathLst>
          </a:custGeom>
          <a:blipFill>
            <a:blip r:embed="rId11"/>
            <a:stretch>
              <a:fillRect l="0" t="-144107" r="-285729" b="-927743"/>
            </a:stretch>
          </a:blipFill>
        </p:spPr>
      </p:sp>
      <p:sp>
        <p:nvSpPr>
          <p:cNvPr name="Freeform 15" id="15"/>
          <p:cNvSpPr/>
          <p:nvPr/>
        </p:nvSpPr>
        <p:spPr>
          <a:xfrm flipH="false" flipV="false" rot="0">
            <a:off x="11172696" y="2726152"/>
            <a:ext cx="1693388" cy="926645"/>
          </a:xfrm>
          <a:custGeom>
            <a:avLst/>
            <a:gdLst/>
            <a:ahLst/>
            <a:cxnLst/>
            <a:rect r="r" b="b" t="t" l="l"/>
            <a:pathLst>
              <a:path h="926645" w="1693388">
                <a:moveTo>
                  <a:pt x="0" y="0"/>
                </a:moveTo>
                <a:lnTo>
                  <a:pt x="1693388" y="0"/>
                </a:lnTo>
                <a:lnTo>
                  <a:pt x="1693388" y="926645"/>
                </a:lnTo>
                <a:lnTo>
                  <a:pt x="0" y="926645"/>
                </a:lnTo>
                <a:lnTo>
                  <a:pt x="0" y="0"/>
                </a:lnTo>
                <a:close/>
              </a:path>
            </a:pathLst>
          </a:custGeom>
          <a:blipFill>
            <a:blip r:embed="rId12"/>
            <a:stretch>
              <a:fillRect l="-102113" t="-230060" r="-199469" b="-775579"/>
            </a:stretch>
          </a:blipFill>
        </p:spPr>
      </p:sp>
      <p:sp>
        <p:nvSpPr>
          <p:cNvPr name="Freeform 16" id="16"/>
          <p:cNvSpPr/>
          <p:nvPr/>
        </p:nvSpPr>
        <p:spPr>
          <a:xfrm flipH="false" flipV="false" rot="0">
            <a:off x="16221825" y="1820080"/>
            <a:ext cx="1717255" cy="906073"/>
          </a:xfrm>
          <a:custGeom>
            <a:avLst/>
            <a:gdLst/>
            <a:ahLst/>
            <a:cxnLst/>
            <a:rect r="r" b="b" t="t" l="l"/>
            <a:pathLst>
              <a:path h="906073" w="1717255">
                <a:moveTo>
                  <a:pt x="0" y="0"/>
                </a:moveTo>
                <a:lnTo>
                  <a:pt x="1717256" y="0"/>
                </a:lnTo>
                <a:lnTo>
                  <a:pt x="1717256" y="906072"/>
                </a:lnTo>
                <a:lnTo>
                  <a:pt x="0" y="906072"/>
                </a:lnTo>
                <a:lnTo>
                  <a:pt x="0" y="0"/>
                </a:lnTo>
                <a:close/>
              </a:path>
            </a:pathLst>
          </a:custGeom>
          <a:blipFill>
            <a:blip r:embed="rId12"/>
            <a:stretch>
              <a:fillRect l="0" t="-237554" r="-296001" b="-793189"/>
            </a:stretch>
          </a:blipFill>
        </p:spPr>
      </p:sp>
      <p:sp>
        <p:nvSpPr>
          <p:cNvPr name="Freeform 17" id="17"/>
          <p:cNvSpPr/>
          <p:nvPr/>
        </p:nvSpPr>
        <p:spPr>
          <a:xfrm flipH="false" flipV="false" rot="0">
            <a:off x="12837855" y="2726152"/>
            <a:ext cx="1683051" cy="926645"/>
          </a:xfrm>
          <a:custGeom>
            <a:avLst/>
            <a:gdLst/>
            <a:ahLst/>
            <a:cxnLst/>
            <a:rect r="r" b="b" t="t" l="l"/>
            <a:pathLst>
              <a:path h="926645" w="1683051">
                <a:moveTo>
                  <a:pt x="0" y="0"/>
                </a:moveTo>
                <a:lnTo>
                  <a:pt x="1683051" y="0"/>
                </a:lnTo>
                <a:lnTo>
                  <a:pt x="1683051" y="926645"/>
                </a:lnTo>
                <a:lnTo>
                  <a:pt x="0" y="926645"/>
                </a:lnTo>
                <a:lnTo>
                  <a:pt x="0" y="0"/>
                </a:lnTo>
                <a:close/>
              </a:path>
            </a:pathLst>
          </a:custGeom>
          <a:blipFill>
            <a:blip r:embed="rId12"/>
            <a:stretch>
              <a:fillRect l="-304049" t="-230060" r="0" b="-775579"/>
            </a:stretch>
          </a:blipFill>
        </p:spPr>
      </p:sp>
      <p:sp>
        <p:nvSpPr>
          <p:cNvPr name="Freeform 18" id="18"/>
          <p:cNvSpPr/>
          <p:nvPr/>
        </p:nvSpPr>
        <p:spPr>
          <a:xfrm flipH="false" flipV="false" rot="0">
            <a:off x="11172696" y="3669318"/>
            <a:ext cx="1725902" cy="924647"/>
          </a:xfrm>
          <a:custGeom>
            <a:avLst/>
            <a:gdLst/>
            <a:ahLst/>
            <a:cxnLst/>
            <a:rect r="r" b="b" t="t" l="l"/>
            <a:pathLst>
              <a:path h="924647" w="1725902">
                <a:moveTo>
                  <a:pt x="0" y="0"/>
                </a:moveTo>
                <a:lnTo>
                  <a:pt x="1725902" y="0"/>
                </a:lnTo>
                <a:lnTo>
                  <a:pt x="1725902" y="924647"/>
                </a:lnTo>
                <a:lnTo>
                  <a:pt x="0" y="924647"/>
                </a:lnTo>
                <a:lnTo>
                  <a:pt x="0" y="0"/>
                </a:lnTo>
                <a:close/>
              </a:path>
            </a:pathLst>
          </a:custGeom>
          <a:blipFill>
            <a:blip r:embed="rId12"/>
            <a:stretch>
              <a:fillRect l="-197836" t="-618822" r="-96181" b="-389206"/>
            </a:stretch>
          </a:blipFill>
        </p:spPr>
      </p:sp>
      <p:sp>
        <p:nvSpPr>
          <p:cNvPr name="Freeform 19" id="19"/>
          <p:cNvSpPr/>
          <p:nvPr/>
        </p:nvSpPr>
        <p:spPr>
          <a:xfrm flipH="false" flipV="false" rot="0">
            <a:off x="14507453" y="2711630"/>
            <a:ext cx="3428744" cy="941167"/>
          </a:xfrm>
          <a:custGeom>
            <a:avLst/>
            <a:gdLst/>
            <a:ahLst/>
            <a:cxnLst/>
            <a:rect r="r" b="b" t="t" l="l"/>
            <a:pathLst>
              <a:path h="941167" w="3428744">
                <a:moveTo>
                  <a:pt x="0" y="0"/>
                </a:moveTo>
                <a:lnTo>
                  <a:pt x="3428744" y="0"/>
                </a:lnTo>
                <a:lnTo>
                  <a:pt x="3428744" y="941167"/>
                </a:lnTo>
                <a:lnTo>
                  <a:pt x="0" y="941167"/>
                </a:lnTo>
                <a:lnTo>
                  <a:pt x="0" y="0"/>
                </a:lnTo>
                <a:close/>
              </a:path>
            </a:pathLst>
          </a:custGeom>
          <a:blipFill>
            <a:blip r:embed="rId12"/>
            <a:stretch>
              <a:fillRect l="0" t="-606204" r="-98333" b="-382375"/>
            </a:stretch>
          </a:blipFill>
        </p:spPr>
      </p:sp>
      <p:sp>
        <p:nvSpPr>
          <p:cNvPr name="Freeform 20" id="20"/>
          <p:cNvSpPr/>
          <p:nvPr/>
        </p:nvSpPr>
        <p:spPr>
          <a:xfrm flipH="false" flipV="false" rot="0">
            <a:off x="12821130" y="3669318"/>
            <a:ext cx="5115068" cy="924647"/>
          </a:xfrm>
          <a:custGeom>
            <a:avLst/>
            <a:gdLst/>
            <a:ahLst/>
            <a:cxnLst/>
            <a:rect r="r" b="b" t="t" l="l"/>
            <a:pathLst>
              <a:path h="924647" w="5115068">
                <a:moveTo>
                  <a:pt x="0" y="0"/>
                </a:moveTo>
                <a:lnTo>
                  <a:pt x="5115067" y="0"/>
                </a:lnTo>
                <a:lnTo>
                  <a:pt x="5115067" y="924647"/>
                </a:lnTo>
                <a:lnTo>
                  <a:pt x="0" y="924647"/>
                </a:lnTo>
                <a:lnTo>
                  <a:pt x="0" y="0"/>
                </a:lnTo>
                <a:close/>
              </a:path>
            </a:pathLst>
          </a:custGeom>
          <a:blipFill>
            <a:blip r:embed="rId12"/>
            <a:stretch>
              <a:fillRect l="-32947" t="-326554" r="0" b="-681474"/>
            </a:stretch>
          </a:blipFill>
        </p:spPr>
      </p:sp>
      <p:sp>
        <p:nvSpPr>
          <p:cNvPr name="Freeform 21" id="21"/>
          <p:cNvSpPr/>
          <p:nvPr/>
        </p:nvSpPr>
        <p:spPr>
          <a:xfrm flipH="false" flipV="false" rot="0">
            <a:off x="11130579" y="4609316"/>
            <a:ext cx="3390328" cy="924647"/>
          </a:xfrm>
          <a:custGeom>
            <a:avLst/>
            <a:gdLst/>
            <a:ahLst/>
            <a:cxnLst/>
            <a:rect r="r" b="b" t="t" l="l"/>
            <a:pathLst>
              <a:path h="924647" w="3390328">
                <a:moveTo>
                  <a:pt x="0" y="0"/>
                </a:moveTo>
                <a:lnTo>
                  <a:pt x="3390327" y="0"/>
                </a:lnTo>
                <a:lnTo>
                  <a:pt x="3390327" y="924647"/>
                </a:lnTo>
                <a:lnTo>
                  <a:pt x="0" y="924647"/>
                </a:lnTo>
                <a:lnTo>
                  <a:pt x="0" y="0"/>
                </a:lnTo>
                <a:close/>
              </a:path>
            </a:pathLst>
          </a:custGeom>
          <a:blipFill>
            <a:blip r:embed="rId12"/>
            <a:stretch>
              <a:fillRect l="-49708" t="-426554" r="-50872" b="-581474"/>
            </a:stretch>
          </a:blipFill>
        </p:spPr>
      </p:sp>
      <p:sp>
        <p:nvSpPr>
          <p:cNvPr name="Freeform 22" id="22"/>
          <p:cNvSpPr/>
          <p:nvPr/>
        </p:nvSpPr>
        <p:spPr>
          <a:xfrm flipH="false" flipV="false" rot="0">
            <a:off x="14520906" y="4652211"/>
            <a:ext cx="1729416" cy="881752"/>
          </a:xfrm>
          <a:custGeom>
            <a:avLst/>
            <a:gdLst/>
            <a:ahLst/>
            <a:cxnLst/>
            <a:rect r="r" b="b" t="t" l="l"/>
            <a:pathLst>
              <a:path h="881752" w="1729416">
                <a:moveTo>
                  <a:pt x="0" y="0"/>
                </a:moveTo>
                <a:lnTo>
                  <a:pt x="1729416" y="0"/>
                </a:lnTo>
                <a:lnTo>
                  <a:pt x="1729416" y="881752"/>
                </a:lnTo>
                <a:lnTo>
                  <a:pt x="0" y="881752"/>
                </a:lnTo>
                <a:lnTo>
                  <a:pt x="0" y="0"/>
                </a:lnTo>
                <a:close/>
              </a:path>
            </a:pathLst>
          </a:custGeom>
          <a:blipFill>
            <a:blip r:embed="rId11"/>
            <a:stretch>
              <a:fillRect l="0" t="-448218" r="-293216" b="-613714"/>
            </a:stretch>
          </a:blipFill>
        </p:spPr>
      </p:sp>
      <p:sp>
        <p:nvSpPr>
          <p:cNvPr name="TextBox 23" id="23"/>
          <p:cNvSpPr txBox="true"/>
          <p:nvPr/>
        </p:nvSpPr>
        <p:spPr>
          <a:xfrm rot="0">
            <a:off x="342344" y="5326929"/>
            <a:ext cx="10388185" cy="4736321"/>
          </a:xfrm>
          <a:prstGeom prst="rect">
            <a:avLst/>
          </a:prstGeom>
        </p:spPr>
        <p:txBody>
          <a:bodyPr anchor="t" rtlCol="false" tIns="0" lIns="0" bIns="0" rIns="0">
            <a:spAutoFit/>
          </a:bodyPr>
          <a:lstStyle/>
          <a:p>
            <a:pPr algn="l" marL="384450" indent="-192225" lvl="1">
              <a:lnSpc>
                <a:spcPts val="2492"/>
              </a:lnSpc>
              <a:buFont typeface="Arial"/>
              <a:buChar char="•"/>
            </a:pPr>
            <a:r>
              <a:rPr lang="en-US" sz="1780">
                <a:solidFill>
                  <a:srgbClr val="695C4A"/>
                </a:solidFill>
                <a:latin typeface="Glacial Indifference"/>
                <a:ea typeface="Glacial Indifference"/>
                <a:cs typeface="Glacial Indifference"/>
                <a:sym typeface="Glacial Indifference"/>
              </a:rPr>
              <a:t>Υπάρχει </a:t>
            </a:r>
            <a:r>
              <a:rPr lang="en-US" b="true" sz="1780">
                <a:solidFill>
                  <a:srgbClr val="695C4A"/>
                </a:solidFill>
                <a:latin typeface="Glacial Indifference Bold"/>
                <a:ea typeface="Glacial Indifference Bold"/>
                <a:cs typeface="Glacial Indifference Bold"/>
                <a:sym typeface="Glacial Indifference Bold"/>
              </a:rPr>
              <a:t>εμφανής μετατόπιση</a:t>
            </a:r>
            <a:r>
              <a:rPr lang="en-US" sz="1780">
                <a:solidFill>
                  <a:srgbClr val="695C4A"/>
                </a:solidFill>
                <a:latin typeface="Glacial Indifference"/>
                <a:ea typeface="Glacial Indifference"/>
                <a:cs typeface="Glacial Indifference"/>
                <a:sym typeface="Glacial Indifference"/>
              </a:rPr>
              <a:t> </a:t>
            </a:r>
            <a:r>
              <a:rPr lang="en-US" b="true" sz="1780">
                <a:solidFill>
                  <a:srgbClr val="695C4A"/>
                </a:solidFill>
                <a:latin typeface="Glacial Indifference Bold"/>
                <a:ea typeface="Glacial Indifference Bold"/>
                <a:cs typeface="Glacial Indifference Bold"/>
                <a:sym typeface="Glacial Indifference Bold"/>
              </a:rPr>
              <a:t>πεδίου</a:t>
            </a:r>
            <a:r>
              <a:rPr lang="en-US" sz="1780">
                <a:solidFill>
                  <a:srgbClr val="695C4A"/>
                </a:solidFill>
                <a:latin typeface="Glacial Indifference"/>
                <a:ea typeface="Glacial Indifference"/>
                <a:cs typeface="Glacial Indifference"/>
                <a:sym typeface="Glacial Indifference"/>
              </a:rPr>
              <a:t>, καθώς βλέπουμε ότι </a:t>
            </a:r>
            <a:r>
              <a:rPr lang="en-US" b="true" sz="1780">
                <a:solidFill>
                  <a:srgbClr val="695C4A"/>
                </a:solidFill>
                <a:latin typeface="Glacial Indifference Bold"/>
                <a:ea typeface="Glacial Indifference Bold"/>
                <a:cs typeface="Glacial Indifference Bold"/>
                <a:sym typeface="Glacial Indifference Bold"/>
              </a:rPr>
              <a:t>οι κατανομές </a:t>
            </a:r>
            <a:r>
              <a:rPr lang="en-US" sz="1780">
                <a:solidFill>
                  <a:srgbClr val="695C4A"/>
                </a:solidFill>
                <a:latin typeface="Glacial Indifference"/>
                <a:ea typeface="Glacial Indifference"/>
                <a:cs typeface="Glacial Indifference"/>
                <a:sym typeface="Glacial Indifference"/>
              </a:rPr>
              <a:t>στην πλειοψηφία των επιλεγμένων χαρακτηριστικών</a:t>
            </a:r>
            <a:r>
              <a:rPr lang="en-US" b="true" sz="1780">
                <a:solidFill>
                  <a:srgbClr val="695C4A"/>
                </a:solidFill>
                <a:latin typeface="Glacial Indifference Bold"/>
                <a:ea typeface="Glacial Indifference Bold"/>
                <a:cs typeface="Glacial Indifference Bold"/>
                <a:sym typeface="Glacial Indifference Bold"/>
              </a:rPr>
              <a:t> διαφέρουν στη μορφή</a:t>
            </a:r>
            <a:r>
              <a:rPr lang="en-US" sz="1780">
                <a:solidFill>
                  <a:srgbClr val="695C4A"/>
                </a:solidFill>
                <a:latin typeface="Glacial Indifference"/>
                <a:ea typeface="Glacial Indifference"/>
                <a:cs typeface="Glacial Indifference"/>
                <a:sym typeface="Glacial Indifference"/>
              </a:rPr>
              <a:t> και είναι </a:t>
            </a:r>
            <a:r>
              <a:rPr lang="en-US" b="true" sz="1780">
                <a:solidFill>
                  <a:srgbClr val="695C4A"/>
                </a:solidFill>
                <a:latin typeface="Glacial Indifference Bold"/>
                <a:ea typeface="Glacial Indifference Bold"/>
                <a:cs typeface="Glacial Indifference Bold"/>
                <a:sym typeface="Glacial Indifference Bold"/>
              </a:rPr>
              <a:t>μετατοπισμένες</a:t>
            </a:r>
            <a:r>
              <a:rPr lang="en-US" sz="1780">
                <a:solidFill>
                  <a:srgbClr val="695C4A"/>
                </a:solidFill>
                <a:latin typeface="Glacial Indifference"/>
                <a:ea typeface="Glacial Indifference"/>
                <a:cs typeface="Glacial Indifference"/>
                <a:sym typeface="Glacial Indifference"/>
              </a:rPr>
              <a:t>, ειδικά όσον αφορά τη συσκευή </a:t>
            </a:r>
            <a:r>
              <a:rPr lang="en-US" b="true" sz="1780">
                <a:solidFill>
                  <a:srgbClr val="695C4A"/>
                </a:solidFill>
                <a:latin typeface="Glacial Indifference Bold"/>
                <a:ea typeface="Glacial Indifference Bold"/>
                <a:cs typeface="Glacial Indifference Bold"/>
                <a:sym typeface="Glacial Indifference Bold"/>
              </a:rPr>
              <a:t>Litt3200</a:t>
            </a:r>
            <a:r>
              <a:rPr lang="en-US" sz="1780">
                <a:solidFill>
                  <a:srgbClr val="695C4A"/>
                </a:solidFill>
                <a:latin typeface="Glacial Indifference"/>
                <a:ea typeface="Glacial Indifference"/>
                <a:cs typeface="Glacial Indifference"/>
                <a:sym typeface="Glacial Indifference"/>
              </a:rPr>
              <a:t>. Τ</a:t>
            </a:r>
            <a:r>
              <a:rPr lang="en-US" sz="1780">
                <a:solidFill>
                  <a:srgbClr val="695C4A"/>
                </a:solidFill>
                <a:latin typeface="Glacial Indifference"/>
                <a:ea typeface="Glacial Indifference"/>
                <a:cs typeface="Glacial Indifference"/>
                <a:sym typeface="Glacial Indifference"/>
              </a:rPr>
              <a:t>α φαίνεται επίσης να </a:t>
            </a:r>
            <a:r>
              <a:rPr lang="en-US" sz="1780">
                <a:solidFill>
                  <a:srgbClr val="695C4A"/>
                </a:solidFill>
                <a:latin typeface="Glacial Indifference"/>
                <a:ea typeface="Glacial Indifference"/>
                <a:cs typeface="Glacial Indifference"/>
                <a:sym typeface="Glacial Indifference"/>
              </a:rPr>
              <a:t>ομ</a:t>
            </a:r>
            <a:r>
              <a:rPr lang="en-US" sz="1780">
                <a:solidFill>
                  <a:srgbClr val="695C4A"/>
                </a:solidFill>
                <a:latin typeface="Glacial Indifference"/>
                <a:ea typeface="Glacial Indifference"/>
                <a:cs typeface="Glacial Indifference"/>
                <a:sym typeface="Glacial Indifference"/>
              </a:rPr>
              <a:t>α</a:t>
            </a:r>
            <a:r>
              <a:rPr lang="en-US" sz="1780">
                <a:solidFill>
                  <a:srgbClr val="695C4A"/>
                </a:solidFill>
                <a:latin typeface="Glacial Indifference"/>
                <a:ea typeface="Glacial Indifference"/>
                <a:cs typeface="Glacial Indifference"/>
                <a:sym typeface="Glacial Indifference"/>
              </a:rPr>
              <a:t>δοποιούνται περισσότε</a:t>
            </a:r>
            <a:r>
              <a:rPr lang="en-US" sz="1780">
                <a:solidFill>
                  <a:srgbClr val="695C4A"/>
                </a:solidFill>
                <a:latin typeface="Glacial Indifference"/>
                <a:ea typeface="Glacial Indifference"/>
                <a:cs typeface="Glacial Indifference"/>
                <a:sym typeface="Glacial Indifference"/>
              </a:rPr>
              <a:t>ρ</a:t>
            </a:r>
            <a:r>
              <a:rPr lang="en-US" sz="1780">
                <a:solidFill>
                  <a:srgbClr val="695C4A"/>
                </a:solidFill>
                <a:latin typeface="Glacial Indifference"/>
                <a:ea typeface="Glacial Indifference"/>
                <a:cs typeface="Glacial Indifference"/>
                <a:sym typeface="Glacial Indifference"/>
              </a:rPr>
              <a:t>ο με βάση τη συσκευή καταγραφής, παρά την κατηγορία ήχου, δημιουργώντας καθαρές συστάδες στο επίπεδο. </a:t>
            </a:r>
            <a:r>
              <a:rPr lang="en-US" sz="1780">
                <a:solidFill>
                  <a:srgbClr val="695C4A"/>
                </a:solidFill>
                <a:latin typeface="Glacial Indifference"/>
                <a:ea typeface="Glacial Indifference"/>
                <a:cs typeface="Glacial Indifference"/>
                <a:sym typeface="Glacial Indifference"/>
              </a:rPr>
              <a:t>Αυτό </a:t>
            </a:r>
            <a:r>
              <a:rPr lang="en-US" b="true" sz="1780">
                <a:solidFill>
                  <a:srgbClr val="695C4A"/>
                </a:solidFill>
                <a:latin typeface="Glacial Indifference Bold"/>
                <a:ea typeface="Glacial Indifference Bold"/>
                <a:cs typeface="Glacial Indifference Bold"/>
                <a:sym typeface="Glacial Indifference Bold"/>
              </a:rPr>
              <a:t>μειώνει τη διαχωρισιμότητα των χαρακτηριστικών</a:t>
            </a:r>
            <a:r>
              <a:rPr lang="en-US" sz="1780">
                <a:solidFill>
                  <a:srgbClr val="695C4A"/>
                </a:solidFill>
                <a:latin typeface="Glacial Indifference"/>
                <a:ea typeface="Glacial Indifference"/>
                <a:cs typeface="Glacial Indifference"/>
                <a:sym typeface="Glacial Indifference"/>
              </a:rPr>
              <a:t> </a:t>
            </a:r>
            <a:r>
              <a:rPr lang="en-US" b="true" sz="1780">
                <a:solidFill>
                  <a:srgbClr val="695C4A"/>
                </a:solidFill>
                <a:latin typeface="Glacial Indifference Bold"/>
                <a:ea typeface="Glacial Indifference Bold"/>
                <a:cs typeface="Glacial Indifference Bold"/>
                <a:sym typeface="Glacial Indifference Bold"/>
              </a:rPr>
              <a:t>ανά κατηγορία</a:t>
            </a:r>
            <a:r>
              <a:rPr lang="en-US" sz="1780">
                <a:solidFill>
                  <a:srgbClr val="695C4A"/>
                </a:solidFill>
                <a:latin typeface="Glacial Indifference"/>
                <a:ea typeface="Glacial Indifference"/>
                <a:cs typeface="Glacial Indifference"/>
                <a:sym typeface="Glacial Indifference"/>
              </a:rPr>
              <a:t>, αφού οι διαφορές που εισάγει</a:t>
            </a:r>
            <a:r>
              <a:rPr lang="en-US" sz="1780">
                <a:solidFill>
                  <a:srgbClr val="695C4A"/>
                </a:solidFill>
                <a:latin typeface="Glacial Indifference"/>
                <a:ea typeface="Glacial Indifference"/>
                <a:cs typeface="Glacial Indifference"/>
                <a:sym typeface="Glacial Indifference"/>
              </a:rPr>
              <a:t> κάθε συσκευή (</a:t>
            </a:r>
            <a:r>
              <a:rPr lang="en-US" sz="1780">
                <a:solidFill>
                  <a:srgbClr val="695C4A"/>
                </a:solidFill>
                <a:latin typeface="Glacial Indifference"/>
                <a:ea typeface="Glacial Indifference"/>
                <a:cs typeface="Glacial Indifference"/>
                <a:sym typeface="Glacial Indifference"/>
              </a:rPr>
              <a:t>do</a:t>
            </a:r>
            <a:r>
              <a:rPr lang="en-US" sz="1780">
                <a:solidFill>
                  <a:srgbClr val="695C4A"/>
                </a:solidFill>
                <a:latin typeface="Glacial Indifference"/>
                <a:ea typeface="Glacial Indifference"/>
                <a:cs typeface="Glacial Indifference"/>
                <a:sym typeface="Glacial Indifference"/>
              </a:rPr>
              <a:t>m</a:t>
            </a:r>
            <a:r>
              <a:rPr lang="en-US" sz="1780">
                <a:solidFill>
                  <a:srgbClr val="695C4A"/>
                </a:solidFill>
                <a:latin typeface="Glacial Indifference"/>
                <a:ea typeface="Glacial Indifference"/>
                <a:cs typeface="Glacial Indifference"/>
                <a:sym typeface="Glacial Indifference"/>
              </a:rPr>
              <a:t>ain)</a:t>
            </a:r>
            <a:r>
              <a:rPr lang="en-US" sz="1780">
                <a:solidFill>
                  <a:srgbClr val="695C4A"/>
                </a:solidFill>
                <a:latin typeface="Glacial Indifference"/>
                <a:ea typeface="Glacial Indifference"/>
                <a:cs typeface="Glacial Indifference"/>
                <a:sym typeface="Glacial Indifference"/>
              </a:rPr>
              <a:t> </a:t>
            </a:r>
            <a:r>
              <a:rPr lang="en-US" sz="1780">
                <a:solidFill>
                  <a:srgbClr val="695C4A"/>
                </a:solidFill>
                <a:latin typeface="Glacial Indifference"/>
                <a:ea typeface="Glacial Indifference"/>
                <a:cs typeface="Glacial Indifference"/>
                <a:sym typeface="Glacial Indifference"/>
              </a:rPr>
              <a:t>υπερκαλύπτο</a:t>
            </a:r>
            <a:r>
              <a:rPr lang="en-US" sz="1780">
                <a:solidFill>
                  <a:srgbClr val="695C4A"/>
                </a:solidFill>
                <a:latin typeface="Glacial Indifference"/>
                <a:ea typeface="Glacial Indifference"/>
                <a:cs typeface="Glacial Indifference"/>
                <a:sym typeface="Glacial Indifference"/>
              </a:rPr>
              <a:t>υ</a:t>
            </a:r>
            <a:r>
              <a:rPr lang="en-US" sz="1780">
                <a:solidFill>
                  <a:srgbClr val="695C4A"/>
                </a:solidFill>
                <a:latin typeface="Glacial Indifference"/>
                <a:ea typeface="Glacial Indifference"/>
                <a:cs typeface="Glacial Indifference"/>
                <a:sym typeface="Glacial Indifference"/>
              </a:rPr>
              <a:t>ν τις πρ</a:t>
            </a:r>
            <a:r>
              <a:rPr lang="en-US" sz="1780">
                <a:solidFill>
                  <a:srgbClr val="695C4A"/>
                </a:solidFill>
                <a:latin typeface="Glacial Indifference"/>
                <a:ea typeface="Glacial Indifference"/>
                <a:cs typeface="Glacial Indifference"/>
                <a:sym typeface="Glacial Indifference"/>
              </a:rPr>
              <a:t>αγ</a:t>
            </a:r>
            <a:r>
              <a:rPr lang="en-US" sz="1780">
                <a:solidFill>
                  <a:srgbClr val="695C4A"/>
                </a:solidFill>
                <a:latin typeface="Glacial Indifference"/>
                <a:ea typeface="Glacial Indifference"/>
                <a:cs typeface="Glacial Indifference"/>
                <a:sym typeface="Glacial Indifference"/>
              </a:rPr>
              <a:t>μα</a:t>
            </a:r>
            <a:r>
              <a:rPr lang="en-US" sz="1780">
                <a:solidFill>
                  <a:srgbClr val="695C4A"/>
                </a:solidFill>
                <a:latin typeface="Glacial Indifference"/>
                <a:ea typeface="Glacial Indifference"/>
                <a:cs typeface="Glacial Indifference"/>
                <a:sym typeface="Glacial Indifference"/>
              </a:rPr>
              <a:t>τικέ</a:t>
            </a:r>
            <a:r>
              <a:rPr lang="en-US" sz="1780">
                <a:solidFill>
                  <a:srgbClr val="695C4A"/>
                </a:solidFill>
                <a:latin typeface="Glacial Indifference"/>
                <a:ea typeface="Glacial Indifference"/>
                <a:cs typeface="Glacial Indifference"/>
                <a:sym typeface="Glacial Indifference"/>
              </a:rPr>
              <a:t>ς διαφορές μεταξύ των παθήσεων.</a:t>
            </a:r>
          </a:p>
          <a:p>
            <a:pPr algn="l">
              <a:lnSpc>
                <a:spcPts val="2772"/>
              </a:lnSpc>
            </a:pPr>
          </a:p>
          <a:p>
            <a:pPr algn="l">
              <a:lnSpc>
                <a:spcPts val="2492"/>
              </a:lnSpc>
            </a:pPr>
            <a:r>
              <a:rPr lang="en-US" sz="1780">
                <a:solidFill>
                  <a:srgbClr val="695C4A"/>
                </a:solidFill>
                <a:latin typeface="Glacial Indifference"/>
                <a:ea typeface="Glacial Indifference"/>
                <a:cs typeface="Glacial Indifference"/>
                <a:sym typeface="Glacial Indifference"/>
              </a:rPr>
              <a:t>Σκοπός του συγκεκριμένου module είναι, με τη χρήση τεχνικών </a:t>
            </a:r>
            <a:r>
              <a:rPr lang="en-US" sz="1780" b="true">
                <a:solidFill>
                  <a:srgbClr val="695C4A"/>
                </a:solidFill>
                <a:latin typeface="Glacial Indifference Bold"/>
                <a:ea typeface="Glacial Indifference Bold"/>
                <a:cs typeface="Glacial Indifference Bold"/>
                <a:sym typeface="Glacial Indifference Bold"/>
              </a:rPr>
              <a:t>deep adversarial-based domain adaptation</a:t>
            </a:r>
            <a:r>
              <a:rPr lang="en-US" sz="1780">
                <a:solidFill>
                  <a:srgbClr val="695C4A"/>
                </a:solidFill>
                <a:latin typeface="Glacial Indifference"/>
                <a:ea typeface="Glacial Indifference"/>
                <a:cs typeface="Glacial Indifference"/>
                <a:sym typeface="Glacial Indifference"/>
              </a:rPr>
              <a:t>, να επιτευχθεί όχι μόνο η </a:t>
            </a:r>
            <a:r>
              <a:rPr lang="en-US" sz="1780" b="true">
                <a:solidFill>
                  <a:srgbClr val="695C4A"/>
                </a:solidFill>
                <a:latin typeface="Glacial Indifference Bold"/>
                <a:ea typeface="Glacial Indifference Bold"/>
                <a:cs typeface="Glacial Indifference Bold"/>
                <a:sym typeface="Glacial Indifference Bold"/>
              </a:rPr>
              <a:t>μέγιστη επικάλυψη των domains </a:t>
            </a:r>
            <a:r>
              <a:rPr lang="en-US" sz="1780">
                <a:solidFill>
                  <a:srgbClr val="695C4A"/>
                </a:solidFill>
                <a:latin typeface="Glacial Indifference"/>
                <a:ea typeface="Glacial Indifference"/>
                <a:cs typeface="Glacial Indifference"/>
                <a:sym typeface="Glacial Indifference"/>
              </a:rPr>
              <a:t>(διαφορετικών συσκευών), αλλά ταυτόχρονα και η </a:t>
            </a:r>
            <a:r>
              <a:rPr lang="en-US" sz="1780" b="true">
                <a:solidFill>
                  <a:srgbClr val="695C4A"/>
                </a:solidFill>
                <a:latin typeface="Glacial Indifference Bold"/>
                <a:ea typeface="Glacial Indifference Bold"/>
                <a:cs typeface="Glacial Indifference Bold"/>
                <a:sym typeface="Glacial Indifference Bold"/>
              </a:rPr>
              <a:t>ενίσχυση της διαχωρισιμότητας των κλάσεων,</a:t>
            </a:r>
            <a:r>
              <a:rPr lang="en-US" sz="1780">
                <a:solidFill>
                  <a:srgbClr val="695C4A"/>
                </a:solidFill>
                <a:latin typeface="Glacial Indifference"/>
                <a:ea typeface="Glacial Indifference"/>
                <a:cs typeface="Glacial Indifference"/>
                <a:sym typeface="Glacial Indifference"/>
              </a:rPr>
              <a:t> ώστε τα μοντέλα να εστιάζουν στην παθολογία και όχι στην πηγή καταγραφής. Για να επιτευχθεί αυτό δημιουργούνται νέες </a:t>
            </a:r>
            <a:r>
              <a:rPr lang="en-US" sz="1780" b="true">
                <a:solidFill>
                  <a:srgbClr val="695C4A"/>
                </a:solidFill>
                <a:latin typeface="Glacial Indifference Bold"/>
                <a:ea typeface="Glacial Indifference Bold"/>
                <a:cs typeface="Glacial Indifference Bold"/>
                <a:sym typeface="Glacial Indifference Bold"/>
              </a:rPr>
              <a:t>ενδιάμεσες αναπαραστάσεις</a:t>
            </a:r>
            <a:r>
              <a:rPr lang="en-US" sz="1780">
                <a:solidFill>
                  <a:srgbClr val="695C4A"/>
                </a:solidFill>
                <a:latin typeface="Glacial Indifference"/>
                <a:ea typeface="Glacial Indifference"/>
                <a:cs typeface="Glacial Indifference"/>
                <a:sym typeface="Glacial Indifference"/>
              </a:rPr>
              <a:t> των αρχικών χαρακτηριστικών σε χώρους κατάλληλων διαστάσεων όπου εξασφαλίζονται και οι δύο συνθήκες.</a:t>
            </a:r>
          </a:p>
          <a:p>
            <a:pPr algn="l">
              <a:lnSpc>
                <a:spcPts val="2492"/>
              </a:lnSpc>
              <a:spcBef>
                <a:spcPct val="0"/>
              </a:spcBef>
            </a:pPr>
          </a:p>
        </p:txBody>
      </p:sp>
      <p:sp>
        <p:nvSpPr>
          <p:cNvPr name="Freeform 24" id="24"/>
          <p:cNvSpPr/>
          <p:nvPr/>
        </p:nvSpPr>
        <p:spPr>
          <a:xfrm flipH="false" flipV="false" rot="0">
            <a:off x="16228183" y="4652211"/>
            <a:ext cx="1729416" cy="906073"/>
          </a:xfrm>
          <a:custGeom>
            <a:avLst/>
            <a:gdLst/>
            <a:ahLst/>
            <a:cxnLst/>
            <a:rect r="r" b="b" t="t" l="l"/>
            <a:pathLst>
              <a:path h="906073" w="1729416">
                <a:moveTo>
                  <a:pt x="0" y="0"/>
                </a:moveTo>
                <a:lnTo>
                  <a:pt x="1729416" y="0"/>
                </a:lnTo>
                <a:lnTo>
                  <a:pt x="1729416" y="906073"/>
                </a:lnTo>
                <a:lnTo>
                  <a:pt x="0" y="906073"/>
                </a:lnTo>
                <a:lnTo>
                  <a:pt x="0" y="0"/>
                </a:lnTo>
                <a:close/>
              </a:path>
            </a:pathLst>
          </a:custGeom>
          <a:blipFill>
            <a:blip r:embed="rId11"/>
            <a:stretch>
              <a:fillRect l="-193" t="-1035113" r="-294543" b="0"/>
            </a:stretch>
          </a:blipFill>
        </p:spPr>
      </p:sp>
      <p:sp>
        <p:nvSpPr>
          <p:cNvPr name="Freeform 25" id="25"/>
          <p:cNvSpPr/>
          <p:nvPr/>
        </p:nvSpPr>
        <p:spPr>
          <a:xfrm flipH="false" flipV="false" rot="-10800000">
            <a:off x="12821130" y="1796522"/>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26" id="26"/>
          <p:cNvSpPr/>
          <p:nvPr/>
        </p:nvSpPr>
        <p:spPr>
          <a:xfrm flipH="false" flipV="false" rot="-10800000">
            <a:off x="14507453" y="916808"/>
            <a:ext cx="1830215" cy="915108"/>
          </a:xfrm>
          <a:custGeom>
            <a:avLst/>
            <a:gdLst/>
            <a:ahLst/>
            <a:cxnLst/>
            <a:rect r="r" b="b" t="t" l="l"/>
            <a:pathLst>
              <a:path h="915108" w="1830215">
                <a:moveTo>
                  <a:pt x="0" y="0"/>
                </a:moveTo>
                <a:lnTo>
                  <a:pt x="1830216" y="0"/>
                </a:lnTo>
                <a:lnTo>
                  <a:pt x="1830216" y="915107"/>
                </a:lnTo>
                <a:lnTo>
                  <a:pt x="0" y="915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27" id="27"/>
          <p:cNvSpPr/>
          <p:nvPr/>
        </p:nvSpPr>
        <p:spPr>
          <a:xfrm flipH="false" flipV="false" rot="-10800000">
            <a:off x="11130579" y="2711630"/>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28" id="28"/>
          <p:cNvSpPr/>
          <p:nvPr/>
        </p:nvSpPr>
        <p:spPr>
          <a:xfrm flipH="false" flipV="false" rot="-10800000">
            <a:off x="14420107" y="2726152"/>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29" id="29"/>
          <p:cNvSpPr/>
          <p:nvPr/>
        </p:nvSpPr>
        <p:spPr>
          <a:xfrm flipH="false" flipV="false" rot="-10800000">
            <a:off x="14420107" y="3652797"/>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30" id="30"/>
          <p:cNvSpPr/>
          <p:nvPr/>
        </p:nvSpPr>
        <p:spPr>
          <a:xfrm flipH="false" flipV="false" rot="-10800000">
            <a:off x="11120540" y="881414"/>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31" id="31"/>
          <p:cNvSpPr/>
          <p:nvPr/>
        </p:nvSpPr>
        <p:spPr>
          <a:xfrm flipH="false" flipV="false" rot="-10800000">
            <a:off x="16221825" y="4618855"/>
            <a:ext cx="1830215" cy="915108"/>
          </a:xfrm>
          <a:custGeom>
            <a:avLst/>
            <a:gdLst/>
            <a:ahLst/>
            <a:cxnLst/>
            <a:rect r="r" b="b" t="t" l="l"/>
            <a:pathLst>
              <a:path h="915108" w="1830215">
                <a:moveTo>
                  <a:pt x="0" y="0"/>
                </a:moveTo>
                <a:lnTo>
                  <a:pt x="1830216" y="0"/>
                </a:lnTo>
                <a:lnTo>
                  <a:pt x="1830216"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32" id="32"/>
          <p:cNvSpPr/>
          <p:nvPr/>
        </p:nvSpPr>
        <p:spPr>
          <a:xfrm flipH="false" flipV="false" rot="-10800000">
            <a:off x="16228183" y="1777472"/>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33" id="33"/>
          <p:cNvSpPr/>
          <p:nvPr/>
        </p:nvSpPr>
        <p:spPr>
          <a:xfrm flipH="false" flipV="false" rot="-10800000">
            <a:off x="16228183" y="3690897"/>
            <a:ext cx="1830215" cy="915108"/>
          </a:xfrm>
          <a:custGeom>
            <a:avLst/>
            <a:gdLst/>
            <a:ahLst/>
            <a:cxnLst/>
            <a:rect r="r" b="b" t="t" l="l"/>
            <a:pathLst>
              <a:path h="915108" w="1830215">
                <a:moveTo>
                  <a:pt x="0" y="0"/>
                </a:moveTo>
                <a:lnTo>
                  <a:pt x="1830215" y="0"/>
                </a:lnTo>
                <a:lnTo>
                  <a:pt x="1830215" y="915108"/>
                </a:lnTo>
                <a:lnTo>
                  <a:pt x="0" y="915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34" id="34"/>
          <p:cNvSpPr/>
          <p:nvPr/>
        </p:nvSpPr>
        <p:spPr>
          <a:xfrm flipH="false" flipV="false" rot="0">
            <a:off x="13048245" y="352166"/>
            <a:ext cx="2918416" cy="382516"/>
          </a:xfrm>
          <a:custGeom>
            <a:avLst/>
            <a:gdLst/>
            <a:ahLst/>
            <a:cxnLst/>
            <a:rect r="r" b="b" t="t" l="l"/>
            <a:pathLst>
              <a:path h="382516" w="2918416">
                <a:moveTo>
                  <a:pt x="0" y="0"/>
                </a:moveTo>
                <a:lnTo>
                  <a:pt x="2918416" y="0"/>
                </a:lnTo>
                <a:lnTo>
                  <a:pt x="2918416" y="382516"/>
                </a:lnTo>
                <a:lnTo>
                  <a:pt x="0" y="382516"/>
                </a:lnTo>
                <a:lnTo>
                  <a:pt x="0" y="0"/>
                </a:lnTo>
                <a:close/>
              </a:path>
            </a:pathLst>
          </a:custGeom>
          <a:blipFill>
            <a:blip r:embed="rId10"/>
            <a:stretch>
              <a:fillRect l="-128292" t="0" r="-123799" b="-3947148"/>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2551395" y="1583608"/>
            <a:ext cx="13670401" cy="19050"/>
          </a:xfrm>
          <a:prstGeom prst="line">
            <a:avLst/>
          </a:prstGeom>
          <a:ln cap="flat" w="38100">
            <a:solidFill>
              <a:srgbClr val="827564"/>
            </a:solidFill>
            <a:prstDash val="solid"/>
            <a:headEnd type="oval" len="lg" w="lg"/>
            <a:tailEnd type="oval" len="lg" w="lg"/>
          </a:ln>
        </p:spPr>
      </p:sp>
      <p:sp>
        <p:nvSpPr>
          <p:cNvPr name="Freeform 3" id="3"/>
          <p:cNvSpPr/>
          <p:nvPr/>
        </p:nvSpPr>
        <p:spPr>
          <a:xfrm flipH="false" flipV="false" rot="0">
            <a:off x="171357" y="3011782"/>
            <a:ext cx="4274884" cy="3445429"/>
          </a:xfrm>
          <a:custGeom>
            <a:avLst/>
            <a:gdLst/>
            <a:ahLst/>
            <a:cxnLst/>
            <a:rect r="r" b="b" t="t" l="l"/>
            <a:pathLst>
              <a:path h="3445429" w="4274884">
                <a:moveTo>
                  <a:pt x="0" y="0"/>
                </a:moveTo>
                <a:lnTo>
                  <a:pt x="4274884" y="0"/>
                </a:lnTo>
                <a:lnTo>
                  <a:pt x="4274884" y="3445429"/>
                </a:lnTo>
                <a:lnTo>
                  <a:pt x="0" y="3445429"/>
                </a:lnTo>
                <a:lnTo>
                  <a:pt x="0" y="0"/>
                </a:lnTo>
                <a:close/>
              </a:path>
            </a:pathLst>
          </a:custGeom>
          <a:blipFill>
            <a:blip r:embed="rId2"/>
            <a:stretch>
              <a:fillRect l="0" t="0" r="0" b="0"/>
            </a:stretch>
          </a:blipFill>
        </p:spPr>
      </p:sp>
      <p:sp>
        <p:nvSpPr>
          <p:cNvPr name="Freeform 4" id="4"/>
          <p:cNvSpPr/>
          <p:nvPr/>
        </p:nvSpPr>
        <p:spPr>
          <a:xfrm flipH="false" flipV="false" rot="0">
            <a:off x="13395741" y="2021880"/>
            <a:ext cx="4892259" cy="3068231"/>
          </a:xfrm>
          <a:custGeom>
            <a:avLst/>
            <a:gdLst/>
            <a:ahLst/>
            <a:cxnLst/>
            <a:rect r="r" b="b" t="t" l="l"/>
            <a:pathLst>
              <a:path h="3068231" w="4892259">
                <a:moveTo>
                  <a:pt x="0" y="0"/>
                </a:moveTo>
                <a:lnTo>
                  <a:pt x="4892259" y="0"/>
                </a:lnTo>
                <a:lnTo>
                  <a:pt x="4892259" y="3068232"/>
                </a:lnTo>
                <a:lnTo>
                  <a:pt x="0" y="3068232"/>
                </a:lnTo>
                <a:lnTo>
                  <a:pt x="0" y="0"/>
                </a:lnTo>
                <a:close/>
              </a:path>
            </a:pathLst>
          </a:custGeom>
          <a:blipFill>
            <a:blip r:embed="rId3"/>
            <a:stretch>
              <a:fillRect l="0" t="0" r="0" b="0"/>
            </a:stretch>
          </a:blipFill>
        </p:spPr>
      </p:sp>
      <p:sp>
        <p:nvSpPr>
          <p:cNvPr name="Freeform 5" id="5"/>
          <p:cNvSpPr/>
          <p:nvPr/>
        </p:nvSpPr>
        <p:spPr>
          <a:xfrm flipH="false" flipV="false" rot="0">
            <a:off x="13395741" y="6190069"/>
            <a:ext cx="4892259" cy="3068231"/>
          </a:xfrm>
          <a:custGeom>
            <a:avLst/>
            <a:gdLst/>
            <a:ahLst/>
            <a:cxnLst/>
            <a:rect r="r" b="b" t="t" l="l"/>
            <a:pathLst>
              <a:path h="3068231" w="4892259">
                <a:moveTo>
                  <a:pt x="0" y="0"/>
                </a:moveTo>
                <a:lnTo>
                  <a:pt x="4892259" y="0"/>
                </a:lnTo>
                <a:lnTo>
                  <a:pt x="4892259" y="3068231"/>
                </a:lnTo>
                <a:lnTo>
                  <a:pt x="0" y="3068231"/>
                </a:lnTo>
                <a:lnTo>
                  <a:pt x="0" y="0"/>
                </a:lnTo>
                <a:close/>
              </a:path>
            </a:pathLst>
          </a:custGeom>
          <a:blipFill>
            <a:blip r:embed="rId3"/>
            <a:stretch>
              <a:fillRect l="0" t="0" r="0" b="0"/>
            </a:stretch>
          </a:blipFill>
        </p:spPr>
      </p:sp>
      <p:sp>
        <p:nvSpPr>
          <p:cNvPr name="Freeform 6" id="6"/>
          <p:cNvSpPr/>
          <p:nvPr/>
        </p:nvSpPr>
        <p:spPr>
          <a:xfrm flipH="false" flipV="false" rot="-1845111">
            <a:off x="12124728" y="4346350"/>
            <a:ext cx="1457886" cy="399096"/>
          </a:xfrm>
          <a:custGeom>
            <a:avLst/>
            <a:gdLst/>
            <a:ahLst/>
            <a:cxnLst/>
            <a:rect r="r" b="b" t="t" l="l"/>
            <a:pathLst>
              <a:path h="399096" w="1457886">
                <a:moveTo>
                  <a:pt x="0" y="0"/>
                </a:moveTo>
                <a:lnTo>
                  <a:pt x="1457887" y="0"/>
                </a:lnTo>
                <a:lnTo>
                  <a:pt x="1457887" y="399096"/>
                </a:lnTo>
                <a:lnTo>
                  <a:pt x="0" y="3990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913777">
            <a:off x="12338635" y="6658407"/>
            <a:ext cx="1457886" cy="399096"/>
          </a:xfrm>
          <a:custGeom>
            <a:avLst/>
            <a:gdLst/>
            <a:ahLst/>
            <a:cxnLst/>
            <a:rect r="r" b="b" t="t" l="l"/>
            <a:pathLst>
              <a:path h="399096" w="1457886">
                <a:moveTo>
                  <a:pt x="0" y="0"/>
                </a:moveTo>
                <a:lnTo>
                  <a:pt x="1457887" y="0"/>
                </a:lnTo>
                <a:lnTo>
                  <a:pt x="1457887" y="399097"/>
                </a:lnTo>
                <a:lnTo>
                  <a:pt x="0" y="3990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0800000">
            <a:off x="4502807" y="5490626"/>
            <a:ext cx="1457886" cy="399096"/>
          </a:xfrm>
          <a:custGeom>
            <a:avLst/>
            <a:gdLst/>
            <a:ahLst/>
            <a:cxnLst/>
            <a:rect r="r" b="b" t="t" l="l"/>
            <a:pathLst>
              <a:path h="399096" w="1457886">
                <a:moveTo>
                  <a:pt x="0" y="0"/>
                </a:moveTo>
                <a:lnTo>
                  <a:pt x="1457886" y="0"/>
                </a:lnTo>
                <a:lnTo>
                  <a:pt x="1457886" y="399096"/>
                </a:lnTo>
                <a:lnTo>
                  <a:pt x="0" y="3990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960693" y="4366910"/>
            <a:ext cx="6382571" cy="3045625"/>
          </a:xfrm>
          <a:custGeom>
            <a:avLst/>
            <a:gdLst/>
            <a:ahLst/>
            <a:cxnLst/>
            <a:rect r="r" b="b" t="t" l="l"/>
            <a:pathLst>
              <a:path h="3045625" w="6382571">
                <a:moveTo>
                  <a:pt x="0" y="0"/>
                </a:moveTo>
                <a:lnTo>
                  <a:pt x="6382571" y="0"/>
                </a:lnTo>
                <a:lnTo>
                  <a:pt x="6382571" y="3045625"/>
                </a:lnTo>
                <a:lnTo>
                  <a:pt x="0" y="3045625"/>
                </a:lnTo>
                <a:lnTo>
                  <a:pt x="0" y="0"/>
                </a:lnTo>
                <a:close/>
              </a:path>
            </a:pathLst>
          </a:custGeom>
          <a:blipFill>
            <a:blip r:embed="rId6"/>
            <a:stretch>
              <a:fillRect l="0" t="0" r="0" b="0"/>
            </a:stretch>
          </a:blipFill>
        </p:spPr>
      </p:sp>
      <p:sp>
        <p:nvSpPr>
          <p:cNvPr name="TextBox 10" id="10"/>
          <p:cNvSpPr txBox="true"/>
          <p:nvPr/>
        </p:nvSpPr>
        <p:spPr>
          <a:xfrm rot="0">
            <a:off x="2551395" y="950029"/>
            <a:ext cx="14048679" cy="438785"/>
          </a:xfrm>
          <a:prstGeom prst="rect">
            <a:avLst/>
          </a:prstGeom>
        </p:spPr>
        <p:txBody>
          <a:bodyPr anchor="t" rtlCol="false" tIns="0" lIns="0" bIns="0" rIns="0">
            <a:spAutoFit/>
          </a:bodyPr>
          <a:lstStyle/>
          <a:p>
            <a:pPr algn="l">
              <a:lnSpc>
                <a:spcPts val="3639"/>
              </a:lnSpc>
              <a:spcBef>
                <a:spcPct val="0"/>
              </a:spcBef>
            </a:pPr>
            <a:r>
              <a:rPr lang="en-US" b="true" sz="2599" spc="1091">
                <a:solidFill>
                  <a:srgbClr val="827564"/>
                </a:solidFill>
                <a:latin typeface="Open Sauce Bold"/>
                <a:ea typeface="Open Sauce Bold"/>
                <a:cs typeface="Open Sauce Bold"/>
                <a:sym typeface="Open Sauce Bold"/>
              </a:rPr>
              <a:t>DOMAIN ADVERSARIAL NEURAL NETWORK (DANN)</a:t>
            </a:r>
          </a:p>
        </p:txBody>
      </p:sp>
      <p:sp>
        <p:nvSpPr>
          <p:cNvPr name="TextBox 11" id="11"/>
          <p:cNvSpPr txBox="true"/>
          <p:nvPr/>
        </p:nvSpPr>
        <p:spPr>
          <a:xfrm rot="0">
            <a:off x="5146388" y="1983780"/>
            <a:ext cx="7549206" cy="2582491"/>
          </a:xfrm>
          <a:prstGeom prst="rect">
            <a:avLst/>
          </a:prstGeom>
        </p:spPr>
        <p:txBody>
          <a:bodyPr anchor="t" rtlCol="false" tIns="0" lIns="0" bIns="0" rIns="0">
            <a:spAutoFit/>
          </a:bodyPr>
          <a:lstStyle/>
          <a:p>
            <a:pPr algn="l">
              <a:lnSpc>
                <a:spcPts val="2557"/>
              </a:lnSpc>
            </a:pPr>
            <a:r>
              <a:rPr lang="en-US" sz="1827">
                <a:solidFill>
                  <a:srgbClr val="695C4A"/>
                </a:solidFill>
                <a:latin typeface="Glacial Indifference"/>
                <a:ea typeface="Glacial Indifference"/>
                <a:cs typeface="Glacial Indifference"/>
                <a:sym typeface="Glacial Indifference"/>
              </a:rPr>
              <a:t>Η αρχιτεκτονική του DANN χω</a:t>
            </a:r>
            <a:r>
              <a:rPr lang="en-US" sz="1827">
                <a:solidFill>
                  <a:srgbClr val="695C4A"/>
                </a:solidFill>
                <a:latin typeface="Glacial Indifference"/>
                <a:ea typeface="Glacial Indifference"/>
                <a:cs typeface="Glacial Indifference"/>
                <a:sym typeface="Glacial Indifference"/>
              </a:rPr>
              <a:t>ρ</a:t>
            </a:r>
            <a:r>
              <a:rPr lang="en-US" sz="1827">
                <a:solidFill>
                  <a:srgbClr val="695C4A"/>
                </a:solidFill>
                <a:latin typeface="Glacial Indifference"/>
                <a:ea typeface="Glacial Indifference"/>
                <a:cs typeface="Glacial Indifference"/>
                <a:sym typeface="Glacial Indifference"/>
              </a:rPr>
              <a:t>ίζ</a:t>
            </a:r>
            <a:r>
              <a:rPr lang="en-US" sz="1827">
                <a:solidFill>
                  <a:srgbClr val="695C4A"/>
                </a:solidFill>
                <a:latin typeface="Glacial Indifference"/>
                <a:ea typeface="Glacial Indifference"/>
                <a:cs typeface="Glacial Indifference"/>
                <a:sym typeface="Glacial Indifference"/>
              </a:rPr>
              <a:t>ετ</a:t>
            </a:r>
            <a:r>
              <a:rPr lang="en-US" sz="1827">
                <a:solidFill>
                  <a:srgbClr val="695C4A"/>
                </a:solidFill>
                <a:latin typeface="Glacial Indifference"/>
                <a:ea typeface="Glacial Indifference"/>
                <a:cs typeface="Glacial Indifference"/>
                <a:sym typeface="Glacial Indifference"/>
              </a:rPr>
              <a:t>α</a:t>
            </a:r>
            <a:r>
              <a:rPr lang="en-US" sz="1827">
                <a:solidFill>
                  <a:srgbClr val="695C4A"/>
                </a:solidFill>
                <a:latin typeface="Glacial Indifference"/>
                <a:ea typeface="Glacial Indifference"/>
                <a:cs typeface="Glacial Indifference"/>
                <a:sym typeface="Glacial Indifference"/>
              </a:rPr>
              <a:t>ι σε </a:t>
            </a:r>
            <a:r>
              <a:rPr lang="en-US" sz="1827">
                <a:solidFill>
                  <a:srgbClr val="695C4A"/>
                </a:solidFill>
                <a:latin typeface="Glacial Indifference"/>
                <a:ea typeface="Glacial Indifference"/>
                <a:cs typeface="Glacial Indifference"/>
                <a:sym typeface="Glacial Indifference"/>
              </a:rPr>
              <a:t>τρία βασικά</a:t>
            </a:r>
            <a:r>
              <a:rPr lang="en-US" sz="1827">
                <a:solidFill>
                  <a:srgbClr val="695C4A"/>
                </a:solidFill>
                <a:latin typeface="Glacial Indifference"/>
                <a:ea typeface="Glacial Indifference"/>
                <a:cs typeface="Glacial Indifference"/>
                <a:sym typeface="Glacial Indifference"/>
              </a:rPr>
              <a:t> </a:t>
            </a:r>
            <a:r>
              <a:rPr lang="en-US" sz="1827">
                <a:solidFill>
                  <a:srgbClr val="695C4A"/>
                </a:solidFill>
                <a:latin typeface="Glacial Indifference"/>
                <a:ea typeface="Glacial Indifference"/>
                <a:cs typeface="Glacial Indifference"/>
                <a:sym typeface="Glacial Indifference"/>
              </a:rPr>
              <a:t>τμήματα:</a:t>
            </a:r>
          </a:p>
          <a:p>
            <a:pPr algn="l" marL="394475" indent="-197238" lvl="1">
              <a:lnSpc>
                <a:spcPts val="2557"/>
              </a:lnSpc>
              <a:buFont typeface="Arial"/>
              <a:buChar char="•"/>
            </a:pPr>
            <a:r>
              <a:rPr lang="en-US" b="true" sz="1827">
                <a:solidFill>
                  <a:srgbClr val="695C4A"/>
                </a:solidFill>
                <a:latin typeface="Glacial Indifference Bold"/>
                <a:ea typeface="Glacial Indifference Bold"/>
                <a:cs typeface="Glacial Indifference Bold"/>
                <a:sym typeface="Glacial Indifference Bold"/>
              </a:rPr>
              <a:t>Feature extractor </a:t>
            </a:r>
            <a:r>
              <a:rPr lang="en-US" sz="1827">
                <a:solidFill>
                  <a:srgbClr val="695C4A"/>
                </a:solidFill>
                <a:latin typeface="Glacial Indifference"/>
                <a:ea typeface="Glacial Indifference"/>
                <a:cs typeface="Glacial Indifference"/>
                <a:sym typeface="Glacial Indifference"/>
              </a:rPr>
              <a:t>(</a:t>
            </a:r>
            <a:r>
              <a:rPr lang="en-US" sz="1827">
                <a:solidFill>
                  <a:srgbClr val="695C4A"/>
                </a:solidFill>
                <a:latin typeface="Glacial Indifference"/>
                <a:ea typeface="Glacial Indifference"/>
                <a:cs typeface="Glacial Indifference"/>
                <a:sym typeface="Glacial Indifference"/>
              </a:rPr>
              <a:t>πράσινο): μαθαίνει μια αναπαράσταση των δεδ</a:t>
            </a:r>
            <a:r>
              <a:rPr lang="en-US" sz="1827">
                <a:solidFill>
                  <a:srgbClr val="695C4A"/>
                </a:solidFill>
                <a:latin typeface="Glacial Indifference"/>
                <a:ea typeface="Glacial Indifference"/>
                <a:cs typeface="Glacial Indifference"/>
                <a:sym typeface="Glacial Indifference"/>
              </a:rPr>
              <a:t>ο</a:t>
            </a:r>
            <a:r>
              <a:rPr lang="en-US" sz="1827">
                <a:solidFill>
                  <a:srgbClr val="695C4A"/>
                </a:solidFill>
                <a:latin typeface="Glacial Indifference"/>
                <a:ea typeface="Glacial Indifference"/>
                <a:cs typeface="Glacial Indifference"/>
                <a:sym typeface="Glacial Indifference"/>
              </a:rPr>
              <a:t>μέν</a:t>
            </a:r>
            <a:r>
              <a:rPr lang="en-US" sz="1827">
                <a:solidFill>
                  <a:srgbClr val="695C4A"/>
                </a:solidFill>
                <a:latin typeface="Glacial Indifference"/>
                <a:ea typeface="Glacial Indifference"/>
                <a:cs typeface="Glacial Indifference"/>
                <a:sym typeface="Glacial Indifference"/>
              </a:rPr>
              <a:t>ων.</a:t>
            </a:r>
          </a:p>
          <a:p>
            <a:pPr algn="l" marL="394475" indent="-197238" lvl="1">
              <a:lnSpc>
                <a:spcPts val="2557"/>
              </a:lnSpc>
              <a:buFont typeface="Arial"/>
              <a:buChar char="•"/>
            </a:pPr>
            <a:r>
              <a:rPr lang="en-US" b="true" sz="1827">
                <a:solidFill>
                  <a:srgbClr val="695C4A"/>
                </a:solidFill>
                <a:latin typeface="Glacial Indifference Bold"/>
                <a:ea typeface="Glacial Indifference Bold"/>
                <a:cs typeface="Glacial Indifference Bold"/>
                <a:sym typeface="Glacial Indifference Bold"/>
              </a:rPr>
              <a:t>Label classifier</a:t>
            </a:r>
            <a:r>
              <a:rPr lang="en-US" sz="1827">
                <a:solidFill>
                  <a:srgbClr val="695C4A"/>
                </a:solidFill>
                <a:latin typeface="Glacial Indifference"/>
                <a:ea typeface="Glacial Indifference"/>
                <a:cs typeface="Glacial Indifference"/>
                <a:sym typeface="Glacial Indifference"/>
              </a:rPr>
              <a:t> </a:t>
            </a:r>
            <a:r>
              <a:rPr lang="en-US" sz="1827">
                <a:solidFill>
                  <a:srgbClr val="695C4A"/>
                </a:solidFill>
                <a:latin typeface="Glacial Indifference"/>
                <a:ea typeface="Glacial Indifference"/>
                <a:cs typeface="Glacial Indifference"/>
                <a:sym typeface="Glacial Indifference"/>
              </a:rPr>
              <a:t>(</a:t>
            </a:r>
            <a:r>
              <a:rPr lang="en-US" sz="1827">
                <a:solidFill>
                  <a:srgbClr val="695C4A"/>
                </a:solidFill>
                <a:latin typeface="Glacial Indifference"/>
                <a:ea typeface="Glacial Indifference"/>
                <a:cs typeface="Glacial Indifference"/>
                <a:sym typeface="Glacial Indifference"/>
              </a:rPr>
              <a:t>μ</a:t>
            </a:r>
            <a:r>
              <a:rPr lang="en-US" sz="1827">
                <a:solidFill>
                  <a:srgbClr val="695C4A"/>
                </a:solidFill>
                <a:latin typeface="Glacial Indifference"/>
                <a:ea typeface="Glacial Indifference"/>
                <a:cs typeface="Glacial Indifference"/>
                <a:sym typeface="Glacial Indifference"/>
              </a:rPr>
              <a:t>πλ</a:t>
            </a:r>
            <a:r>
              <a:rPr lang="en-US" sz="1827">
                <a:solidFill>
                  <a:srgbClr val="695C4A"/>
                </a:solidFill>
                <a:latin typeface="Glacial Indifference"/>
                <a:ea typeface="Glacial Indifference"/>
                <a:cs typeface="Glacial Indifference"/>
                <a:sym typeface="Glacial Indifference"/>
              </a:rPr>
              <a:t>ε</a:t>
            </a:r>
            <a:r>
              <a:rPr lang="en-US" sz="1827">
                <a:solidFill>
                  <a:srgbClr val="695C4A"/>
                </a:solidFill>
                <a:latin typeface="Glacial Indifference"/>
                <a:ea typeface="Glacial Indifference"/>
                <a:cs typeface="Glacial Indifference"/>
                <a:sym typeface="Glacial Indifference"/>
              </a:rPr>
              <a:t>): π</a:t>
            </a:r>
            <a:r>
              <a:rPr lang="en-US" sz="1827">
                <a:solidFill>
                  <a:srgbClr val="695C4A"/>
                </a:solidFill>
                <a:latin typeface="Glacial Indifference"/>
                <a:ea typeface="Glacial Indifference"/>
                <a:cs typeface="Glacial Indifference"/>
                <a:sym typeface="Glacial Indifference"/>
              </a:rPr>
              <a:t>ρο</a:t>
            </a:r>
            <a:r>
              <a:rPr lang="en-US" sz="1827">
                <a:solidFill>
                  <a:srgbClr val="695C4A"/>
                </a:solidFill>
                <a:latin typeface="Glacial Indifference"/>
                <a:ea typeface="Glacial Indifference"/>
                <a:cs typeface="Glacial Indifference"/>
                <a:sym typeface="Glacial Indifference"/>
              </a:rPr>
              <a:t>βλέπει την κατηγορία του ήχου (π.χ. </a:t>
            </a:r>
            <a:r>
              <a:rPr lang="en-US" sz="1827">
                <a:solidFill>
                  <a:srgbClr val="695C4A"/>
                </a:solidFill>
                <a:latin typeface="Glacial Indifference"/>
                <a:ea typeface="Glacial Indifference"/>
                <a:cs typeface="Glacial Indifference"/>
                <a:sym typeface="Glacial Indifference"/>
              </a:rPr>
              <a:t>C</a:t>
            </a:r>
            <a:r>
              <a:rPr lang="en-US" sz="1827">
                <a:solidFill>
                  <a:srgbClr val="695C4A"/>
                </a:solidFill>
                <a:latin typeface="Glacial Indifference"/>
                <a:ea typeface="Glacial Indifference"/>
                <a:cs typeface="Glacial Indifference"/>
                <a:sym typeface="Glacial Indifference"/>
              </a:rPr>
              <a:t>rackle,</a:t>
            </a:r>
            <a:r>
              <a:rPr lang="en-US" sz="1827">
                <a:solidFill>
                  <a:srgbClr val="695C4A"/>
                </a:solidFill>
                <a:latin typeface="Glacial Indifference"/>
                <a:ea typeface="Glacial Indifference"/>
                <a:cs typeface="Glacial Indifference"/>
                <a:sym typeface="Glacial Indifference"/>
              </a:rPr>
              <a:t> </a:t>
            </a:r>
            <a:r>
              <a:rPr lang="en-US" sz="1827">
                <a:solidFill>
                  <a:srgbClr val="695C4A"/>
                </a:solidFill>
                <a:latin typeface="Glacial Indifference"/>
                <a:ea typeface="Glacial Indifference"/>
                <a:cs typeface="Glacial Indifference"/>
                <a:sym typeface="Glacial Indifference"/>
              </a:rPr>
              <a:t>Wheeze,</a:t>
            </a:r>
            <a:r>
              <a:rPr lang="en-US" sz="1827">
                <a:solidFill>
                  <a:srgbClr val="695C4A"/>
                </a:solidFill>
                <a:latin typeface="Glacial Indifference"/>
                <a:ea typeface="Glacial Indifference"/>
                <a:cs typeface="Glacial Indifference"/>
                <a:sym typeface="Glacial Indifference"/>
              </a:rPr>
              <a:t> </a:t>
            </a:r>
            <a:r>
              <a:rPr lang="en-US" sz="1827">
                <a:solidFill>
                  <a:srgbClr val="695C4A"/>
                </a:solidFill>
                <a:latin typeface="Glacial Indifference"/>
                <a:ea typeface="Glacial Indifference"/>
                <a:cs typeface="Glacial Indifference"/>
                <a:sym typeface="Glacial Indifference"/>
              </a:rPr>
              <a:t>N</a:t>
            </a:r>
            <a:r>
              <a:rPr lang="en-US" sz="1827">
                <a:solidFill>
                  <a:srgbClr val="695C4A"/>
                </a:solidFill>
                <a:latin typeface="Glacial Indifference"/>
                <a:ea typeface="Glacial Indifference"/>
                <a:cs typeface="Glacial Indifference"/>
                <a:sym typeface="Glacial Indifference"/>
              </a:rPr>
              <a:t>o</a:t>
            </a:r>
            <a:r>
              <a:rPr lang="en-US" sz="1827">
                <a:solidFill>
                  <a:srgbClr val="695C4A"/>
                </a:solidFill>
                <a:latin typeface="Glacial Indifference"/>
                <a:ea typeface="Glacial Indifference"/>
                <a:cs typeface="Glacial Indifference"/>
                <a:sym typeface="Glacial Indifference"/>
              </a:rPr>
              <a:t>rma</a:t>
            </a:r>
            <a:r>
              <a:rPr lang="en-US" sz="1827">
                <a:solidFill>
                  <a:srgbClr val="695C4A"/>
                </a:solidFill>
                <a:latin typeface="Glacial Indifference"/>
                <a:ea typeface="Glacial Indifference"/>
                <a:cs typeface="Glacial Indifference"/>
                <a:sym typeface="Glacial Indifference"/>
              </a:rPr>
              <a:t>l</a:t>
            </a:r>
            <a:r>
              <a:rPr lang="en-US" sz="1827">
                <a:solidFill>
                  <a:srgbClr val="695C4A"/>
                </a:solidFill>
                <a:latin typeface="Glacial Indifference"/>
                <a:ea typeface="Glacial Indifference"/>
                <a:cs typeface="Glacial Indifference"/>
                <a:sym typeface="Glacial Indifference"/>
              </a:rPr>
              <a:t>).</a:t>
            </a:r>
          </a:p>
          <a:p>
            <a:pPr algn="l" marL="394475" indent="-197238" lvl="1">
              <a:lnSpc>
                <a:spcPts val="2557"/>
              </a:lnSpc>
              <a:spcBef>
                <a:spcPct val="0"/>
              </a:spcBef>
              <a:buFont typeface="Arial"/>
              <a:buChar char="•"/>
            </a:pPr>
            <a:r>
              <a:rPr lang="en-US" b="true" sz="1827">
                <a:solidFill>
                  <a:srgbClr val="695C4A"/>
                </a:solidFill>
                <a:latin typeface="Glacial Indifference Bold"/>
                <a:ea typeface="Glacial Indifference Bold"/>
                <a:cs typeface="Glacial Indifference Bold"/>
                <a:sym typeface="Glacial Indifference Bold"/>
              </a:rPr>
              <a:t>Domain classifier</a:t>
            </a:r>
            <a:r>
              <a:rPr lang="en-US" sz="1827">
                <a:solidFill>
                  <a:srgbClr val="695C4A"/>
                </a:solidFill>
                <a:latin typeface="Glacial Indifference"/>
                <a:ea typeface="Glacial Indifference"/>
                <a:cs typeface="Glacial Indifference"/>
                <a:sym typeface="Glacial Indifference"/>
              </a:rPr>
              <a:t> (ροζ): προσπαθεί να αναγνωρίσε</a:t>
            </a:r>
            <a:r>
              <a:rPr lang="en-US" sz="1827">
                <a:solidFill>
                  <a:srgbClr val="695C4A"/>
                </a:solidFill>
                <a:latin typeface="Glacial Indifference"/>
                <a:ea typeface="Glacial Indifference"/>
                <a:cs typeface="Glacial Indifference"/>
                <a:sym typeface="Glacial Indifference"/>
              </a:rPr>
              <a:t>ι </a:t>
            </a:r>
            <a:r>
              <a:rPr lang="en-US" sz="1827">
                <a:solidFill>
                  <a:srgbClr val="695C4A"/>
                </a:solidFill>
                <a:latin typeface="Glacial Indifference"/>
                <a:ea typeface="Glacial Indifference"/>
                <a:cs typeface="Glacial Indifference"/>
                <a:sym typeface="Glacial Indifference"/>
              </a:rPr>
              <a:t>τ</a:t>
            </a:r>
            <a:r>
              <a:rPr lang="en-US" sz="1827">
                <a:solidFill>
                  <a:srgbClr val="695C4A"/>
                </a:solidFill>
                <a:latin typeface="Glacial Indifference"/>
                <a:ea typeface="Glacial Indifference"/>
                <a:cs typeface="Glacial Indifference"/>
                <a:sym typeface="Glacial Indifference"/>
              </a:rPr>
              <a:t>η συ</a:t>
            </a:r>
            <a:r>
              <a:rPr lang="en-US" sz="1827">
                <a:solidFill>
                  <a:srgbClr val="695C4A"/>
                </a:solidFill>
                <a:latin typeface="Glacial Indifference"/>
                <a:ea typeface="Glacial Indifference"/>
                <a:cs typeface="Glacial Indifference"/>
                <a:sym typeface="Glacial Indifference"/>
              </a:rPr>
              <a:t>σκευή καταγραφής.</a:t>
            </a:r>
          </a:p>
          <a:p>
            <a:pPr algn="l">
              <a:lnSpc>
                <a:spcPts val="2557"/>
              </a:lnSpc>
              <a:spcBef>
                <a:spcPct val="0"/>
              </a:spcBef>
            </a:pPr>
          </a:p>
        </p:txBody>
      </p:sp>
      <p:sp>
        <p:nvSpPr>
          <p:cNvPr name="TextBox 12" id="12"/>
          <p:cNvSpPr txBox="true"/>
          <p:nvPr/>
        </p:nvSpPr>
        <p:spPr>
          <a:xfrm rot="0">
            <a:off x="392505" y="7374435"/>
            <a:ext cx="12675073" cy="2906341"/>
          </a:xfrm>
          <a:prstGeom prst="rect">
            <a:avLst/>
          </a:prstGeom>
        </p:spPr>
        <p:txBody>
          <a:bodyPr anchor="t" rtlCol="false" tIns="0" lIns="0" bIns="0" rIns="0">
            <a:spAutoFit/>
          </a:bodyPr>
          <a:lstStyle/>
          <a:p>
            <a:pPr algn="l" marL="394475" indent="-197238" lvl="1">
              <a:lnSpc>
                <a:spcPts val="2557"/>
              </a:lnSpc>
              <a:buFont typeface="Arial"/>
              <a:buChar char="•"/>
            </a:pPr>
            <a:r>
              <a:rPr lang="en-US" sz="1827">
                <a:solidFill>
                  <a:srgbClr val="695C4A"/>
                </a:solidFill>
                <a:latin typeface="Glacial Indifference"/>
                <a:ea typeface="Glacial Indifference"/>
                <a:cs typeface="Glacial Indifference"/>
                <a:sym typeface="Glacial Indifference"/>
              </a:rPr>
              <a:t>Το κρίσιμο στοιχείο είναι το </a:t>
            </a:r>
            <a:r>
              <a:rPr lang="en-US" b="true" sz="1827">
                <a:solidFill>
                  <a:srgbClr val="695C4A"/>
                </a:solidFill>
                <a:latin typeface="Glacial Indifference Bold"/>
                <a:ea typeface="Glacial Indifference Bold"/>
                <a:cs typeface="Glacial Indifference Bold"/>
                <a:sym typeface="Glacial Indifference Bold"/>
              </a:rPr>
              <a:t>Gradient Reversal Layer (GRL)</a:t>
            </a:r>
            <a:r>
              <a:rPr lang="en-US" sz="1827">
                <a:solidFill>
                  <a:srgbClr val="695C4A"/>
                </a:solidFill>
                <a:latin typeface="Glacial Indifference"/>
                <a:ea typeface="Glacial Indifference"/>
                <a:cs typeface="Glacial Indifference"/>
                <a:sym typeface="Glacial Indifference"/>
              </a:rPr>
              <a:t>, το οποίο κατά το </a:t>
            </a:r>
            <a:r>
              <a:rPr lang="en-US" b="true" sz="1827">
                <a:solidFill>
                  <a:srgbClr val="695C4A"/>
                </a:solidFill>
                <a:latin typeface="Glacial Indifference Bold"/>
                <a:ea typeface="Glacial Indifference Bold"/>
                <a:cs typeface="Glacial Indifference Bold"/>
                <a:sym typeface="Glacial Indifference Bold"/>
              </a:rPr>
              <a:t>forward pass </a:t>
            </a:r>
            <a:r>
              <a:rPr lang="en-US" sz="1827">
                <a:solidFill>
                  <a:srgbClr val="695C4A"/>
                </a:solidFill>
                <a:latin typeface="Glacial Indifference"/>
                <a:ea typeface="Glacial Indifference"/>
                <a:cs typeface="Glacial Indifference"/>
                <a:sym typeface="Glacial Indifference"/>
              </a:rPr>
              <a:t>λειτου</a:t>
            </a:r>
            <a:r>
              <a:rPr lang="en-US" sz="1827">
                <a:solidFill>
                  <a:srgbClr val="695C4A"/>
                </a:solidFill>
                <a:latin typeface="Glacial Indifference"/>
                <a:ea typeface="Glacial Indifference"/>
                <a:cs typeface="Glacial Indifference"/>
                <a:sym typeface="Glacial Indifference"/>
              </a:rPr>
              <a:t>ργε</a:t>
            </a:r>
            <a:r>
              <a:rPr lang="en-US" sz="1827">
                <a:solidFill>
                  <a:srgbClr val="695C4A"/>
                </a:solidFill>
                <a:latin typeface="Glacial Indifference"/>
                <a:ea typeface="Glacial Indifference"/>
                <a:cs typeface="Glacial Indifference"/>
                <a:sym typeface="Glacial Indifference"/>
              </a:rPr>
              <a:t>ί σαν </a:t>
            </a:r>
            <a:r>
              <a:rPr lang="en-US" b="true" sz="1827">
                <a:solidFill>
                  <a:srgbClr val="695C4A"/>
                </a:solidFill>
                <a:latin typeface="Glacial Indifference Bold"/>
                <a:ea typeface="Glacial Indifference Bold"/>
                <a:cs typeface="Glacial Indifference Bold"/>
                <a:sym typeface="Glacial Indifference Bold"/>
              </a:rPr>
              <a:t>ταυτοτική συνάρτηση</a:t>
            </a:r>
            <a:r>
              <a:rPr lang="en-US" sz="1827">
                <a:solidFill>
                  <a:srgbClr val="695C4A"/>
                </a:solidFill>
                <a:latin typeface="Glacial Indifference"/>
                <a:ea typeface="Glacial Indifference"/>
                <a:cs typeface="Glacial Indifference"/>
                <a:sym typeface="Glacial Indifference"/>
              </a:rPr>
              <a:t>, αλλά στο </a:t>
            </a:r>
            <a:r>
              <a:rPr lang="en-US" b="true" sz="1827">
                <a:solidFill>
                  <a:srgbClr val="695C4A"/>
                </a:solidFill>
                <a:latin typeface="Glacial Indifference Bold"/>
                <a:ea typeface="Glacial Indifference Bold"/>
                <a:cs typeface="Glacial Indifference Bold"/>
                <a:sym typeface="Glacial Indifference Bold"/>
              </a:rPr>
              <a:t>backward pass αντιστρέφει το πρόσημο των κλίσεων </a:t>
            </a:r>
            <a:r>
              <a:rPr lang="en-US" sz="1827">
                <a:solidFill>
                  <a:srgbClr val="695C4A"/>
                </a:solidFill>
                <a:latin typeface="Glacial Indifference"/>
                <a:ea typeface="Glacial Indifference"/>
                <a:cs typeface="Glacial Indifference"/>
                <a:sym typeface="Glacial Indifference"/>
              </a:rPr>
              <a:t>πολλαπλασιάζοντας το gradient με μια αρνητική σταθερά -</a:t>
            </a:r>
            <a:r>
              <a:rPr lang="en-US" b="true" sz="1827" i="true">
                <a:solidFill>
                  <a:srgbClr val="695C4A"/>
                </a:solidFill>
                <a:latin typeface="Glacial Indifference Bold Italics"/>
                <a:ea typeface="Glacial Indifference Bold Italics"/>
                <a:cs typeface="Glacial Indifference Bold Italics"/>
                <a:sym typeface="Glacial Indifference Bold Italics"/>
              </a:rPr>
              <a:t>α</a:t>
            </a:r>
            <a:r>
              <a:rPr lang="en-US" sz="1827">
                <a:solidFill>
                  <a:srgbClr val="695C4A"/>
                </a:solidFill>
                <a:latin typeface="Glacial Indifference"/>
                <a:ea typeface="Glacial Indifference"/>
                <a:cs typeface="Glacial Indifference"/>
                <a:sym typeface="Glacial Indifference"/>
              </a:rPr>
              <a:t>.</a:t>
            </a:r>
          </a:p>
          <a:p>
            <a:pPr algn="l" marL="394475" indent="-197238" lvl="1">
              <a:lnSpc>
                <a:spcPts val="2557"/>
              </a:lnSpc>
              <a:buFont typeface="Arial"/>
              <a:buChar char="•"/>
            </a:pPr>
            <a:r>
              <a:rPr lang="en-US" sz="1827">
                <a:solidFill>
                  <a:srgbClr val="695C4A"/>
                </a:solidFill>
                <a:latin typeface="Glacial Indifference"/>
                <a:ea typeface="Glacial Indifference"/>
                <a:cs typeface="Glacial Indifference"/>
                <a:sym typeface="Glacial Indifference"/>
              </a:rPr>
              <a:t>Με αυτόν τον τρόπο, ο </a:t>
            </a:r>
            <a:r>
              <a:rPr lang="en-US" sz="1827">
                <a:solidFill>
                  <a:srgbClr val="695C4A"/>
                </a:solidFill>
                <a:latin typeface="Glacial Indifference"/>
                <a:ea typeface="Glacial Indifference"/>
                <a:cs typeface="Glacial Indifference"/>
                <a:sym typeface="Glacial Indifference"/>
              </a:rPr>
              <a:t>Feature </a:t>
            </a:r>
            <a:r>
              <a:rPr lang="en-US" sz="1827">
                <a:solidFill>
                  <a:srgbClr val="695C4A"/>
                </a:solidFill>
                <a:latin typeface="Glacial Indifference"/>
                <a:ea typeface="Glacial Indifference"/>
                <a:cs typeface="Glacial Indifference"/>
                <a:sym typeface="Glacial Indifference"/>
              </a:rPr>
              <a:t>E</a:t>
            </a:r>
            <a:r>
              <a:rPr lang="en-US" sz="1827">
                <a:solidFill>
                  <a:srgbClr val="695C4A"/>
                </a:solidFill>
                <a:latin typeface="Glacial Indifference"/>
                <a:ea typeface="Glacial Indifference"/>
                <a:cs typeface="Glacial Indifference"/>
                <a:sym typeface="Glacial Indifference"/>
              </a:rPr>
              <a:t>xtractor </a:t>
            </a:r>
            <a:r>
              <a:rPr lang="en-US" sz="1827">
                <a:solidFill>
                  <a:srgbClr val="695C4A"/>
                </a:solidFill>
                <a:latin typeface="Glacial Indifference"/>
                <a:ea typeface="Glacial Indifference"/>
                <a:cs typeface="Glacial Indifference"/>
                <a:sym typeface="Glacial Indifference"/>
              </a:rPr>
              <a:t>«ενθαρρύνεται» να μάθει </a:t>
            </a:r>
            <a:r>
              <a:rPr lang="en-US" b="true" sz="1827">
                <a:solidFill>
                  <a:srgbClr val="695C4A"/>
                </a:solidFill>
                <a:latin typeface="Glacial Indifference Bold"/>
                <a:ea typeface="Glacial Indifference Bold"/>
                <a:cs typeface="Glacial Indifference Bold"/>
                <a:sym typeface="Glacial Indifference Bold"/>
              </a:rPr>
              <a:t>αναπαραστάσεις που δυσκολεύ</a:t>
            </a:r>
            <a:r>
              <a:rPr lang="en-US" b="true" sz="1827">
                <a:solidFill>
                  <a:srgbClr val="695C4A"/>
                </a:solidFill>
                <a:latin typeface="Glacial Indifference Bold"/>
                <a:ea typeface="Glacial Indifference Bold"/>
                <a:cs typeface="Glacial Indifference Bold"/>
                <a:sym typeface="Glacial Indifference Bold"/>
              </a:rPr>
              <a:t>ουν τον Domain Classifier</a:t>
            </a:r>
            <a:r>
              <a:rPr lang="en-US" sz="1827">
                <a:solidFill>
                  <a:srgbClr val="695C4A"/>
                </a:solidFill>
                <a:latin typeface="Glacial Indifference"/>
                <a:ea typeface="Glacial Indifference"/>
                <a:cs typeface="Glacial Indifference"/>
                <a:sym typeface="Glacial Indifference"/>
              </a:rPr>
              <a:t>,</a:t>
            </a:r>
            <a:r>
              <a:rPr lang="en-US" sz="1827">
                <a:solidFill>
                  <a:srgbClr val="695C4A"/>
                </a:solidFill>
                <a:latin typeface="Glacial Indifference"/>
                <a:ea typeface="Glacial Indifference"/>
                <a:cs typeface="Glacial Indifference"/>
                <a:sym typeface="Glacial Indifference"/>
              </a:rPr>
              <a:t> δη</a:t>
            </a:r>
            <a:r>
              <a:rPr lang="en-US" sz="1827">
                <a:solidFill>
                  <a:srgbClr val="695C4A"/>
                </a:solidFill>
                <a:latin typeface="Glacial Indifference"/>
                <a:ea typeface="Glacial Indifference"/>
                <a:cs typeface="Glacial Indifference"/>
                <a:sym typeface="Glacial Indifference"/>
              </a:rPr>
              <a:t>λαδή αναπα</a:t>
            </a:r>
            <a:r>
              <a:rPr lang="en-US" sz="1827">
                <a:solidFill>
                  <a:srgbClr val="695C4A"/>
                </a:solidFill>
                <a:latin typeface="Glacial Indifference"/>
                <a:ea typeface="Glacial Indifference"/>
                <a:cs typeface="Glacial Indifference"/>
                <a:sym typeface="Glacial Indifference"/>
              </a:rPr>
              <a:t>ραστάσ</a:t>
            </a:r>
            <a:r>
              <a:rPr lang="en-US" sz="1827">
                <a:solidFill>
                  <a:srgbClr val="695C4A"/>
                </a:solidFill>
                <a:latin typeface="Glacial Indifference"/>
                <a:ea typeface="Glacial Indifference"/>
                <a:cs typeface="Glacial Indifference"/>
                <a:sym typeface="Glacial Indifference"/>
              </a:rPr>
              <a:t>εις invariant ως προς το d</a:t>
            </a:r>
            <a:r>
              <a:rPr lang="en-US" sz="1827">
                <a:solidFill>
                  <a:srgbClr val="695C4A"/>
                </a:solidFill>
                <a:latin typeface="Glacial Indifference"/>
                <a:ea typeface="Glacial Indifference"/>
                <a:cs typeface="Glacial Indifference"/>
                <a:sym typeface="Glacial Indifference"/>
              </a:rPr>
              <a:t>omain</a:t>
            </a:r>
            <a:r>
              <a:rPr lang="en-US" sz="1827">
                <a:solidFill>
                  <a:srgbClr val="695C4A"/>
                </a:solidFill>
                <a:latin typeface="Glacial Indifference"/>
                <a:ea typeface="Glacial Indifference"/>
                <a:cs typeface="Glacial Indifference"/>
                <a:sym typeface="Glacial Indifference"/>
              </a:rPr>
              <a:t>,</a:t>
            </a:r>
            <a:r>
              <a:rPr lang="en-US" sz="1827">
                <a:solidFill>
                  <a:srgbClr val="695C4A"/>
                </a:solidFill>
                <a:latin typeface="Glacial Indifference"/>
                <a:ea typeface="Glacial Indifference"/>
                <a:cs typeface="Glacial Indifference"/>
                <a:sym typeface="Glacial Indifference"/>
              </a:rPr>
              <a:t> </a:t>
            </a:r>
            <a:r>
              <a:rPr lang="en-US" sz="1827">
                <a:solidFill>
                  <a:srgbClr val="695C4A"/>
                </a:solidFill>
                <a:latin typeface="Glacial Indifference"/>
                <a:ea typeface="Glacial Indifference"/>
                <a:cs typeface="Glacial Indifference"/>
                <a:sym typeface="Glacial Indifference"/>
              </a:rPr>
              <a:t>ενώ παραμένουν χρήσιμες γ</a:t>
            </a:r>
            <a:r>
              <a:rPr lang="en-US" sz="1827">
                <a:solidFill>
                  <a:srgbClr val="695C4A"/>
                </a:solidFill>
                <a:latin typeface="Glacial Indifference"/>
                <a:ea typeface="Glacial Indifference"/>
                <a:cs typeface="Glacial Indifference"/>
                <a:sym typeface="Glacial Indifference"/>
              </a:rPr>
              <a:t>ια </a:t>
            </a:r>
            <a:r>
              <a:rPr lang="en-US" sz="1827">
                <a:solidFill>
                  <a:srgbClr val="695C4A"/>
                </a:solidFill>
                <a:latin typeface="Glacial Indifference"/>
                <a:ea typeface="Glacial Indifference"/>
                <a:cs typeface="Glacial Indifference"/>
                <a:sym typeface="Glacial Indifference"/>
              </a:rPr>
              <a:t>τ</a:t>
            </a:r>
            <a:r>
              <a:rPr lang="en-US" sz="1827">
                <a:solidFill>
                  <a:srgbClr val="695C4A"/>
                </a:solidFill>
                <a:latin typeface="Glacial Indifference"/>
                <a:ea typeface="Glacial Indifference"/>
                <a:cs typeface="Glacial Indifference"/>
                <a:sym typeface="Glacial Indifference"/>
              </a:rPr>
              <a:t>η σω</a:t>
            </a:r>
            <a:r>
              <a:rPr lang="en-US" sz="1827">
                <a:solidFill>
                  <a:srgbClr val="695C4A"/>
                </a:solidFill>
                <a:latin typeface="Glacial Indifference"/>
                <a:ea typeface="Glacial Indifference"/>
                <a:cs typeface="Glacial Indifference"/>
                <a:sym typeface="Glacial Indifference"/>
              </a:rPr>
              <a:t>στή ταξινόμηση των κατηγοριών.</a:t>
            </a:r>
          </a:p>
          <a:p>
            <a:pPr algn="l" marL="394475" indent="-197238" lvl="1">
              <a:lnSpc>
                <a:spcPts val="2557"/>
              </a:lnSpc>
              <a:spcBef>
                <a:spcPct val="0"/>
              </a:spcBef>
              <a:buFont typeface="Arial"/>
              <a:buChar char="•"/>
            </a:pPr>
            <a:r>
              <a:rPr lang="en-US" sz="1827">
                <a:solidFill>
                  <a:srgbClr val="695C4A"/>
                </a:solidFill>
                <a:latin typeface="Glacial Indifference"/>
                <a:ea typeface="Glacial Indifference"/>
                <a:cs typeface="Glacial Indifference"/>
                <a:sym typeface="Glacial Indifference"/>
              </a:rPr>
              <a:t>Εκπαιδεύεται με το classification loss για σωστή πρόβλεψη κλάσης και το domain loss, το οποίο σταθμίζεται με την υπερπαράμετρο </a:t>
            </a:r>
            <a:r>
              <a:rPr lang="en-US" b="true" sz="1827" i="true">
                <a:solidFill>
                  <a:srgbClr val="695C4A"/>
                </a:solidFill>
                <a:latin typeface="Glacial Indifference Bold Italics"/>
                <a:ea typeface="Glacial Indifference Bold Italics"/>
                <a:cs typeface="Glacial Indifference Bold Italics"/>
                <a:sym typeface="Glacial Indifference Bold Italics"/>
              </a:rPr>
              <a:t>λ</a:t>
            </a:r>
            <a:r>
              <a:rPr lang="en-US" sz="1827">
                <a:solidFill>
                  <a:srgbClr val="695C4A"/>
                </a:solidFill>
                <a:latin typeface="Glacial Indifference"/>
                <a:ea typeface="Glacial Indifference"/>
                <a:cs typeface="Glacial Indifference"/>
                <a:sym typeface="Glacial Indifference"/>
              </a:rPr>
              <a:t> ώστε να </a:t>
            </a:r>
            <a:r>
              <a:rPr lang="en-US" b="true" sz="1827">
                <a:solidFill>
                  <a:srgbClr val="695C4A"/>
                </a:solidFill>
                <a:latin typeface="Glacial Indifference Bold"/>
                <a:ea typeface="Glacial Indifference Bold"/>
                <a:cs typeface="Glacial Indifference Bold"/>
                <a:sym typeface="Glacial Indifference Bold"/>
              </a:rPr>
              <a:t>ελέγχεται η επίδραση του domain invariance μέσω του GRL</a:t>
            </a:r>
            <a:r>
              <a:rPr lang="en-US" sz="1827">
                <a:solidFill>
                  <a:srgbClr val="695C4A"/>
                </a:solidFill>
                <a:latin typeface="Glacial Indifference"/>
                <a:ea typeface="Glacial Indifference"/>
                <a:cs typeface="Glacial Indifference"/>
                <a:sym typeface="Glacial Indifference"/>
              </a:rPr>
              <a:t>.</a:t>
            </a:r>
          </a:p>
          <a:p>
            <a:pPr algn="l">
              <a:lnSpc>
                <a:spcPts val="2557"/>
              </a:lnSpc>
              <a:spcBef>
                <a:spcPct val="0"/>
              </a:spcBef>
            </a:pPr>
          </a:p>
        </p:txBody>
      </p:sp>
      <p:sp>
        <p:nvSpPr>
          <p:cNvPr name="Freeform 13" id="13"/>
          <p:cNvSpPr/>
          <p:nvPr/>
        </p:nvSpPr>
        <p:spPr>
          <a:xfrm flipH="true" flipV="true" rot="-8100000">
            <a:off x="-10809945" y="-8850225"/>
            <a:ext cx="14359719" cy="12767096"/>
          </a:xfrm>
          <a:custGeom>
            <a:avLst/>
            <a:gdLst/>
            <a:ahLst/>
            <a:cxnLst/>
            <a:rect r="r" b="b" t="t" l="l"/>
            <a:pathLst>
              <a:path h="12767096" w="14359719">
                <a:moveTo>
                  <a:pt x="14359720" y="12767096"/>
                </a:moveTo>
                <a:lnTo>
                  <a:pt x="0" y="12767096"/>
                </a:lnTo>
                <a:lnTo>
                  <a:pt x="0" y="0"/>
                </a:lnTo>
                <a:lnTo>
                  <a:pt x="14359720" y="0"/>
                </a:lnTo>
                <a:lnTo>
                  <a:pt x="14359720" y="12767096"/>
                </a:lnTo>
                <a:close/>
              </a:path>
            </a:pathLst>
          </a:custGeom>
          <a:blipFill>
            <a:blip r:embed="rId7">
              <a:alphaModFix amt="6999"/>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true" flipV="true" rot="-9388001">
            <a:off x="14012573" y="261872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7">
              <a:alphaModFix amt="6999"/>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605289" y="993741"/>
            <a:ext cx="8823625" cy="2415467"/>
          </a:xfrm>
          <a:custGeom>
            <a:avLst/>
            <a:gdLst/>
            <a:ahLst/>
            <a:cxnLst/>
            <a:rect r="r" b="b" t="t" l="l"/>
            <a:pathLst>
              <a:path h="2415467" w="8823625">
                <a:moveTo>
                  <a:pt x="0" y="0"/>
                </a:moveTo>
                <a:lnTo>
                  <a:pt x="8823625" y="0"/>
                </a:lnTo>
                <a:lnTo>
                  <a:pt x="8823625" y="2415467"/>
                </a:lnTo>
                <a:lnTo>
                  <a:pt x="0" y="2415467"/>
                </a:lnTo>
                <a:lnTo>
                  <a:pt x="0" y="0"/>
                </a:lnTo>
                <a:close/>
              </a:path>
            </a:pathLst>
          </a:custGeom>
          <a:blipFill>
            <a:blip r:embed="rId2"/>
            <a:stretch>
              <a:fillRect l="0" t="0" r="0" b="0"/>
            </a:stretch>
          </a:blipFill>
        </p:spPr>
      </p:sp>
      <p:grpSp>
        <p:nvGrpSpPr>
          <p:cNvPr name="Group 3" id="3"/>
          <p:cNvGrpSpPr/>
          <p:nvPr/>
        </p:nvGrpSpPr>
        <p:grpSpPr>
          <a:xfrm rot="0">
            <a:off x="325248" y="829007"/>
            <a:ext cx="9440857" cy="2994463"/>
            <a:chOff x="0" y="0"/>
            <a:chExt cx="3007193" cy="953825"/>
          </a:xfrm>
        </p:grpSpPr>
        <p:sp>
          <p:nvSpPr>
            <p:cNvPr name="Freeform 4" id="4"/>
            <p:cNvSpPr/>
            <p:nvPr/>
          </p:nvSpPr>
          <p:spPr>
            <a:xfrm flipH="false" flipV="false" rot="0">
              <a:off x="0" y="0"/>
              <a:ext cx="3007193" cy="953825"/>
            </a:xfrm>
            <a:custGeom>
              <a:avLst/>
              <a:gdLst/>
              <a:ahLst/>
              <a:cxnLst/>
              <a:rect r="r" b="b" t="t" l="l"/>
              <a:pathLst>
                <a:path h="953825" w="3007193">
                  <a:moveTo>
                    <a:pt x="82004" y="0"/>
                  </a:moveTo>
                  <a:lnTo>
                    <a:pt x="2925189" y="0"/>
                  </a:lnTo>
                  <a:cubicBezTo>
                    <a:pt x="2970479" y="0"/>
                    <a:pt x="3007193" y="36715"/>
                    <a:pt x="3007193" y="82004"/>
                  </a:cubicBezTo>
                  <a:lnTo>
                    <a:pt x="3007193" y="871821"/>
                  </a:lnTo>
                  <a:cubicBezTo>
                    <a:pt x="3007193" y="917111"/>
                    <a:pt x="2970479" y="953825"/>
                    <a:pt x="2925189" y="953825"/>
                  </a:cubicBezTo>
                  <a:lnTo>
                    <a:pt x="82004" y="953825"/>
                  </a:lnTo>
                  <a:cubicBezTo>
                    <a:pt x="36715" y="953825"/>
                    <a:pt x="0" y="917111"/>
                    <a:pt x="0" y="871821"/>
                  </a:cubicBezTo>
                  <a:lnTo>
                    <a:pt x="0" y="82004"/>
                  </a:lnTo>
                  <a:cubicBezTo>
                    <a:pt x="0" y="36715"/>
                    <a:pt x="36715" y="0"/>
                    <a:pt x="82004" y="0"/>
                  </a:cubicBezTo>
                  <a:close/>
                </a:path>
              </a:pathLst>
            </a:custGeom>
            <a:solidFill>
              <a:srgbClr val="A69C8E">
                <a:alpha val="11765"/>
              </a:srgbClr>
            </a:solidFill>
          </p:spPr>
        </p:sp>
        <p:sp>
          <p:nvSpPr>
            <p:cNvPr name="TextBox 5" id="5"/>
            <p:cNvSpPr txBox="true"/>
            <p:nvPr/>
          </p:nvSpPr>
          <p:spPr>
            <a:xfrm>
              <a:off x="0" y="-57150"/>
              <a:ext cx="3007193" cy="101097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3409208"/>
            <a:ext cx="2350036" cy="305901"/>
          </a:xfrm>
          <a:custGeom>
            <a:avLst/>
            <a:gdLst/>
            <a:ahLst/>
            <a:cxnLst/>
            <a:rect r="r" b="b" t="t" l="l"/>
            <a:pathLst>
              <a:path h="305901" w="2350036">
                <a:moveTo>
                  <a:pt x="0" y="0"/>
                </a:moveTo>
                <a:lnTo>
                  <a:pt x="2350036" y="0"/>
                </a:lnTo>
                <a:lnTo>
                  <a:pt x="2350036" y="305901"/>
                </a:lnTo>
                <a:lnTo>
                  <a:pt x="0" y="305901"/>
                </a:lnTo>
                <a:lnTo>
                  <a:pt x="0" y="0"/>
                </a:lnTo>
                <a:close/>
              </a:path>
            </a:pathLst>
          </a:custGeom>
          <a:blipFill>
            <a:blip r:embed="rId3"/>
            <a:stretch>
              <a:fillRect l="-91616" t="-77236" r="-97151" b="-41831"/>
            </a:stretch>
          </a:blipFill>
        </p:spPr>
      </p:sp>
      <p:sp>
        <p:nvSpPr>
          <p:cNvPr name="TextBox 7" id="7"/>
          <p:cNvSpPr txBox="true"/>
          <p:nvPr/>
        </p:nvSpPr>
        <p:spPr>
          <a:xfrm rot="0">
            <a:off x="9766105" y="790907"/>
            <a:ext cx="8199618" cy="4201571"/>
          </a:xfrm>
          <a:prstGeom prst="rect">
            <a:avLst/>
          </a:prstGeom>
        </p:spPr>
        <p:txBody>
          <a:bodyPr anchor="t" rtlCol="false" tIns="0" lIns="0" bIns="0" rIns="0">
            <a:spAutoFit/>
          </a:bodyPr>
          <a:lstStyle/>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T</a:t>
            </a:r>
            <a:r>
              <a:rPr lang="en-US" b="true" sz="1833">
                <a:solidFill>
                  <a:srgbClr val="695C4A"/>
                </a:solidFill>
                <a:latin typeface="Glacial Indifference Bold"/>
                <a:ea typeface="Glacial Indifference Bold"/>
                <a:cs typeface="Glacial Indifference Bold"/>
                <a:sym typeface="Glacial Indifference Bold"/>
              </a:rPr>
              <a:t>otal Loss</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Μειώνεται σταθερά</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συγκλίνει</a:t>
            </a:r>
            <a:r>
              <a:rPr lang="en-US" sz="1833">
                <a:solidFill>
                  <a:srgbClr val="695C4A"/>
                </a:solidFill>
                <a:latin typeface="Glacial Indifference"/>
                <a:ea typeface="Glacial Indifference"/>
                <a:cs typeface="Glacial Indifference"/>
                <a:sym typeface="Glacial Indifference"/>
              </a:rPr>
              <a:t> γύρω στο </a:t>
            </a:r>
            <a:r>
              <a:rPr lang="en-US" b="true" sz="1833">
                <a:solidFill>
                  <a:srgbClr val="695C4A"/>
                </a:solidFill>
                <a:latin typeface="Glacial Indifference Bold"/>
                <a:ea typeface="Glacial Indifference Bold"/>
                <a:cs typeface="Glacial Indifference Bold"/>
                <a:sym typeface="Glacial Indifference Bold"/>
              </a:rPr>
              <a:t>0.4 (val)</a:t>
            </a:r>
            <a:r>
              <a:rPr lang="en-US" sz="1833">
                <a:solidFill>
                  <a:srgbClr val="695C4A"/>
                </a:solidFill>
                <a:latin typeface="Glacial Indifference"/>
                <a:ea typeface="Glacial Indifference"/>
                <a:cs typeface="Glacial Indifference"/>
                <a:sym typeface="Glacial Indifference"/>
              </a:rPr>
              <a:t> κ</a:t>
            </a:r>
            <a:r>
              <a:rPr lang="en-US" sz="1833">
                <a:solidFill>
                  <a:srgbClr val="695C4A"/>
                </a:solidFill>
                <a:latin typeface="Glacial Indifference"/>
                <a:ea typeface="Glacial Indifference"/>
                <a:cs typeface="Glacial Indifference"/>
                <a:sym typeface="Glacial Indifference"/>
              </a:rPr>
              <a:t>αι </a:t>
            </a:r>
            <a:r>
              <a:rPr lang="en-US" b="true" sz="1833">
                <a:solidFill>
                  <a:srgbClr val="695C4A"/>
                </a:solidFill>
                <a:latin typeface="Glacial Indifference Bold"/>
                <a:ea typeface="Glacial Indifference Bold"/>
                <a:cs typeface="Glacial Indifference Bold"/>
                <a:sym typeface="Glacial Indifference Bold"/>
              </a:rPr>
              <a:t>0.3 (train)</a:t>
            </a:r>
            <a:r>
              <a:rPr lang="en-US" sz="1833">
                <a:solidFill>
                  <a:srgbClr val="695C4A"/>
                </a:solidFill>
                <a:latin typeface="Glacial Indifference"/>
                <a:ea typeface="Glacial Indifference"/>
                <a:cs typeface="Glacial Indifference"/>
                <a:sym typeface="Glacial Indifference"/>
              </a:rPr>
              <a:t>,</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τιμές αρκετά χαμ</a:t>
            </a:r>
            <a:r>
              <a:rPr lang="en-US" sz="1833">
                <a:solidFill>
                  <a:srgbClr val="695C4A"/>
                </a:solidFill>
                <a:latin typeface="Glacial Indifference"/>
                <a:ea typeface="Glacial Indifference"/>
                <a:cs typeface="Glacial Indifference"/>
                <a:sym typeface="Glacial Indifference"/>
              </a:rPr>
              <a:t>ηλές</a:t>
            </a:r>
            <a:r>
              <a:rPr lang="en-US" sz="1833">
                <a:solidFill>
                  <a:srgbClr val="695C4A"/>
                </a:solidFill>
                <a:latin typeface="Glacial Indifference"/>
                <a:ea typeface="Glacial Indifference"/>
                <a:cs typeface="Glacial Indifference"/>
                <a:sym typeface="Glacial Indifference"/>
              </a:rPr>
              <a:t> π</a:t>
            </a:r>
            <a:r>
              <a:rPr lang="en-US" sz="1833">
                <a:solidFill>
                  <a:srgbClr val="695C4A"/>
                </a:solidFill>
                <a:latin typeface="Glacial Indifference"/>
                <a:ea typeface="Glacial Indifference"/>
                <a:cs typeface="Glacial Indifference"/>
                <a:sym typeface="Glacial Indifference"/>
              </a:rPr>
              <a:t>ου</a:t>
            </a:r>
            <a:r>
              <a:rPr lang="en-US" sz="1833">
                <a:solidFill>
                  <a:srgbClr val="695C4A"/>
                </a:solidFill>
                <a:latin typeface="Glacial Indifference"/>
                <a:ea typeface="Glacial Indifference"/>
                <a:cs typeface="Glacial Indifference"/>
                <a:sym typeface="Glacial Indifference"/>
              </a:rPr>
              <a:t> δείχνουν καλή ισορροπία ανάμε</a:t>
            </a:r>
            <a:r>
              <a:rPr lang="en-US" sz="1833">
                <a:solidFill>
                  <a:srgbClr val="695C4A"/>
                </a:solidFill>
                <a:latin typeface="Glacial Indifference"/>
                <a:ea typeface="Glacial Indifference"/>
                <a:cs typeface="Glacial Indifference"/>
                <a:sym typeface="Glacial Indifference"/>
              </a:rPr>
              <a:t>σα σ</a:t>
            </a:r>
            <a:r>
              <a:rPr lang="en-US" sz="1833">
                <a:solidFill>
                  <a:srgbClr val="695C4A"/>
                </a:solidFill>
                <a:latin typeface="Glacial Indifference"/>
                <a:ea typeface="Glacial Indifference"/>
                <a:cs typeface="Glacial Indifference"/>
                <a:sym typeface="Glacial Indifference"/>
              </a:rPr>
              <a:t>ε</a:t>
            </a:r>
            <a:r>
              <a:rPr lang="en-US" sz="1833">
                <a:solidFill>
                  <a:srgbClr val="695C4A"/>
                </a:solidFill>
                <a:latin typeface="Glacial Indifference"/>
                <a:ea typeface="Glacial Indifference"/>
                <a:cs typeface="Glacial Indifference"/>
                <a:sym typeface="Glacial Indifference"/>
              </a:rPr>
              <a:t> classifi</a:t>
            </a:r>
            <a:r>
              <a:rPr lang="en-US" sz="1833">
                <a:solidFill>
                  <a:srgbClr val="695C4A"/>
                </a:solidFill>
                <a:latin typeface="Glacial Indifference"/>
                <a:ea typeface="Glacial Indifference"/>
                <a:cs typeface="Glacial Indifference"/>
                <a:sym typeface="Glacial Indifference"/>
              </a:rPr>
              <a:t>cation και domain losses.</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Classification Loss</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Μειώνεται σταθερά</a:t>
            </a:r>
            <a:r>
              <a:rPr lang="en-US" sz="1833">
                <a:solidFill>
                  <a:srgbClr val="695C4A"/>
                </a:solidFill>
                <a:latin typeface="Glacial Indifference"/>
                <a:ea typeface="Glacial Indifference"/>
                <a:cs typeface="Glacial Indifference"/>
                <a:sym typeface="Glacial Indifference"/>
              </a:rPr>
              <a:t> καθώς ξεκινάει από 0.9 και </a:t>
            </a:r>
            <a:r>
              <a:rPr lang="en-US" b="true" sz="1833">
                <a:solidFill>
                  <a:srgbClr val="695C4A"/>
                </a:solidFill>
                <a:latin typeface="Glacial Indifference Bold"/>
                <a:ea typeface="Glacial Indifference Bold"/>
                <a:cs typeface="Glacial Indifference Bold"/>
                <a:sym typeface="Glacial Indifference Bold"/>
              </a:rPr>
              <a:t>συγκλίνει </a:t>
            </a:r>
            <a:r>
              <a:rPr lang="en-US" sz="1833">
                <a:solidFill>
                  <a:srgbClr val="695C4A"/>
                </a:solidFill>
                <a:latin typeface="Glacial Indifference"/>
                <a:ea typeface="Glacial Indifference"/>
                <a:cs typeface="Glacial Indifference"/>
                <a:sym typeface="Glacial Indifference"/>
              </a:rPr>
              <a:t>γύρω στο </a:t>
            </a:r>
            <a:r>
              <a:rPr lang="en-US" b="true" sz="1833">
                <a:solidFill>
                  <a:srgbClr val="695C4A"/>
                </a:solidFill>
                <a:latin typeface="Glacial Indifference Bold"/>
                <a:ea typeface="Glacial Indifference Bold"/>
                <a:cs typeface="Glacial Indifference Bold"/>
                <a:sym typeface="Glacial Indifference Bold"/>
              </a:rPr>
              <a:t>0.4</a:t>
            </a:r>
            <a:r>
              <a:rPr lang="en-US" sz="1833">
                <a:solidFill>
                  <a:srgbClr val="695C4A"/>
                </a:solidFill>
                <a:latin typeface="Glacial Indifference"/>
                <a:ea typeface="Glacial Indifference"/>
                <a:cs typeface="Glacial Indifference"/>
                <a:sym typeface="Glacial Indifference"/>
              </a:rPr>
              <a:t>, που είναι καλή τιμή για cross-entropy loss. Αυτό δείχνει ότι </a:t>
            </a:r>
            <a:r>
              <a:rPr lang="en-US" b="true" sz="1833">
                <a:solidFill>
                  <a:srgbClr val="695C4A"/>
                </a:solidFill>
                <a:latin typeface="Glacial Indifference Bold"/>
                <a:ea typeface="Glacial Indifference Bold"/>
                <a:cs typeface="Glacial Indifference Bold"/>
                <a:sym typeface="Glacial Indifference Bold"/>
              </a:rPr>
              <a:t>οι προβλέψεις του μοντέλου είναι σχετικά «σίγουρες»</a:t>
            </a:r>
            <a:r>
              <a:rPr lang="en-US" sz="1833">
                <a:solidFill>
                  <a:srgbClr val="695C4A"/>
                </a:solidFill>
                <a:latin typeface="Glacial Indifference"/>
                <a:ea typeface="Glacial Indifference"/>
                <a:cs typeface="Glacial Indifference"/>
                <a:sym typeface="Glacial Indifference"/>
              </a:rPr>
              <a:t> και η διαχωρισιμότητα των κατηγοριών είναι αρκετά καλή χωρίς σημάδια υπερεκπαίδευσης.</a:t>
            </a:r>
          </a:p>
          <a:p>
            <a:pPr algn="l" marL="395921" indent="-197961" lvl="1">
              <a:lnSpc>
                <a:spcPts val="2567"/>
              </a:lnSpc>
              <a:spcBef>
                <a:spcPct val="0"/>
              </a:spcBef>
              <a:buFont typeface="Arial"/>
              <a:buChar char="•"/>
            </a:pPr>
            <a:r>
              <a:rPr lang="en-US" b="true" sz="1833">
                <a:solidFill>
                  <a:srgbClr val="695C4A"/>
                </a:solidFill>
                <a:latin typeface="Glacial Indifference Bold"/>
                <a:ea typeface="Glacial Indifference Bold"/>
                <a:cs typeface="Glacial Indifference Bold"/>
                <a:sym typeface="Glacial Indifference Bold"/>
              </a:rPr>
              <a:t>Domain Loss</a:t>
            </a:r>
            <a:r>
              <a:rPr lang="en-US" sz="1833">
                <a:solidFill>
                  <a:srgbClr val="695C4A"/>
                </a:solidFill>
                <a:latin typeface="Glacial Indifference"/>
                <a:ea typeface="Glacial Indifference"/>
                <a:cs typeface="Glacial Indifference"/>
                <a:sym typeface="Glacial Indifference"/>
              </a:rPr>
              <a:t>: Ξεκινάει από χαμηλά και </a:t>
            </a:r>
            <a:r>
              <a:rPr lang="en-US" b="true" sz="1833">
                <a:solidFill>
                  <a:srgbClr val="695C4A"/>
                </a:solidFill>
                <a:latin typeface="Glacial Indifference Bold"/>
                <a:ea typeface="Glacial Indifference Bold"/>
                <a:cs typeface="Glacial Indifference Bold"/>
                <a:sym typeface="Glacial Indifference Bold"/>
              </a:rPr>
              <a:t>αυξάνεται συγκλίνοντας</a:t>
            </a:r>
            <a:r>
              <a:rPr lang="en-US" sz="1833">
                <a:solidFill>
                  <a:srgbClr val="695C4A"/>
                </a:solidFill>
                <a:latin typeface="Glacial Indifference"/>
                <a:ea typeface="Glacial Indifference"/>
                <a:cs typeface="Glacial Indifference"/>
                <a:sym typeface="Glacial Indifference"/>
              </a:rPr>
              <a:t> γύρω στο </a:t>
            </a:r>
            <a:r>
              <a:rPr lang="en-US" b="true" sz="1833">
                <a:solidFill>
                  <a:srgbClr val="695C4A"/>
                </a:solidFill>
                <a:latin typeface="Glacial Indifference Bold"/>
                <a:ea typeface="Glacial Indifference Bold"/>
                <a:cs typeface="Glacial Indifference Bold"/>
                <a:sym typeface="Glacial Indifference Bold"/>
              </a:rPr>
              <a:t>0.25–0.27</a:t>
            </a:r>
            <a:r>
              <a:rPr lang="en-US" sz="1833">
                <a:solidFill>
                  <a:srgbClr val="695C4A"/>
                </a:solidFill>
                <a:latin typeface="Glacial Indifference"/>
                <a:ea typeface="Glacial Indifference"/>
                <a:cs typeface="Glacial Indifference"/>
                <a:sym typeface="Glacial Indifference"/>
              </a:rPr>
              <a:t>, τιμή που θεωρείται σχετικά υψηλή για MSE loss. Αυτό είναι επιθυμητό στη δικιά μας περίπτωση, καθώς σημαίνει ότι </a:t>
            </a:r>
            <a:r>
              <a:rPr lang="en-US" b="true" sz="1833">
                <a:solidFill>
                  <a:srgbClr val="695C4A"/>
                </a:solidFill>
                <a:latin typeface="Glacial Indifference Bold"/>
                <a:ea typeface="Glacial Indifference Bold"/>
                <a:cs typeface="Glacial Indifference Bold"/>
                <a:sym typeface="Glacial Indifference Bold"/>
              </a:rPr>
              <a:t>ο Domain Classifier δεν μπορεί να ξεχωρίσει εύκολα τις συσκευές</a:t>
            </a:r>
            <a:r>
              <a:rPr lang="en-US" sz="1833">
                <a:solidFill>
                  <a:srgbClr val="695C4A"/>
                </a:solidFill>
                <a:latin typeface="Glacial Indifference"/>
                <a:ea typeface="Glacial Indifference"/>
                <a:cs typeface="Glacial Indifference"/>
                <a:sym typeface="Glacial Indifference"/>
              </a:rPr>
              <a:t>, κάνοντας σχεδόν τυχαίες προβλέψεις.</a:t>
            </a:r>
          </a:p>
        </p:txBody>
      </p:sp>
      <p:sp>
        <p:nvSpPr>
          <p:cNvPr name="TextBox 8" id="8"/>
          <p:cNvSpPr txBox="true"/>
          <p:nvPr/>
        </p:nvSpPr>
        <p:spPr>
          <a:xfrm rot="0">
            <a:off x="4239137" y="3392381"/>
            <a:ext cx="2202996" cy="199801"/>
          </a:xfrm>
          <a:prstGeom prst="rect">
            <a:avLst/>
          </a:prstGeom>
        </p:spPr>
        <p:txBody>
          <a:bodyPr anchor="t" rtlCol="false" tIns="0" lIns="0" bIns="0" rIns="0">
            <a:spAutoFit/>
          </a:bodyPr>
          <a:lstStyle/>
          <a:p>
            <a:pPr algn="l">
              <a:lnSpc>
                <a:spcPts val="1587"/>
              </a:lnSpc>
              <a:spcBef>
                <a:spcPct val="0"/>
              </a:spcBef>
            </a:pPr>
            <a:r>
              <a:rPr lang="en-US" b="true" sz="1133">
                <a:solidFill>
                  <a:srgbClr val="695C4A"/>
                </a:solidFill>
                <a:latin typeface="Glacial Indifference Bold"/>
                <a:ea typeface="Glacial Indifference Bold"/>
                <a:cs typeface="Glacial Indifference Bold"/>
                <a:sym typeface="Glacial Indifference Bold"/>
              </a:rPr>
              <a:t>CATEGORICAL CROSS-ENTROPY</a:t>
            </a:r>
          </a:p>
        </p:txBody>
      </p:sp>
      <p:sp>
        <p:nvSpPr>
          <p:cNvPr name="TextBox 9" id="9"/>
          <p:cNvSpPr txBox="true"/>
          <p:nvPr/>
        </p:nvSpPr>
        <p:spPr>
          <a:xfrm rot="0">
            <a:off x="605289" y="3963190"/>
            <a:ext cx="9103666" cy="844326"/>
          </a:xfrm>
          <a:prstGeom prst="rect">
            <a:avLst/>
          </a:prstGeom>
        </p:spPr>
        <p:txBody>
          <a:bodyPr anchor="t" rtlCol="false" tIns="0" lIns="0" bIns="0" rIns="0">
            <a:spAutoFit/>
          </a:bodyPr>
          <a:lstStyle/>
          <a:p>
            <a:pPr algn="l">
              <a:lnSpc>
                <a:spcPts val="2287"/>
              </a:lnSpc>
              <a:spcBef>
                <a:spcPct val="0"/>
              </a:spcBef>
            </a:pPr>
            <a:r>
              <a:rPr lang="en-US" sz="1633">
                <a:solidFill>
                  <a:srgbClr val="695C4A"/>
                </a:solidFill>
                <a:latin typeface="Glacial Indifference"/>
                <a:ea typeface="Glacial Indifference"/>
                <a:cs typeface="Glacial Indifference"/>
                <a:sym typeface="Glacial Indifference"/>
              </a:rPr>
              <a:t>Το DANN εκπαιδεύτηκε για </a:t>
            </a:r>
            <a:r>
              <a:rPr lang="en-US" b="true" sz="1633">
                <a:solidFill>
                  <a:srgbClr val="695C4A"/>
                </a:solidFill>
                <a:latin typeface="Glacial Indifference Bold"/>
                <a:ea typeface="Glacial Indifference Bold"/>
                <a:cs typeface="Glacial Indifference Bold"/>
                <a:sym typeface="Glacial Indifference Bold"/>
              </a:rPr>
              <a:t>200 εποχές</a:t>
            </a:r>
            <a:r>
              <a:rPr lang="en-US" sz="1633">
                <a:solidFill>
                  <a:srgbClr val="695C4A"/>
                </a:solidFill>
                <a:latin typeface="Glacial Indifference"/>
                <a:ea typeface="Glacial Indifference"/>
                <a:cs typeface="Glacial Indifference"/>
                <a:sym typeface="Glacial Indifference"/>
              </a:rPr>
              <a:t>, με ρυθμό μάθησης </a:t>
            </a:r>
            <a:r>
              <a:rPr lang="en-US" b="true" sz="1633">
                <a:solidFill>
                  <a:srgbClr val="695C4A"/>
                </a:solidFill>
                <a:latin typeface="Glacial Indifference Bold"/>
                <a:ea typeface="Glacial Indifference Bold"/>
                <a:cs typeface="Glacial Indifference Bold"/>
                <a:sym typeface="Glacial Indifference Bold"/>
              </a:rPr>
              <a:t>η = 0.001 </a:t>
            </a:r>
            <a:r>
              <a:rPr lang="en-US" sz="1633">
                <a:solidFill>
                  <a:srgbClr val="695C4A"/>
                </a:solidFill>
                <a:latin typeface="Glacial Indifference"/>
                <a:ea typeface="Glacial Indifference"/>
                <a:cs typeface="Glacial Indifference"/>
                <a:sym typeface="Glacial Indifference"/>
              </a:rPr>
              <a:t>και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λ=</a:t>
            </a:r>
            <a:r>
              <a:rPr lang="en-US" b="true" sz="1633">
                <a:solidFill>
                  <a:srgbClr val="695C4A"/>
                </a:solidFill>
                <a:latin typeface="Glacial Indifference Bold"/>
                <a:ea typeface="Glacial Indifference Bold"/>
                <a:cs typeface="Glacial Indifference Bold"/>
                <a:sym typeface="Glacial Indifference Bold"/>
              </a:rPr>
              <a:t>0.1. </a:t>
            </a:r>
            <a:r>
              <a:rPr lang="en-US" sz="1633">
                <a:solidFill>
                  <a:srgbClr val="695C4A"/>
                </a:solidFill>
                <a:latin typeface="Glacial Indifference"/>
                <a:ea typeface="Glacial Indifference"/>
                <a:cs typeface="Glacial Indifference"/>
                <a:sym typeface="Glacial Indifference"/>
              </a:rPr>
              <a:t>Επίσης, το αρνητικό διάνυσμα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α</a:t>
            </a:r>
            <a:r>
              <a:rPr lang="en-US" sz="1633">
                <a:solidFill>
                  <a:srgbClr val="695C4A"/>
                </a:solidFill>
                <a:latin typeface="Glacial Indifference"/>
                <a:ea typeface="Glacial Indifference"/>
                <a:cs typeface="Glacial Indifference"/>
                <a:sym typeface="Glacial Indifference"/>
              </a:rPr>
              <a:t> με το οποίο πολλαπλασιάζεται το gradient στο GRL </a:t>
            </a:r>
            <a:r>
              <a:rPr lang="en-US" b="true" sz="1633">
                <a:solidFill>
                  <a:srgbClr val="695C4A"/>
                </a:solidFill>
                <a:latin typeface="Glacial Indifference Bold"/>
                <a:ea typeface="Glacial Indifference Bold"/>
                <a:cs typeface="Glacial Indifference Bold"/>
                <a:sym typeface="Glacial Indifference Bold"/>
              </a:rPr>
              <a:t>αυξάνεται εκθετικά </a:t>
            </a:r>
            <a:r>
              <a:rPr lang="en-US" sz="1633">
                <a:solidFill>
                  <a:srgbClr val="695C4A"/>
                </a:solidFill>
                <a:latin typeface="Glacial Indifference"/>
                <a:ea typeface="Glacial Indifference"/>
                <a:cs typeface="Glacial Indifference"/>
                <a:sym typeface="Glacial Indifference"/>
              </a:rPr>
              <a:t>κατά τη διάρκεια της εκπαίδευσης </a:t>
            </a:r>
            <a:r>
              <a:rPr lang="en-US" b="true" sz="1633">
                <a:solidFill>
                  <a:srgbClr val="695C4A"/>
                </a:solidFill>
                <a:latin typeface="Glacial Indifference Bold"/>
                <a:ea typeface="Glacial Indifference Bold"/>
                <a:cs typeface="Glacial Indifference Bold"/>
                <a:sym typeface="Glacial Indifference Bold"/>
              </a:rPr>
              <a:t>στο διάστημα [0, 1]</a:t>
            </a:r>
            <a:r>
              <a:rPr lang="en-US" sz="1633">
                <a:solidFill>
                  <a:srgbClr val="695C4A"/>
                </a:solidFill>
                <a:latin typeface="Glacial Indifference"/>
                <a:ea typeface="Glacial Indifference"/>
                <a:cs typeface="Glacial Indifference"/>
                <a:sym typeface="Glacial Indifference"/>
              </a:rPr>
              <a:t>.</a:t>
            </a:r>
          </a:p>
        </p:txBody>
      </p:sp>
      <p:sp>
        <p:nvSpPr>
          <p:cNvPr name="Freeform 10" id="10"/>
          <p:cNvSpPr/>
          <p:nvPr/>
        </p:nvSpPr>
        <p:spPr>
          <a:xfrm flipH="false" flipV="false" rot="0">
            <a:off x="3756243" y="3382910"/>
            <a:ext cx="424819" cy="221018"/>
          </a:xfrm>
          <a:custGeom>
            <a:avLst/>
            <a:gdLst/>
            <a:ahLst/>
            <a:cxnLst/>
            <a:rect r="r" b="b" t="t" l="l"/>
            <a:pathLst>
              <a:path h="221018" w="424819">
                <a:moveTo>
                  <a:pt x="0" y="0"/>
                </a:moveTo>
                <a:lnTo>
                  <a:pt x="424818" y="0"/>
                </a:lnTo>
                <a:lnTo>
                  <a:pt x="424818" y="221019"/>
                </a:lnTo>
                <a:lnTo>
                  <a:pt x="0" y="221019"/>
                </a:lnTo>
                <a:lnTo>
                  <a:pt x="0" y="0"/>
                </a:lnTo>
                <a:close/>
              </a:path>
            </a:pathLst>
          </a:custGeom>
          <a:blipFill>
            <a:blip r:embed="rId3"/>
            <a:stretch>
              <a:fillRect l="-703782" t="-106898" r="-793635" b="-96302"/>
            </a:stretch>
          </a:blipFill>
        </p:spPr>
      </p:sp>
      <p:sp>
        <p:nvSpPr>
          <p:cNvPr name="TextBox 11" id="11"/>
          <p:cNvSpPr txBox="true"/>
          <p:nvPr/>
        </p:nvSpPr>
        <p:spPr>
          <a:xfrm rot="0">
            <a:off x="7500317" y="3404128"/>
            <a:ext cx="1650732" cy="199801"/>
          </a:xfrm>
          <a:prstGeom prst="rect">
            <a:avLst/>
          </a:prstGeom>
        </p:spPr>
        <p:txBody>
          <a:bodyPr anchor="t" rtlCol="false" tIns="0" lIns="0" bIns="0" rIns="0">
            <a:spAutoFit/>
          </a:bodyPr>
          <a:lstStyle/>
          <a:p>
            <a:pPr algn="l">
              <a:lnSpc>
                <a:spcPts val="1587"/>
              </a:lnSpc>
              <a:spcBef>
                <a:spcPct val="0"/>
              </a:spcBef>
            </a:pPr>
            <a:r>
              <a:rPr lang="en-US" b="true" sz="1133">
                <a:solidFill>
                  <a:srgbClr val="695C4A"/>
                </a:solidFill>
                <a:latin typeface="Glacial Indifference Bold"/>
                <a:ea typeface="Glacial Indifference Bold"/>
                <a:cs typeface="Glacial Indifference Bold"/>
                <a:sym typeface="Glacial Indifference Bold"/>
              </a:rPr>
              <a:t>MEAN SQUARED ERROR</a:t>
            </a:r>
          </a:p>
        </p:txBody>
      </p:sp>
      <p:sp>
        <p:nvSpPr>
          <p:cNvPr name="Freeform 12" id="12"/>
          <p:cNvSpPr/>
          <p:nvPr/>
        </p:nvSpPr>
        <p:spPr>
          <a:xfrm flipH="false" flipV="false" rot="0">
            <a:off x="6785586" y="3373830"/>
            <a:ext cx="657582" cy="288973"/>
          </a:xfrm>
          <a:custGeom>
            <a:avLst/>
            <a:gdLst/>
            <a:ahLst/>
            <a:cxnLst/>
            <a:rect r="r" b="b" t="t" l="l"/>
            <a:pathLst>
              <a:path h="288973" w="657582">
                <a:moveTo>
                  <a:pt x="0" y="0"/>
                </a:moveTo>
                <a:lnTo>
                  <a:pt x="657581" y="0"/>
                </a:lnTo>
                <a:lnTo>
                  <a:pt x="657581" y="288973"/>
                </a:lnTo>
                <a:lnTo>
                  <a:pt x="0" y="288973"/>
                </a:lnTo>
                <a:lnTo>
                  <a:pt x="0" y="0"/>
                </a:lnTo>
                <a:close/>
              </a:path>
            </a:pathLst>
          </a:custGeom>
          <a:blipFill>
            <a:blip r:embed="rId3"/>
            <a:stretch>
              <a:fillRect l="-584788" t="-81760" r="-347194" b="-50139"/>
            </a:stretch>
          </a:blipFill>
        </p:spPr>
      </p:sp>
      <p:grpSp>
        <p:nvGrpSpPr>
          <p:cNvPr name="Group 13" id="13"/>
          <p:cNvGrpSpPr/>
          <p:nvPr/>
        </p:nvGrpSpPr>
        <p:grpSpPr>
          <a:xfrm rot="0">
            <a:off x="7190208" y="5325853"/>
            <a:ext cx="10775514" cy="4507239"/>
            <a:chOff x="0" y="0"/>
            <a:chExt cx="3432321" cy="1435689"/>
          </a:xfrm>
        </p:grpSpPr>
        <p:sp>
          <p:nvSpPr>
            <p:cNvPr name="Freeform 14" id="14"/>
            <p:cNvSpPr/>
            <p:nvPr/>
          </p:nvSpPr>
          <p:spPr>
            <a:xfrm flipH="false" flipV="false" rot="0">
              <a:off x="0" y="0"/>
              <a:ext cx="3432321" cy="1435689"/>
            </a:xfrm>
            <a:custGeom>
              <a:avLst/>
              <a:gdLst/>
              <a:ahLst/>
              <a:cxnLst/>
              <a:rect r="r" b="b" t="t" l="l"/>
              <a:pathLst>
                <a:path h="1435689" w="3432321">
                  <a:moveTo>
                    <a:pt x="71847" y="0"/>
                  </a:moveTo>
                  <a:lnTo>
                    <a:pt x="3360474" y="0"/>
                  </a:lnTo>
                  <a:cubicBezTo>
                    <a:pt x="3379529" y="0"/>
                    <a:pt x="3397803" y="7570"/>
                    <a:pt x="3411277" y="21044"/>
                  </a:cubicBezTo>
                  <a:cubicBezTo>
                    <a:pt x="3424751" y="34518"/>
                    <a:pt x="3432321" y="52792"/>
                    <a:pt x="3432321" y="71847"/>
                  </a:cubicBezTo>
                  <a:lnTo>
                    <a:pt x="3432321" y="1363842"/>
                  </a:lnTo>
                  <a:cubicBezTo>
                    <a:pt x="3432321" y="1382897"/>
                    <a:pt x="3424751" y="1401172"/>
                    <a:pt x="3411277" y="1414646"/>
                  </a:cubicBezTo>
                  <a:cubicBezTo>
                    <a:pt x="3397803" y="1428120"/>
                    <a:pt x="3379529" y="1435689"/>
                    <a:pt x="3360474" y="1435689"/>
                  </a:cubicBezTo>
                  <a:lnTo>
                    <a:pt x="71847" y="1435689"/>
                  </a:lnTo>
                  <a:cubicBezTo>
                    <a:pt x="52792" y="1435689"/>
                    <a:pt x="34518" y="1428120"/>
                    <a:pt x="21044" y="1414646"/>
                  </a:cubicBezTo>
                  <a:cubicBezTo>
                    <a:pt x="7570" y="1401172"/>
                    <a:pt x="0" y="1382897"/>
                    <a:pt x="0" y="1363842"/>
                  </a:cubicBezTo>
                  <a:lnTo>
                    <a:pt x="0" y="71847"/>
                  </a:lnTo>
                  <a:cubicBezTo>
                    <a:pt x="0" y="52792"/>
                    <a:pt x="7570" y="34518"/>
                    <a:pt x="21044" y="21044"/>
                  </a:cubicBezTo>
                  <a:cubicBezTo>
                    <a:pt x="34518" y="7570"/>
                    <a:pt x="52792" y="0"/>
                    <a:pt x="71847" y="0"/>
                  </a:cubicBezTo>
                  <a:close/>
                </a:path>
              </a:pathLst>
            </a:custGeom>
            <a:solidFill>
              <a:srgbClr val="A69C8E">
                <a:alpha val="11765"/>
              </a:srgbClr>
            </a:solidFill>
          </p:spPr>
        </p:sp>
        <p:sp>
          <p:nvSpPr>
            <p:cNvPr name="TextBox 15" id="15"/>
            <p:cNvSpPr txBox="true"/>
            <p:nvPr/>
          </p:nvSpPr>
          <p:spPr>
            <a:xfrm>
              <a:off x="0" y="-57150"/>
              <a:ext cx="3432321" cy="1492839"/>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12490041" y="5665985"/>
            <a:ext cx="5253810" cy="3921858"/>
          </a:xfrm>
          <a:custGeom>
            <a:avLst/>
            <a:gdLst/>
            <a:ahLst/>
            <a:cxnLst/>
            <a:rect r="r" b="b" t="t" l="l"/>
            <a:pathLst>
              <a:path h="3921858" w="5253810">
                <a:moveTo>
                  <a:pt x="0" y="0"/>
                </a:moveTo>
                <a:lnTo>
                  <a:pt x="5253810" y="0"/>
                </a:lnTo>
                <a:lnTo>
                  <a:pt x="5253810" y="3921858"/>
                </a:lnTo>
                <a:lnTo>
                  <a:pt x="0" y="3921858"/>
                </a:lnTo>
                <a:lnTo>
                  <a:pt x="0" y="0"/>
                </a:lnTo>
                <a:close/>
              </a:path>
            </a:pathLst>
          </a:custGeom>
          <a:blipFill>
            <a:blip r:embed="rId4"/>
            <a:stretch>
              <a:fillRect l="0" t="0" r="0" b="0"/>
            </a:stretch>
          </a:blipFill>
        </p:spPr>
      </p:sp>
      <p:sp>
        <p:nvSpPr>
          <p:cNvPr name="Freeform 17" id="17"/>
          <p:cNvSpPr/>
          <p:nvPr/>
        </p:nvSpPr>
        <p:spPr>
          <a:xfrm flipH="false" flipV="false" rot="0">
            <a:off x="7190208" y="5631629"/>
            <a:ext cx="5299833" cy="3956214"/>
          </a:xfrm>
          <a:custGeom>
            <a:avLst/>
            <a:gdLst/>
            <a:ahLst/>
            <a:cxnLst/>
            <a:rect r="r" b="b" t="t" l="l"/>
            <a:pathLst>
              <a:path h="3956214" w="5299833">
                <a:moveTo>
                  <a:pt x="0" y="0"/>
                </a:moveTo>
                <a:lnTo>
                  <a:pt x="5299833" y="0"/>
                </a:lnTo>
                <a:lnTo>
                  <a:pt x="5299833" y="3956214"/>
                </a:lnTo>
                <a:lnTo>
                  <a:pt x="0" y="3956214"/>
                </a:lnTo>
                <a:lnTo>
                  <a:pt x="0" y="0"/>
                </a:lnTo>
                <a:close/>
              </a:path>
            </a:pathLst>
          </a:custGeom>
          <a:blipFill>
            <a:blip r:embed="rId5"/>
            <a:stretch>
              <a:fillRect l="0" t="0" r="0" b="0"/>
            </a:stretch>
          </a:blipFill>
        </p:spPr>
      </p:sp>
      <p:sp>
        <p:nvSpPr>
          <p:cNvPr name="TextBox 18" id="18"/>
          <p:cNvSpPr txBox="true"/>
          <p:nvPr/>
        </p:nvSpPr>
        <p:spPr>
          <a:xfrm rot="0">
            <a:off x="272283" y="6352129"/>
            <a:ext cx="6609873" cy="323002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Βλέπουμε ότι οι κατηγορίες</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Normal και Wheeze</a:t>
            </a:r>
            <a:r>
              <a:rPr lang="en-US" sz="1833">
                <a:solidFill>
                  <a:srgbClr val="695C4A"/>
                </a:solidFill>
                <a:latin typeface="Glacial Indifference"/>
                <a:ea typeface="Glacial Indifference"/>
                <a:cs typeface="Glacial Indifference"/>
                <a:sym typeface="Glacial Indifference"/>
              </a:rPr>
              <a:t> σχηματίζουν </a:t>
            </a:r>
            <a:r>
              <a:rPr lang="en-US" b="true" sz="1833">
                <a:solidFill>
                  <a:srgbClr val="695C4A"/>
                </a:solidFill>
                <a:latin typeface="Glacial Indifference Bold"/>
                <a:ea typeface="Glacial Indifference Bold"/>
                <a:cs typeface="Glacial Indifference Bold"/>
                <a:sym typeface="Glacial Indifference Bold"/>
              </a:rPr>
              <a:t>σαφείς και ξεχωριστές συστάδες</a:t>
            </a:r>
            <a:r>
              <a:rPr lang="en-US" sz="1833">
                <a:solidFill>
                  <a:srgbClr val="695C4A"/>
                </a:solidFill>
                <a:latin typeface="Glacial Indifference"/>
                <a:ea typeface="Glacial Indifference"/>
                <a:cs typeface="Glacial Indifference"/>
                <a:sym typeface="Glacial Indifference"/>
              </a:rPr>
              <a:t>, δείχνοντας ό</a:t>
            </a:r>
            <a:r>
              <a:rPr lang="en-US" sz="1833">
                <a:solidFill>
                  <a:srgbClr val="695C4A"/>
                </a:solidFill>
                <a:latin typeface="Glacial Indifference"/>
                <a:ea typeface="Glacial Indifference"/>
                <a:cs typeface="Glacial Indifference"/>
                <a:sym typeface="Glacial Indifference"/>
              </a:rPr>
              <a:t>τι </a:t>
            </a:r>
            <a:r>
              <a:rPr lang="en-US" sz="1833">
                <a:solidFill>
                  <a:srgbClr val="695C4A"/>
                </a:solidFill>
                <a:latin typeface="Glacial Indifference"/>
                <a:ea typeface="Glacial Indifference"/>
                <a:cs typeface="Glacial Indifference"/>
                <a:sym typeface="Glacial Indifference"/>
              </a:rPr>
              <a:t>τ</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χ</a:t>
            </a:r>
            <a:r>
              <a:rPr lang="en-US" sz="1833">
                <a:solidFill>
                  <a:srgbClr val="695C4A"/>
                </a:solidFill>
                <a:latin typeface="Glacial Indifference"/>
                <a:ea typeface="Glacial Indifference"/>
                <a:cs typeface="Glacial Indifference"/>
                <a:sym typeface="Glacial Indifference"/>
              </a:rPr>
              <a:t>αρακτη</a:t>
            </a:r>
            <a:r>
              <a:rPr lang="en-US" sz="1833">
                <a:solidFill>
                  <a:srgbClr val="695C4A"/>
                </a:solidFill>
                <a:latin typeface="Glacial Indifference"/>
                <a:ea typeface="Glacial Indifference"/>
                <a:cs typeface="Glacial Indifference"/>
                <a:sym typeface="Glacial Indifference"/>
              </a:rPr>
              <a:t>ρισ</a:t>
            </a:r>
            <a:r>
              <a:rPr lang="en-US" sz="1833">
                <a:solidFill>
                  <a:srgbClr val="695C4A"/>
                </a:solidFill>
                <a:latin typeface="Glacial Indifference"/>
                <a:ea typeface="Glacial Indifference"/>
                <a:cs typeface="Glacial Indifference"/>
                <a:sym typeface="Glacial Indifference"/>
              </a:rPr>
              <a:t>τ</a:t>
            </a:r>
            <a:r>
              <a:rPr lang="en-US" sz="1833">
                <a:solidFill>
                  <a:srgbClr val="695C4A"/>
                </a:solidFill>
                <a:latin typeface="Glacial Indifference"/>
                <a:ea typeface="Glacial Indifference"/>
                <a:cs typeface="Glacial Indifference"/>
                <a:sym typeface="Glacial Indifference"/>
              </a:rPr>
              <a:t>ι</a:t>
            </a:r>
            <a:r>
              <a:rPr lang="en-US" sz="1833">
                <a:solidFill>
                  <a:srgbClr val="695C4A"/>
                </a:solidFill>
                <a:latin typeface="Glacial Indifference"/>
                <a:ea typeface="Glacial Indifference"/>
                <a:cs typeface="Glacial Indifference"/>
                <a:sym typeface="Glacial Indifference"/>
              </a:rPr>
              <a:t>κά </a:t>
            </a:r>
            <a:r>
              <a:rPr lang="en-US" sz="1833">
                <a:solidFill>
                  <a:srgbClr val="695C4A"/>
                </a:solidFill>
                <a:latin typeface="Glacial Indifference"/>
                <a:ea typeface="Glacial Indifference"/>
                <a:cs typeface="Glacial Indifference"/>
                <a:sym typeface="Glacial Indifference"/>
              </a:rPr>
              <a:t>τα</a:t>
            </a:r>
            <a:r>
              <a:rPr lang="en-US" sz="1833">
                <a:solidFill>
                  <a:srgbClr val="695C4A"/>
                </a:solidFill>
                <a:latin typeface="Glacial Indifference"/>
                <a:ea typeface="Glacial Indifference"/>
                <a:cs typeface="Glacial Indifference"/>
                <a:sym typeface="Glacial Indifference"/>
              </a:rPr>
              <a:t> διαχωρίζουν αποτελεσματικά. Η σ</a:t>
            </a:r>
            <a:r>
              <a:rPr lang="en-US" b="true" sz="1833">
                <a:solidFill>
                  <a:srgbClr val="695C4A"/>
                </a:solidFill>
                <a:latin typeface="Glacial Indifference Bold"/>
                <a:ea typeface="Glacial Indifference Bold"/>
                <a:cs typeface="Glacial Indifference Bold"/>
                <a:sym typeface="Glacial Indifference Bold"/>
              </a:rPr>
              <a:t>υνολική διαχωρισιμότητα</a:t>
            </a:r>
            <a:r>
              <a:rPr lang="en-US" sz="1833">
                <a:solidFill>
                  <a:srgbClr val="695C4A"/>
                </a:solidFill>
                <a:latin typeface="Glacial Indifference"/>
                <a:ea typeface="Glacial Indifference"/>
                <a:cs typeface="Glacial Indifference"/>
                <a:sym typeface="Glacial Indifference"/>
              </a:rPr>
              <a:t> συνεπώς  μεταξύ παθολογιών</a:t>
            </a:r>
            <a:r>
              <a:rPr lang="en-US" b="true" sz="1833">
                <a:solidFill>
                  <a:srgbClr val="695C4A"/>
                </a:solidFill>
                <a:latin typeface="Glacial Indifference Bold"/>
                <a:ea typeface="Glacial Indifference Bold"/>
                <a:cs typeface="Glacial Indifference Bold"/>
                <a:sym typeface="Glacial Indifference Bold"/>
              </a:rPr>
              <a:t> έχει βελτιωθεί αισθητά</a:t>
            </a:r>
            <a:r>
              <a:rPr lang="en-US" sz="1833">
                <a:solidFill>
                  <a:srgbClr val="695C4A"/>
                </a:solidFill>
                <a:latin typeface="Glacial Indifference"/>
                <a:ea typeface="Glacial Indifference"/>
                <a:cs typeface="Glacial Indifference"/>
                <a:sym typeface="Glacial Indifference"/>
              </a:rPr>
              <a:t>, αλλά </a:t>
            </a:r>
            <a:r>
              <a:rPr lang="en-US" b="true" sz="1833">
                <a:solidFill>
                  <a:srgbClr val="695C4A"/>
                </a:solidFill>
                <a:latin typeface="Glacial Indifference Bold"/>
                <a:ea typeface="Glacial Indifference Bold"/>
                <a:cs typeface="Glacial Indifference Bold"/>
                <a:sym typeface="Glacial Indifference Bold"/>
              </a:rPr>
              <a:t>δεν είναι πλήρης λόγω των Crackle</a:t>
            </a:r>
            <a:r>
              <a:rPr lang="en-US" sz="1833">
                <a:solidFill>
                  <a:srgbClr val="695C4A"/>
                </a:solidFill>
                <a:latin typeface="Glacial Indifference"/>
                <a:ea typeface="Glacial Indifference"/>
                <a:cs typeface="Glacial Indifference"/>
                <a:sym typeface="Glacial Indifference"/>
              </a:rPr>
              <a:t>.</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Οι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συσ</a:t>
            </a:r>
            <a:r>
              <a:rPr lang="en-US" sz="1833">
                <a:solidFill>
                  <a:srgbClr val="695C4A"/>
                </a:solidFill>
                <a:latin typeface="Glacial Indifference"/>
                <a:ea typeface="Glacial Indifference"/>
                <a:cs typeface="Glacial Indifference"/>
                <a:sym typeface="Glacial Indifference"/>
              </a:rPr>
              <a:t>κ</a:t>
            </a:r>
            <a:r>
              <a:rPr lang="en-US" sz="1833">
                <a:solidFill>
                  <a:srgbClr val="695C4A"/>
                </a:solidFill>
                <a:latin typeface="Glacial Indifference"/>
                <a:ea typeface="Glacial Indifference"/>
                <a:cs typeface="Glacial Indifference"/>
                <a:sym typeface="Glacial Indifference"/>
              </a:rPr>
              <a:t>ευέ</a:t>
            </a:r>
            <a:r>
              <a:rPr lang="en-US" sz="1833">
                <a:solidFill>
                  <a:srgbClr val="695C4A"/>
                </a:solidFill>
                <a:latin typeface="Glacial Indifference"/>
                <a:ea typeface="Glacial Indifference"/>
                <a:cs typeface="Glacial Indifference"/>
                <a:sym typeface="Glacial Indifference"/>
              </a:rPr>
              <a:t>ς πα</a:t>
            </a:r>
            <a:r>
              <a:rPr lang="en-US" sz="1833">
                <a:solidFill>
                  <a:srgbClr val="695C4A"/>
                </a:solidFill>
                <a:latin typeface="Glacial Indifference"/>
                <a:ea typeface="Glacial Indifference"/>
                <a:cs typeface="Glacial Indifference"/>
                <a:sym typeface="Glacial Indifference"/>
              </a:rPr>
              <a:t>ρ</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υσιάζ</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υν μια </a:t>
            </a:r>
            <a:r>
              <a:rPr lang="en-US" b="true" sz="1833">
                <a:solidFill>
                  <a:srgbClr val="695C4A"/>
                </a:solidFill>
                <a:latin typeface="Glacial Indifference Bold"/>
                <a:ea typeface="Glacial Indifference Bold"/>
                <a:cs typeface="Glacial Indifference Bold"/>
                <a:sym typeface="Glacial Indifference Bold"/>
              </a:rPr>
              <a:t>μέτρια επικάλυψη</a:t>
            </a:r>
            <a:r>
              <a:rPr lang="en-US" sz="1833">
                <a:solidFill>
                  <a:srgbClr val="695C4A"/>
                </a:solidFill>
                <a:latin typeface="Glacial Indifference"/>
                <a:ea typeface="Glacial Indifference"/>
                <a:cs typeface="Glacial Indifference"/>
                <a:sym typeface="Glacial Indifference"/>
              </a:rPr>
              <a:t> χωρίς ξεκάθαρα όρια, γεγονός που δείχνει ότι </a:t>
            </a:r>
            <a:r>
              <a:rPr lang="en-US" b="true" sz="1833">
                <a:solidFill>
                  <a:srgbClr val="695C4A"/>
                </a:solidFill>
                <a:latin typeface="Glacial Indifference Bold"/>
                <a:ea typeface="Glacial Indifference Bold"/>
                <a:cs typeface="Glacial Indifference Bold"/>
                <a:sym typeface="Glacial Indifference Bold"/>
              </a:rPr>
              <a:t>το domain shift έχει περιοριστεί</a:t>
            </a:r>
            <a:r>
              <a:rPr lang="en-US" sz="1833">
                <a:solidFill>
                  <a:srgbClr val="695C4A"/>
                </a:solidFill>
                <a:latin typeface="Glacial Indifference"/>
                <a:ea typeface="Glacial Indifference"/>
                <a:cs typeface="Glacial Indifference"/>
                <a:sym typeface="Glacial Indifference"/>
              </a:rPr>
              <a:t> σε μεγάλο βαθμό αλλά </a:t>
            </a:r>
            <a:r>
              <a:rPr lang="en-US" b="true" sz="1833">
                <a:solidFill>
                  <a:srgbClr val="695C4A"/>
                </a:solidFill>
                <a:latin typeface="Glacial Indifference Bold"/>
                <a:ea typeface="Glacial Indifference Bold"/>
                <a:cs typeface="Glacial Indifference Bold"/>
                <a:sym typeface="Glacial Indifference Bold"/>
              </a:rPr>
              <a:t>εξακολουθεί να υπάρχει</a:t>
            </a:r>
            <a:r>
              <a:rPr lang="en-US" sz="1833">
                <a:solidFill>
                  <a:srgbClr val="695C4A"/>
                </a:solidFill>
                <a:latin typeface="Glacial Indifference"/>
                <a:ea typeface="Glacial Indifference"/>
                <a:cs typeface="Glacial Indifference"/>
                <a:sym typeface="Glacial Indifference"/>
              </a:rPr>
              <a: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2308799" y="1760562"/>
            <a:ext cx="13670401" cy="19050"/>
          </a:xfrm>
          <a:prstGeom prst="line">
            <a:avLst/>
          </a:prstGeom>
          <a:ln cap="flat" w="38100">
            <a:solidFill>
              <a:srgbClr val="827564"/>
            </a:solidFill>
            <a:prstDash val="solid"/>
            <a:headEnd type="oval" len="lg" w="lg"/>
            <a:tailEnd type="oval" len="lg" w="lg"/>
          </a:ln>
        </p:spPr>
      </p:sp>
      <p:sp>
        <p:nvSpPr>
          <p:cNvPr name="Freeform 3" id="3"/>
          <p:cNvSpPr/>
          <p:nvPr/>
        </p:nvSpPr>
        <p:spPr>
          <a:xfrm flipH="false" flipV="false" rot="0">
            <a:off x="13183111" y="4394971"/>
            <a:ext cx="4892259" cy="3068231"/>
          </a:xfrm>
          <a:custGeom>
            <a:avLst/>
            <a:gdLst/>
            <a:ahLst/>
            <a:cxnLst/>
            <a:rect r="r" b="b" t="t" l="l"/>
            <a:pathLst>
              <a:path h="3068231" w="4892259">
                <a:moveTo>
                  <a:pt x="0" y="0"/>
                </a:moveTo>
                <a:lnTo>
                  <a:pt x="4892258" y="0"/>
                </a:lnTo>
                <a:lnTo>
                  <a:pt x="4892258" y="3068232"/>
                </a:lnTo>
                <a:lnTo>
                  <a:pt x="0" y="3068232"/>
                </a:lnTo>
                <a:lnTo>
                  <a:pt x="0" y="0"/>
                </a:lnTo>
                <a:close/>
              </a:path>
            </a:pathLst>
          </a:custGeom>
          <a:blipFill>
            <a:blip r:embed="rId2"/>
            <a:stretch>
              <a:fillRect l="0" t="0" r="0" b="0"/>
            </a:stretch>
          </a:blipFill>
        </p:spPr>
      </p:sp>
      <p:sp>
        <p:nvSpPr>
          <p:cNvPr name="Freeform 4" id="4"/>
          <p:cNvSpPr/>
          <p:nvPr/>
        </p:nvSpPr>
        <p:spPr>
          <a:xfrm flipH="false" flipV="false" rot="0">
            <a:off x="11130921" y="2750346"/>
            <a:ext cx="1457886" cy="399096"/>
          </a:xfrm>
          <a:custGeom>
            <a:avLst/>
            <a:gdLst/>
            <a:ahLst/>
            <a:cxnLst/>
            <a:rect r="r" b="b" t="t" l="l"/>
            <a:pathLst>
              <a:path h="399096" w="1457886">
                <a:moveTo>
                  <a:pt x="0" y="0"/>
                </a:moveTo>
                <a:lnTo>
                  <a:pt x="1457886" y="0"/>
                </a:lnTo>
                <a:lnTo>
                  <a:pt x="1457886" y="399096"/>
                </a:lnTo>
                <a:lnTo>
                  <a:pt x="0" y="3990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725224" y="4993198"/>
            <a:ext cx="1457886" cy="399096"/>
          </a:xfrm>
          <a:custGeom>
            <a:avLst/>
            <a:gdLst/>
            <a:ahLst/>
            <a:cxnLst/>
            <a:rect r="r" b="b" t="t" l="l"/>
            <a:pathLst>
              <a:path h="399096" w="1457886">
                <a:moveTo>
                  <a:pt x="0" y="0"/>
                </a:moveTo>
                <a:lnTo>
                  <a:pt x="1457887" y="0"/>
                </a:lnTo>
                <a:lnTo>
                  <a:pt x="1457887" y="399096"/>
                </a:lnTo>
                <a:lnTo>
                  <a:pt x="0" y="3990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4799518" y="3239228"/>
            <a:ext cx="1161175" cy="317872"/>
          </a:xfrm>
          <a:custGeom>
            <a:avLst/>
            <a:gdLst/>
            <a:ahLst/>
            <a:cxnLst/>
            <a:rect r="r" b="b" t="t" l="l"/>
            <a:pathLst>
              <a:path h="317872" w="1161175">
                <a:moveTo>
                  <a:pt x="0" y="0"/>
                </a:moveTo>
                <a:lnTo>
                  <a:pt x="1161175" y="0"/>
                </a:lnTo>
                <a:lnTo>
                  <a:pt x="1161175" y="317871"/>
                </a:lnTo>
                <a:lnTo>
                  <a:pt x="0" y="3178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960693" y="1779612"/>
            <a:ext cx="5764532" cy="4114155"/>
          </a:xfrm>
          <a:custGeom>
            <a:avLst/>
            <a:gdLst/>
            <a:ahLst/>
            <a:cxnLst/>
            <a:rect r="r" b="b" t="t" l="l"/>
            <a:pathLst>
              <a:path h="4114155" w="5764532">
                <a:moveTo>
                  <a:pt x="0" y="0"/>
                </a:moveTo>
                <a:lnTo>
                  <a:pt x="5764531" y="0"/>
                </a:lnTo>
                <a:lnTo>
                  <a:pt x="5764531" y="4114154"/>
                </a:lnTo>
                <a:lnTo>
                  <a:pt x="0" y="4114154"/>
                </a:lnTo>
                <a:lnTo>
                  <a:pt x="0" y="0"/>
                </a:lnTo>
                <a:close/>
              </a:path>
            </a:pathLst>
          </a:custGeom>
          <a:blipFill>
            <a:blip r:embed="rId5"/>
            <a:stretch>
              <a:fillRect l="0" t="0" r="0" b="0"/>
            </a:stretch>
          </a:blipFill>
        </p:spPr>
      </p:sp>
      <p:sp>
        <p:nvSpPr>
          <p:cNvPr name="Freeform 8" id="8"/>
          <p:cNvSpPr/>
          <p:nvPr/>
        </p:nvSpPr>
        <p:spPr>
          <a:xfrm flipH="false" flipV="false" rot="0">
            <a:off x="162712" y="1993804"/>
            <a:ext cx="4636806" cy="2808718"/>
          </a:xfrm>
          <a:custGeom>
            <a:avLst/>
            <a:gdLst/>
            <a:ahLst/>
            <a:cxnLst/>
            <a:rect r="r" b="b" t="t" l="l"/>
            <a:pathLst>
              <a:path h="2808718" w="4636806">
                <a:moveTo>
                  <a:pt x="0" y="0"/>
                </a:moveTo>
                <a:lnTo>
                  <a:pt x="4636806" y="0"/>
                </a:lnTo>
                <a:lnTo>
                  <a:pt x="4636806" y="2808718"/>
                </a:lnTo>
                <a:lnTo>
                  <a:pt x="0" y="2808718"/>
                </a:lnTo>
                <a:lnTo>
                  <a:pt x="0" y="0"/>
                </a:lnTo>
                <a:close/>
              </a:path>
            </a:pathLst>
          </a:custGeom>
          <a:blipFill>
            <a:blip r:embed="rId6"/>
            <a:stretch>
              <a:fillRect l="0" t="0" r="0" b="0"/>
            </a:stretch>
          </a:blipFill>
        </p:spPr>
      </p:sp>
      <p:sp>
        <p:nvSpPr>
          <p:cNvPr name="Freeform 9" id="9"/>
          <p:cNvSpPr/>
          <p:nvPr/>
        </p:nvSpPr>
        <p:spPr>
          <a:xfrm flipH="false" flipV="false" rot="0">
            <a:off x="12810572" y="2103462"/>
            <a:ext cx="4448728" cy="2091961"/>
          </a:xfrm>
          <a:custGeom>
            <a:avLst/>
            <a:gdLst/>
            <a:ahLst/>
            <a:cxnLst/>
            <a:rect r="r" b="b" t="t" l="l"/>
            <a:pathLst>
              <a:path h="2091961" w="4448728">
                <a:moveTo>
                  <a:pt x="0" y="0"/>
                </a:moveTo>
                <a:lnTo>
                  <a:pt x="4448728" y="0"/>
                </a:lnTo>
                <a:lnTo>
                  <a:pt x="4448728" y="2091961"/>
                </a:lnTo>
                <a:lnTo>
                  <a:pt x="0" y="2091961"/>
                </a:lnTo>
                <a:lnTo>
                  <a:pt x="0" y="0"/>
                </a:lnTo>
                <a:close/>
              </a:path>
            </a:pathLst>
          </a:custGeom>
          <a:blipFill>
            <a:blip r:embed="rId7"/>
            <a:stretch>
              <a:fillRect l="0" t="0" r="0" b="0"/>
            </a:stretch>
          </a:blipFill>
        </p:spPr>
      </p:sp>
      <p:sp>
        <p:nvSpPr>
          <p:cNvPr name="Freeform 10" id="10"/>
          <p:cNvSpPr/>
          <p:nvPr/>
        </p:nvSpPr>
        <p:spPr>
          <a:xfrm flipH="false" flipV="false" rot="0">
            <a:off x="7030975" y="3959990"/>
            <a:ext cx="2538118" cy="1269059"/>
          </a:xfrm>
          <a:custGeom>
            <a:avLst/>
            <a:gdLst/>
            <a:ahLst/>
            <a:cxnLst/>
            <a:rect r="r" b="b" t="t" l="l"/>
            <a:pathLst>
              <a:path h="1269059" w="2538118">
                <a:moveTo>
                  <a:pt x="0" y="0"/>
                </a:moveTo>
                <a:lnTo>
                  <a:pt x="2538117" y="0"/>
                </a:lnTo>
                <a:lnTo>
                  <a:pt x="2538117" y="1269059"/>
                </a:lnTo>
                <a:lnTo>
                  <a:pt x="0" y="12690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TextBox 11" id="11"/>
          <p:cNvSpPr txBox="true"/>
          <p:nvPr/>
        </p:nvSpPr>
        <p:spPr>
          <a:xfrm rot="0">
            <a:off x="2308799" y="1159217"/>
            <a:ext cx="14082125" cy="389255"/>
          </a:xfrm>
          <a:prstGeom prst="rect">
            <a:avLst/>
          </a:prstGeom>
        </p:spPr>
        <p:txBody>
          <a:bodyPr anchor="t" rtlCol="false" tIns="0" lIns="0" bIns="0" rIns="0">
            <a:spAutoFit/>
          </a:bodyPr>
          <a:lstStyle/>
          <a:p>
            <a:pPr algn="l">
              <a:lnSpc>
                <a:spcPts val="3219"/>
              </a:lnSpc>
              <a:spcBef>
                <a:spcPct val="0"/>
              </a:spcBef>
            </a:pPr>
            <a:r>
              <a:rPr lang="en-US" b="true" sz="2299" spc="965">
                <a:solidFill>
                  <a:srgbClr val="827564"/>
                </a:solidFill>
                <a:latin typeface="Open Sauce Bold"/>
                <a:ea typeface="Open Sauce Bold"/>
                <a:cs typeface="Open Sauce Bold"/>
                <a:sym typeface="Open Sauce Bold"/>
              </a:rPr>
              <a:t>CONDITIONAL DOMAIN ADVERSARIAL NETWORK (CDAN)</a:t>
            </a:r>
          </a:p>
        </p:txBody>
      </p:sp>
      <p:sp>
        <p:nvSpPr>
          <p:cNvPr name="TextBox 12" id="12"/>
          <p:cNvSpPr txBox="true"/>
          <p:nvPr/>
        </p:nvSpPr>
        <p:spPr>
          <a:xfrm rot="0">
            <a:off x="293465" y="6255716"/>
            <a:ext cx="12295341" cy="4189506"/>
          </a:xfrm>
          <a:prstGeom prst="rect">
            <a:avLst/>
          </a:prstGeom>
        </p:spPr>
        <p:txBody>
          <a:bodyPr anchor="t" rtlCol="false" tIns="0" lIns="0" bIns="0" rIns="0">
            <a:spAutoFit/>
          </a:bodyPr>
          <a:lstStyle/>
          <a:p>
            <a:pPr algn="l" marL="439100" indent="-219550" lvl="1">
              <a:lnSpc>
                <a:spcPts val="2847"/>
              </a:lnSpc>
              <a:buFont typeface="Arial"/>
              <a:buChar char="•"/>
            </a:pPr>
            <a:r>
              <a:rPr lang="en-US" sz="2033">
                <a:solidFill>
                  <a:srgbClr val="695C4A"/>
                </a:solidFill>
                <a:latin typeface="Glacial Indifference"/>
                <a:ea typeface="Glacial Indifference"/>
                <a:cs typeface="Glacial Indifference"/>
                <a:sym typeface="Glacial Indifference"/>
              </a:rPr>
              <a:t>Στο DANN η στοίχιση domains γίνεται </a:t>
            </a:r>
            <a:r>
              <a:rPr lang="en-US" b="true" sz="2033">
                <a:solidFill>
                  <a:srgbClr val="695C4A"/>
                </a:solidFill>
                <a:latin typeface="Glacial Indifference Bold"/>
                <a:ea typeface="Glacial Indifference Bold"/>
                <a:cs typeface="Glacial Indifference Bold"/>
                <a:sym typeface="Glacial Indifference Bold"/>
              </a:rPr>
              <a:t>μόνο με βάση τα features</a:t>
            </a:r>
            <a:r>
              <a:rPr lang="en-US" sz="2033">
                <a:solidFill>
                  <a:srgbClr val="695C4A"/>
                </a:solidFill>
                <a:latin typeface="Glacial Indifference"/>
                <a:ea typeface="Glacial Indifference"/>
                <a:cs typeface="Glacial Indifference"/>
                <a:sym typeface="Glacial Indifference"/>
              </a:rPr>
              <a:t>, ανεξάρτητα από το σε ποια κλάση ανήκει το δείγμα. Αυτό μπορεί να οδηγήσει σε «λάθος» στοίχιση (π.χ. instances από wheezes να στοιχίζονται με crackles, μόνο και μόνο επειδή προέρχονται από την ίδια συσκευή).</a:t>
            </a:r>
          </a:p>
          <a:p>
            <a:pPr algn="l" marL="439100" indent="-219550" lvl="1">
              <a:lnSpc>
                <a:spcPts val="2847"/>
              </a:lnSpc>
              <a:buFont typeface="Arial"/>
              <a:buChar char="•"/>
            </a:pPr>
            <a:r>
              <a:rPr lang="en-US" sz="2033">
                <a:solidFill>
                  <a:srgbClr val="695C4A"/>
                </a:solidFill>
                <a:latin typeface="Glacial Indifference"/>
                <a:ea typeface="Glacial Indifference"/>
                <a:cs typeface="Glacial Indifference"/>
                <a:sym typeface="Glacial Indifference"/>
              </a:rPr>
              <a:t>Το CDAN επεκτείνει τη βασική ιδέα του DANN, εισάγοντας την έννοια του </a:t>
            </a:r>
            <a:r>
              <a:rPr lang="en-US" b="true" sz="2033">
                <a:solidFill>
                  <a:srgbClr val="695C4A"/>
                </a:solidFill>
                <a:latin typeface="Glacial Indifference Bold"/>
                <a:ea typeface="Glacial Indifference Bold"/>
                <a:cs typeface="Glacial Indifference Bold"/>
                <a:sym typeface="Glacial Indifference Bold"/>
              </a:rPr>
              <a:t>conditional adversarial learning. </a:t>
            </a:r>
            <a:r>
              <a:rPr lang="en-US" sz="2033">
                <a:solidFill>
                  <a:srgbClr val="695C4A"/>
                </a:solidFill>
                <a:latin typeface="Glacial Indifference"/>
                <a:ea typeface="Glacial Indifference"/>
                <a:cs typeface="Glacial Indifference"/>
                <a:sym typeface="Glacial Indifference"/>
              </a:rPr>
              <a:t>Έτσι, εκτός από τις αναπαραστάσεις των χαρακτηριστικών</a:t>
            </a:r>
            <a:r>
              <a:rPr lang="en-US" b="true" sz="2033">
                <a:solidFill>
                  <a:srgbClr val="695C4A"/>
                </a:solidFill>
                <a:latin typeface="Glacial Indifference Bold"/>
                <a:ea typeface="Glacial Indifference Bold"/>
                <a:cs typeface="Glacial Indifference Bold"/>
                <a:sym typeface="Glacial Indifference Bold"/>
              </a:rPr>
              <a:t> λαμβάνονται υπόψη και οι προβλέψεις της κλάσης</a:t>
            </a:r>
            <a:r>
              <a:rPr lang="en-US" sz="2033">
                <a:solidFill>
                  <a:srgbClr val="695C4A"/>
                </a:solidFill>
                <a:latin typeface="Glacial Indifference"/>
                <a:ea typeface="Glacial Indifference"/>
                <a:cs typeface="Glacial Indifference"/>
                <a:sym typeface="Glacial Indifference"/>
              </a:rPr>
              <a:t> που αντιστοιχούν σε αυτές, ώστε</a:t>
            </a:r>
            <a:r>
              <a:rPr lang="en-US" b="true" sz="2033">
                <a:solidFill>
                  <a:srgbClr val="695C4A"/>
                </a:solidFill>
                <a:latin typeface="Glacial Indifference Bold"/>
                <a:ea typeface="Glacial Indifference Bold"/>
                <a:cs typeface="Glacial Indifference Bold"/>
                <a:sym typeface="Glacial Indifference Bold"/>
              </a:rPr>
              <a:t> η στ</a:t>
            </a:r>
            <a:r>
              <a:rPr lang="en-US" b="true" sz="2033">
                <a:solidFill>
                  <a:srgbClr val="695C4A"/>
                </a:solidFill>
                <a:latin typeface="Glacial Indifference Bold"/>
                <a:ea typeface="Glacial Indifference Bold"/>
                <a:cs typeface="Glacial Indifference Bold"/>
                <a:sym typeface="Glacial Indifference Bold"/>
              </a:rPr>
              <a:t>οίχιση των domains</a:t>
            </a:r>
            <a:r>
              <a:rPr lang="en-US" sz="2033">
                <a:solidFill>
                  <a:srgbClr val="695C4A"/>
                </a:solidFill>
                <a:latin typeface="Glacial Indifference"/>
                <a:ea typeface="Glacial Indifference"/>
                <a:cs typeface="Glacial Indifference"/>
                <a:sym typeface="Glacial Indifference"/>
              </a:rPr>
              <a:t> </a:t>
            </a:r>
            <a:r>
              <a:rPr lang="en-US" b="true" sz="2033">
                <a:solidFill>
                  <a:srgbClr val="695C4A"/>
                </a:solidFill>
                <a:latin typeface="Glacial Indifference Bold"/>
                <a:ea typeface="Glacial Indifference Bold"/>
                <a:cs typeface="Glacial Indifference Bold"/>
                <a:sym typeface="Glacial Indifference Bold"/>
              </a:rPr>
              <a:t>να εξαρτάται και από την πληροφορία που φέρει η κλάση</a:t>
            </a:r>
            <a:r>
              <a:rPr lang="en-US" sz="2033">
                <a:solidFill>
                  <a:srgbClr val="695C4A"/>
                </a:solidFill>
                <a:latin typeface="Glacial Indifference"/>
                <a:ea typeface="Glacial Indifference"/>
                <a:cs typeface="Glacial Indifference"/>
                <a:sym typeface="Glacial Indifference"/>
              </a:rPr>
              <a:t>.</a:t>
            </a:r>
          </a:p>
          <a:p>
            <a:pPr algn="l" marL="439100" indent="-219550" lvl="1">
              <a:lnSpc>
                <a:spcPts val="2847"/>
              </a:lnSpc>
              <a:buFont typeface="Arial"/>
              <a:buChar char="•"/>
            </a:pPr>
            <a:r>
              <a:rPr lang="en-US" sz="2033">
                <a:solidFill>
                  <a:srgbClr val="695C4A"/>
                </a:solidFill>
                <a:latin typeface="Glacial Indifference"/>
                <a:ea typeface="Glacial Indifference"/>
                <a:cs typeface="Glacial Indifference"/>
                <a:sym typeface="Glacial Indifference"/>
              </a:rPr>
              <a:t>Αυτό υλοποιείται με το </a:t>
            </a:r>
            <a:r>
              <a:rPr lang="en-US" b="true" sz="2033">
                <a:solidFill>
                  <a:srgbClr val="695C4A"/>
                </a:solidFill>
                <a:latin typeface="Glacial Indifference Bold"/>
                <a:ea typeface="Glacial Indifference Bold"/>
                <a:cs typeface="Glacial Indifference Bold"/>
                <a:sym typeface="Glacial Indifference Bold"/>
              </a:rPr>
              <a:t>multilinear map</a:t>
            </a:r>
            <a:r>
              <a:rPr lang="en-US" sz="2033">
                <a:solidFill>
                  <a:srgbClr val="695C4A"/>
                </a:solidFill>
                <a:latin typeface="Glacial Indifference"/>
                <a:ea typeface="Glacial Indifference"/>
                <a:cs typeface="Glacial Indifference"/>
                <a:sym typeface="Glacial Indifference"/>
              </a:rPr>
              <a:t>, το οποίο τροφοδοτεί τον Domain</a:t>
            </a:r>
            <a:r>
              <a:rPr lang="en-US" sz="2033">
                <a:solidFill>
                  <a:srgbClr val="695C4A"/>
                </a:solidFill>
                <a:latin typeface="Glacial Indifference"/>
                <a:ea typeface="Glacial Indifference"/>
                <a:cs typeface="Glacial Indifference"/>
                <a:sym typeface="Glacial Indifference"/>
              </a:rPr>
              <a:t> classifier.  Στην πράξη, υλοποιείται ως το </a:t>
            </a:r>
            <a:r>
              <a:rPr lang="en-US" b="true" sz="2033">
                <a:solidFill>
                  <a:srgbClr val="695C4A"/>
                </a:solidFill>
                <a:latin typeface="Glacial Indifference Bold"/>
                <a:ea typeface="Glacial Indifference Bold"/>
                <a:cs typeface="Glacial Indifference Bold"/>
                <a:sym typeface="Glacial Indifference Bold"/>
              </a:rPr>
              <a:t>εξωτερικό γινόμενο</a:t>
            </a:r>
            <a:r>
              <a:rPr lang="en-US" sz="2033">
                <a:solidFill>
                  <a:srgbClr val="695C4A"/>
                </a:solidFill>
                <a:latin typeface="Glacial Indifference"/>
                <a:ea typeface="Glacial Indifference"/>
                <a:cs typeface="Glacial Indifference"/>
                <a:sym typeface="Glacial Indifference"/>
              </a:rPr>
              <a:t> (outer product) μεταξύ του</a:t>
            </a:r>
            <a:r>
              <a:rPr lang="en-US" b="true" sz="2033">
                <a:solidFill>
                  <a:srgbClr val="695C4A"/>
                </a:solidFill>
                <a:latin typeface="Glacial Indifference Bold"/>
                <a:ea typeface="Glacial Indifference Bold"/>
                <a:cs typeface="Glacial Indifference Bold"/>
                <a:sym typeface="Glacial Indifference Bold"/>
              </a:rPr>
              <a:t> διανύσματος χαρακτηριστικών</a:t>
            </a:r>
            <a:r>
              <a:rPr lang="en-US" sz="2033">
                <a:solidFill>
                  <a:srgbClr val="695C4A"/>
                </a:solidFill>
                <a:latin typeface="Glacial Indifference"/>
                <a:ea typeface="Glacial Indifference"/>
                <a:cs typeface="Glacial Indifference"/>
                <a:sym typeface="Glacial Indifference"/>
              </a:rPr>
              <a:t> και του</a:t>
            </a:r>
            <a:r>
              <a:rPr lang="en-US" b="true" sz="2033">
                <a:solidFill>
                  <a:srgbClr val="695C4A"/>
                </a:solidFill>
                <a:latin typeface="Glacial Indifference Bold"/>
                <a:ea typeface="Glacial Indifference Bold"/>
                <a:cs typeface="Glacial Indifference Bold"/>
                <a:sym typeface="Glacial Indifference Bold"/>
              </a:rPr>
              <a:t> διανύσματος πιθανοτήτων κατηγορίας</a:t>
            </a:r>
            <a:r>
              <a:rPr lang="en-US" sz="2033">
                <a:solidFill>
                  <a:srgbClr val="695C4A"/>
                </a:solidFill>
                <a:latin typeface="Glacial Indifference"/>
                <a:ea typeface="Glacial Indifference"/>
                <a:cs typeface="Glacial Indifference"/>
                <a:sym typeface="Glacial Indifference"/>
              </a:rPr>
              <a:t>.</a:t>
            </a:r>
          </a:p>
          <a:p>
            <a:pPr algn="l">
              <a:lnSpc>
                <a:spcPts val="2847"/>
              </a:lnSpc>
              <a:spcBef>
                <a:spcPct val="0"/>
              </a:spcBef>
            </a:pPr>
          </a:p>
          <a:p>
            <a:pPr algn="l">
              <a:lnSpc>
                <a:spcPts val="2567"/>
              </a:lnSpc>
              <a:spcBef>
                <a:spcPct val="0"/>
              </a:spcBef>
            </a:pPr>
          </a:p>
        </p:txBody>
      </p:sp>
      <p:sp>
        <p:nvSpPr>
          <p:cNvPr name="Freeform 13" id="13"/>
          <p:cNvSpPr/>
          <p:nvPr/>
        </p:nvSpPr>
        <p:spPr>
          <a:xfrm flipH="true" flipV="true" rot="-8100000">
            <a:off x="-10614409" y="-9328275"/>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10">
              <a:alphaModFix amt="6999"/>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true" rot="-9388001">
            <a:off x="14012573" y="261872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10">
              <a:alphaModFix amt="6999"/>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7190237" y="5143500"/>
            <a:ext cx="10775514" cy="4507239"/>
            <a:chOff x="0" y="0"/>
            <a:chExt cx="3432321" cy="1435689"/>
          </a:xfrm>
        </p:grpSpPr>
        <p:sp>
          <p:nvSpPr>
            <p:cNvPr name="Freeform 3" id="3"/>
            <p:cNvSpPr/>
            <p:nvPr/>
          </p:nvSpPr>
          <p:spPr>
            <a:xfrm flipH="false" flipV="false" rot="0">
              <a:off x="0" y="0"/>
              <a:ext cx="3432321" cy="1435689"/>
            </a:xfrm>
            <a:custGeom>
              <a:avLst/>
              <a:gdLst/>
              <a:ahLst/>
              <a:cxnLst/>
              <a:rect r="r" b="b" t="t" l="l"/>
              <a:pathLst>
                <a:path h="1435689" w="3432321">
                  <a:moveTo>
                    <a:pt x="71847" y="0"/>
                  </a:moveTo>
                  <a:lnTo>
                    <a:pt x="3360474" y="0"/>
                  </a:lnTo>
                  <a:cubicBezTo>
                    <a:pt x="3379529" y="0"/>
                    <a:pt x="3397803" y="7570"/>
                    <a:pt x="3411277" y="21044"/>
                  </a:cubicBezTo>
                  <a:cubicBezTo>
                    <a:pt x="3424751" y="34518"/>
                    <a:pt x="3432321" y="52792"/>
                    <a:pt x="3432321" y="71847"/>
                  </a:cubicBezTo>
                  <a:lnTo>
                    <a:pt x="3432321" y="1363842"/>
                  </a:lnTo>
                  <a:cubicBezTo>
                    <a:pt x="3432321" y="1382897"/>
                    <a:pt x="3424751" y="1401172"/>
                    <a:pt x="3411277" y="1414646"/>
                  </a:cubicBezTo>
                  <a:cubicBezTo>
                    <a:pt x="3397803" y="1428120"/>
                    <a:pt x="3379529" y="1435689"/>
                    <a:pt x="3360474" y="1435689"/>
                  </a:cubicBezTo>
                  <a:lnTo>
                    <a:pt x="71847" y="1435689"/>
                  </a:lnTo>
                  <a:cubicBezTo>
                    <a:pt x="52792" y="1435689"/>
                    <a:pt x="34518" y="1428120"/>
                    <a:pt x="21044" y="1414646"/>
                  </a:cubicBezTo>
                  <a:cubicBezTo>
                    <a:pt x="7570" y="1401172"/>
                    <a:pt x="0" y="1382897"/>
                    <a:pt x="0" y="1363842"/>
                  </a:cubicBezTo>
                  <a:lnTo>
                    <a:pt x="0" y="71847"/>
                  </a:lnTo>
                  <a:cubicBezTo>
                    <a:pt x="0" y="52792"/>
                    <a:pt x="7570" y="34518"/>
                    <a:pt x="21044" y="21044"/>
                  </a:cubicBezTo>
                  <a:cubicBezTo>
                    <a:pt x="34518" y="7570"/>
                    <a:pt x="52792" y="0"/>
                    <a:pt x="71847" y="0"/>
                  </a:cubicBezTo>
                  <a:close/>
                </a:path>
              </a:pathLst>
            </a:custGeom>
            <a:solidFill>
              <a:srgbClr val="A69C8E">
                <a:alpha val="11765"/>
              </a:srgbClr>
            </a:solidFill>
          </p:spPr>
        </p:sp>
        <p:sp>
          <p:nvSpPr>
            <p:cNvPr name="TextBox 4" id="4"/>
            <p:cNvSpPr txBox="true"/>
            <p:nvPr/>
          </p:nvSpPr>
          <p:spPr>
            <a:xfrm>
              <a:off x="0" y="-57150"/>
              <a:ext cx="3432321" cy="1492839"/>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22029" y="709336"/>
            <a:ext cx="9446013" cy="3005980"/>
            <a:chOff x="0" y="0"/>
            <a:chExt cx="3008836" cy="957494"/>
          </a:xfrm>
        </p:grpSpPr>
        <p:sp>
          <p:nvSpPr>
            <p:cNvPr name="Freeform 6" id="6"/>
            <p:cNvSpPr/>
            <p:nvPr/>
          </p:nvSpPr>
          <p:spPr>
            <a:xfrm flipH="false" flipV="false" rot="0">
              <a:off x="0" y="0"/>
              <a:ext cx="3008836" cy="957494"/>
            </a:xfrm>
            <a:custGeom>
              <a:avLst/>
              <a:gdLst/>
              <a:ahLst/>
              <a:cxnLst/>
              <a:rect r="r" b="b" t="t" l="l"/>
              <a:pathLst>
                <a:path h="957494" w="3008836">
                  <a:moveTo>
                    <a:pt x="81960" y="0"/>
                  </a:moveTo>
                  <a:lnTo>
                    <a:pt x="2926876" y="0"/>
                  </a:lnTo>
                  <a:cubicBezTo>
                    <a:pt x="2948613" y="0"/>
                    <a:pt x="2969460" y="8635"/>
                    <a:pt x="2984830" y="24005"/>
                  </a:cubicBezTo>
                  <a:cubicBezTo>
                    <a:pt x="3000201" y="39376"/>
                    <a:pt x="3008836" y="60223"/>
                    <a:pt x="3008836" y="81960"/>
                  </a:cubicBezTo>
                  <a:lnTo>
                    <a:pt x="3008836" y="875534"/>
                  </a:lnTo>
                  <a:cubicBezTo>
                    <a:pt x="3008836" y="920799"/>
                    <a:pt x="2972141" y="957494"/>
                    <a:pt x="2926876" y="957494"/>
                  </a:cubicBezTo>
                  <a:lnTo>
                    <a:pt x="81960" y="957494"/>
                  </a:lnTo>
                  <a:cubicBezTo>
                    <a:pt x="60223" y="957494"/>
                    <a:pt x="39376" y="948859"/>
                    <a:pt x="24005" y="933488"/>
                  </a:cubicBezTo>
                  <a:cubicBezTo>
                    <a:pt x="8635" y="918118"/>
                    <a:pt x="0" y="897271"/>
                    <a:pt x="0" y="875534"/>
                  </a:cubicBezTo>
                  <a:lnTo>
                    <a:pt x="0" y="81960"/>
                  </a:lnTo>
                  <a:cubicBezTo>
                    <a:pt x="0" y="60223"/>
                    <a:pt x="8635" y="39376"/>
                    <a:pt x="24005" y="24005"/>
                  </a:cubicBezTo>
                  <a:cubicBezTo>
                    <a:pt x="39376" y="8635"/>
                    <a:pt x="60223" y="0"/>
                    <a:pt x="81960" y="0"/>
                  </a:cubicBezTo>
                  <a:close/>
                </a:path>
              </a:pathLst>
            </a:custGeom>
            <a:solidFill>
              <a:srgbClr val="A69C8E">
                <a:alpha val="11765"/>
              </a:srgbClr>
            </a:solidFill>
          </p:spPr>
        </p:sp>
        <p:sp>
          <p:nvSpPr>
            <p:cNvPr name="TextBox 7" id="7"/>
            <p:cNvSpPr txBox="true"/>
            <p:nvPr/>
          </p:nvSpPr>
          <p:spPr>
            <a:xfrm>
              <a:off x="0" y="-57150"/>
              <a:ext cx="3008836" cy="1014644"/>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918964" y="948010"/>
            <a:ext cx="8789838" cy="2406218"/>
          </a:xfrm>
          <a:custGeom>
            <a:avLst/>
            <a:gdLst/>
            <a:ahLst/>
            <a:cxnLst/>
            <a:rect r="r" b="b" t="t" l="l"/>
            <a:pathLst>
              <a:path h="2406218" w="8789838">
                <a:moveTo>
                  <a:pt x="0" y="0"/>
                </a:moveTo>
                <a:lnTo>
                  <a:pt x="8789838" y="0"/>
                </a:lnTo>
                <a:lnTo>
                  <a:pt x="8789838" y="2406218"/>
                </a:lnTo>
                <a:lnTo>
                  <a:pt x="0" y="2406218"/>
                </a:lnTo>
                <a:lnTo>
                  <a:pt x="0" y="0"/>
                </a:lnTo>
                <a:close/>
              </a:path>
            </a:pathLst>
          </a:custGeom>
          <a:blipFill>
            <a:blip r:embed="rId2"/>
            <a:stretch>
              <a:fillRect l="0" t="0" r="0" b="0"/>
            </a:stretch>
          </a:blipFill>
        </p:spPr>
      </p:sp>
      <p:sp>
        <p:nvSpPr>
          <p:cNvPr name="Freeform 9" id="9"/>
          <p:cNvSpPr/>
          <p:nvPr/>
        </p:nvSpPr>
        <p:spPr>
          <a:xfrm flipH="false" flipV="false" rot="0">
            <a:off x="1252708" y="3409415"/>
            <a:ext cx="2350036" cy="305901"/>
          </a:xfrm>
          <a:custGeom>
            <a:avLst/>
            <a:gdLst/>
            <a:ahLst/>
            <a:cxnLst/>
            <a:rect r="r" b="b" t="t" l="l"/>
            <a:pathLst>
              <a:path h="305901" w="2350036">
                <a:moveTo>
                  <a:pt x="0" y="0"/>
                </a:moveTo>
                <a:lnTo>
                  <a:pt x="2350036" y="0"/>
                </a:lnTo>
                <a:lnTo>
                  <a:pt x="2350036" y="305901"/>
                </a:lnTo>
                <a:lnTo>
                  <a:pt x="0" y="305901"/>
                </a:lnTo>
                <a:lnTo>
                  <a:pt x="0" y="0"/>
                </a:lnTo>
                <a:close/>
              </a:path>
            </a:pathLst>
          </a:custGeom>
          <a:blipFill>
            <a:blip r:embed="rId3"/>
            <a:stretch>
              <a:fillRect l="-91616" t="-77236" r="-97151" b="-41831"/>
            </a:stretch>
          </a:blipFill>
        </p:spPr>
      </p:sp>
      <p:sp>
        <p:nvSpPr>
          <p:cNvPr name="Freeform 10" id="10"/>
          <p:cNvSpPr/>
          <p:nvPr/>
        </p:nvSpPr>
        <p:spPr>
          <a:xfrm flipH="false" flipV="false" rot="0">
            <a:off x="3980251" y="3383117"/>
            <a:ext cx="424819" cy="221018"/>
          </a:xfrm>
          <a:custGeom>
            <a:avLst/>
            <a:gdLst/>
            <a:ahLst/>
            <a:cxnLst/>
            <a:rect r="r" b="b" t="t" l="l"/>
            <a:pathLst>
              <a:path h="221018" w="424819">
                <a:moveTo>
                  <a:pt x="0" y="0"/>
                </a:moveTo>
                <a:lnTo>
                  <a:pt x="424819" y="0"/>
                </a:lnTo>
                <a:lnTo>
                  <a:pt x="424819" y="221018"/>
                </a:lnTo>
                <a:lnTo>
                  <a:pt x="0" y="221018"/>
                </a:lnTo>
                <a:lnTo>
                  <a:pt x="0" y="0"/>
                </a:lnTo>
                <a:close/>
              </a:path>
            </a:pathLst>
          </a:custGeom>
          <a:blipFill>
            <a:blip r:embed="rId3"/>
            <a:stretch>
              <a:fillRect l="-703782" t="-106898" r="-793635" b="-96302"/>
            </a:stretch>
          </a:blipFill>
        </p:spPr>
      </p:sp>
      <p:sp>
        <p:nvSpPr>
          <p:cNvPr name="Freeform 11" id="11"/>
          <p:cNvSpPr/>
          <p:nvPr/>
        </p:nvSpPr>
        <p:spPr>
          <a:xfrm flipH="false" flipV="false" rot="0">
            <a:off x="7009594" y="3374036"/>
            <a:ext cx="657582" cy="288973"/>
          </a:xfrm>
          <a:custGeom>
            <a:avLst/>
            <a:gdLst/>
            <a:ahLst/>
            <a:cxnLst/>
            <a:rect r="r" b="b" t="t" l="l"/>
            <a:pathLst>
              <a:path h="288973" w="657582">
                <a:moveTo>
                  <a:pt x="0" y="0"/>
                </a:moveTo>
                <a:lnTo>
                  <a:pt x="657581" y="0"/>
                </a:lnTo>
                <a:lnTo>
                  <a:pt x="657581" y="288973"/>
                </a:lnTo>
                <a:lnTo>
                  <a:pt x="0" y="288973"/>
                </a:lnTo>
                <a:lnTo>
                  <a:pt x="0" y="0"/>
                </a:lnTo>
                <a:close/>
              </a:path>
            </a:pathLst>
          </a:custGeom>
          <a:blipFill>
            <a:blip r:embed="rId3"/>
            <a:stretch>
              <a:fillRect l="-584788" t="-81760" r="-347194" b="-50139"/>
            </a:stretch>
          </a:blipFill>
        </p:spPr>
      </p:sp>
      <p:sp>
        <p:nvSpPr>
          <p:cNvPr name="Freeform 12" id="12"/>
          <p:cNvSpPr/>
          <p:nvPr/>
        </p:nvSpPr>
        <p:spPr>
          <a:xfrm flipH="false" flipV="false" rot="0">
            <a:off x="7333434" y="5483631"/>
            <a:ext cx="5244560" cy="3921858"/>
          </a:xfrm>
          <a:custGeom>
            <a:avLst/>
            <a:gdLst/>
            <a:ahLst/>
            <a:cxnLst/>
            <a:rect r="r" b="b" t="t" l="l"/>
            <a:pathLst>
              <a:path h="3921858" w="5244560">
                <a:moveTo>
                  <a:pt x="0" y="0"/>
                </a:moveTo>
                <a:lnTo>
                  <a:pt x="5244561" y="0"/>
                </a:lnTo>
                <a:lnTo>
                  <a:pt x="5244561" y="3921859"/>
                </a:lnTo>
                <a:lnTo>
                  <a:pt x="0" y="3921859"/>
                </a:lnTo>
                <a:lnTo>
                  <a:pt x="0" y="0"/>
                </a:lnTo>
                <a:close/>
              </a:path>
            </a:pathLst>
          </a:custGeom>
          <a:blipFill>
            <a:blip r:embed="rId4"/>
            <a:stretch>
              <a:fillRect l="0" t="0" r="0" b="0"/>
            </a:stretch>
          </a:blipFill>
        </p:spPr>
      </p:sp>
      <p:sp>
        <p:nvSpPr>
          <p:cNvPr name="Freeform 13" id="13"/>
          <p:cNvSpPr/>
          <p:nvPr/>
        </p:nvSpPr>
        <p:spPr>
          <a:xfrm flipH="false" flipV="false" rot="0">
            <a:off x="12577995" y="5483631"/>
            <a:ext cx="5130956" cy="3830150"/>
          </a:xfrm>
          <a:custGeom>
            <a:avLst/>
            <a:gdLst/>
            <a:ahLst/>
            <a:cxnLst/>
            <a:rect r="r" b="b" t="t" l="l"/>
            <a:pathLst>
              <a:path h="3830150" w="5130956">
                <a:moveTo>
                  <a:pt x="0" y="0"/>
                </a:moveTo>
                <a:lnTo>
                  <a:pt x="5130956" y="0"/>
                </a:lnTo>
                <a:lnTo>
                  <a:pt x="5130956" y="3830151"/>
                </a:lnTo>
                <a:lnTo>
                  <a:pt x="0" y="3830151"/>
                </a:lnTo>
                <a:lnTo>
                  <a:pt x="0" y="0"/>
                </a:lnTo>
                <a:close/>
              </a:path>
            </a:pathLst>
          </a:custGeom>
          <a:blipFill>
            <a:blip r:embed="rId5"/>
            <a:stretch>
              <a:fillRect l="0" t="0" r="0" b="0"/>
            </a:stretch>
          </a:blipFill>
        </p:spPr>
      </p:sp>
      <p:sp>
        <p:nvSpPr>
          <p:cNvPr name="TextBox 14" id="14"/>
          <p:cNvSpPr txBox="true"/>
          <p:nvPr/>
        </p:nvSpPr>
        <p:spPr>
          <a:xfrm rot="0">
            <a:off x="4463145" y="3392587"/>
            <a:ext cx="2202996" cy="199801"/>
          </a:xfrm>
          <a:prstGeom prst="rect">
            <a:avLst/>
          </a:prstGeom>
        </p:spPr>
        <p:txBody>
          <a:bodyPr anchor="t" rtlCol="false" tIns="0" lIns="0" bIns="0" rIns="0">
            <a:spAutoFit/>
          </a:bodyPr>
          <a:lstStyle/>
          <a:p>
            <a:pPr algn="l">
              <a:lnSpc>
                <a:spcPts val="1587"/>
              </a:lnSpc>
              <a:spcBef>
                <a:spcPct val="0"/>
              </a:spcBef>
            </a:pPr>
            <a:r>
              <a:rPr lang="en-US" b="true" sz="1133">
                <a:solidFill>
                  <a:srgbClr val="695C4A"/>
                </a:solidFill>
                <a:latin typeface="Glacial Indifference Bold"/>
                <a:ea typeface="Glacial Indifference Bold"/>
                <a:cs typeface="Glacial Indifference Bold"/>
                <a:sym typeface="Glacial Indifference Bold"/>
              </a:rPr>
              <a:t>CATEGORICAL CROSS-ENTROPY</a:t>
            </a:r>
          </a:p>
        </p:txBody>
      </p:sp>
      <p:sp>
        <p:nvSpPr>
          <p:cNvPr name="TextBox 15" id="15"/>
          <p:cNvSpPr txBox="true"/>
          <p:nvPr/>
        </p:nvSpPr>
        <p:spPr>
          <a:xfrm rot="0">
            <a:off x="7724325" y="3404335"/>
            <a:ext cx="1650732" cy="199801"/>
          </a:xfrm>
          <a:prstGeom prst="rect">
            <a:avLst/>
          </a:prstGeom>
        </p:spPr>
        <p:txBody>
          <a:bodyPr anchor="t" rtlCol="false" tIns="0" lIns="0" bIns="0" rIns="0">
            <a:spAutoFit/>
          </a:bodyPr>
          <a:lstStyle/>
          <a:p>
            <a:pPr algn="l">
              <a:lnSpc>
                <a:spcPts val="1587"/>
              </a:lnSpc>
              <a:spcBef>
                <a:spcPct val="0"/>
              </a:spcBef>
            </a:pPr>
            <a:r>
              <a:rPr lang="en-US" b="true" sz="1133">
                <a:solidFill>
                  <a:srgbClr val="695C4A"/>
                </a:solidFill>
                <a:latin typeface="Glacial Indifference Bold"/>
                <a:ea typeface="Glacial Indifference Bold"/>
                <a:cs typeface="Glacial Indifference Bold"/>
                <a:sym typeface="Glacial Indifference Bold"/>
              </a:rPr>
              <a:t>MEAN SQUARED ERROR</a:t>
            </a:r>
          </a:p>
        </p:txBody>
      </p:sp>
      <p:sp>
        <p:nvSpPr>
          <p:cNvPr name="TextBox 16" id="16"/>
          <p:cNvSpPr txBox="true"/>
          <p:nvPr/>
        </p:nvSpPr>
        <p:spPr>
          <a:xfrm rot="0">
            <a:off x="793203" y="3937367"/>
            <a:ext cx="9274840" cy="844326"/>
          </a:xfrm>
          <a:prstGeom prst="rect">
            <a:avLst/>
          </a:prstGeom>
        </p:spPr>
        <p:txBody>
          <a:bodyPr anchor="t" rtlCol="false" tIns="0" lIns="0" bIns="0" rIns="0">
            <a:spAutoFit/>
          </a:bodyPr>
          <a:lstStyle/>
          <a:p>
            <a:pPr algn="l">
              <a:lnSpc>
                <a:spcPts val="2287"/>
              </a:lnSpc>
              <a:spcBef>
                <a:spcPct val="0"/>
              </a:spcBef>
            </a:pPr>
            <a:r>
              <a:rPr lang="en-US" sz="1633">
                <a:solidFill>
                  <a:srgbClr val="695C4A"/>
                </a:solidFill>
                <a:latin typeface="Glacial Indifference"/>
                <a:ea typeface="Glacial Indifference"/>
                <a:cs typeface="Glacial Indifference"/>
                <a:sym typeface="Glacial Indifference"/>
              </a:rPr>
              <a:t>Το CDAN εκπαιδεύτηκε για </a:t>
            </a:r>
            <a:r>
              <a:rPr lang="en-US" b="true" sz="1633">
                <a:solidFill>
                  <a:srgbClr val="695C4A"/>
                </a:solidFill>
                <a:latin typeface="Glacial Indifference Bold"/>
                <a:ea typeface="Glacial Indifference Bold"/>
                <a:cs typeface="Glacial Indifference Bold"/>
                <a:sym typeface="Glacial Indifference Bold"/>
              </a:rPr>
              <a:t>200 εποχές</a:t>
            </a:r>
            <a:r>
              <a:rPr lang="en-US" sz="1633">
                <a:solidFill>
                  <a:srgbClr val="695C4A"/>
                </a:solidFill>
                <a:latin typeface="Glacial Indifference"/>
                <a:ea typeface="Glacial Indifference"/>
                <a:cs typeface="Glacial Indifference"/>
                <a:sym typeface="Glacial Indifference"/>
              </a:rPr>
              <a:t>, με ρυθμό μάθησης </a:t>
            </a:r>
            <a:r>
              <a:rPr lang="en-US" b="true" sz="1633">
                <a:solidFill>
                  <a:srgbClr val="695C4A"/>
                </a:solidFill>
                <a:latin typeface="Glacial Indifference Bold"/>
                <a:ea typeface="Glacial Indifference Bold"/>
                <a:cs typeface="Glacial Indifference Bold"/>
                <a:sym typeface="Glacial Indifference Bold"/>
              </a:rPr>
              <a:t>η = 0.001 </a:t>
            </a:r>
            <a:r>
              <a:rPr lang="en-US" sz="1633">
                <a:solidFill>
                  <a:srgbClr val="695C4A"/>
                </a:solidFill>
                <a:latin typeface="Glacial Indifference"/>
                <a:ea typeface="Glacial Indifference"/>
                <a:cs typeface="Glacial Indifference"/>
                <a:sym typeface="Glacial Indifference"/>
              </a:rPr>
              <a:t>και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λ=</a:t>
            </a:r>
            <a:r>
              <a:rPr lang="en-US" b="true" sz="1633">
                <a:solidFill>
                  <a:srgbClr val="695C4A"/>
                </a:solidFill>
                <a:latin typeface="Glacial Indifference Bold"/>
                <a:ea typeface="Glacial Indifference Bold"/>
                <a:cs typeface="Glacial Indifference Bold"/>
                <a:sym typeface="Glacial Indifference Bold"/>
              </a:rPr>
              <a:t>0.2. </a:t>
            </a:r>
            <a:r>
              <a:rPr lang="en-US" sz="1633">
                <a:solidFill>
                  <a:srgbClr val="695C4A"/>
                </a:solidFill>
                <a:latin typeface="Glacial Indifference"/>
                <a:ea typeface="Glacial Indifference"/>
                <a:cs typeface="Glacial Indifference"/>
                <a:sym typeface="Glacial Indifference"/>
              </a:rPr>
              <a:t>Επίσης, το αρνητικό διάνυσμα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α</a:t>
            </a:r>
            <a:r>
              <a:rPr lang="en-US" sz="1633">
                <a:solidFill>
                  <a:srgbClr val="695C4A"/>
                </a:solidFill>
                <a:latin typeface="Glacial Indifference"/>
                <a:ea typeface="Glacial Indifference"/>
                <a:cs typeface="Glacial Indifference"/>
                <a:sym typeface="Glacial Indifference"/>
              </a:rPr>
              <a:t> με το οποίο πολλαπλασιάζεται το gradient στο GRL </a:t>
            </a:r>
            <a:r>
              <a:rPr lang="en-US" b="true" sz="1633">
                <a:solidFill>
                  <a:srgbClr val="695C4A"/>
                </a:solidFill>
                <a:latin typeface="Glacial Indifference Bold"/>
                <a:ea typeface="Glacial Indifference Bold"/>
                <a:cs typeface="Glacial Indifference Bold"/>
                <a:sym typeface="Glacial Indifference Bold"/>
              </a:rPr>
              <a:t>αυξάνεται εκθετικά </a:t>
            </a:r>
            <a:r>
              <a:rPr lang="en-US" sz="1633">
                <a:solidFill>
                  <a:srgbClr val="695C4A"/>
                </a:solidFill>
                <a:latin typeface="Glacial Indifference"/>
                <a:ea typeface="Glacial Indifference"/>
                <a:cs typeface="Glacial Indifference"/>
                <a:sym typeface="Glacial Indifference"/>
              </a:rPr>
              <a:t>κατά τη διάρκεια της εκπαίδευσης </a:t>
            </a:r>
            <a:r>
              <a:rPr lang="en-US" b="true" sz="1633">
                <a:solidFill>
                  <a:srgbClr val="695C4A"/>
                </a:solidFill>
                <a:latin typeface="Glacial Indifference Bold"/>
                <a:ea typeface="Glacial Indifference Bold"/>
                <a:cs typeface="Glacial Indifference Bold"/>
                <a:sym typeface="Glacial Indifference Bold"/>
              </a:rPr>
              <a:t>στο διάστημα [0, 1]</a:t>
            </a:r>
            <a:r>
              <a:rPr lang="en-US" sz="1633">
                <a:solidFill>
                  <a:srgbClr val="695C4A"/>
                </a:solidFill>
                <a:latin typeface="Glacial Indifference"/>
                <a:ea typeface="Glacial Indifference"/>
                <a:cs typeface="Glacial Indifference"/>
                <a:sym typeface="Glacial Indifference"/>
              </a:rPr>
              <a:t>.</a:t>
            </a:r>
          </a:p>
        </p:txBody>
      </p:sp>
      <p:sp>
        <p:nvSpPr>
          <p:cNvPr name="TextBox 17" id="17"/>
          <p:cNvSpPr txBox="true"/>
          <p:nvPr/>
        </p:nvSpPr>
        <p:spPr>
          <a:xfrm rot="0">
            <a:off x="10051702" y="580122"/>
            <a:ext cx="7914021" cy="4201571"/>
          </a:xfrm>
          <a:prstGeom prst="rect">
            <a:avLst/>
          </a:prstGeom>
        </p:spPr>
        <p:txBody>
          <a:bodyPr anchor="t" rtlCol="false" tIns="0" lIns="0" bIns="0" rIns="0">
            <a:spAutoFit/>
          </a:bodyPr>
          <a:lstStyle/>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T</a:t>
            </a:r>
            <a:r>
              <a:rPr lang="en-US" b="true" sz="1833">
                <a:solidFill>
                  <a:srgbClr val="695C4A"/>
                </a:solidFill>
                <a:latin typeface="Glacial Indifference Bold"/>
                <a:ea typeface="Glacial Indifference Bold"/>
                <a:cs typeface="Glacial Indifference Bold"/>
                <a:sym typeface="Glacial Indifference Bold"/>
              </a:rPr>
              <a:t>otal Loss</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Κατεβαίνει ομαλά</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σταθεροποιείται σε χαμηλό επίπεδο</a:t>
            </a:r>
            <a:r>
              <a:rPr lang="en-US" sz="1833">
                <a:solidFill>
                  <a:srgbClr val="695C4A"/>
                </a:solidFill>
                <a:latin typeface="Glacial Indifference"/>
                <a:ea typeface="Glacial Indifference"/>
                <a:cs typeface="Glacial Indifference"/>
                <a:sym typeface="Glacial Indifference"/>
              </a:rPr>
              <a:t> κοντά στο </a:t>
            </a:r>
            <a:r>
              <a:rPr lang="en-US" b="true" sz="1833">
                <a:solidFill>
                  <a:srgbClr val="695C4A"/>
                </a:solidFill>
                <a:latin typeface="Glacial Indifference Bold"/>
                <a:ea typeface="Glacial Indifference Bold"/>
                <a:cs typeface="Glacial Indifference Bold"/>
                <a:sym typeface="Glacial Indifference Bold"/>
              </a:rPr>
              <a:t>0.1-0.2</a:t>
            </a:r>
            <a:r>
              <a:rPr lang="en-US" sz="1833">
                <a:solidFill>
                  <a:srgbClr val="695C4A"/>
                </a:solidFill>
                <a:latin typeface="Glacial Indifference"/>
                <a:ea typeface="Glacial Indifference"/>
                <a:cs typeface="Glacial Indifference"/>
                <a:sym typeface="Glacial Indifference"/>
              </a:rPr>
              <a:t>, βρίσκοντας </a:t>
            </a:r>
            <a:r>
              <a:rPr lang="en-US" b="true" sz="1833">
                <a:solidFill>
                  <a:srgbClr val="695C4A"/>
                </a:solidFill>
                <a:latin typeface="Glacial Indifference Bold"/>
                <a:ea typeface="Glacial Indifference Bold"/>
                <a:cs typeface="Glacial Indifference Bold"/>
                <a:sym typeface="Glacial Indifference Bold"/>
              </a:rPr>
              <a:t>καλύτερη ισορροπία</a:t>
            </a:r>
            <a:r>
              <a:rPr lang="en-US" sz="1833">
                <a:solidFill>
                  <a:srgbClr val="695C4A"/>
                </a:solidFill>
                <a:latin typeface="Glacial Indifference"/>
                <a:ea typeface="Glacial Indifference"/>
                <a:cs typeface="Glacial Indifference"/>
                <a:sym typeface="Glacial Indifference"/>
              </a:rPr>
              <a:t> ισορροπία ανάμε</a:t>
            </a:r>
            <a:r>
              <a:rPr lang="en-US" sz="1833">
                <a:solidFill>
                  <a:srgbClr val="695C4A"/>
                </a:solidFill>
                <a:latin typeface="Glacial Indifference"/>
                <a:ea typeface="Glacial Indifference"/>
                <a:cs typeface="Glacial Indifference"/>
                <a:sym typeface="Glacial Indifference"/>
              </a:rPr>
              <a:t>σα στο classifi</a:t>
            </a:r>
            <a:r>
              <a:rPr lang="en-US" sz="1833">
                <a:solidFill>
                  <a:srgbClr val="695C4A"/>
                </a:solidFill>
                <a:latin typeface="Glacial Indifference"/>
                <a:ea typeface="Glacial Indifference"/>
                <a:cs typeface="Glacial Indifference"/>
                <a:sym typeface="Glacial Indifference"/>
              </a:rPr>
              <a:t>cation loss και στο domain loss, χωρίς σημάδια υπερεκπαίδευσης.</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Classification Loss</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Σταθεροποιείται ελαφρώς χαμηλότερα </a:t>
            </a:r>
            <a:r>
              <a:rPr lang="en-US" sz="1833">
                <a:solidFill>
                  <a:srgbClr val="695C4A"/>
                </a:solidFill>
                <a:latin typeface="Glacial Indifference"/>
                <a:ea typeface="Glacial Indifference"/>
                <a:cs typeface="Glacial Indifference"/>
                <a:sym typeface="Glacial Indifference"/>
              </a:rPr>
              <a:t>γύρω στο </a:t>
            </a:r>
            <a:r>
              <a:rPr lang="en-US" b="true" sz="1833">
                <a:solidFill>
                  <a:srgbClr val="695C4A"/>
                </a:solidFill>
                <a:latin typeface="Glacial Indifference Bold"/>
                <a:ea typeface="Glacial Indifference Bold"/>
                <a:cs typeface="Glacial Indifference Bold"/>
                <a:sym typeface="Glacial Indifference Bold"/>
              </a:rPr>
              <a:t>0.4 (val)</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0.3 (train)</a:t>
            </a:r>
            <a:r>
              <a:rPr lang="en-US" sz="1833">
                <a:solidFill>
                  <a:srgbClr val="695C4A"/>
                </a:solidFill>
                <a:latin typeface="Glacial Indifference"/>
                <a:ea typeface="Glacial Indifference"/>
                <a:cs typeface="Glacial Indifference"/>
                <a:sym typeface="Glacial Indifference"/>
              </a:rPr>
              <a:t> έχοντας ωστόσο ελαφρώς μεγαλύτερη απόκλιση ανάμεσα σε εκπαίδευση και επικύρωση. Ωστόσο, τα χαρακτηριστικά που μαθαίνονται είναι </a:t>
            </a:r>
            <a:r>
              <a:rPr lang="en-US" b="true" sz="1833">
                <a:solidFill>
                  <a:srgbClr val="695C4A"/>
                </a:solidFill>
                <a:latin typeface="Glacial Indifference Bold"/>
                <a:ea typeface="Glacial Indifference Bold"/>
                <a:cs typeface="Glacial Indifference Bold"/>
                <a:sym typeface="Glacial Indifference Bold"/>
              </a:rPr>
              <a:t>πιο διαχωρίσιμα ανά κατηγορία</a:t>
            </a:r>
            <a:r>
              <a:rPr lang="en-US" sz="1833">
                <a:solidFill>
                  <a:srgbClr val="695C4A"/>
                </a:solidFill>
                <a:latin typeface="Glacial Indifference"/>
                <a:ea typeface="Glacial Indifference"/>
                <a:cs typeface="Glacial Indifference"/>
                <a:sym typeface="Glacial Indifference"/>
              </a:rPr>
              <a:t>, άρα βελτιώνεται η πραγματική απόδοση στη πράξη.</a:t>
            </a:r>
          </a:p>
          <a:p>
            <a:pPr algn="l" marL="395921" indent="-197961" lvl="1">
              <a:lnSpc>
                <a:spcPts val="2567"/>
              </a:lnSpc>
              <a:spcBef>
                <a:spcPct val="0"/>
              </a:spcBef>
              <a:buFont typeface="Arial"/>
              <a:buChar char="•"/>
            </a:pPr>
            <a:r>
              <a:rPr lang="en-US" b="true" sz="1833">
                <a:solidFill>
                  <a:srgbClr val="695C4A"/>
                </a:solidFill>
                <a:latin typeface="Glacial Indifference Bold"/>
                <a:ea typeface="Glacial Indifference Bold"/>
                <a:cs typeface="Glacial Indifference Bold"/>
                <a:sym typeface="Glacial Indifference Bold"/>
              </a:rPr>
              <a:t>Domain Loss</a:t>
            </a:r>
            <a:r>
              <a:rPr lang="en-US" sz="1833">
                <a:solidFill>
                  <a:srgbClr val="695C4A"/>
                </a:solidFill>
                <a:latin typeface="Glacial Indifference"/>
                <a:ea typeface="Glacial Indifference"/>
                <a:cs typeface="Glacial Indifference"/>
                <a:sym typeface="Glacial Indifference"/>
              </a:rPr>
              <a:t>: Ξεκινάει πάλι από χαμηλά και </a:t>
            </a:r>
            <a:r>
              <a:rPr lang="en-US" b="true" sz="1833">
                <a:solidFill>
                  <a:srgbClr val="695C4A"/>
                </a:solidFill>
                <a:latin typeface="Glacial Indifference Bold"/>
                <a:ea typeface="Glacial Indifference Bold"/>
                <a:cs typeface="Glacial Indifference Bold"/>
                <a:sym typeface="Glacial Indifference Bold"/>
              </a:rPr>
              <a:t>αυξάνεται συγκλίνοντας</a:t>
            </a:r>
            <a:r>
              <a:rPr lang="en-US" sz="1833">
                <a:solidFill>
                  <a:srgbClr val="695C4A"/>
                </a:solidFill>
                <a:latin typeface="Glacial Indifference"/>
                <a:ea typeface="Glacial Indifference"/>
                <a:cs typeface="Glacial Indifference"/>
                <a:sym typeface="Glacial Indifference"/>
              </a:rPr>
              <a:t> σε ελαφρώς χαμηλότερες τιμές από το DANN, γύρω στο </a:t>
            </a:r>
            <a:r>
              <a:rPr lang="en-US" b="true" sz="1833">
                <a:solidFill>
                  <a:srgbClr val="695C4A"/>
                </a:solidFill>
                <a:latin typeface="Glacial Indifference Bold"/>
                <a:ea typeface="Glacial Indifference Bold"/>
                <a:cs typeface="Glacial Indifference Bold"/>
                <a:sym typeface="Glacial Indifference Bold"/>
              </a:rPr>
              <a:t>0.20–0.23, </a:t>
            </a:r>
            <a:r>
              <a:rPr lang="en-US" sz="1833">
                <a:solidFill>
                  <a:srgbClr val="695C4A"/>
                </a:solidFill>
                <a:latin typeface="Glacial Indifference"/>
                <a:ea typeface="Glacial Indifference"/>
                <a:cs typeface="Glacial Indifference"/>
                <a:sym typeface="Glacial Indifference"/>
              </a:rPr>
              <a:t> πολύ πιο κοντά στην τιμή 0.1875 που αντιστοιχεί στο τυχαίο σφάλμα (random guess) για MSE με 4 domains.</a:t>
            </a:r>
          </a:p>
        </p:txBody>
      </p:sp>
      <p:sp>
        <p:nvSpPr>
          <p:cNvPr name="TextBox 18" id="18"/>
          <p:cNvSpPr txBox="true"/>
          <p:nvPr/>
        </p:nvSpPr>
        <p:spPr>
          <a:xfrm rot="0">
            <a:off x="399721" y="5810500"/>
            <a:ext cx="6609873" cy="355387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Οι κατηγορία</a:t>
            </a:r>
            <a:r>
              <a:rPr lang="en-US" b="true" sz="1833">
                <a:solidFill>
                  <a:srgbClr val="695C4A"/>
                </a:solidFill>
                <a:latin typeface="Glacial Indifference Bold"/>
                <a:ea typeface="Glacial Indifference Bold"/>
                <a:cs typeface="Glacial Indifference Bold"/>
                <a:sym typeface="Glacial Indifference Bold"/>
              </a:rPr>
              <a:t> Wheeze</a:t>
            </a:r>
            <a:r>
              <a:rPr lang="en-US" sz="1833">
                <a:solidFill>
                  <a:srgbClr val="695C4A"/>
                </a:solidFill>
                <a:latin typeface="Glacial Indifference"/>
                <a:ea typeface="Glacial Indifference"/>
                <a:cs typeface="Glacial Indifference"/>
                <a:sym typeface="Glacial Indifference"/>
              </a:rPr>
              <a:t> σχηματίζει </a:t>
            </a:r>
            <a:r>
              <a:rPr lang="en-US" b="true" sz="1833">
                <a:solidFill>
                  <a:srgbClr val="695C4A"/>
                </a:solidFill>
                <a:latin typeface="Glacial Indifference Bold"/>
                <a:ea typeface="Glacial Indifference Bold"/>
                <a:cs typeface="Glacial Indifference Bold"/>
                <a:sym typeface="Glacial Indifference Bold"/>
              </a:rPr>
              <a:t>συμπαγείς και ευδιάκριτες συστάδες</a:t>
            </a:r>
            <a:r>
              <a:rPr lang="en-US" sz="1833">
                <a:solidFill>
                  <a:srgbClr val="695C4A"/>
                </a:solidFill>
                <a:latin typeface="Glacial Indifference"/>
                <a:ea typeface="Glacial Indifference"/>
                <a:cs typeface="Glacial Indifference"/>
                <a:sym typeface="Glacial Indifference"/>
              </a:rPr>
              <a:t> με κ</a:t>
            </a:r>
            <a:r>
              <a:rPr lang="en-US" sz="1833">
                <a:solidFill>
                  <a:srgbClr val="695C4A"/>
                </a:solidFill>
                <a:latin typeface="Glacial Indifference"/>
                <a:ea typeface="Glacial Indifference"/>
                <a:cs typeface="Glacial Indifference"/>
                <a:sym typeface="Glacial Indifference"/>
              </a:rPr>
              <a:t>αθ</a:t>
            </a:r>
            <a:r>
              <a:rPr lang="en-US" sz="1833">
                <a:solidFill>
                  <a:srgbClr val="695C4A"/>
                </a:solidFill>
                <a:latin typeface="Glacial Indifference"/>
                <a:ea typeface="Glacial Indifference"/>
                <a:cs typeface="Glacial Indifference"/>
                <a:sym typeface="Glacial Indifference"/>
              </a:rPr>
              <a:t>αρά όρια. Τ</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Crackle </a:t>
            </a:r>
            <a:r>
              <a:rPr lang="en-US" sz="1833">
                <a:solidFill>
                  <a:srgbClr val="695C4A"/>
                </a:solidFill>
                <a:latin typeface="Glacial Indifference"/>
                <a:ea typeface="Glacial Indifference"/>
                <a:cs typeface="Glacial Indifference"/>
                <a:sym typeface="Glacial Indifference"/>
              </a:rPr>
              <a:t>παραμένουν </a:t>
            </a:r>
            <a:r>
              <a:rPr lang="en-US" b="true" sz="1833">
                <a:solidFill>
                  <a:srgbClr val="695C4A"/>
                </a:solidFill>
                <a:latin typeface="Glacial Indifference Bold"/>
                <a:ea typeface="Glacial Indifference Bold"/>
                <a:cs typeface="Glacial Indifference Bold"/>
                <a:sym typeface="Glacial Indifference Bold"/>
              </a:rPr>
              <a:t>πιο διασκορπισμένα</a:t>
            </a:r>
            <a:r>
              <a:rPr lang="en-US" sz="1833">
                <a:solidFill>
                  <a:srgbClr val="695C4A"/>
                </a:solidFill>
                <a:latin typeface="Glacial Indifference"/>
                <a:ea typeface="Glacial Indifference"/>
                <a:cs typeface="Glacial Indifference"/>
                <a:sym typeface="Glacial Indifference"/>
              </a:rPr>
              <a:t>, αλλά με </a:t>
            </a:r>
            <a:r>
              <a:rPr lang="en-US" b="true" sz="1833">
                <a:solidFill>
                  <a:srgbClr val="695C4A"/>
                </a:solidFill>
                <a:latin typeface="Glacial Indifference Bold"/>
                <a:ea typeface="Glacial Indifference Bold"/>
                <a:cs typeface="Glacial Indifference Bold"/>
                <a:sym typeface="Glacial Indifference Bold"/>
              </a:rPr>
              <a:t>βελτιωμένο διαχωρισμό </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πό τη κλάση Normal σε σχέση με πριν. Τέλος, τα δείγματα της κλάσης </a:t>
            </a:r>
            <a:r>
              <a:rPr lang="en-US" b="true" sz="1833">
                <a:solidFill>
                  <a:srgbClr val="695C4A"/>
                </a:solidFill>
                <a:latin typeface="Glacial Indifference Bold"/>
                <a:ea typeface="Glacial Indifference Bold"/>
                <a:cs typeface="Glacial Indifference Bold"/>
                <a:sym typeface="Glacial Indifference Bold"/>
              </a:rPr>
              <a:t>Normal </a:t>
            </a:r>
            <a:r>
              <a:rPr lang="en-US" sz="1833">
                <a:solidFill>
                  <a:srgbClr val="695C4A"/>
                </a:solidFill>
                <a:latin typeface="Glacial Indifference"/>
                <a:ea typeface="Glacial Indifference"/>
                <a:cs typeface="Glacial Indifference"/>
                <a:sym typeface="Glacial Indifference"/>
              </a:rPr>
              <a:t>εμφανίζουν μερική επικάλυψη με τις παθολογικ</a:t>
            </a:r>
            <a:r>
              <a:rPr lang="en-US" sz="1833">
                <a:solidFill>
                  <a:srgbClr val="695C4A"/>
                </a:solidFill>
                <a:latin typeface="Glacial Indifference"/>
                <a:ea typeface="Glacial Indifference"/>
                <a:cs typeface="Glacial Indifference"/>
                <a:sym typeface="Glacial Indifference"/>
              </a:rPr>
              <a:t>έ</a:t>
            </a:r>
            <a:r>
              <a:rPr lang="en-US" sz="1833">
                <a:solidFill>
                  <a:srgbClr val="695C4A"/>
                </a:solidFill>
                <a:latin typeface="Glacial Indifference"/>
                <a:ea typeface="Glacial Indifference"/>
                <a:cs typeface="Glacial Indifference"/>
                <a:sym typeface="Glacial Indifference"/>
              </a:rPr>
              <a:t>ς</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κα</a:t>
            </a:r>
            <a:r>
              <a:rPr lang="en-US" sz="1833">
                <a:solidFill>
                  <a:srgbClr val="695C4A"/>
                </a:solidFill>
                <a:latin typeface="Glacial Indifference"/>
                <a:ea typeface="Glacial Indifference"/>
                <a:cs typeface="Glacial Indifference"/>
                <a:sym typeface="Glacial Indifference"/>
              </a:rPr>
              <a:t>τ</a:t>
            </a:r>
            <a:r>
              <a:rPr lang="en-US" sz="1833">
                <a:solidFill>
                  <a:srgbClr val="695C4A"/>
                </a:solidFill>
                <a:latin typeface="Glacial Indifference"/>
                <a:ea typeface="Glacial Indifference"/>
                <a:cs typeface="Glacial Indifference"/>
                <a:sym typeface="Glacial Indifference"/>
              </a:rPr>
              <a:t>ηγορ</a:t>
            </a:r>
            <a:r>
              <a:rPr lang="en-US" sz="1833">
                <a:solidFill>
                  <a:srgbClr val="695C4A"/>
                </a:solidFill>
                <a:latin typeface="Glacial Indifference"/>
                <a:ea typeface="Glacial Indifference"/>
                <a:cs typeface="Glacial Indifference"/>
                <a:sym typeface="Glacial Indifference"/>
              </a:rPr>
              <a:t>ί</a:t>
            </a:r>
            <a:r>
              <a:rPr lang="en-US" sz="1833">
                <a:solidFill>
                  <a:srgbClr val="695C4A"/>
                </a:solidFill>
                <a:latin typeface="Glacial Indifference"/>
                <a:ea typeface="Glacial Indifference"/>
                <a:cs typeface="Glacial Indifference"/>
                <a:sym typeface="Glacial Indifference"/>
              </a:rPr>
              <a:t>ες, αλλά η </a:t>
            </a:r>
            <a:r>
              <a:rPr lang="en-US" b="true" sz="1833">
                <a:solidFill>
                  <a:srgbClr val="695C4A"/>
                </a:solidFill>
                <a:latin typeface="Glacial Indifference Bold"/>
                <a:ea typeface="Glacial Indifference Bold"/>
                <a:cs typeface="Glacial Indifference Bold"/>
                <a:sym typeface="Glacial Indifference Bold"/>
              </a:rPr>
              <a:t>συνολική δομή</a:t>
            </a:r>
            <a:r>
              <a:rPr lang="en-US" sz="1833">
                <a:solidFill>
                  <a:srgbClr val="695C4A"/>
                </a:solidFill>
                <a:latin typeface="Glacial Indifference"/>
                <a:ea typeface="Glacial Indifference"/>
                <a:cs typeface="Glacial Indifference"/>
                <a:sym typeface="Glacial Indifference"/>
              </a:rPr>
              <a:t> είναι π</a:t>
            </a:r>
            <a:r>
              <a:rPr lang="en-US" sz="1833">
                <a:solidFill>
                  <a:srgbClr val="695C4A"/>
                </a:solidFill>
                <a:latin typeface="Glacial Indifference"/>
                <a:ea typeface="Glacial Indifference"/>
                <a:cs typeface="Glacial Indifference"/>
                <a:sym typeface="Glacial Indifference"/>
              </a:rPr>
              <a:t>ιο</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οργανωμένη</a:t>
            </a:r>
            <a:r>
              <a:rPr lang="en-US" sz="1833">
                <a:solidFill>
                  <a:srgbClr val="695C4A"/>
                </a:solidFill>
                <a:latin typeface="Glacial Indifference"/>
                <a:ea typeface="Glacial Indifference"/>
                <a:cs typeface="Glacial Indifference"/>
                <a:sym typeface="Glacial Indifference"/>
              </a:rPr>
              <a:t>.</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Οι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συσ</a:t>
            </a:r>
            <a:r>
              <a:rPr lang="en-US" sz="1833">
                <a:solidFill>
                  <a:srgbClr val="695C4A"/>
                </a:solidFill>
                <a:latin typeface="Glacial Indifference"/>
                <a:ea typeface="Glacial Indifference"/>
                <a:cs typeface="Glacial Indifference"/>
                <a:sym typeface="Glacial Indifference"/>
              </a:rPr>
              <a:t>κ</a:t>
            </a:r>
            <a:r>
              <a:rPr lang="en-US" sz="1833">
                <a:solidFill>
                  <a:srgbClr val="695C4A"/>
                </a:solidFill>
                <a:latin typeface="Glacial Indifference"/>
                <a:ea typeface="Glacial Indifference"/>
                <a:cs typeface="Glacial Indifference"/>
                <a:sym typeface="Glacial Indifference"/>
              </a:rPr>
              <a:t>ευέ</a:t>
            </a:r>
            <a:r>
              <a:rPr lang="en-US" sz="1833">
                <a:solidFill>
                  <a:srgbClr val="695C4A"/>
                </a:solidFill>
                <a:latin typeface="Glacial Indifference"/>
                <a:ea typeface="Glacial Indifference"/>
                <a:cs typeface="Glacial Indifference"/>
                <a:sym typeface="Glacial Indifference"/>
              </a:rPr>
              <a:t>ς πα</a:t>
            </a:r>
            <a:r>
              <a:rPr lang="en-US" sz="1833">
                <a:solidFill>
                  <a:srgbClr val="695C4A"/>
                </a:solidFill>
                <a:latin typeface="Glacial Indifference"/>
                <a:ea typeface="Glacial Indifference"/>
                <a:cs typeface="Glacial Indifference"/>
                <a:sym typeface="Glacial Indifference"/>
              </a:rPr>
              <a:t>ρ</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υσιάζ</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υν </a:t>
            </a:r>
            <a:r>
              <a:rPr lang="en-US" b="true" sz="1833">
                <a:solidFill>
                  <a:srgbClr val="695C4A"/>
                </a:solidFill>
                <a:latin typeface="Glacial Indifference Bold"/>
                <a:ea typeface="Glacial Indifference Bold"/>
                <a:cs typeface="Glacial Indifference Bold"/>
                <a:sym typeface="Glacial Indifference Bold"/>
              </a:rPr>
              <a:t>πλήρη επικάλυψη</a:t>
            </a:r>
            <a:r>
              <a:rPr lang="en-US" sz="1833">
                <a:solidFill>
                  <a:srgbClr val="695C4A"/>
                </a:solidFill>
                <a:latin typeface="Glacial Indifference"/>
                <a:ea typeface="Glacial Indifference"/>
                <a:cs typeface="Glacial Indifference"/>
                <a:sym typeface="Glacial Indifference"/>
              </a:rPr>
              <a:t>, γεγονός που δείχνει ότι </a:t>
            </a:r>
            <a:r>
              <a:rPr lang="en-US" b="true" sz="1833">
                <a:solidFill>
                  <a:srgbClr val="695C4A"/>
                </a:solidFill>
                <a:latin typeface="Glacial Indifference Bold"/>
                <a:ea typeface="Glacial Indifference Bold"/>
                <a:cs typeface="Glacial Indifference Bold"/>
                <a:sym typeface="Glacial Indifference Bold"/>
              </a:rPr>
              <a:t>το domain shift έχει περιοριστεί σχεδόν τέλεια</a:t>
            </a:r>
            <a:r>
              <a:rPr lang="en-US" sz="1833">
                <a:solidFill>
                  <a:srgbClr val="695C4A"/>
                </a:solidFill>
                <a:latin typeface="Glacial Indifference"/>
                <a:ea typeface="Glacial Indifference"/>
                <a:cs typeface="Glacial Indifference"/>
                <a:sym typeface="Glacial Indifference"/>
              </a:rPr>
              <a: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2308799" y="1819129"/>
            <a:ext cx="13670401" cy="19050"/>
          </a:xfrm>
          <a:prstGeom prst="line">
            <a:avLst/>
          </a:prstGeom>
          <a:ln cap="flat" w="38100">
            <a:solidFill>
              <a:srgbClr val="827564"/>
            </a:solidFill>
            <a:prstDash val="solid"/>
            <a:headEnd type="oval" len="lg" w="lg"/>
            <a:tailEnd type="oval" len="lg" w="lg"/>
          </a:ln>
        </p:spPr>
      </p:sp>
      <p:sp>
        <p:nvSpPr>
          <p:cNvPr name="Freeform 3" id="3"/>
          <p:cNvSpPr/>
          <p:nvPr/>
        </p:nvSpPr>
        <p:spPr>
          <a:xfrm flipH="false" flipV="false" rot="0">
            <a:off x="11801120" y="3466159"/>
            <a:ext cx="1457886" cy="399096"/>
          </a:xfrm>
          <a:custGeom>
            <a:avLst/>
            <a:gdLst/>
            <a:ahLst/>
            <a:cxnLst/>
            <a:rect r="r" b="b" t="t" l="l"/>
            <a:pathLst>
              <a:path h="399096" w="1457886">
                <a:moveTo>
                  <a:pt x="0" y="0"/>
                </a:moveTo>
                <a:lnTo>
                  <a:pt x="1457886" y="0"/>
                </a:lnTo>
                <a:lnTo>
                  <a:pt x="1457886" y="399097"/>
                </a:lnTo>
                <a:lnTo>
                  <a:pt x="0" y="399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5028994" y="3466159"/>
            <a:ext cx="1457886" cy="399096"/>
          </a:xfrm>
          <a:custGeom>
            <a:avLst/>
            <a:gdLst/>
            <a:ahLst/>
            <a:cxnLst/>
            <a:rect r="r" b="b" t="t" l="l"/>
            <a:pathLst>
              <a:path h="399096" w="1457886">
                <a:moveTo>
                  <a:pt x="0" y="0"/>
                </a:moveTo>
                <a:lnTo>
                  <a:pt x="1457886" y="0"/>
                </a:lnTo>
                <a:lnTo>
                  <a:pt x="1457886" y="399097"/>
                </a:lnTo>
                <a:lnTo>
                  <a:pt x="0" y="399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700401" y="2066779"/>
            <a:ext cx="4891169" cy="4093890"/>
          </a:xfrm>
          <a:custGeom>
            <a:avLst/>
            <a:gdLst/>
            <a:ahLst/>
            <a:cxnLst/>
            <a:rect r="r" b="b" t="t" l="l"/>
            <a:pathLst>
              <a:path h="4093890" w="4891169">
                <a:moveTo>
                  <a:pt x="0" y="0"/>
                </a:moveTo>
                <a:lnTo>
                  <a:pt x="4891169" y="0"/>
                </a:lnTo>
                <a:lnTo>
                  <a:pt x="4891169" y="4093890"/>
                </a:lnTo>
                <a:lnTo>
                  <a:pt x="0" y="4093890"/>
                </a:lnTo>
                <a:lnTo>
                  <a:pt x="0" y="0"/>
                </a:lnTo>
                <a:close/>
              </a:path>
            </a:pathLst>
          </a:custGeom>
          <a:blipFill>
            <a:blip r:embed="rId4"/>
            <a:stretch>
              <a:fillRect l="0" t="0" r="0" b="0"/>
            </a:stretch>
          </a:blipFill>
        </p:spPr>
      </p:sp>
      <p:sp>
        <p:nvSpPr>
          <p:cNvPr name="Freeform 6" id="6"/>
          <p:cNvSpPr/>
          <p:nvPr/>
        </p:nvSpPr>
        <p:spPr>
          <a:xfrm flipH="false" flipV="false" rot="0">
            <a:off x="0" y="2265821"/>
            <a:ext cx="4989168" cy="2799772"/>
          </a:xfrm>
          <a:custGeom>
            <a:avLst/>
            <a:gdLst/>
            <a:ahLst/>
            <a:cxnLst/>
            <a:rect r="r" b="b" t="t" l="l"/>
            <a:pathLst>
              <a:path h="2799772" w="4989168">
                <a:moveTo>
                  <a:pt x="0" y="0"/>
                </a:moveTo>
                <a:lnTo>
                  <a:pt x="4989168" y="0"/>
                </a:lnTo>
                <a:lnTo>
                  <a:pt x="4989168" y="2799773"/>
                </a:lnTo>
                <a:lnTo>
                  <a:pt x="0" y="2799773"/>
                </a:lnTo>
                <a:lnTo>
                  <a:pt x="0" y="0"/>
                </a:lnTo>
                <a:close/>
              </a:path>
            </a:pathLst>
          </a:custGeom>
          <a:blipFill>
            <a:blip r:embed="rId5"/>
            <a:stretch>
              <a:fillRect l="0" t="0" r="0" b="0"/>
            </a:stretch>
          </a:blipFill>
        </p:spPr>
      </p:sp>
      <p:sp>
        <p:nvSpPr>
          <p:cNvPr name="Freeform 7" id="7"/>
          <p:cNvSpPr/>
          <p:nvPr/>
        </p:nvSpPr>
        <p:spPr>
          <a:xfrm flipH="false" flipV="false" rot="0">
            <a:off x="13259006" y="2730845"/>
            <a:ext cx="4540760" cy="1869725"/>
          </a:xfrm>
          <a:custGeom>
            <a:avLst/>
            <a:gdLst/>
            <a:ahLst/>
            <a:cxnLst/>
            <a:rect r="r" b="b" t="t" l="l"/>
            <a:pathLst>
              <a:path h="1869725" w="4540760">
                <a:moveTo>
                  <a:pt x="0" y="0"/>
                </a:moveTo>
                <a:lnTo>
                  <a:pt x="4540760" y="0"/>
                </a:lnTo>
                <a:lnTo>
                  <a:pt x="4540760" y="1869725"/>
                </a:lnTo>
                <a:lnTo>
                  <a:pt x="0" y="1869725"/>
                </a:lnTo>
                <a:lnTo>
                  <a:pt x="0" y="0"/>
                </a:lnTo>
                <a:close/>
              </a:path>
            </a:pathLst>
          </a:custGeom>
          <a:blipFill>
            <a:blip r:embed="rId6"/>
            <a:stretch>
              <a:fillRect l="0" t="0" r="0" b="0"/>
            </a:stretch>
          </a:blipFill>
        </p:spPr>
      </p:sp>
      <p:sp>
        <p:nvSpPr>
          <p:cNvPr name="Freeform 8" id="8"/>
          <p:cNvSpPr/>
          <p:nvPr/>
        </p:nvSpPr>
        <p:spPr>
          <a:xfrm flipH="false" flipV="false" rot="0">
            <a:off x="8217831" y="8419140"/>
            <a:ext cx="1856310" cy="486045"/>
          </a:xfrm>
          <a:custGeom>
            <a:avLst/>
            <a:gdLst/>
            <a:ahLst/>
            <a:cxnLst/>
            <a:rect r="r" b="b" t="t" l="l"/>
            <a:pathLst>
              <a:path h="486045" w="1856310">
                <a:moveTo>
                  <a:pt x="0" y="0"/>
                </a:moveTo>
                <a:lnTo>
                  <a:pt x="1856310" y="0"/>
                </a:lnTo>
                <a:lnTo>
                  <a:pt x="1856310" y="486045"/>
                </a:lnTo>
                <a:lnTo>
                  <a:pt x="0" y="486045"/>
                </a:lnTo>
                <a:lnTo>
                  <a:pt x="0" y="0"/>
                </a:lnTo>
                <a:close/>
              </a:path>
            </a:pathLst>
          </a:custGeom>
          <a:blipFill>
            <a:blip r:embed="rId7"/>
            <a:stretch>
              <a:fillRect l="-266305" t="-43113" r="-83536" b="-35133"/>
            </a:stretch>
          </a:blipFill>
        </p:spPr>
      </p:sp>
      <p:sp>
        <p:nvSpPr>
          <p:cNvPr name="TextBox 9" id="9"/>
          <p:cNvSpPr txBox="true"/>
          <p:nvPr/>
        </p:nvSpPr>
        <p:spPr>
          <a:xfrm rot="0">
            <a:off x="2494584" y="1043158"/>
            <a:ext cx="14109633" cy="547371"/>
          </a:xfrm>
          <a:prstGeom prst="rect">
            <a:avLst/>
          </a:prstGeom>
        </p:spPr>
        <p:txBody>
          <a:bodyPr anchor="t" rtlCol="false" tIns="0" lIns="0" bIns="0" rIns="0">
            <a:spAutoFit/>
          </a:bodyPr>
          <a:lstStyle/>
          <a:p>
            <a:pPr algn="l">
              <a:lnSpc>
                <a:spcPts val="4479"/>
              </a:lnSpc>
              <a:spcBef>
                <a:spcPct val="0"/>
              </a:spcBef>
            </a:pPr>
            <a:r>
              <a:rPr lang="en-US" b="true" sz="3199" spc="1343">
                <a:solidFill>
                  <a:srgbClr val="827564"/>
                </a:solidFill>
                <a:latin typeface="Open Sauce Bold"/>
                <a:ea typeface="Open Sauce Bold"/>
                <a:cs typeface="Open Sauce Bold"/>
                <a:sym typeface="Open Sauce Bold"/>
              </a:rPr>
              <a:t>DANN ΜΕ VAE ΩΣ FEATURE EXTRACTOR</a:t>
            </a:r>
          </a:p>
        </p:txBody>
      </p:sp>
      <p:sp>
        <p:nvSpPr>
          <p:cNvPr name="TextBox 10" id="10"/>
          <p:cNvSpPr txBox="true"/>
          <p:nvPr/>
        </p:nvSpPr>
        <p:spPr>
          <a:xfrm rot="0">
            <a:off x="157043" y="5027494"/>
            <a:ext cx="6329837" cy="258232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Ο </a:t>
            </a:r>
            <a:r>
              <a:rPr lang="en-US" b="true" sz="1833">
                <a:solidFill>
                  <a:srgbClr val="695C4A"/>
                </a:solidFill>
                <a:latin typeface="Glacial Indifference Bold"/>
                <a:ea typeface="Glacial Indifference Bold"/>
                <a:cs typeface="Glacial Indifference Bold"/>
                <a:sym typeface="Glacial Indifference Bold"/>
              </a:rPr>
              <a:t>Encoder</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χαρτογραφεί</a:t>
            </a:r>
            <a:r>
              <a:rPr lang="en-US" sz="1833">
                <a:solidFill>
                  <a:srgbClr val="695C4A"/>
                </a:solidFill>
                <a:latin typeface="Glacial Indifference"/>
                <a:ea typeface="Glacial Indifference"/>
                <a:cs typeface="Glacial Indifference"/>
                <a:sym typeface="Glacial Indifference"/>
              </a:rPr>
              <a:t> τα δεδομένα εισόδου </a:t>
            </a:r>
            <a:r>
              <a:rPr lang="en-US" b="true" sz="1833">
                <a:solidFill>
                  <a:srgbClr val="695C4A"/>
                </a:solidFill>
                <a:latin typeface="Glacial Indifference Bold"/>
                <a:ea typeface="Glacial Indifference Bold"/>
                <a:cs typeface="Glacial Indifference Bold"/>
                <a:sym typeface="Glacial Indifference Bold"/>
              </a:rPr>
              <a:t>x</a:t>
            </a:r>
            <a:r>
              <a:rPr lang="en-US" sz="1833">
                <a:solidFill>
                  <a:srgbClr val="695C4A"/>
                </a:solidFill>
                <a:latin typeface="Glacial Indifference"/>
                <a:ea typeface="Glacial Indifference"/>
                <a:cs typeface="Glacial Indifference"/>
                <a:sym typeface="Glacial Indifference"/>
              </a:rPr>
              <a:t> σε έναν </a:t>
            </a:r>
            <a:r>
              <a:rPr lang="en-US" b="true" sz="1833">
                <a:solidFill>
                  <a:srgbClr val="695C4A"/>
                </a:solidFill>
                <a:latin typeface="Glacial Indifference Bold"/>
                <a:ea typeface="Glacial Indifference Bold"/>
                <a:cs typeface="Glacial Indifference Bold"/>
                <a:sym typeface="Glacial Indifference Bold"/>
              </a:rPr>
              <a:t>λανθάνοντα χώρο διανυσμάτων z,</a:t>
            </a:r>
            <a:r>
              <a:rPr lang="en-US" sz="1833">
                <a:solidFill>
                  <a:srgbClr val="695C4A"/>
                </a:solidFill>
                <a:latin typeface="Glacial Indifference"/>
                <a:ea typeface="Glacial Indifference"/>
                <a:cs typeface="Glacial Indifference"/>
                <a:sym typeface="Glacial Indifference"/>
              </a:rPr>
              <a:t> τα οποία</a:t>
            </a:r>
            <a:r>
              <a:rPr lang="en-US" sz="1833">
                <a:solidFill>
                  <a:srgbClr val="695C4A"/>
                </a:solidFill>
                <a:latin typeface="Glacial Indifference"/>
                <a:ea typeface="Glacial Indifference"/>
                <a:cs typeface="Glacial Indifference"/>
                <a:sym typeface="Glacial Indifference"/>
              </a:rPr>
              <a:t> ορ</a:t>
            </a:r>
            <a:r>
              <a:rPr lang="en-US" sz="1833">
                <a:solidFill>
                  <a:srgbClr val="695C4A"/>
                </a:solidFill>
                <a:latin typeface="Glacial Indifference"/>
                <a:ea typeface="Glacial Indifference"/>
                <a:cs typeface="Glacial Indifference"/>
                <a:sym typeface="Glacial Indifference"/>
              </a:rPr>
              <a:t>ίζουν</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μ</a:t>
            </a:r>
            <a:r>
              <a:rPr lang="en-US" sz="1833">
                <a:solidFill>
                  <a:srgbClr val="695C4A"/>
                </a:solidFill>
                <a:latin typeface="Glacial Indifference"/>
                <a:ea typeface="Glacial Indifference"/>
                <a:cs typeface="Glacial Indifference"/>
                <a:sym typeface="Glacial Indifference"/>
              </a:rPr>
              <a:t>ια</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πιθανοτική κατανομή </a:t>
            </a:r>
            <a:r>
              <a:rPr lang="en-US" b="true" sz="1833" i="true">
                <a:solidFill>
                  <a:srgbClr val="695C4A"/>
                </a:solidFill>
                <a:latin typeface="Glacial Indifference Bold Italics"/>
                <a:ea typeface="Glacial Indifference Bold Italics"/>
                <a:cs typeface="Glacial Indifference Bold Italics"/>
                <a:sym typeface="Glacial Indifference Bold Italics"/>
              </a:rPr>
              <a:t>q</a:t>
            </a:r>
            <a:r>
              <a:rPr lang="en-US" b="true" sz="1833">
                <a:solidFill>
                  <a:srgbClr val="695C4A"/>
                </a:solidFill>
                <a:latin typeface="Glacial Indifference Bold"/>
                <a:ea typeface="Glacial Indifference Bold"/>
                <a:cs typeface="Glacial Indifference Bold"/>
                <a:sym typeface="Glacial Indifference Bold"/>
              </a:rPr>
              <a:t>(z|x)</a:t>
            </a:r>
            <a:r>
              <a:rPr lang="en-US" sz="1833">
                <a:solidFill>
                  <a:srgbClr val="695C4A"/>
                </a:solidFill>
                <a:latin typeface="Glacial Indifference"/>
                <a:ea typeface="Glacial Indifference"/>
                <a:cs typeface="Glacial Indifference"/>
                <a:sym typeface="Glacial Indifference"/>
              </a:rPr>
              <a:t>.</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Έτσι, για κάθε </a:t>
            </a:r>
            <a:r>
              <a:rPr lang="en-US" b="true" sz="1833">
                <a:solidFill>
                  <a:srgbClr val="695C4A"/>
                </a:solidFill>
                <a:latin typeface="Glacial Indifference Bold"/>
                <a:ea typeface="Glacial Indifference Bold"/>
                <a:cs typeface="Glacial Indifference Bold"/>
                <a:sym typeface="Glacial Indifference Bold"/>
              </a:rPr>
              <a:t>instance x </a:t>
            </a:r>
            <a:r>
              <a:rPr lang="en-US" sz="1833">
                <a:solidFill>
                  <a:srgbClr val="695C4A"/>
                </a:solidFill>
                <a:latin typeface="Glacial Indifference"/>
                <a:ea typeface="Glacial Indifference"/>
                <a:cs typeface="Glacial Indifference"/>
                <a:sym typeface="Glacial Indifference"/>
              </a:rPr>
              <a:t>αντί να παράγει μόνον ένα σημείο, δηλαδή ένα σταθερό embedding, παράγει τις παραμέτρους μιας ολόκληρης κατανομής με </a:t>
            </a:r>
            <a:r>
              <a:rPr lang="en-US" b="true" sz="1833">
                <a:solidFill>
                  <a:srgbClr val="695C4A"/>
                </a:solidFill>
                <a:latin typeface="Glacial Indifference Bold"/>
                <a:ea typeface="Glacial Indifference Bold"/>
                <a:cs typeface="Glacial Indifference Bold"/>
                <a:sym typeface="Glacial Indifference Bold"/>
              </a:rPr>
              <a:t>μέση τιμή </a:t>
            </a:r>
            <a:r>
              <a:rPr lang="en-US" b="true" sz="1833" i="true">
                <a:solidFill>
                  <a:srgbClr val="695C4A"/>
                </a:solidFill>
                <a:latin typeface="Glacial Indifference Bold Italics"/>
                <a:ea typeface="Glacial Indifference Bold Italics"/>
                <a:cs typeface="Glacial Indifference Bold Italics"/>
                <a:sym typeface="Glacial Indifference Bold Italics"/>
              </a:rPr>
              <a:t>μ</a:t>
            </a:r>
            <a:r>
              <a:rPr lang="en-US" b="true" sz="1833">
                <a:solidFill>
                  <a:srgbClr val="695C4A"/>
                </a:solidFill>
                <a:latin typeface="Glacial Indifference Bold"/>
                <a:ea typeface="Glacial Indifference Bold"/>
                <a:cs typeface="Glacial Indifference Bold"/>
                <a:sym typeface="Glacial Indifference Bold"/>
              </a:rPr>
              <a:t>(x)</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διασπορά </a:t>
            </a:r>
            <a:r>
              <a:rPr lang="en-US" b="true" sz="1833" i="true">
                <a:solidFill>
                  <a:srgbClr val="695C4A"/>
                </a:solidFill>
                <a:latin typeface="Glacial Indifference Bold Italics"/>
                <a:ea typeface="Glacial Indifference Bold Italics"/>
                <a:cs typeface="Glacial Indifference Bold Italics"/>
                <a:sym typeface="Glacial Indifference Bold Italics"/>
              </a:rPr>
              <a:t>σ</a:t>
            </a:r>
            <a:r>
              <a:rPr lang="en-US" b="true" sz="1833">
                <a:solidFill>
                  <a:srgbClr val="695C4A"/>
                </a:solidFill>
                <a:latin typeface="Glacial Indifference Bold"/>
                <a:ea typeface="Glacial Indifference Bold"/>
                <a:cs typeface="Glacial Indifference Bold"/>
                <a:sym typeface="Glacial Indifference Bold"/>
              </a:rPr>
              <a:t>(x)</a:t>
            </a:r>
            <a:r>
              <a:rPr lang="en-US" sz="1833">
                <a:solidFill>
                  <a:srgbClr val="695C4A"/>
                </a:solidFill>
                <a:latin typeface="Glacial Indifference"/>
                <a:ea typeface="Glacial Indifference"/>
                <a:cs typeface="Glacial Indifference"/>
                <a:sym typeface="Glacial Indifference"/>
              </a:rPr>
              <a:t>.</a:t>
            </a:r>
          </a:p>
          <a:p>
            <a:pPr algn="l">
              <a:lnSpc>
                <a:spcPts val="2567"/>
              </a:lnSpc>
            </a:pPr>
          </a:p>
        </p:txBody>
      </p:sp>
      <p:sp>
        <p:nvSpPr>
          <p:cNvPr name="TextBox 11" id="11"/>
          <p:cNvSpPr txBox="true"/>
          <p:nvPr/>
        </p:nvSpPr>
        <p:spPr>
          <a:xfrm rot="0">
            <a:off x="11801120" y="4772020"/>
            <a:ext cx="6329837" cy="517312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Ο </a:t>
            </a:r>
            <a:r>
              <a:rPr lang="en-US" b="true" sz="1833">
                <a:solidFill>
                  <a:srgbClr val="695C4A"/>
                </a:solidFill>
                <a:latin typeface="Glacial Indifference Bold"/>
                <a:ea typeface="Glacial Indifference Bold"/>
                <a:cs typeface="Glacial Indifference Bold"/>
                <a:sym typeface="Glacial Indifference Bold"/>
              </a:rPr>
              <a:t>Decoder </a:t>
            </a:r>
            <a:r>
              <a:rPr lang="en-US" sz="1833">
                <a:solidFill>
                  <a:srgbClr val="695C4A"/>
                </a:solidFill>
                <a:latin typeface="Glacial Indifference"/>
                <a:ea typeface="Glacial Indifference"/>
                <a:cs typeface="Glacial Indifference"/>
                <a:sym typeface="Glacial Indifference"/>
              </a:rPr>
              <a:t>λαμβάνει ως</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είσοδο ένα δείγμα από τον </a:t>
            </a:r>
            <a:r>
              <a:rPr lang="en-US" sz="1833">
                <a:solidFill>
                  <a:srgbClr val="695C4A"/>
                </a:solidFill>
                <a:latin typeface="Glacial Indifference"/>
                <a:ea typeface="Glacial Indifference"/>
                <a:cs typeface="Glacial Indifference"/>
                <a:sym typeface="Glacial Indifference"/>
              </a:rPr>
              <a:t>λανθάνοντα </a:t>
            </a:r>
            <a:r>
              <a:rPr lang="en-US" sz="1833">
                <a:solidFill>
                  <a:srgbClr val="695C4A"/>
                </a:solidFill>
                <a:latin typeface="Glacial Indifference"/>
                <a:ea typeface="Glacial Indifference"/>
                <a:cs typeface="Glacial Indifference"/>
                <a:sym typeface="Glacial Indifference"/>
              </a:rPr>
              <a:t>χώρο </a:t>
            </a:r>
            <a:r>
              <a:rPr lang="en-US" b="true" sz="1833">
                <a:solidFill>
                  <a:srgbClr val="695C4A"/>
                </a:solidFill>
                <a:latin typeface="Glacial Indifference Bold"/>
                <a:ea typeface="Glacial Indifference Bold"/>
                <a:cs typeface="Glacial Indifference Bold"/>
                <a:sym typeface="Glacial Indifference Bold"/>
              </a:rPr>
              <a:t>z</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επιχειρεί να ανακα</a:t>
            </a:r>
            <a:r>
              <a:rPr lang="en-US" b="true" sz="1833">
                <a:solidFill>
                  <a:srgbClr val="695C4A"/>
                </a:solidFill>
                <a:latin typeface="Glacial Indifference Bold"/>
                <a:ea typeface="Glacial Indifference Bold"/>
                <a:cs typeface="Glacial Indifference Bold"/>
                <a:sym typeface="Glacial Indifference Bold"/>
              </a:rPr>
              <a:t>τασκευά</a:t>
            </a:r>
            <a:r>
              <a:rPr lang="en-US" b="true" sz="1833">
                <a:solidFill>
                  <a:srgbClr val="695C4A"/>
                </a:solidFill>
                <a:latin typeface="Glacial Indifference Bold"/>
                <a:ea typeface="Glacial Indifference Bold"/>
                <a:cs typeface="Glacial Indifference Bold"/>
                <a:sym typeface="Glacial Indifference Bold"/>
              </a:rPr>
              <a:t>σ</a:t>
            </a:r>
            <a:r>
              <a:rPr lang="en-US" b="true" sz="1833">
                <a:solidFill>
                  <a:srgbClr val="695C4A"/>
                </a:solidFill>
                <a:latin typeface="Glacial Indifference Bold"/>
                <a:ea typeface="Glacial Indifference Bold"/>
                <a:cs typeface="Glacial Indifference Bold"/>
                <a:sym typeface="Glacial Indifference Bold"/>
              </a:rPr>
              <a:t>ει </a:t>
            </a:r>
            <a:r>
              <a:rPr lang="en-US" sz="1833">
                <a:solidFill>
                  <a:srgbClr val="695C4A"/>
                </a:solidFill>
                <a:latin typeface="Glacial Indifference"/>
                <a:ea typeface="Glacial Indifference"/>
                <a:cs typeface="Glacial Indifference"/>
                <a:sym typeface="Glacial Indifference"/>
              </a:rPr>
              <a:t>το αρχικό δεδομένο </a:t>
            </a:r>
            <a:r>
              <a:rPr lang="en-US" b="true" sz="1833">
                <a:solidFill>
                  <a:srgbClr val="695C4A"/>
                </a:solidFill>
                <a:latin typeface="Glacial Indifference Bold"/>
                <a:ea typeface="Glacial Indifference Bold"/>
                <a:cs typeface="Glacial Indifference Bold"/>
                <a:sym typeface="Glacial Indifference Bold"/>
              </a:rPr>
              <a:t>x</a:t>
            </a:r>
            <a:r>
              <a:rPr lang="en-US" sz="1833">
                <a:solidFill>
                  <a:srgbClr val="695C4A"/>
                </a:solidFill>
                <a:latin typeface="Glacial Indifference"/>
                <a:ea typeface="Glacial Indifference"/>
                <a:cs typeface="Glacial Indifference"/>
                <a:sym typeface="Glacial Indifference"/>
              </a:rPr>
              <a:t>.</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Η επιλογή του </a:t>
            </a:r>
            <a:r>
              <a:rPr lang="en-US" b="true" sz="1833" i="true">
                <a:solidFill>
                  <a:srgbClr val="695C4A"/>
                </a:solidFill>
                <a:latin typeface="Glacial Indifference Bold Italics"/>
                <a:ea typeface="Glacial Indifference Bold Italics"/>
                <a:cs typeface="Glacial Indifference Bold Italics"/>
                <a:sym typeface="Glacial Indifference Bold Italics"/>
              </a:rPr>
              <a:t>z</a:t>
            </a:r>
            <a:r>
              <a:rPr lang="en-US" sz="1833">
                <a:solidFill>
                  <a:srgbClr val="695C4A"/>
                </a:solidFill>
                <a:latin typeface="Glacial Indifference"/>
                <a:ea typeface="Glacial Indifference"/>
                <a:cs typeface="Glacial Indifference"/>
                <a:sym typeface="Glacial Indifference"/>
              </a:rPr>
              <a:t> γίνεται μέσω του </a:t>
            </a:r>
            <a:r>
              <a:rPr lang="en-US" b="true" sz="1833">
                <a:solidFill>
                  <a:srgbClr val="695C4A"/>
                </a:solidFill>
                <a:latin typeface="Glacial Indifference Bold"/>
                <a:ea typeface="Glacial Indifference Bold"/>
                <a:cs typeface="Glacial Indifference Bold"/>
                <a:sym typeface="Glacial Indifference Bold"/>
              </a:rPr>
              <a:t>reparameterization trick</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z=</a:t>
            </a:r>
            <a:r>
              <a:rPr lang="en-US" b="true" sz="1833" i="true">
                <a:solidFill>
                  <a:srgbClr val="695C4A"/>
                </a:solidFill>
                <a:latin typeface="Glacial Indifference Bold Italics"/>
                <a:ea typeface="Glacial Indifference Bold Italics"/>
                <a:cs typeface="Glacial Indifference Bold Italics"/>
                <a:sym typeface="Glacial Indifference Bold Italics"/>
              </a:rPr>
              <a:t>μ</a:t>
            </a:r>
            <a:r>
              <a:rPr lang="en-US" b="true" sz="1833">
                <a:solidFill>
                  <a:srgbClr val="695C4A"/>
                </a:solidFill>
                <a:latin typeface="Glacial Indifference Bold"/>
                <a:ea typeface="Glacial Indifference Bold"/>
                <a:cs typeface="Glacial Indifference Bold"/>
                <a:sym typeface="Glacial Indifference Bold"/>
              </a:rPr>
              <a:t>(x)+</a:t>
            </a:r>
            <a:r>
              <a:rPr lang="en-US" b="true" sz="1833" i="true">
                <a:solidFill>
                  <a:srgbClr val="695C4A"/>
                </a:solidFill>
                <a:latin typeface="Glacial Indifference Bold Italics"/>
                <a:ea typeface="Glacial Indifference Bold Italics"/>
                <a:cs typeface="Glacial Indifference Bold Italics"/>
                <a:sym typeface="Glacial Indifference Bold Italics"/>
              </a:rPr>
              <a:t>σ</a:t>
            </a:r>
            <a:r>
              <a:rPr lang="en-US" b="true" sz="1833">
                <a:solidFill>
                  <a:srgbClr val="695C4A"/>
                </a:solidFill>
                <a:latin typeface="Glacial Indifference Bold"/>
                <a:ea typeface="Glacial Indifference Bold"/>
                <a:cs typeface="Glacial Indifference Bold"/>
                <a:sym typeface="Glacial Indifference Bold"/>
              </a:rPr>
              <a:t>(x)⋅</a:t>
            </a:r>
            <a:r>
              <a:rPr lang="en-US" b="true" sz="1833" i="true">
                <a:solidFill>
                  <a:srgbClr val="695C4A"/>
                </a:solidFill>
                <a:latin typeface="Glacial Indifference Bold Italics"/>
                <a:ea typeface="Glacial Indifference Bold Italics"/>
                <a:cs typeface="Glacial Indifference Bold Italics"/>
                <a:sym typeface="Glacial Indifference Bold Italics"/>
              </a:rPr>
              <a:t>ϵ</a:t>
            </a:r>
            <a:r>
              <a:rPr lang="en-US" b="true" sz="1833">
                <a:solidFill>
                  <a:srgbClr val="695C4A"/>
                </a:solidFill>
                <a:latin typeface="Glacial Indifference Bold"/>
                <a:ea typeface="Glacial Indifference Bold"/>
                <a:cs typeface="Glacial Indifference Bold"/>
                <a:sym typeface="Glacial Indifference Bold"/>
              </a:rPr>
              <a:t>, </a:t>
            </a:r>
            <a:r>
              <a:rPr lang="en-US" b="true" sz="1833" i="true">
                <a:solidFill>
                  <a:srgbClr val="695C4A"/>
                </a:solidFill>
                <a:latin typeface="Glacial Indifference Bold Italics"/>
                <a:ea typeface="Glacial Indifference Bold Italics"/>
                <a:cs typeface="Glacial Indifference Bold Italics"/>
                <a:sym typeface="Glacial Indifference Bold Italics"/>
              </a:rPr>
              <a:t>ϵ</a:t>
            </a:r>
            <a:r>
              <a:rPr lang="en-US" b="true" sz="1833">
                <a:solidFill>
                  <a:srgbClr val="695C4A"/>
                </a:solidFill>
                <a:latin typeface="Glacial Indifference Bold"/>
                <a:ea typeface="Glacial Indifference Bold"/>
                <a:cs typeface="Glacial Indifference Bold"/>
                <a:sym typeface="Glacial Indifference Bold"/>
              </a:rPr>
              <a:t>∼N(0,I)</a:t>
            </a:r>
            <a:r>
              <a:rPr lang="en-US" sz="1833">
                <a:solidFill>
                  <a:srgbClr val="695C4A"/>
                </a:solidFill>
                <a:latin typeface="Glacial Indifference"/>
                <a:ea typeface="Glacial Indifference"/>
                <a:cs typeface="Glacial Indifference"/>
                <a:sym typeface="Glacial Indifference"/>
              </a:rPr>
              <a:t>), δηλαδή μέσω δειγματοληψίας  από τυχαίο θόρυβο </a:t>
            </a:r>
            <a:r>
              <a:rPr lang="en-US" b="true" sz="1833" i="true">
                <a:solidFill>
                  <a:srgbClr val="695C4A"/>
                </a:solidFill>
                <a:latin typeface="Glacial Indifference Bold Italics"/>
                <a:ea typeface="Glacial Indifference Bold Italics"/>
                <a:cs typeface="Glacial Indifference Bold Italics"/>
                <a:sym typeface="Glacial Indifference Bold Italics"/>
              </a:rPr>
              <a:t>ϵ</a:t>
            </a:r>
            <a:r>
              <a:rPr lang="en-US" sz="1833">
                <a:solidFill>
                  <a:srgbClr val="695C4A"/>
                </a:solidFill>
                <a:latin typeface="Glacial Indifference"/>
                <a:ea typeface="Glacial Indifference"/>
                <a:cs typeface="Glacial Indifference"/>
                <a:sym typeface="Glacial Indifference"/>
              </a:rPr>
              <a:t> που μετασχηματίζεται με βάση τη μέση τιμή και τη διασπορά, ώστε η διαδικασία να παραμένει διαφορίσιμη. Ουσιαστικά,</a:t>
            </a:r>
            <a:r>
              <a:rPr lang="en-US" sz="1833">
                <a:solidFill>
                  <a:srgbClr val="695C4A"/>
                </a:solidFill>
                <a:latin typeface="Glacial Indifference"/>
                <a:ea typeface="Glacial Indifference"/>
                <a:cs typeface="Glacial Indifference"/>
                <a:sym typeface="Glacial Indifference"/>
              </a:rPr>
              <a:t> υλοποιε</a:t>
            </a:r>
            <a:r>
              <a:rPr lang="en-US" sz="1833">
                <a:solidFill>
                  <a:srgbClr val="695C4A"/>
                </a:solidFill>
                <a:latin typeface="Glacial Indifference"/>
                <a:ea typeface="Glacial Indifference"/>
                <a:cs typeface="Glacial Indifference"/>
                <a:sym typeface="Glacial Indifference"/>
              </a:rPr>
              <a:t>ί την</a:t>
            </a:r>
            <a:r>
              <a:rPr lang="en-US" sz="1833">
                <a:solidFill>
                  <a:srgbClr val="695C4A"/>
                </a:solidFill>
                <a:latin typeface="Glacial Indifference"/>
                <a:ea typeface="Glacial Indifference"/>
                <a:cs typeface="Glacial Indifference"/>
                <a:sym typeface="Glacial Indifference"/>
              </a:rPr>
              <a:t> πιθαν</a:t>
            </a:r>
            <a:r>
              <a:rPr lang="en-US" sz="1833">
                <a:solidFill>
                  <a:srgbClr val="695C4A"/>
                </a:solidFill>
                <a:latin typeface="Glacial Indifference"/>
                <a:ea typeface="Glacial Indifference"/>
                <a:cs typeface="Glacial Indifference"/>
                <a:sym typeface="Glacial Indifference"/>
              </a:rPr>
              <a:t>ό</a:t>
            </a:r>
            <a:r>
              <a:rPr lang="en-US" sz="1833">
                <a:solidFill>
                  <a:srgbClr val="695C4A"/>
                </a:solidFill>
                <a:latin typeface="Glacial Indifference"/>
                <a:ea typeface="Glacial Indifference"/>
                <a:cs typeface="Glacial Indifference"/>
                <a:sym typeface="Glacial Indifference"/>
              </a:rPr>
              <a:t>τ</a:t>
            </a:r>
            <a:r>
              <a:rPr lang="en-US" sz="1833">
                <a:solidFill>
                  <a:srgbClr val="695C4A"/>
                </a:solidFill>
                <a:latin typeface="Glacial Indifference"/>
                <a:ea typeface="Glacial Indifference"/>
                <a:cs typeface="Glacial Indifference"/>
                <a:sym typeface="Glacial Indifference"/>
              </a:rPr>
              <a:t>η</a:t>
            </a:r>
            <a:r>
              <a:rPr lang="en-US" sz="1833">
                <a:solidFill>
                  <a:srgbClr val="695C4A"/>
                </a:solidFill>
                <a:latin typeface="Glacial Indifference"/>
                <a:ea typeface="Glacial Indifference"/>
                <a:cs typeface="Glacial Indifference"/>
                <a:sym typeface="Glacial Indifference"/>
              </a:rPr>
              <a:t>τα </a:t>
            </a:r>
            <a:r>
              <a:rPr lang="en-US" b="true" sz="1833">
                <a:solidFill>
                  <a:srgbClr val="695C4A"/>
                </a:solidFill>
                <a:latin typeface="Glacial Indifference Bold"/>
                <a:ea typeface="Glacial Indifference Bold"/>
                <a:cs typeface="Glacial Indifference Bold"/>
                <a:sym typeface="Glacial Indifference Bold"/>
              </a:rPr>
              <a:t>pθ​(</a:t>
            </a:r>
            <a:r>
              <a:rPr lang="en-US" b="true" sz="1833" i="true">
                <a:solidFill>
                  <a:srgbClr val="695C4A"/>
                </a:solidFill>
                <a:latin typeface="Glacial Indifference Bold Italics"/>
                <a:ea typeface="Glacial Indifference Bold Italics"/>
                <a:cs typeface="Glacial Indifference Bold Italics"/>
                <a:sym typeface="Glacial Indifference Bold Italics"/>
              </a:rPr>
              <a:t>x</a:t>
            </a:r>
            <a:r>
              <a:rPr lang="en-US" b="true" sz="1833">
                <a:solidFill>
                  <a:srgbClr val="695C4A"/>
                </a:solidFill>
                <a:latin typeface="Glacial Indifference Bold"/>
                <a:ea typeface="Glacial Indifference Bold"/>
                <a:cs typeface="Glacial Indifference Bold"/>
                <a:sym typeface="Glacial Indifference Bold"/>
              </a:rPr>
              <a:t>|</a:t>
            </a:r>
            <a:r>
              <a:rPr lang="en-US" b="true" sz="1833" i="true">
                <a:solidFill>
                  <a:srgbClr val="695C4A"/>
                </a:solidFill>
                <a:latin typeface="Glacial Indifference Bold Italics"/>
                <a:ea typeface="Glacial Indifference Bold Italics"/>
                <a:cs typeface="Glacial Indifference Bold Italics"/>
                <a:sym typeface="Glacial Indifference Bold Italics"/>
              </a:rPr>
              <a:t>z</a:t>
            </a:r>
            <a:r>
              <a:rPr lang="en-US" b="true" sz="1833">
                <a:solidFill>
                  <a:srgbClr val="695C4A"/>
                </a:solidFill>
                <a:latin typeface="Glacial Indifference Bold"/>
                <a:ea typeface="Glacial Indifference Bold"/>
                <a:cs typeface="Glacial Indifference Bold"/>
                <a:sym typeface="Glacial Indifference Bold"/>
              </a:rPr>
              <a:t>)</a:t>
            </a:r>
            <a:r>
              <a:rPr lang="en-US" sz="1833">
                <a:solidFill>
                  <a:srgbClr val="695C4A"/>
                </a:solidFill>
                <a:latin typeface="Glacial Indifference"/>
                <a:ea typeface="Glacial Indifference"/>
                <a:cs typeface="Glacial Indifference"/>
                <a:sym typeface="Glacial Indifference"/>
              </a:rPr>
              <a:t>, δηλαδή το γενετικό μοντέλο που «παράγει» δεδομένα από λανθάνουσες αναπαραστάσεις.</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Έτσι εξασφαλίζεται ότι ο</a:t>
            </a:r>
            <a:r>
              <a:rPr lang="en-US" b="true" sz="1833">
                <a:solidFill>
                  <a:srgbClr val="695C4A"/>
                </a:solidFill>
                <a:latin typeface="Glacial Indifference Bold"/>
                <a:ea typeface="Glacial Indifference Bold"/>
                <a:cs typeface="Glacial Indifference Bold"/>
                <a:sym typeface="Glacial Indifference Bold"/>
              </a:rPr>
              <a:t> λανθάνων χώρος</a:t>
            </a:r>
            <a:r>
              <a:rPr lang="en-US" sz="1833">
                <a:solidFill>
                  <a:srgbClr val="695C4A"/>
                </a:solidFill>
                <a:latin typeface="Glacial Indifference"/>
                <a:ea typeface="Glacial Indifference"/>
                <a:cs typeface="Glacial Indifference"/>
                <a:sym typeface="Glacial Indifference"/>
              </a:rPr>
              <a:t> είναι </a:t>
            </a:r>
            <a:r>
              <a:rPr lang="en-US" b="true" sz="1833">
                <a:solidFill>
                  <a:srgbClr val="695C4A"/>
                </a:solidFill>
                <a:latin typeface="Glacial Indifference Bold"/>
                <a:ea typeface="Glacial Indifference Bold"/>
                <a:cs typeface="Glacial Indifference Bold"/>
                <a:sym typeface="Glacial Indifference Bold"/>
              </a:rPr>
              <a:t>συνεχής </a:t>
            </a:r>
            <a:r>
              <a:rPr lang="en-US" sz="1833">
                <a:solidFill>
                  <a:srgbClr val="695C4A"/>
                </a:solidFill>
                <a:latin typeface="Glacial Indifference"/>
                <a:ea typeface="Glacial Indifference"/>
                <a:cs typeface="Glacial Indifference"/>
                <a:sym typeface="Glacial Indifference"/>
              </a:rPr>
              <a:t>και </a:t>
            </a:r>
            <a:r>
              <a:rPr lang="en-US" b="true" sz="1833">
                <a:solidFill>
                  <a:srgbClr val="695C4A"/>
                </a:solidFill>
                <a:latin typeface="Glacial Indifference Bold"/>
                <a:ea typeface="Glacial Indifference Bold"/>
                <a:cs typeface="Glacial Indifference Bold"/>
                <a:sym typeface="Glacial Indifference Bold"/>
              </a:rPr>
              <a:t>κανονικοποιημένος</a:t>
            </a:r>
            <a:r>
              <a:rPr lang="en-US" sz="1833">
                <a:solidFill>
                  <a:srgbClr val="695C4A"/>
                </a:solidFill>
                <a:latin typeface="Glacial Indifference"/>
                <a:ea typeface="Glacial Indifference"/>
                <a:cs typeface="Glacial Indifference"/>
                <a:sym typeface="Glacial Indifference"/>
              </a:rPr>
              <a:t>, διευκολύνοντας το DANN να βρει ενδιάμεσες αναπαραστάσεις που είναι </a:t>
            </a:r>
            <a:r>
              <a:rPr lang="en-US" b="true" sz="1833">
                <a:solidFill>
                  <a:srgbClr val="695C4A"/>
                </a:solidFill>
                <a:latin typeface="Glacial Indifference Bold"/>
                <a:ea typeface="Glacial Indifference Bold"/>
                <a:cs typeface="Glacial Indifference Bold"/>
                <a:sym typeface="Glacial Indifference Bold"/>
              </a:rPr>
              <a:t>περισσότερο invariant ως προς το domain</a:t>
            </a:r>
            <a:r>
              <a:rPr lang="en-US" sz="1833">
                <a:solidFill>
                  <a:srgbClr val="695C4A"/>
                </a:solidFill>
                <a:latin typeface="Glacial Indifference"/>
                <a:ea typeface="Glacial Indifference"/>
                <a:cs typeface="Glacial Indifference"/>
                <a:sym typeface="Glacial Indifference"/>
              </a:rPr>
              <a:t>.</a:t>
            </a:r>
          </a:p>
          <a:p>
            <a:pPr algn="l">
              <a:lnSpc>
                <a:spcPts val="2567"/>
              </a:lnSpc>
            </a:pPr>
          </a:p>
        </p:txBody>
      </p:sp>
      <p:sp>
        <p:nvSpPr>
          <p:cNvPr name="TextBox 12" id="12"/>
          <p:cNvSpPr txBox="true"/>
          <p:nvPr/>
        </p:nvSpPr>
        <p:spPr>
          <a:xfrm rot="0">
            <a:off x="6875854" y="6598819"/>
            <a:ext cx="4715716" cy="1934621"/>
          </a:xfrm>
          <a:prstGeom prst="rect">
            <a:avLst/>
          </a:prstGeom>
        </p:spPr>
        <p:txBody>
          <a:bodyPr anchor="t" rtlCol="false" tIns="0" lIns="0" bIns="0" rIns="0">
            <a:spAutoFit/>
          </a:bodyPr>
          <a:lstStyle/>
          <a:p>
            <a:pPr algn="l">
              <a:lnSpc>
                <a:spcPts val="2567"/>
              </a:lnSpc>
            </a:pPr>
            <a:r>
              <a:rPr lang="en-US" sz="1833">
                <a:solidFill>
                  <a:srgbClr val="695C4A"/>
                </a:solidFill>
                <a:latin typeface="Glacial Indifference"/>
                <a:ea typeface="Glacial Indifference"/>
                <a:cs typeface="Glacial Indifference"/>
                <a:sym typeface="Glacial Indifference"/>
              </a:rPr>
              <a:t>Ο VA</a:t>
            </a:r>
            <a:r>
              <a:rPr lang="en-US" sz="1833">
                <a:solidFill>
                  <a:srgbClr val="695C4A"/>
                </a:solidFill>
                <a:latin typeface="Glacial Indifference"/>
                <a:ea typeface="Glacial Indifference"/>
                <a:cs typeface="Glacial Indifference"/>
                <a:sym typeface="Glacial Indifference"/>
              </a:rPr>
              <a:t>E</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ε</a:t>
            </a:r>
            <a:r>
              <a:rPr lang="en-US" sz="1833">
                <a:solidFill>
                  <a:srgbClr val="695C4A"/>
                </a:solidFill>
                <a:latin typeface="Glacial Indifference"/>
                <a:ea typeface="Glacial Indifference"/>
                <a:cs typeface="Glacial Indifference"/>
                <a:sym typeface="Glacial Indifference"/>
              </a:rPr>
              <a:t>κπαιδεύεται ε</a:t>
            </a:r>
            <a:r>
              <a:rPr lang="en-US" sz="1833">
                <a:solidFill>
                  <a:srgbClr val="695C4A"/>
                </a:solidFill>
                <a:latin typeface="Glacial Indifference"/>
                <a:ea typeface="Glacial Indifference"/>
                <a:cs typeface="Glacial Indifference"/>
                <a:sym typeface="Glacial Indifference"/>
              </a:rPr>
              <a:t>λαχιστ</a:t>
            </a:r>
            <a:r>
              <a:rPr lang="en-US" sz="1833">
                <a:solidFill>
                  <a:srgbClr val="695C4A"/>
                </a:solidFill>
                <a:latin typeface="Glacial Indifference"/>
                <a:ea typeface="Glacial Indifference"/>
                <a:cs typeface="Glacial Indifference"/>
                <a:sym typeface="Glacial Indifference"/>
              </a:rPr>
              <a:t>οποιώ</a:t>
            </a:r>
            <a:r>
              <a:rPr lang="en-US" sz="1833">
                <a:solidFill>
                  <a:srgbClr val="695C4A"/>
                </a:solidFill>
                <a:latin typeface="Glacial Indifference"/>
                <a:ea typeface="Glacial Indifference"/>
                <a:cs typeface="Glacial Indifference"/>
                <a:sym typeface="Glacial Indifference"/>
              </a:rPr>
              <a:t>ν</a:t>
            </a:r>
            <a:r>
              <a:rPr lang="en-US" sz="1833">
                <a:solidFill>
                  <a:srgbClr val="695C4A"/>
                </a:solidFill>
                <a:latin typeface="Glacial Indifference"/>
                <a:ea typeface="Glacial Indifference"/>
                <a:cs typeface="Glacial Indifference"/>
                <a:sym typeface="Glacial Indifference"/>
              </a:rPr>
              <a:t>τας το</a:t>
            </a:r>
            <a:r>
              <a:rPr lang="en-US" sz="1833">
                <a:solidFill>
                  <a:srgbClr val="695C4A"/>
                </a:solidFill>
                <a:latin typeface="Glacial Indifference"/>
                <a:ea typeface="Glacial Indifference"/>
                <a:cs typeface="Glacial Indifference"/>
                <a:sym typeface="Glacial Indifference"/>
              </a:rPr>
              <a:t> </a:t>
            </a:r>
            <a:r>
              <a:rPr lang="en-US" sz="1833" b="true">
                <a:solidFill>
                  <a:srgbClr val="695C4A"/>
                </a:solidFill>
                <a:latin typeface="Glacial Indifference Bold"/>
                <a:ea typeface="Glacial Indifference Bold"/>
                <a:cs typeface="Glacial Indifference Bold"/>
                <a:sym typeface="Glacial Indifference Bold"/>
              </a:rPr>
              <a:t>reconstruction loss</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πι</a:t>
            </a:r>
            <a:r>
              <a:rPr lang="en-US" sz="1833">
                <a:solidFill>
                  <a:srgbClr val="695C4A"/>
                </a:solidFill>
                <a:latin typeface="Glacial Indifference"/>
                <a:ea typeface="Glacial Indifference"/>
                <a:cs typeface="Glacial Indifference"/>
                <a:sym typeface="Glacial Indifference"/>
              </a:rPr>
              <a:t>σ</a:t>
            </a:r>
            <a:r>
              <a:rPr lang="en-US" sz="1833">
                <a:solidFill>
                  <a:srgbClr val="695C4A"/>
                </a:solidFill>
                <a:latin typeface="Glacial Indifference"/>
                <a:ea typeface="Glacial Indifference"/>
                <a:cs typeface="Glacial Indifference"/>
                <a:sym typeface="Glacial Indifference"/>
              </a:rPr>
              <a:t>τή </a:t>
            </a:r>
            <a:r>
              <a:rPr lang="en-US" sz="1833">
                <a:solidFill>
                  <a:srgbClr val="695C4A"/>
                </a:solidFill>
                <a:latin typeface="Glacial Indifference"/>
                <a:ea typeface="Glacial Indifference"/>
                <a:cs typeface="Glacial Indifference"/>
                <a:sym typeface="Glacial Indifference"/>
              </a:rPr>
              <a:t>ανα</a:t>
            </a:r>
            <a:r>
              <a:rPr lang="en-US" sz="1833">
                <a:solidFill>
                  <a:srgbClr val="695C4A"/>
                </a:solidFill>
                <a:latin typeface="Glacial Indifference"/>
                <a:ea typeface="Glacial Indifference"/>
                <a:cs typeface="Glacial Indifference"/>
                <a:sym typeface="Glacial Indifference"/>
              </a:rPr>
              <a:t>κατα</a:t>
            </a:r>
            <a:r>
              <a:rPr lang="en-US" sz="1833">
                <a:solidFill>
                  <a:srgbClr val="695C4A"/>
                </a:solidFill>
                <a:latin typeface="Glacial Indifference"/>
                <a:ea typeface="Glacial Indifference"/>
                <a:cs typeface="Glacial Indifference"/>
                <a:sym typeface="Glacial Indifference"/>
              </a:rPr>
              <a:t>σκευ</a:t>
            </a:r>
            <a:r>
              <a:rPr lang="en-US" sz="1833">
                <a:solidFill>
                  <a:srgbClr val="695C4A"/>
                </a:solidFill>
                <a:latin typeface="Glacial Indifference"/>
                <a:ea typeface="Glacial Indifference"/>
                <a:cs typeface="Glacial Indifference"/>
                <a:sym typeface="Glacial Indifference"/>
              </a:rPr>
              <a:t>ή)</a:t>
            </a:r>
            <a:r>
              <a:rPr lang="en-US" sz="1833">
                <a:solidFill>
                  <a:srgbClr val="695C4A"/>
                </a:solidFill>
                <a:latin typeface="Glacial Indifference"/>
                <a:ea typeface="Glacial Indifference"/>
                <a:cs typeface="Glacial Indifference"/>
                <a:sym typeface="Glacial Indifference"/>
              </a:rPr>
              <a:t> και </a:t>
            </a:r>
            <a:r>
              <a:rPr lang="en-US" sz="1833" b="true">
                <a:solidFill>
                  <a:srgbClr val="695C4A"/>
                </a:solidFill>
                <a:latin typeface="Glacial Indifference Bold"/>
                <a:ea typeface="Glacial Indifference Bold"/>
                <a:cs typeface="Glacial Indifference Bold"/>
                <a:sym typeface="Glacial Indifference Bold"/>
              </a:rPr>
              <a:t>KL-divergence</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(κανονικοποίηση του λανθάνοντα χώρου), με τον υπερπαράμετρο </a:t>
            </a:r>
            <a:r>
              <a:rPr lang="en-US" sz="1833" i="true" b="true">
                <a:solidFill>
                  <a:srgbClr val="695C4A"/>
                </a:solidFill>
                <a:latin typeface="Glacial Indifference Bold Italics"/>
                <a:ea typeface="Glacial Indifference Bold Italics"/>
                <a:cs typeface="Glacial Indifference Bold Italics"/>
                <a:sym typeface="Glacial Indifference Bold Italics"/>
              </a:rPr>
              <a:t>β</a:t>
            </a:r>
            <a:r>
              <a:rPr lang="en-US" sz="1833">
                <a:solidFill>
                  <a:srgbClr val="695C4A"/>
                </a:solidFill>
                <a:latin typeface="Glacial Indifference"/>
                <a:ea typeface="Glacial Indifference"/>
                <a:cs typeface="Glacial Indifference"/>
                <a:sym typeface="Glacial Indifference"/>
              </a:rPr>
              <a:t> να ελ</a:t>
            </a:r>
            <a:r>
              <a:rPr lang="en-US" sz="1833">
                <a:solidFill>
                  <a:srgbClr val="695C4A"/>
                </a:solidFill>
                <a:latin typeface="Glacial Indifference"/>
                <a:ea typeface="Glacial Indifference"/>
                <a:cs typeface="Glacial Indifference"/>
                <a:sym typeface="Glacial Indifference"/>
              </a:rPr>
              <a:t>έ</a:t>
            </a:r>
            <a:r>
              <a:rPr lang="en-US" sz="1833">
                <a:solidFill>
                  <a:srgbClr val="695C4A"/>
                </a:solidFill>
                <a:latin typeface="Glacial Indifference"/>
                <a:ea typeface="Glacial Indifference"/>
                <a:cs typeface="Glacial Indifference"/>
                <a:sym typeface="Glacial Indifference"/>
              </a:rPr>
              <a:t>γχει</a:t>
            </a:r>
            <a:r>
              <a:rPr lang="en-US" sz="1833">
                <a:solidFill>
                  <a:srgbClr val="695C4A"/>
                </a:solidFill>
                <a:latin typeface="Glacial Indifference"/>
                <a:ea typeface="Glacial Indifference"/>
                <a:cs typeface="Glacial Indifference"/>
                <a:sym typeface="Glacial Indifference"/>
              </a:rPr>
              <a:t> τ</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 </a:t>
            </a:r>
            <a:r>
              <a:rPr lang="en-US" sz="1833" b="true">
                <a:solidFill>
                  <a:srgbClr val="695C4A"/>
                </a:solidFill>
                <a:latin typeface="Glacial Indifference Bold"/>
                <a:ea typeface="Glacial Indifference Bold"/>
                <a:cs typeface="Glacial Indifference Bold"/>
                <a:sym typeface="Glacial Indifference Bold"/>
              </a:rPr>
              <a:t>βάρος του KL</a:t>
            </a:r>
            <a:r>
              <a:rPr lang="en-US" sz="1833">
                <a:solidFill>
                  <a:srgbClr val="695C4A"/>
                </a:solidFill>
                <a:latin typeface="Glacial Indifference"/>
                <a:ea typeface="Glacial Indifference"/>
                <a:cs typeface="Glacial Indifference"/>
                <a:sym typeface="Glacial Indifference"/>
              </a:rPr>
              <a:t>.</a:t>
            </a:r>
          </a:p>
        </p:txBody>
      </p:sp>
      <p:sp>
        <p:nvSpPr>
          <p:cNvPr name="Freeform 13" id="13"/>
          <p:cNvSpPr/>
          <p:nvPr/>
        </p:nvSpPr>
        <p:spPr>
          <a:xfrm flipH="true" flipV="true" rot="-8100000">
            <a:off x="-10070236" y="-963662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8">
              <a:alphaModFix amt="6999"/>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true" rot="-9388001">
            <a:off x="14012573" y="261872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8">
              <a:alphaModFix amt="6999"/>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7025914" y="5886593"/>
            <a:ext cx="10939809" cy="4043563"/>
            <a:chOff x="0" y="0"/>
            <a:chExt cx="3484654" cy="1287995"/>
          </a:xfrm>
        </p:grpSpPr>
        <p:sp>
          <p:nvSpPr>
            <p:cNvPr name="Freeform 3" id="3"/>
            <p:cNvSpPr/>
            <p:nvPr/>
          </p:nvSpPr>
          <p:spPr>
            <a:xfrm flipH="false" flipV="false" rot="0">
              <a:off x="0" y="0"/>
              <a:ext cx="3484654" cy="1287995"/>
            </a:xfrm>
            <a:custGeom>
              <a:avLst/>
              <a:gdLst/>
              <a:ahLst/>
              <a:cxnLst/>
              <a:rect r="r" b="b" t="t" l="l"/>
              <a:pathLst>
                <a:path h="1287995" w="3484654">
                  <a:moveTo>
                    <a:pt x="70768" y="0"/>
                  </a:moveTo>
                  <a:lnTo>
                    <a:pt x="3413886" y="0"/>
                  </a:lnTo>
                  <a:cubicBezTo>
                    <a:pt x="3452970" y="0"/>
                    <a:pt x="3484654" y="31684"/>
                    <a:pt x="3484654" y="70768"/>
                  </a:cubicBezTo>
                  <a:lnTo>
                    <a:pt x="3484654" y="1217226"/>
                  </a:lnTo>
                  <a:cubicBezTo>
                    <a:pt x="3484654" y="1256311"/>
                    <a:pt x="3452970" y="1287995"/>
                    <a:pt x="3413886" y="1287995"/>
                  </a:cubicBezTo>
                  <a:lnTo>
                    <a:pt x="70768" y="1287995"/>
                  </a:lnTo>
                  <a:cubicBezTo>
                    <a:pt x="31684" y="1287995"/>
                    <a:pt x="0" y="1256311"/>
                    <a:pt x="0" y="1217226"/>
                  </a:cubicBezTo>
                  <a:lnTo>
                    <a:pt x="0" y="70768"/>
                  </a:lnTo>
                  <a:cubicBezTo>
                    <a:pt x="0" y="31684"/>
                    <a:pt x="31684" y="0"/>
                    <a:pt x="70768" y="0"/>
                  </a:cubicBezTo>
                  <a:close/>
                </a:path>
              </a:pathLst>
            </a:custGeom>
            <a:solidFill>
              <a:srgbClr val="A69C8E">
                <a:alpha val="11765"/>
              </a:srgbClr>
            </a:solidFill>
          </p:spPr>
        </p:sp>
        <p:sp>
          <p:nvSpPr>
            <p:cNvPr name="TextBox 4" id="4"/>
            <p:cNvSpPr txBox="true"/>
            <p:nvPr/>
          </p:nvSpPr>
          <p:spPr>
            <a:xfrm>
              <a:off x="0" y="-57150"/>
              <a:ext cx="3484654" cy="134514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2298588" y="5968740"/>
            <a:ext cx="5306802" cy="3961416"/>
          </a:xfrm>
          <a:custGeom>
            <a:avLst/>
            <a:gdLst/>
            <a:ahLst/>
            <a:cxnLst/>
            <a:rect r="r" b="b" t="t" l="l"/>
            <a:pathLst>
              <a:path h="3961416" w="5306802">
                <a:moveTo>
                  <a:pt x="0" y="0"/>
                </a:moveTo>
                <a:lnTo>
                  <a:pt x="5306802" y="0"/>
                </a:lnTo>
                <a:lnTo>
                  <a:pt x="5306802" y="3961416"/>
                </a:lnTo>
                <a:lnTo>
                  <a:pt x="0" y="3961416"/>
                </a:lnTo>
                <a:lnTo>
                  <a:pt x="0" y="0"/>
                </a:lnTo>
                <a:close/>
              </a:path>
            </a:pathLst>
          </a:custGeom>
          <a:blipFill>
            <a:blip r:embed="rId2"/>
            <a:stretch>
              <a:fillRect l="0" t="0" r="0" b="0"/>
            </a:stretch>
          </a:blipFill>
        </p:spPr>
      </p:sp>
      <p:sp>
        <p:nvSpPr>
          <p:cNvPr name="Freeform 6" id="6"/>
          <p:cNvSpPr/>
          <p:nvPr/>
        </p:nvSpPr>
        <p:spPr>
          <a:xfrm flipH="false" flipV="false" rot="0">
            <a:off x="7186340" y="6041356"/>
            <a:ext cx="5112248" cy="3816185"/>
          </a:xfrm>
          <a:custGeom>
            <a:avLst/>
            <a:gdLst/>
            <a:ahLst/>
            <a:cxnLst/>
            <a:rect r="r" b="b" t="t" l="l"/>
            <a:pathLst>
              <a:path h="3816185" w="5112248">
                <a:moveTo>
                  <a:pt x="0" y="0"/>
                </a:moveTo>
                <a:lnTo>
                  <a:pt x="5112248" y="0"/>
                </a:lnTo>
                <a:lnTo>
                  <a:pt x="5112248" y="3816185"/>
                </a:lnTo>
                <a:lnTo>
                  <a:pt x="0" y="3816185"/>
                </a:lnTo>
                <a:lnTo>
                  <a:pt x="0" y="0"/>
                </a:lnTo>
                <a:close/>
              </a:path>
            </a:pathLst>
          </a:custGeom>
          <a:blipFill>
            <a:blip r:embed="rId3"/>
            <a:stretch>
              <a:fillRect l="0" t="0" r="0" b="0"/>
            </a:stretch>
          </a:blipFill>
        </p:spPr>
      </p:sp>
      <p:sp>
        <p:nvSpPr>
          <p:cNvPr name="Freeform 7" id="7"/>
          <p:cNvSpPr/>
          <p:nvPr/>
        </p:nvSpPr>
        <p:spPr>
          <a:xfrm flipH="false" flipV="false" rot="0">
            <a:off x="2063581" y="503305"/>
            <a:ext cx="5091373" cy="525395"/>
          </a:xfrm>
          <a:custGeom>
            <a:avLst/>
            <a:gdLst/>
            <a:ahLst/>
            <a:cxnLst/>
            <a:rect r="r" b="b" t="t" l="l"/>
            <a:pathLst>
              <a:path h="525395" w="5091373">
                <a:moveTo>
                  <a:pt x="0" y="0"/>
                </a:moveTo>
                <a:lnTo>
                  <a:pt x="5091373" y="0"/>
                </a:lnTo>
                <a:lnTo>
                  <a:pt x="5091373" y="525395"/>
                </a:lnTo>
                <a:lnTo>
                  <a:pt x="0" y="525395"/>
                </a:lnTo>
                <a:lnTo>
                  <a:pt x="0" y="0"/>
                </a:lnTo>
                <a:close/>
              </a:path>
            </a:pathLst>
          </a:custGeom>
          <a:blipFill>
            <a:blip r:embed="rId4"/>
            <a:stretch>
              <a:fillRect l="-33554" t="-39884" r="-30457" b="-25012"/>
            </a:stretch>
          </a:blipFill>
        </p:spPr>
      </p:sp>
      <p:grpSp>
        <p:nvGrpSpPr>
          <p:cNvPr name="Group 8" id="8"/>
          <p:cNvGrpSpPr/>
          <p:nvPr/>
        </p:nvGrpSpPr>
        <p:grpSpPr>
          <a:xfrm rot="0">
            <a:off x="503726" y="1028700"/>
            <a:ext cx="8640274" cy="2881366"/>
            <a:chOff x="0" y="0"/>
            <a:chExt cx="2752184" cy="917801"/>
          </a:xfrm>
        </p:grpSpPr>
        <p:sp>
          <p:nvSpPr>
            <p:cNvPr name="Freeform 9" id="9"/>
            <p:cNvSpPr/>
            <p:nvPr/>
          </p:nvSpPr>
          <p:spPr>
            <a:xfrm flipH="false" flipV="false" rot="0">
              <a:off x="0" y="0"/>
              <a:ext cx="2752184" cy="917801"/>
            </a:xfrm>
            <a:custGeom>
              <a:avLst/>
              <a:gdLst/>
              <a:ahLst/>
              <a:cxnLst/>
              <a:rect r="r" b="b" t="t" l="l"/>
              <a:pathLst>
                <a:path h="917801" w="2752184">
                  <a:moveTo>
                    <a:pt x="89603" y="0"/>
                  </a:moveTo>
                  <a:lnTo>
                    <a:pt x="2662581" y="0"/>
                  </a:lnTo>
                  <a:cubicBezTo>
                    <a:pt x="2712067" y="0"/>
                    <a:pt x="2752184" y="40117"/>
                    <a:pt x="2752184" y="89603"/>
                  </a:cubicBezTo>
                  <a:lnTo>
                    <a:pt x="2752184" y="828198"/>
                  </a:lnTo>
                  <a:cubicBezTo>
                    <a:pt x="2752184" y="877684"/>
                    <a:pt x="2712067" y="917801"/>
                    <a:pt x="2662581" y="917801"/>
                  </a:cubicBezTo>
                  <a:lnTo>
                    <a:pt x="89603" y="917801"/>
                  </a:lnTo>
                  <a:cubicBezTo>
                    <a:pt x="40117" y="917801"/>
                    <a:pt x="0" y="877684"/>
                    <a:pt x="0" y="828198"/>
                  </a:cubicBezTo>
                  <a:lnTo>
                    <a:pt x="0" y="89603"/>
                  </a:lnTo>
                  <a:cubicBezTo>
                    <a:pt x="0" y="40117"/>
                    <a:pt x="40117" y="0"/>
                    <a:pt x="89603" y="0"/>
                  </a:cubicBezTo>
                  <a:close/>
                </a:path>
              </a:pathLst>
            </a:custGeom>
            <a:solidFill>
              <a:srgbClr val="A69C8E">
                <a:alpha val="11765"/>
              </a:srgbClr>
            </a:solidFill>
          </p:spPr>
        </p:sp>
        <p:sp>
          <p:nvSpPr>
            <p:cNvPr name="TextBox 10" id="10"/>
            <p:cNvSpPr txBox="true"/>
            <p:nvPr/>
          </p:nvSpPr>
          <p:spPr>
            <a:xfrm>
              <a:off x="0" y="-57150"/>
              <a:ext cx="2752184" cy="974951"/>
            </a:xfrm>
            <a:prstGeom prst="rect">
              <a:avLst/>
            </a:prstGeom>
          </p:spPr>
          <p:txBody>
            <a:bodyPr anchor="ctr" rtlCol="false" tIns="50800" lIns="50800" bIns="50800" rIns="50800"/>
            <a:lstStyle/>
            <a:p>
              <a:pPr algn="ctr">
                <a:lnSpc>
                  <a:spcPts val="3359"/>
                </a:lnSpc>
              </a:pPr>
            </a:p>
          </p:txBody>
        </p:sp>
      </p:grpSp>
      <p:sp>
        <p:nvSpPr>
          <p:cNvPr name="Freeform 11" id="11"/>
          <p:cNvSpPr/>
          <p:nvPr/>
        </p:nvSpPr>
        <p:spPr>
          <a:xfrm flipH="false" flipV="false" rot="0">
            <a:off x="917284" y="1278447"/>
            <a:ext cx="7808448" cy="2381873"/>
          </a:xfrm>
          <a:custGeom>
            <a:avLst/>
            <a:gdLst/>
            <a:ahLst/>
            <a:cxnLst/>
            <a:rect r="r" b="b" t="t" l="l"/>
            <a:pathLst>
              <a:path h="2381873" w="7808448">
                <a:moveTo>
                  <a:pt x="0" y="0"/>
                </a:moveTo>
                <a:lnTo>
                  <a:pt x="7808447" y="0"/>
                </a:lnTo>
                <a:lnTo>
                  <a:pt x="7808447" y="2381873"/>
                </a:lnTo>
                <a:lnTo>
                  <a:pt x="0" y="2381873"/>
                </a:lnTo>
                <a:lnTo>
                  <a:pt x="0" y="0"/>
                </a:lnTo>
                <a:close/>
              </a:path>
            </a:pathLst>
          </a:custGeom>
          <a:blipFill>
            <a:blip r:embed="rId5"/>
            <a:stretch>
              <a:fillRect l="-23873" t="0" r="0" b="0"/>
            </a:stretch>
          </a:blipFill>
        </p:spPr>
      </p:sp>
      <p:sp>
        <p:nvSpPr>
          <p:cNvPr name="TextBox 12" id="12"/>
          <p:cNvSpPr txBox="true"/>
          <p:nvPr/>
        </p:nvSpPr>
        <p:spPr>
          <a:xfrm rot="0">
            <a:off x="685819" y="4013424"/>
            <a:ext cx="8276088" cy="1130076"/>
          </a:xfrm>
          <a:prstGeom prst="rect">
            <a:avLst/>
          </a:prstGeom>
        </p:spPr>
        <p:txBody>
          <a:bodyPr anchor="t" rtlCol="false" tIns="0" lIns="0" bIns="0" rIns="0">
            <a:spAutoFit/>
          </a:bodyPr>
          <a:lstStyle/>
          <a:p>
            <a:pPr algn="l">
              <a:lnSpc>
                <a:spcPts val="2287"/>
              </a:lnSpc>
              <a:spcBef>
                <a:spcPct val="0"/>
              </a:spcBef>
            </a:pPr>
            <a:r>
              <a:rPr lang="en-US" sz="1633">
                <a:solidFill>
                  <a:srgbClr val="695C4A"/>
                </a:solidFill>
                <a:latin typeface="Glacial Indifference"/>
                <a:ea typeface="Glacial Indifference"/>
                <a:cs typeface="Glacial Indifference"/>
                <a:sym typeface="Glacial Indifference"/>
              </a:rPr>
              <a:t>Το DANN και ο VAE εκπαιδεύτηκαν </a:t>
            </a:r>
            <a:r>
              <a:rPr lang="en-US" b="true" sz="1633">
                <a:solidFill>
                  <a:srgbClr val="695C4A"/>
                </a:solidFill>
                <a:latin typeface="Glacial Indifference Bold"/>
                <a:ea typeface="Glacial Indifference Bold"/>
                <a:cs typeface="Glacial Indifference Bold"/>
                <a:sym typeface="Glacial Indifference Bold"/>
              </a:rPr>
              <a:t>ταυτόχρονα</a:t>
            </a:r>
            <a:r>
              <a:rPr lang="en-US" sz="1633">
                <a:solidFill>
                  <a:srgbClr val="695C4A"/>
                </a:solidFill>
                <a:latin typeface="Glacial Indifference"/>
                <a:ea typeface="Glacial Indifference"/>
                <a:cs typeface="Glacial Indifference"/>
                <a:sym typeface="Glacial Indifference"/>
              </a:rPr>
              <a:t> για</a:t>
            </a:r>
            <a:r>
              <a:rPr lang="en-US" b="true" sz="1633">
                <a:solidFill>
                  <a:srgbClr val="695C4A"/>
                </a:solidFill>
                <a:latin typeface="Glacial Indifference Bold"/>
                <a:ea typeface="Glacial Indifference Bold"/>
                <a:cs typeface="Glacial Indifference Bold"/>
                <a:sym typeface="Glacial Indifference Bold"/>
              </a:rPr>
              <a:t> 100 εποχές</a:t>
            </a:r>
            <a:r>
              <a:rPr lang="en-US" sz="1633">
                <a:solidFill>
                  <a:srgbClr val="695C4A"/>
                </a:solidFill>
                <a:latin typeface="Glacial Indifference"/>
                <a:ea typeface="Glacial Indifference"/>
                <a:cs typeface="Glacial Indifference"/>
                <a:sym typeface="Glacial Indifference"/>
              </a:rPr>
              <a:t>, με ρυθμό μάθησης </a:t>
            </a:r>
            <a:r>
              <a:rPr lang="en-US" b="true" sz="1633">
                <a:solidFill>
                  <a:srgbClr val="695C4A"/>
                </a:solidFill>
                <a:latin typeface="Glacial Indifference Bold"/>
                <a:ea typeface="Glacial Indifference Bold"/>
                <a:cs typeface="Glacial Indifference Bold"/>
                <a:sym typeface="Glacial Indifference Bold"/>
              </a:rPr>
              <a:t>η = 0.001,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λ=</a:t>
            </a:r>
            <a:r>
              <a:rPr lang="en-US" b="true" sz="1633">
                <a:solidFill>
                  <a:srgbClr val="695C4A"/>
                </a:solidFill>
                <a:latin typeface="Glacial Indifference Bold"/>
                <a:ea typeface="Glacial Indifference Bold"/>
                <a:cs typeface="Glacial Indifference Bold"/>
                <a:sym typeface="Glacial Indifference Bold"/>
              </a:rPr>
              <a:t>0.2 </a:t>
            </a:r>
            <a:r>
              <a:rPr lang="en-US" sz="1633">
                <a:solidFill>
                  <a:srgbClr val="695C4A"/>
                </a:solidFill>
                <a:latin typeface="Glacial Indifference"/>
                <a:ea typeface="Glacial Indifference"/>
                <a:cs typeface="Glacial Indifference"/>
                <a:sym typeface="Glacial Indifference"/>
              </a:rPr>
              <a:t>και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β</a:t>
            </a:r>
            <a:r>
              <a:rPr lang="en-US" b="true" sz="1633">
                <a:solidFill>
                  <a:srgbClr val="695C4A"/>
                </a:solidFill>
                <a:latin typeface="Glacial Indifference Bold"/>
                <a:ea typeface="Glacial Indifference Bold"/>
                <a:cs typeface="Glacial Indifference Bold"/>
                <a:sym typeface="Glacial Indifference Bold"/>
              </a:rPr>
              <a:t>=1.0. </a:t>
            </a:r>
            <a:r>
              <a:rPr lang="en-US" sz="1633">
                <a:solidFill>
                  <a:srgbClr val="695C4A"/>
                </a:solidFill>
                <a:latin typeface="Glacial Indifference"/>
                <a:ea typeface="Glacial Indifference"/>
                <a:cs typeface="Glacial Indifference"/>
                <a:sym typeface="Glacial Indifference"/>
              </a:rPr>
              <a:t>Επίσης, το αρνητικό διάνυσμα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α</a:t>
            </a:r>
            <a:r>
              <a:rPr lang="en-US" sz="1633">
                <a:solidFill>
                  <a:srgbClr val="695C4A"/>
                </a:solidFill>
                <a:latin typeface="Glacial Indifference"/>
                <a:ea typeface="Glacial Indifference"/>
                <a:cs typeface="Glacial Indifference"/>
                <a:sym typeface="Glacial Indifference"/>
              </a:rPr>
              <a:t> με το οποίο πολλαπλασιάζεται το gradient στο GRL </a:t>
            </a:r>
            <a:r>
              <a:rPr lang="en-US" b="true" sz="1633">
                <a:solidFill>
                  <a:srgbClr val="695C4A"/>
                </a:solidFill>
                <a:latin typeface="Glacial Indifference Bold"/>
                <a:ea typeface="Glacial Indifference Bold"/>
                <a:cs typeface="Glacial Indifference Bold"/>
                <a:sym typeface="Glacial Indifference Bold"/>
              </a:rPr>
              <a:t>αυξάνεται εκθετικά </a:t>
            </a:r>
            <a:r>
              <a:rPr lang="en-US" sz="1633">
                <a:solidFill>
                  <a:srgbClr val="695C4A"/>
                </a:solidFill>
                <a:latin typeface="Glacial Indifference"/>
                <a:ea typeface="Glacial Indifference"/>
                <a:cs typeface="Glacial Indifference"/>
                <a:sym typeface="Glacial Indifference"/>
              </a:rPr>
              <a:t>κατά τη διάρκεια της εκπαίδευσης </a:t>
            </a:r>
            <a:r>
              <a:rPr lang="en-US" b="true" sz="1633">
                <a:solidFill>
                  <a:srgbClr val="695C4A"/>
                </a:solidFill>
                <a:latin typeface="Glacial Indifference Bold"/>
                <a:ea typeface="Glacial Indifference Bold"/>
                <a:cs typeface="Glacial Indifference Bold"/>
                <a:sym typeface="Glacial Indifference Bold"/>
              </a:rPr>
              <a:t>στο διάστημα [0, 1]</a:t>
            </a:r>
            <a:r>
              <a:rPr lang="en-US" sz="1633">
                <a:solidFill>
                  <a:srgbClr val="695C4A"/>
                </a:solidFill>
                <a:latin typeface="Glacial Indifference"/>
                <a:ea typeface="Glacial Indifference"/>
                <a:cs typeface="Glacial Indifference"/>
                <a:sym typeface="Glacial Indifference"/>
              </a:rPr>
              <a:t>.</a:t>
            </a:r>
          </a:p>
        </p:txBody>
      </p:sp>
      <p:sp>
        <p:nvSpPr>
          <p:cNvPr name="TextBox 13" id="13"/>
          <p:cNvSpPr txBox="true"/>
          <p:nvPr/>
        </p:nvSpPr>
        <p:spPr>
          <a:xfrm rot="0">
            <a:off x="9144000" y="465205"/>
            <a:ext cx="8821722" cy="5173121"/>
          </a:xfrm>
          <a:prstGeom prst="rect">
            <a:avLst/>
          </a:prstGeom>
        </p:spPr>
        <p:txBody>
          <a:bodyPr anchor="t" rtlCol="false" tIns="0" lIns="0" bIns="0" rIns="0">
            <a:spAutoFit/>
          </a:bodyPr>
          <a:lstStyle/>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Cl</a:t>
            </a:r>
            <a:r>
              <a:rPr lang="en-US" b="true" sz="1833">
                <a:solidFill>
                  <a:srgbClr val="695C4A"/>
                </a:solidFill>
                <a:latin typeface="Glacial Indifference Bold"/>
                <a:ea typeface="Glacial Indifference Bold"/>
                <a:cs typeface="Glacial Indifference Bold"/>
                <a:sym typeface="Glacial Indifference Bold"/>
              </a:rPr>
              <a:t>assification Loss</a:t>
            </a:r>
            <a:r>
              <a:rPr lang="en-US" sz="1833">
                <a:solidFill>
                  <a:srgbClr val="695C4A"/>
                </a:solidFill>
                <a:latin typeface="Glacial Indifference"/>
                <a:ea typeface="Glacial Indifference"/>
                <a:cs typeface="Glacial Indifference"/>
                <a:sym typeface="Glacial Indifference"/>
              </a:rPr>
              <a:t>: Ξεκινάει σχετικά ψηλά αλλά </a:t>
            </a:r>
            <a:r>
              <a:rPr lang="en-US" b="true" sz="1833">
                <a:solidFill>
                  <a:srgbClr val="695C4A"/>
                </a:solidFill>
                <a:latin typeface="Glacial Indifference Bold"/>
                <a:ea typeface="Glacial Indifference Bold"/>
                <a:cs typeface="Glacial Indifference Bold"/>
                <a:sym typeface="Glacial Indifference Bold"/>
              </a:rPr>
              <a:t>μειώνεται απότομα </a:t>
            </a:r>
            <a:r>
              <a:rPr lang="en-US" sz="1833">
                <a:solidFill>
                  <a:srgbClr val="695C4A"/>
                </a:solidFill>
                <a:latin typeface="Glacial Indifference"/>
                <a:ea typeface="Glacial Indifference"/>
                <a:cs typeface="Glacial Indifference"/>
                <a:sym typeface="Glacial Indifference"/>
              </a:rPr>
              <a:t>και </a:t>
            </a:r>
            <a:r>
              <a:rPr lang="en-US" b="true" sz="1833">
                <a:solidFill>
                  <a:srgbClr val="695C4A"/>
                </a:solidFill>
                <a:latin typeface="Glacial Indifference Bold"/>
                <a:ea typeface="Glacial Indifference Bold"/>
                <a:cs typeface="Glacial Indifference Bold"/>
                <a:sym typeface="Glacial Indifference Bold"/>
              </a:rPr>
              <a:t>σταθεροποιείται </a:t>
            </a:r>
            <a:r>
              <a:rPr lang="en-US" sz="1833">
                <a:solidFill>
                  <a:srgbClr val="695C4A"/>
                </a:solidFill>
                <a:latin typeface="Glacial Indifference"/>
                <a:ea typeface="Glacial Indifference"/>
                <a:cs typeface="Glacial Indifference"/>
                <a:sym typeface="Glacial Indifference"/>
              </a:rPr>
              <a:t>σε </a:t>
            </a:r>
            <a:r>
              <a:rPr lang="en-US" b="true" sz="1833">
                <a:solidFill>
                  <a:srgbClr val="695C4A"/>
                </a:solidFill>
                <a:latin typeface="Glacial Indifference Bold"/>
                <a:ea typeface="Glacial Indifference Bold"/>
                <a:cs typeface="Glacial Indifference Bold"/>
                <a:sym typeface="Glacial Indifference Bold"/>
              </a:rPr>
              <a:t>χαμηλά επίπεδα </a:t>
            </a:r>
            <a:r>
              <a:rPr lang="en-US" sz="1833">
                <a:solidFill>
                  <a:srgbClr val="695C4A"/>
                </a:solidFill>
                <a:latin typeface="Glacial Indifference"/>
                <a:ea typeface="Glacial Indifference"/>
                <a:cs typeface="Glacial Indifference"/>
                <a:sym typeface="Glacial Indifference"/>
              </a:rPr>
              <a:t>(</a:t>
            </a:r>
            <a:r>
              <a:rPr lang="en-US" b="true" sz="1833">
                <a:solidFill>
                  <a:srgbClr val="695C4A"/>
                </a:solidFill>
                <a:latin typeface="Glacial Indifference Bold"/>
                <a:ea typeface="Glacial Indifference Bold"/>
                <a:cs typeface="Glacial Indifference Bold"/>
                <a:sym typeface="Glacial Indifference Bold"/>
              </a:rPr>
              <a:t>train </a:t>
            </a:r>
            <a:r>
              <a:rPr lang="en-US" sz="1833">
                <a:solidFill>
                  <a:srgbClr val="695C4A"/>
                </a:solidFill>
                <a:latin typeface="Glacial Indifference"/>
                <a:ea typeface="Glacial Indifference"/>
                <a:cs typeface="Glacial Indifference"/>
                <a:sym typeface="Glacial Indifference"/>
              </a:rPr>
              <a:t>γύρω στο </a:t>
            </a:r>
            <a:r>
              <a:rPr lang="en-US" b="true" sz="1833">
                <a:solidFill>
                  <a:srgbClr val="695C4A"/>
                </a:solidFill>
                <a:latin typeface="Glacial Indifference Bold"/>
                <a:ea typeface="Glacial Indifference Bold"/>
                <a:cs typeface="Glacial Indifference Bold"/>
                <a:sym typeface="Glacial Indifference Bold"/>
              </a:rPr>
              <a:t>0.025</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val </a:t>
            </a:r>
            <a:r>
              <a:rPr lang="en-US" sz="1833">
                <a:solidFill>
                  <a:srgbClr val="695C4A"/>
                </a:solidFill>
                <a:latin typeface="Glacial Indifference"/>
                <a:ea typeface="Glacial Indifference"/>
                <a:cs typeface="Glacial Indifference"/>
                <a:sym typeface="Glacial Indifference"/>
              </a:rPr>
              <a:t>γύρω στο </a:t>
            </a:r>
            <a:r>
              <a:rPr lang="en-US" b="true" sz="1833">
                <a:solidFill>
                  <a:srgbClr val="695C4A"/>
                </a:solidFill>
                <a:latin typeface="Glacial Indifference Bold"/>
                <a:ea typeface="Glacial Indifference Bold"/>
                <a:cs typeface="Glacial Indifference Bold"/>
                <a:sym typeface="Glacial Indifference Bold"/>
              </a:rPr>
              <a:t>0.075</a:t>
            </a:r>
            <a:r>
              <a:rPr lang="en-US" sz="1833">
                <a:solidFill>
                  <a:srgbClr val="695C4A"/>
                </a:solidFill>
                <a:latin typeface="Glacial Indifference"/>
                <a:ea typeface="Glacial Indifference"/>
                <a:cs typeface="Glacial Indifference"/>
                <a:sym typeface="Glacial Indifference"/>
              </a:rPr>
              <a:t>). Η απόκλιση train–val παραμένει σταθερή και μικρή, χωρίς σημάδια υπερεκπαίδευσης, γεγονός που δείχνει ότι το μοντέλο μαθαίνει καλά τα όρια μεταξύ κατηγοριών.</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Domain Loss</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Αυξάνεται σταδιακά</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συγκλίνει </a:t>
            </a:r>
            <a:r>
              <a:rPr lang="en-US" sz="1833">
                <a:solidFill>
                  <a:srgbClr val="695C4A"/>
                </a:solidFill>
                <a:latin typeface="Glacial Indifference"/>
                <a:ea typeface="Glacial Indifference"/>
                <a:cs typeface="Glacial Indifference"/>
                <a:sym typeface="Glacial Indifference"/>
              </a:rPr>
              <a:t>σε τιμές γύρω στο</a:t>
            </a:r>
            <a:r>
              <a:rPr lang="en-US" b="true" sz="1833">
                <a:solidFill>
                  <a:srgbClr val="695C4A"/>
                </a:solidFill>
                <a:latin typeface="Glacial Indifference Bold"/>
                <a:ea typeface="Glacial Indifference Bold"/>
                <a:cs typeface="Glacial Indifference Bold"/>
                <a:sym typeface="Glacial Indifference Bold"/>
              </a:rPr>
              <a:t> 1.25–1.35.</a:t>
            </a:r>
            <a:r>
              <a:rPr lang="en-US" sz="1833">
                <a:solidFill>
                  <a:srgbClr val="695C4A"/>
                </a:solidFill>
                <a:latin typeface="Glacial Indifference"/>
                <a:ea typeface="Glacial Indifference"/>
                <a:cs typeface="Glacial Indifference"/>
                <a:sym typeface="Glacial Indifference"/>
              </a:rPr>
              <a:t> Για cross-entropy με 4 domains, η τυχαία πρόβλεψη αντιστοιχεί σε loss ≈1.386, επομένως οι τιμές που παρατηρούνται είναι αρκετά κοντά στο τυχαίο baseline.</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KL Divergence</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Αυξάνεται μονοτονικά</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σταθεροποιείται</a:t>
            </a:r>
            <a:r>
              <a:rPr lang="en-US" sz="1833">
                <a:solidFill>
                  <a:srgbClr val="695C4A"/>
                </a:solidFill>
                <a:latin typeface="Glacial Indifference"/>
                <a:ea typeface="Glacial Indifference"/>
                <a:cs typeface="Glacial Indifference"/>
                <a:sym typeface="Glacial Indifference"/>
              </a:rPr>
              <a:t> κοντά στο </a:t>
            </a:r>
            <a:r>
              <a:rPr lang="en-US" b="true" sz="1833">
                <a:solidFill>
                  <a:srgbClr val="695C4A"/>
                </a:solidFill>
                <a:latin typeface="Glacial Indifference Bold"/>
                <a:ea typeface="Glacial Indifference Bold"/>
                <a:cs typeface="Glacial Indifference Bold"/>
                <a:sym typeface="Glacial Indifference Bold"/>
              </a:rPr>
              <a:t>2.0</a:t>
            </a:r>
            <a:r>
              <a:rPr lang="en-US" sz="1833">
                <a:solidFill>
                  <a:srgbClr val="695C4A"/>
                </a:solidFill>
                <a:latin typeface="Glacial Indifference"/>
                <a:ea typeface="Glacial Indifference"/>
                <a:cs typeface="Glacial Indifference"/>
                <a:sym typeface="Glacial Indifference"/>
              </a:rPr>
              <a:t>, κάτι που σημαίνει ότι το VAE αναγκάζεται να μάθει πιο εκτεταμένη κατανομή στο latent space. </a:t>
            </a:r>
          </a:p>
          <a:p>
            <a:pPr algn="l" marL="395921" indent="-197961" lvl="1">
              <a:lnSpc>
                <a:spcPts val="2567"/>
              </a:lnSpc>
              <a:spcBef>
                <a:spcPct val="0"/>
              </a:spcBef>
              <a:buFont typeface="Arial"/>
              <a:buChar char="•"/>
            </a:pPr>
            <a:r>
              <a:rPr lang="en-US" b="true" sz="1833">
                <a:solidFill>
                  <a:srgbClr val="695C4A"/>
                </a:solidFill>
                <a:latin typeface="Glacial Indifference Bold"/>
                <a:ea typeface="Glacial Indifference Bold"/>
                <a:cs typeface="Glacial Indifference Bold"/>
                <a:sym typeface="Glacial Indifference Bold"/>
              </a:rPr>
              <a:t>Reconstruction Loss</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Μειώνεται απότομα</a:t>
            </a:r>
            <a:r>
              <a:rPr lang="en-US" sz="1833">
                <a:solidFill>
                  <a:srgbClr val="695C4A"/>
                </a:solidFill>
                <a:latin typeface="Glacial Indifference"/>
                <a:ea typeface="Glacial Indifference"/>
                <a:cs typeface="Glacial Indifference"/>
                <a:sym typeface="Glacial Indifference"/>
              </a:rPr>
              <a:t> στην αρχή και στη συνέχεια </a:t>
            </a:r>
            <a:r>
              <a:rPr lang="en-US" b="true" sz="1833">
                <a:solidFill>
                  <a:srgbClr val="695C4A"/>
                </a:solidFill>
                <a:latin typeface="Glacial Indifference Bold"/>
                <a:ea typeface="Glacial Indifference Bold"/>
                <a:cs typeface="Glacial Indifference Bold"/>
                <a:sym typeface="Glacial Indifference Bold"/>
              </a:rPr>
              <a:t>σταθεροποιείται</a:t>
            </a:r>
            <a:r>
              <a:rPr lang="en-US" sz="1833">
                <a:solidFill>
                  <a:srgbClr val="695C4A"/>
                </a:solidFill>
                <a:latin typeface="Glacial Indifference"/>
                <a:ea typeface="Glacial Indifference"/>
                <a:cs typeface="Glacial Indifference"/>
                <a:sym typeface="Glacial Indifference"/>
              </a:rPr>
              <a:t> γύρω στο </a:t>
            </a:r>
            <a:r>
              <a:rPr lang="en-US" b="true" sz="1833">
                <a:solidFill>
                  <a:srgbClr val="695C4A"/>
                </a:solidFill>
                <a:latin typeface="Glacial Indifference Bold"/>
                <a:ea typeface="Glacial Indifference Bold"/>
                <a:cs typeface="Glacial Indifference Bold"/>
                <a:sym typeface="Glacial Indifference Bold"/>
              </a:rPr>
              <a:t>0.18–0.20</a:t>
            </a:r>
            <a:r>
              <a:rPr lang="en-US" sz="1833">
                <a:solidFill>
                  <a:srgbClr val="695C4A"/>
                </a:solidFill>
                <a:latin typeface="Glacial Indifference"/>
                <a:ea typeface="Glacial Indifference"/>
                <a:cs typeface="Glacial Indifference"/>
                <a:sym typeface="Glacial Indifference"/>
              </a:rPr>
              <a:t>. Οι καμπύλες train–val είναι κοντά, κάτι που δείχνει ότι το VAE μαθαίνει συνεπή και σταθερή αναπαράσταση χωρίς υπερεκπαίδευση.</a:t>
            </a:r>
          </a:p>
        </p:txBody>
      </p:sp>
      <p:sp>
        <p:nvSpPr>
          <p:cNvPr name="TextBox 14" id="14"/>
          <p:cNvSpPr txBox="true"/>
          <p:nvPr/>
        </p:nvSpPr>
        <p:spPr>
          <a:xfrm rot="0">
            <a:off x="204319" y="6352129"/>
            <a:ext cx="6609873" cy="290617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Βλέπουμε ότι οι κατηγορίες </a:t>
            </a:r>
            <a:r>
              <a:rPr lang="en-US" b="true" sz="1833">
                <a:solidFill>
                  <a:srgbClr val="695C4A"/>
                </a:solidFill>
                <a:latin typeface="Glacial Indifference Bold"/>
                <a:ea typeface="Glacial Indifference Bold"/>
                <a:cs typeface="Glacial Indifference Bold"/>
                <a:sym typeface="Glacial Indifference Bold"/>
              </a:rPr>
              <a:t>Crackle, Normal και Wheeze</a:t>
            </a:r>
            <a:r>
              <a:rPr lang="en-US" sz="1833">
                <a:solidFill>
                  <a:srgbClr val="695C4A"/>
                </a:solidFill>
                <a:latin typeface="Glacial Indifference"/>
                <a:ea typeface="Glacial Indifference"/>
                <a:cs typeface="Glacial Indifference"/>
                <a:sym typeface="Glacial Indifference"/>
              </a:rPr>
              <a:t> σχηματίζουν </a:t>
            </a:r>
            <a:r>
              <a:rPr lang="en-US" b="true" sz="1833">
                <a:solidFill>
                  <a:srgbClr val="695C4A"/>
                </a:solidFill>
                <a:latin typeface="Glacial Indifference Bold"/>
                <a:ea typeface="Glacial Indifference Bold"/>
                <a:cs typeface="Glacial Indifference Bold"/>
                <a:sym typeface="Glacial Indifference Bold"/>
              </a:rPr>
              <a:t>πολύ καθαρές συστάδες</a:t>
            </a:r>
            <a:r>
              <a:rPr lang="en-US" sz="1833">
                <a:solidFill>
                  <a:srgbClr val="695C4A"/>
                </a:solidFill>
                <a:latin typeface="Glacial Indifference"/>
                <a:ea typeface="Glacial Indifference"/>
                <a:cs typeface="Glacial Indifference"/>
                <a:sym typeface="Glacial Indifference"/>
              </a:rPr>
              <a:t> με πολύ </a:t>
            </a:r>
            <a:r>
              <a:rPr lang="en-US" b="true" sz="1833">
                <a:solidFill>
                  <a:srgbClr val="695C4A"/>
                </a:solidFill>
                <a:latin typeface="Glacial Indifference Bold"/>
                <a:ea typeface="Glacial Indifference Bold"/>
                <a:cs typeface="Glacial Indifference Bold"/>
                <a:sym typeface="Glacial Indifference Bold"/>
              </a:rPr>
              <a:t>βελτιωμένη διαχωρισιμότητα</a:t>
            </a:r>
            <a:r>
              <a:rPr lang="en-US" sz="1833">
                <a:solidFill>
                  <a:srgbClr val="695C4A"/>
                </a:solidFill>
                <a:latin typeface="Glacial Indifference"/>
                <a:ea typeface="Glacial Indifference"/>
                <a:cs typeface="Glacial Indifference"/>
                <a:sym typeface="Glacial Indifference"/>
              </a:rPr>
              <a:t> σε σχέση με πριν. Ίσως μόνο η κατηγορία Crackle να εμφανίζει μερ</a:t>
            </a:r>
            <a:r>
              <a:rPr lang="en-US" sz="1833">
                <a:solidFill>
                  <a:srgbClr val="695C4A"/>
                </a:solidFill>
                <a:latin typeface="Glacial Indifference"/>
                <a:ea typeface="Glacial Indifference"/>
                <a:cs typeface="Glacial Indifference"/>
                <a:sym typeface="Glacial Indifference"/>
              </a:rPr>
              <a:t>ική επικάλυψη</a:t>
            </a:r>
            <a:r>
              <a:rPr lang="en-US" sz="1833">
                <a:solidFill>
                  <a:srgbClr val="695C4A"/>
                </a:solidFill>
                <a:latin typeface="Glacial Indifference"/>
                <a:ea typeface="Glacial Indifference"/>
                <a:cs typeface="Glacial Indifference"/>
                <a:sym typeface="Glacial Indifference"/>
              </a:rPr>
              <a:t>, αλλά χωρίς να επηρεάζει σημαντικά τη συνολική διάκριση των κλάσεων</a:t>
            </a:r>
            <a:r>
              <a:rPr lang="en-US" sz="1833">
                <a:solidFill>
                  <a:srgbClr val="695C4A"/>
                </a:solidFill>
                <a:latin typeface="Glacial Indifference"/>
                <a:ea typeface="Glacial Indifference"/>
                <a:cs typeface="Glacial Indifference"/>
                <a:sym typeface="Glacial Indifference"/>
              </a:rPr>
              <a:t>.</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 Οι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συσ</a:t>
            </a:r>
            <a:r>
              <a:rPr lang="en-US" sz="1833">
                <a:solidFill>
                  <a:srgbClr val="695C4A"/>
                </a:solidFill>
                <a:latin typeface="Glacial Indifference"/>
                <a:ea typeface="Glacial Indifference"/>
                <a:cs typeface="Glacial Indifference"/>
                <a:sym typeface="Glacial Indifference"/>
              </a:rPr>
              <a:t>κ</a:t>
            </a:r>
            <a:r>
              <a:rPr lang="en-US" sz="1833">
                <a:solidFill>
                  <a:srgbClr val="695C4A"/>
                </a:solidFill>
                <a:latin typeface="Glacial Indifference"/>
                <a:ea typeface="Glacial Indifference"/>
                <a:cs typeface="Glacial Indifference"/>
                <a:sym typeface="Glacial Indifference"/>
              </a:rPr>
              <a:t>ευέ</a:t>
            </a:r>
            <a:r>
              <a:rPr lang="en-US" sz="1833">
                <a:solidFill>
                  <a:srgbClr val="695C4A"/>
                </a:solidFill>
                <a:latin typeface="Glacial Indifference"/>
                <a:ea typeface="Glacial Indifference"/>
                <a:cs typeface="Glacial Indifference"/>
                <a:sym typeface="Glacial Indifference"/>
              </a:rPr>
              <a:t>ς πα</a:t>
            </a:r>
            <a:r>
              <a:rPr lang="en-US" sz="1833">
                <a:solidFill>
                  <a:srgbClr val="695C4A"/>
                </a:solidFill>
                <a:latin typeface="Glacial Indifference"/>
                <a:ea typeface="Glacial Indifference"/>
                <a:cs typeface="Glacial Indifference"/>
                <a:sym typeface="Glacial Indifference"/>
              </a:rPr>
              <a:t>ρ</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υσιάζ</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υν </a:t>
            </a:r>
            <a:r>
              <a:rPr lang="en-US" b="true" sz="1833">
                <a:solidFill>
                  <a:srgbClr val="695C4A"/>
                </a:solidFill>
                <a:latin typeface="Glacial Indifference Bold"/>
                <a:ea typeface="Glacial Indifference Bold"/>
                <a:cs typeface="Glacial Indifference Bold"/>
                <a:sym typeface="Glacial Indifference Bold"/>
              </a:rPr>
              <a:t>έντονη επικάλυψη</a:t>
            </a:r>
            <a:r>
              <a:rPr lang="en-US" sz="1833">
                <a:solidFill>
                  <a:srgbClr val="695C4A"/>
                </a:solidFill>
                <a:latin typeface="Glacial Indifference"/>
                <a:ea typeface="Glacial Indifference"/>
                <a:cs typeface="Glacial Indifference"/>
                <a:sym typeface="Glacial Indifference"/>
              </a:rPr>
              <a:t> χωρίς σαφή όρια, γεγονός που υποδηλώνει ότι </a:t>
            </a:r>
            <a:r>
              <a:rPr lang="en-US" b="true" sz="1833">
                <a:solidFill>
                  <a:srgbClr val="695C4A"/>
                </a:solidFill>
                <a:latin typeface="Glacial Indifference Bold"/>
                <a:ea typeface="Glacial Indifference Bold"/>
                <a:cs typeface="Glacial Indifference Bold"/>
                <a:sym typeface="Glacial Indifference Bold"/>
              </a:rPr>
              <a:t>το domain shift έχει εξουδετερωθεί</a:t>
            </a:r>
            <a:r>
              <a:rPr lang="en-US" sz="1833">
                <a:solidFill>
                  <a:srgbClr val="695C4A"/>
                </a:solidFill>
                <a:latin typeface="Glacial Indifference"/>
                <a:ea typeface="Glacial Indifference"/>
                <a:cs typeface="Glacial Indifference"/>
                <a:sym typeface="Glacial Indifference"/>
              </a:rPr>
              <a:t> αρκετά έντονα.</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7149220" y="5570684"/>
            <a:ext cx="10775514" cy="4114800"/>
            <a:chOff x="0" y="0"/>
            <a:chExt cx="3432321" cy="1310686"/>
          </a:xfrm>
        </p:grpSpPr>
        <p:sp>
          <p:nvSpPr>
            <p:cNvPr name="Freeform 3" id="3"/>
            <p:cNvSpPr/>
            <p:nvPr/>
          </p:nvSpPr>
          <p:spPr>
            <a:xfrm flipH="false" flipV="false" rot="0">
              <a:off x="0" y="0"/>
              <a:ext cx="3432321" cy="1310686"/>
            </a:xfrm>
            <a:custGeom>
              <a:avLst/>
              <a:gdLst/>
              <a:ahLst/>
              <a:cxnLst/>
              <a:rect r="r" b="b" t="t" l="l"/>
              <a:pathLst>
                <a:path h="1310686" w="3432321">
                  <a:moveTo>
                    <a:pt x="71847" y="0"/>
                  </a:moveTo>
                  <a:lnTo>
                    <a:pt x="3360474" y="0"/>
                  </a:lnTo>
                  <a:cubicBezTo>
                    <a:pt x="3379529" y="0"/>
                    <a:pt x="3397803" y="7570"/>
                    <a:pt x="3411277" y="21044"/>
                  </a:cubicBezTo>
                  <a:cubicBezTo>
                    <a:pt x="3424751" y="34518"/>
                    <a:pt x="3432321" y="52792"/>
                    <a:pt x="3432321" y="71847"/>
                  </a:cubicBezTo>
                  <a:lnTo>
                    <a:pt x="3432321" y="1238839"/>
                  </a:lnTo>
                  <a:cubicBezTo>
                    <a:pt x="3432321" y="1257894"/>
                    <a:pt x="3424751" y="1276168"/>
                    <a:pt x="3411277" y="1289642"/>
                  </a:cubicBezTo>
                  <a:cubicBezTo>
                    <a:pt x="3397803" y="1303116"/>
                    <a:pt x="3379529" y="1310686"/>
                    <a:pt x="3360474" y="1310686"/>
                  </a:cubicBezTo>
                  <a:lnTo>
                    <a:pt x="71847" y="1310686"/>
                  </a:lnTo>
                  <a:cubicBezTo>
                    <a:pt x="52792" y="1310686"/>
                    <a:pt x="34518" y="1303116"/>
                    <a:pt x="21044" y="1289642"/>
                  </a:cubicBezTo>
                  <a:cubicBezTo>
                    <a:pt x="7570" y="1276168"/>
                    <a:pt x="0" y="1257894"/>
                    <a:pt x="0" y="1238839"/>
                  </a:cubicBezTo>
                  <a:lnTo>
                    <a:pt x="0" y="71847"/>
                  </a:lnTo>
                  <a:cubicBezTo>
                    <a:pt x="0" y="52792"/>
                    <a:pt x="7570" y="34518"/>
                    <a:pt x="21044" y="21044"/>
                  </a:cubicBezTo>
                  <a:cubicBezTo>
                    <a:pt x="34518" y="7570"/>
                    <a:pt x="52792" y="0"/>
                    <a:pt x="71847" y="0"/>
                  </a:cubicBezTo>
                  <a:close/>
                </a:path>
              </a:pathLst>
            </a:custGeom>
            <a:solidFill>
              <a:srgbClr val="A69C8E">
                <a:alpha val="11765"/>
              </a:srgbClr>
            </a:solidFill>
          </p:spPr>
        </p:sp>
        <p:sp>
          <p:nvSpPr>
            <p:cNvPr name="TextBox 4" id="4"/>
            <p:cNvSpPr txBox="true"/>
            <p:nvPr/>
          </p:nvSpPr>
          <p:spPr>
            <a:xfrm>
              <a:off x="0" y="-57150"/>
              <a:ext cx="3432321" cy="1367836"/>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2403198" y="5704680"/>
            <a:ext cx="5192595" cy="3876163"/>
          </a:xfrm>
          <a:custGeom>
            <a:avLst/>
            <a:gdLst/>
            <a:ahLst/>
            <a:cxnLst/>
            <a:rect r="r" b="b" t="t" l="l"/>
            <a:pathLst>
              <a:path h="3876163" w="5192595">
                <a:moveTo>
                  <a:pt x="0" y="0"/>
                </a:moveTo>
                <a:lnTo>
                  <a:pt x="5192595" y="0"/>
                </a:lnTo>
                <a:lnTo>
                  <a:pt x="5192595" y="3876162"/>
                </a:lnTo>
                <a:lnTo>
                  <a:pt x="0" y="3876162"/>
                </a:lnTo>
                <a:lnTo>
                  <a:pt x="0" y="0"/>
                </a:lnTo>
                <a:close/>
              </a:path>
            </a:pathLst>
          </a:custGeom>
          <a:blipFill>
            <a:blip r:embed="rId2"/>
            <a:stretch>
              <a:fillRect l="0" t="0" r="0" b="0"/>
            </a:stretch>
          </a:blipFill>
        </p:spPr>
      </p:sp>
      <p:sp>
        <p:nvSpPr>
          <p:cNvPr name="Freeform 6" id="6"/>
          <p:cNvSpPr/>
          <p:nvPr/>
        </p:nvSpPr>
        <p:spPr>
          <a:xfrm flipH="false" flipV="false" rot="0">
            <a:off x="7328342" y="5792569"/>
            <a:ext cx="5074856" cy="3788273"/>
          </a:xfrm>
          <a:custGeom>
            <a:avLst/>
            <a:gdLst/>
            <a:ahLst/>
            <a:cxnLst/>
            <a:rect r="r" b="b" t="t" l="l"/>
            <a:pathLst>
              <a:path h="3788273" w="5074856">
                <a:moveTo>
                  <a:pt x="0" y="0"/>
                </a:moveTo>
                <a:lnTo>
                  <a:pt x="5074856" y="0"/>
                </a:lnTo>
                <a:lnTo>
                  <a:pt x="5074856" y="3788273"/>
                </a:lnTo>
                <a:lnTo>
                  <a:pt x="0" y="3788273"/>
                </a:lnTo>
                <a:lnTo>
                  <a:pt x="0" y="0"/>
                </a:lnTo>
                <a:close/>
              </a:path>
            </a:pathLst>
          </a:custGeom>
          <a:blipFill>
            <a:blip r:embed="rId3"/>
            <a:stretch>
              <a:fillRect l="0" t="0" r="0" b="0"/>
            </a:stretch>
          </a:blipFill>
        </p:spPr>
      </p:sp>
      <p:grpSp>
        <p:nvGrpSpPr>
          <p:cNvPr name="Group 7" id="7"/>
          <p:cNvGrpSpPr/>
          <p:nvPr/>
        </p:nvGrpSpPr>
        <p:grpSpPr>
          <a:xfrm rot="0">
            <a:off x="298430" y="628403"/>
            <a:ext cx="9968854" cy="2631104"/>
            <a:chOff x="0" y="0"/>
            <a:chExt cx="2938170" cy="775478"/>
          </a:xfrm>
        </p:grpSpPr>
        <p:sp>
          <p:nvSpPr>
            <p:cNvPr name="Freeform 8" id="8"/>
            <p:cNvSpPr/>
            <p:nvPr/>
          </p:nvSpPr>
          <p:spPr>
            <a:xfrm flipH="false" flipV="false" rot="0">
              <a:off x="0" y="0"/>
              <a:ext cx="2938170" cy="775478"/>
            </a:xfrm>
            <a:custGeom>
              <a:avLst/>
              <a:gdLst/>
              <a:ahLst/>
              <a:cxnLst/>
              <a:rect r="r" b="b" t="t" l="l"/>
              <a:pathLst>
                <a:path h="775478" w="2938170">
                  <a:moveTo>
                    <a:pt x="77661" y="0"/>
                  </a:moveTo>
                  <a:lnTo>
                    <a:pt x="2860509" y="0"/>
                  </a:lnTo>
                  <a:cubicBezTo>
                    <a:pt x="2903400" y="0"/>
                    <a:pt x="2938170" y="34770"/>
                    <a:pt x="2938170" y="77661"/>
                  </a:cubicBezTo>
                  <a:lnTo>
                    <a:pt x="2938170" y="697817"/>
                  </a:lnTo>
                  <a:cubicBezTo>
                    <a:pt x="2938170" y="740708"/>
                    <a:pt x="2903400" y="775478"/>
                    <a:pt x="2860509" y="775478"/>
                  </a:cubicBezTo>
                  <a:lnTo>
                    <a:pt x="77661" y="775478"/>
                  </a:lnTo>
                  <a:cubicBezTo>
                    <a:pt x="34770" y="775478"/>
                    <a:pt x="0" y="740708"/>
                    <a:pt x="0" y="697817"/>
                  </a:cubicBezTo>
                  <a:lnTo>
                    <a:pt x="0" y="77661"/>
                  </a:lnTo>
                  <a:cubicBezTo>
                    <a:pt x="0" y="34770"/>
                    <a:pt x="34770" y="0"/>
                    <a:pt x="77661" y="0"/>
                  </a:cubicBezTo>
                  <a:close/>
                </a:path>
              </a:pathLst>
            </a:custGeom>
            <a:solidFill>
              <a:srgbClr val="A69C8E">
                <a:alpha val="11765"/>
              </a:srgbClr>
            </a:solidFill>
          </p:spPr>
        </p:sp>
        <p:sp>
          <p:nvSpPr>
            <p:cNvPr name="TextBox 9" id="9"/>
            <p:cNvSpPr txBox="true"/>
            <p:nvPr/>
          </p:nvSpPr>
          <p:spPr>
            <a:xfrm>
              <a:off x="0" y="-57150"/>
              <a:ext cx="2938170" cy="832628"/>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470854" y="831132"/>
            <a:ext cx="9451583" cy="2225647"/>
          </a:xfrm>
          <a:custGeom>
            <a:avLst/>
            <a:gdLst/>
            <a:ahLst/>
            <a:cxnLst/>
            <a:rect r="r" b="b" t="t" l="l"/>
            <a:pathLst>
              <a:path h="2225647" w="9451583">
                <a:moveTo>
                  <a:pt x="0" y="0"/>
                </a:moveTo>
                <a:lnTo>
                  <a:pt x="9451583" y="0"/>
                </a:lnTo>
                <a:lnTo>
                  <a:pt x="9451583" y="2225647"/>
                </a:lnTo>
                <a:lnTo>
                  <a:pt x="0" y="2225647"/>
                </a:lnTo>
                <a:lnTo>
                  <a:pt x="0" y="0"/>
                </a:lnTo>
                <a:close/>
              </a:path>
            </a:pathLst>
          </a:custGeom>
          <a:blipFill>
            <a:blip r:embed="rId4"/>
            <a:stretch>
              <a:fillRect l="0" t="-5105" r="0" b="0"/>
            </a:stretch>
          </a:blipFill>
        </p:spPr>
      </p:sp>
      <p:sp>
        <p:nvSpPr>
          <p:cNvPr name="TextBox 11" id="11"/>
          <p:cNvSpPr txBox="true"/>
          <p:nvPr/>
        </p:nvSpPr>
        <p:spPr>
          <a:xfrm rot="0">
            <a:off x="451425" y="3481008"/>
            <a:ext cx="9815859" cy="1415826"/>
          </a:xfrm>
          <a:prstGeom prst="rect">
            <a:avLst/>
          </a:prstGeom>
        </p:spPr>
        <p:txBody>
          <a:bodyPr anchor="t" rtlCol="false" tIns="0" lIns="0" bIns="0" rIns="0">
            <a:spAutoFit/>
          </a:bodyPr>
          <a:lstStyle/>
          <a:p>
            <a:pPr algn="l">
              <a:lnSpc>
                <a:spcPts val="2287"/>
              </a:lnSpc>
              <a:spcBef>
                <a:spcPct val="0"/>
              </a:spcBef>
            </a:pPr>
            <a:r>
              <a:rPr lang="en-US" sz="1633">
                <a:solidFill>
                  <a:srgbClr val="695C4A"/>
                </a:solidFill>
                <a:latin typeface="Glacial Indifference"/>
                <a:ea typeface="Glacial Indifference"/>
                <a:cs typeface="Glacial Indifference"/>
                <a:sym typeface="Glacial Indifference"/>
              </a:rPr>
              <a:t>Το DANN και ο VAE εκπαιδεύτηκαν </a:t>
            </a:r>
            <a:r>
              <a:rPr lang="en-US" b="true" sz="1633">
                <a:solidFill>
                  <a:srgbClr val="695C4A"/>
                </a:solidFill>
                <a:latin typeface="Glacial Indifference Bold"/>
                <a:ea typeface="Glacial Indifference Bold"/>
                <a:cs typeface="Glacial Indifference Bold"/>
                <a:sym typeface="Glacial Indifference Bold"/>
              </a:rPr>
              <a:t>διαδοχικά, πρώτα ο VAE </a:t>
            </a:r>
            <a:r>
              <a:rPr lang="en-US" sz="1633">
                <a:solidFill>
                  <a:srgbClr val="695C4A"/>
                </a:solidFill>
                <a:latin typeface="Glacial Indifference"/>
                <a:ea typeface="Glacial Indifference"/>
                <a:cs typeface="Glacial Indifference"/>
                <a:sym typeface="Glacial Indifference"/>
              </a:rPr>
              <a:t>για</a:t>
            </a:r>
            <a:r>
              <a:rPr lang="en-US" b="true" sz="1633">
                <a:solidFill>
                  <a:srgbClr val="695C4A"/>
                </a:solidFill>
                <a:latin typeface="Glacial Indifference Bold"/>
                <a:ea typeface="Glacial Indifference Bold"/>
                <a:cs typeface="Glacial Indifference Bold"/>
                <a:sym typeface="Glacial Indifference Bold"/>
              </a:rPr>
              <a:t> 30 εποχές </a:t>
            </a:r>
            <a:r>
              <a:rPr lang="en-US" sz="1633">
                <a:solidFill>
                  <a:srgbClr val="695C4A"/>
                </a:solidFill>
                <a:latin typeface="Glacial Indifference"/>
                <a:ea typeface="Glacial Indifference"/>
                <a:cs typeface="Glacial Indifference"/>
                <a:sym typeface="Glacial Indifference"/>
              </a:rPr>
              <a:t>και</a:t>
            </a:r>
            <a:r>
              <a:rPr lang="en-US" b="true" sz="1633">
                <a:solidFill>
                  <a:srgbClr val="695C4A"/>
                </a:solidFill>
                <a:latin typeface="Glacial Indifference Bold"/>
                <a:ea typeface="Glacial Indifference Bold"/>
                <a:cs typeface="Glacial Indifference Bold"/>
                <a:sym typeface="Glacial Indifference Bold"/>
              </a:rPr>
              <a:t> μετά το DANN για άλλες 70. </a:t>
            </a:r>
            <a:r>
              <a:rPr lang="en-US" sz="1633">
                <a:solidFill>
                  <a:srgbClr val="695C4A"/>
                </a:solidFill>
                <a:latin typeface="Glacial Indifference"/>
                <a:ea typeface="Glacial Indifference"/>
                <a:cs typeface="Glacial Indifference"/>
                <a:sym typeface="Glacial Indifference"/>
              </a:rPr>
              <a:t>Μετά την εκπαίδευση του VAE</a:t>
            </a:r>
            <a:r>
              <a:rPr lang="en-US" b="true" sz="1633">
                <a:solidFill>
                  <a:srgbClr val="695C4A"/>
                </a:solidFill>
                <a:latin typeface="Glacial Indifference Bold"/>
                <a:ea typeface="Glacial Indifference Bold"/>
                <a:cs typeface="Glacial Indifference Bold"/>
                <a:sym typeface="Glacial Indifference Bold"/>
              </a:rPr>
              <a:t> ο Decoder «πάγωσε» </a:t>
            </a:r>
            <a:r>
              <a:rPr lang="en-US" sz="1633">
                <a:solidFill>
                  <a:srgbClr val="695C4A"/>
                </a:solidFill>
                <a:latin typeface="Glacial Indifference"/>
                <a:ea typeface="Glacial Indifference"/>
                <a:cs typeface="Glacial Indifference"/>
                <a:sym typeface="Glacial Indifference"/>
              </a:rPr>
              <a:t>και</a:t>
            </a:r>
            <a:r>
              <a:rPr lang="en-US" b="true" sz="1633">
                <a:solidFill>
                  <a:srgbClr val="695C4A"/>
                </a:solidFill>
                <a:latin typeface="Glacial Indifference Bold"/>
                <a:ea typeface="Glacial Indifference Bold"/>
                <a:cs typeface="Glacial Indifference Bold"/>
                <a:sym typeface="Glacial Indifference Bold"/>
              </a:rPr>
              <a:t> χρησιμοποιήθηκε μόνο ο εκπαιδευμένος Encoder σαν Feature Extractor </a:t>
            </a:r>
            <a:r>
              <a:rPr lang="en-US" sz="1633">
                <a:solidFill>
                  <a:srgbClr val="695C4A"/>
                </a:solidFill>
                <a:latin typeface="Glacial Indifference"/>
                <a:ea typeface="Glacial Indifference"/>
                <a:cs typeface="Glacial Indifference"/>
                <a:sym typeface="Glacial Indifference"/>
              </a:rPr>
              <a:t>για το DANN</a:t>
            </a:r>
            <a:r>
              <a:rPr lang="en-US" b="true" sz="1633">
                <a:solidFill>
                  <a:srgbClr val="695C4A"/>
                </a:solidFill>
                <a:latin typeface="Glacial Indifference Bold"/>
                <a:ea typeface="Glacial Indifference Bold"/>
                <a:cs typeface="Glacial Indifference Bold"/>
                <a:sym typeface="Glacial Indifference Bold"/>
              </a:rPr>
              <a:t>. </a:t>
            </a:r>
            <a:r>
              <a:rPr lang="en-US" sz="1633">
                <a:solidFill>
                  <a:srgbClr val="695C4A"/>
                </a:solidFill>
                <a:latin typeface="Glacial Indifference"/>
                <a:ea typeface="Glacial Indifference"/>
                <a:cs typeface="Glacial Indifference"/>
                <a:sym typeface="Glacial Indifference"/>
              </a:rPr>
              <a:t>Χρησιμοποιήθηκε ρυθμός μάθησης </a:t>
            </a:r>
            <a:r>
              <a:rPr lang="en-US" b="true" sz="1633">
                <a:solidFill>
                  <a:srgbClr val="695C4A"/>
                </a:solidFill>
                <a:latin typeface="Glacial Indifference Bold"/>
                <a:ea typeface="Glacial Indifference Bold"/>
                <a:cs typeface="Glacial Indifference Bold"/>
                <a:sym typeface="Glacial Indifference Bold"/>
              </a:rPr>
              <a:t>      η = 0.001,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λ=</a:t>
            </a:r>
            <a:r>
              <a:rPr lang="en-US" b="true" sz="1633">
                <a:solidFill>
                  <a:srgbClr val="695C4A"/>
                </a:solidFill>
                <a:latin typeface="Glacial Indifference Bold"/>
                <a:ea typeface="Glacial Indifference Bold"/>
                <a:cs typeface="Glacial Indifference Bold"/>
                <a:sym typeface="Glacial Indifference Bold"/>
              </a:rPr>
              <a:t>0.2 </a:t>
            </a:r>
            <a:r>
              <a:rPr lang="en-US" sz="1633">
                <a:solidFill>
                  <a:srgbClr val="695C4A"/>
                </a:solidFill>
                <a:latin typeface="Glacial Indifference"/>
                <a:ea typeface="Glacial Indifference"/>
                <a:cs typeface="Glacial Indifference"/>
                <a:sym typeface="Glacial Indifference"/>
              </a:rPr>
              <a:t>και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β</a:t>
            </a:r>
            <a:r>
              <a:rPr lang="en-US" b="true" sz="1633">
                <a:solidFill>
                  <a:srgbClr val="695C4A"/>
                </a:solidFill>
                <a:latin typeface="Glacial Indifference Bold"/>
                <a:ea typeface="Glacial Indifference Bold"/>
                <a:cs typeface="Glacial Indifference Bold"/>
                <a:sym typeface="Glacial Indifference Bold"/>
              </a:rPr>
              <a:t>=1.0. </a:t>
            </a:r>
            <a:r>
              <a:rPr lang="en-US" sz="1633">
                <a:solidFill>
                  <a:srgbClr val="695C4A"/>
                </a:solidFill>
                <a:latin typeface="Glacial Indifference"/>
                <a:ea typeface="Glacial Indifference"/>
                <a:cs typeface="Glacial Indifference"/>
                <a:sym typeface="Glacial Indifference"/>
              </a:rPr>
              <a:t>Επίσης, το αρνητικό διάνυσμα -</a:t>
            </a:r>
            <a:r>
              <a:rPr lang="en-US" b="true" sz="1633" i="true">
                <a:solidFill>
                  <a:srgbClr val="695C4A"/>
                </a:solidFill>
                <a:latin typeface="Glacial Indifference Bold Italics"/>
                <a:ea typeface="Glacial Indifference Bold Italics"/>
                <a:cs typeface="Glacial Indifference Bold Italics"/>
                <a:sym typeface="Glacial Indifference Bold Italics"/>
              </a:rPr>
              <a:t>α</a:t>
            </a:r>
            <a:r>
              <a:rPr lang="en-US" sz="1633">
                <a:solidFill>
                  <a:srgbClr val="695C4A"/>
                </a:solidFill>
                <a:latin typeface="Glacial Indifference"/>
                <a:ea typeface="Glacial Indifference"/>
                <a:cs typeface="Glacial Indifference"/>
                <a:sym typeface="Glacial Indifference"/>
              </a:rPr>
              <a:t> με το οποίο πολλαπλασιάζεται το gradient στο GRL </a:t>
            </a:r>
            <a:r>
              <a:rPr lang="en-US" b="true" sz="1633">
                <a:solidFill>
                  <a:srgbClr val="695C4A"/>
                </a:solidFill>
                <a:latin typeface="Glacial Indifference Bold"/>
                <a:ea typeface="Glacial Indifference Bold"/>
                <a:cs typeface="Glacial Indifference Bold"/>
                <a:sym typeface="Glacial Indifference Bold"/>
              </a:rPr>
              <a:t>αυξάνεται εκθετικά </a:t>
            </a:r>
            <a:r>
              <a:rPr lang="en-US" sz="1633">
                <a:solidFill>
                  <a:srgbClr val="695C4A"/>
                </a:solidFill>
                <a:latin typeface="Glacial Indifference"/>
                <a:ea typeface="Glacial Indifference"/>
                <a:cs typeface="Glacial Indifference"/>
                <a:sym typeface="Glacial Indifference"/>
              </a:rPr>
              <a:t>κατά τη διάρκεια της εκπαίδευσης </a:t>
            </a:r>
            <a:r>
              <a:rPr lang="en-US" b="true" sz="1633">
                <a:solidFill>
                  <a:srgbClr val="695C4A"/>
                </a:solidFill>
                <a:latin typeface="Glacial Indifference Bold"/>
                <a:ea typeface="Glacial Indifference Bold"/>
                <a:cs typeface="Glacial Indifference Bold"/>
                <a:sym typeface="Glacial Indifference Bold"/>
              </a:rPr>
              <a:t>στο διάστημα [0, 1]</a:t>
            </a:r>
            <a:r>
              <a:rPr lang="en-US" sz="1633">
                <a:solidFill>
                  <a:srgbClr val="695C4A"/>
                </a:solidFill>
                <a:latin typeface="Glacial Indifference"/>
                <a:ea typeface="Glacial Indifference"/>
                <a:cs typeface="Glacial Indifference"/>
                <a:sym typeface="Glacial Indifference"/>
              </a:rPr>
              <a:t>.</a:t>
            </a:r>
          </a:p>
        </p:txBody>
      </p:sp>
      <p:sp>
        <p:nvSpPr>
          <p:cNvPr name="TextBox 12" id="12"/>
          <p:cNvSpPr txBox="true"/>
          <p:nvPr/>
        </p:nvSpPr>
        <p:spPr>
          <a:xfrm rot="0">
            <a:off x="10267284" y="590303"/>
            <a:ext cx="7698438" cy="4525421"/>
          </a:xfrm>
          <a:prstGeom prst="rect">
            <a:avLst/>
          </a:prstGeom>
        </p:spPr>
        <p:txBody>
          <a:bodyPr anchor="t" rtlCol="false" tIns="0" lIns="0" bIns="0" rIns="0">
            <a:spAutoFit/>
          </a:bodyPr>
          <a:lstStyle/>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Recon</a:t>
            </a:r>
            <a:r>
              <a:rPr lang="en-US" b="true" sz="1833">
                <a:solidFill>
                  <a:srgbClr val="695C4A"/>
                </a:solidFill>
                <a:latin typeface="Glacial Indifference Bold"/>
                <a:ea typeface="Glacial Indifference Bold"/>
                <a:cs typeface="Glacial Indifference Bold"/>
                <a:sym typeface="Glacial Indifference Bold"/>
              </a:rPr>
              <a:t>struction Loss</a:t>
            </a:r>
            <a:r>
              <a:rPr lang="en-US" sz="1833">
                <a:solidFill>
                  <a:srgbClr val="695C4A"/>
                </a:solidFill>
                <a:latin typeface="Glacial Indifference"/>
                <a:ea typeface="Glacial Indifference"/>
                <a:cs typeface="Glacial Indifference"/>
                <a:sym typeface="Glacial Indifference"/>
              </a:rPr>
              <a:t>: Ξεκινάει από υψηλές τιμές και </a:t>
            </a:r>
            <a:r>
              <a:rPr lang="en-US" b="true" sz="1833">
                <a:solidFill>
                  <a:srgbClr val="695C4A"/>
                </a:solidFill>
                <a:latin typeface="Glacial Indifference Bold"/>
                <a:ea typeface="Glacial Indifference Bold"/>
                <a:cs typeface="Glacial Indifference Bold"/>
                <a:sym typeface="Glacial Indifference Bold"/>
              </a:rPr>
              <a:t>πέφτει απότομα</a:t>
            </a:r>
            <a:r>
              <a:rPr lang="en-US" sz="1833">
                <a:solidFill>
                  <a:srgbClr val="695C4A"/>
                </a:solidFill>
                <a:latin typeface="Glacial Indifference"/>
                <a:ea typeface="Glacial Indifference"/>
                <a:cs typeface="Glacial Indifference"/>
                <a:sym typeface="Glacial Indifference"/>
              </a:rPr>
              <a:t> στις πρώτες εποχές, </a:t>
            </a:r>
            <a:r>
              <a:rPr lang="en-US" b="true" sz="1833">
                <a:solidFill>
                  <a:srgbClr val="695C4A"/>
                </a:solidFill>
                <a:latin typeface="Glacial Indifference Bold"/>
                <a:ea typeface="Glacial Indifference Bold"/>
                <a:cs typeface="Glacial Indifference Bold"/>
                <a:sym typeface="Glacial Indifference Bold"/>
              </a:rPr>
              <a:t>σταθεροποιούμενο </a:t>
            </a:r>
            <a:r>
              <a:rPr lang="en-US" sz="1833">
                <a:solidFill>
                  <a:srgbClr val="695C4A"/>
                </a:solidFill>
                <a:latin typeface="Glacial Indifference"/>
                <a:ea typeface="Glacial Indifference"/>
                <a:cs typeface="Glacial Indifference"/>
                <a:sym typeface="Glacial Indifference"/>
              </a:rPr>
              <a:t>σε</a:t>
            </a:r>
            <a:r>
              <a:rPr lang="en-US" b="true" sz="1833">
                <a:solidFill>
                  <a:srgbClr val="695C4A"/>
                </a:solidFill>
                <a:latin typeface="Glacial Indifference Bold"/>
                <a:ea typeface="Glacial Indifference Bold"/>
                <a:cs typeface="Glacial Indifference Bold"/>
                <a:sym typeface="Glacial Indifference Bold"/>
              </a:rPr>
              <a:t> χαμηλό επίπεδο</a:t>
            </a:r>
            <a:r>
              <a:rPr lang="en-US" sz="1833">
                <a:solidFill>
                  <a:srgbClr val="695C4A"/>
                </a:solidFill>
                <a:latin typeface="Glacial Indifference"/>
                <a:ea typeface="Glacial Indifference"/>
                <a:cs typeface="Glacial Indifference"/>
                <a:sym typeface="Glacial Indifference"/>
              </a:rPr>
              <a:t> ξανά, πολύ </a:t>
            </a:r>
            <a:r>
              <a:rPr lang="en-US" b="true" sz="1833">
                <a:solidFill>
                  <a:srgbClr val="695C4A"/>
                </a:solidFill>
                <a:latin typeface="Glacial Indifference Bold"/>
                <a:ea typeface="Glacial Indifference Bold"/>
                <a:cs typeface="Glacial Indifference Bold"/>
                <a:sym typeface="Glacial Indifference Bold"/>
              </a:rPr>
              <a:t>κοντά στο 0.4</a:t>
            </a:r>
            <a:r>
              <a:rPr lang="en-US" sz="1833">
                <a:solidFill>
                  <a:srgbClr val="695C4A"/>
                </a:solidFill>
                <a:latin typeface="Glacial Indifference"/>
                <a:ea typeface="Glacial Indifference"/>
                <a:cs typeface="Glacial Indifference"/>
                <a:sym typeface="Glacial Indifference"/>
              </a:rPr>
              <a:t>. Οι καμπύλες train–val παραμένουν για ακόμη μια φορά σχεδόν ταυτόσημες.</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KL Divergence</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Αυξάνεται έντονα</a:t>
            </a:r>
            <a:r>
              <a:rPr lang="en-US" sz="1833">
                <a:solidFill>
                  <a:srgbClr val="695C4A"/>
                </a:solidFill>
                <a:latin typeface="Glacial Indifference"/>
                <a:ea typeface="Glacial Indifference"/>
                <a:cs typeface="Glacial Indifference"/>
                <a:sym typeface="Glacial Indifference"/>
              </a:rPr>
              <a:t> στην αρχή, φτάνει σε ένα κατώφλι γύρω στις 20 εποχές και στη συνέχεια</a:t>
            </a:r>
            <a:r>
              <a:rPr lang="en-US" b="true" sz="1833">
                <a:solidFill>
                  <a:srgbClr val="695C4A"/>
                </a:solidFill>
                <a:latin typeface="Glacial Indifference Bold"/>
                <a:ea typeface="Glacial Indifference Bold"/>
                <a:cs typeface="Glacial Indifference Bold"/>
                <a:sym typeface="Glacial Indifference Bold"/>
              </a:rPr>
              <a:t> μειώνεται ελάχιστα και σταθεροποιείται</a:t>
            </a:r>
            <a:r>
              <a:rPr lang="en-US" sz="1833">
                <a:solidFill>
                  <a:srgbClr val="695C4A"/>
                </a:solidFill>
                <a:latin typeface="Glacial Indifference"/>
                <a:ea typeface="Glacial Indifference"/>
                <a:cs typeface="Glacial Indifference"/>
                <a:sym typeface="Glacial Indifference"/>
              </a:rPr>
              <a:t>. Αυτό δείχνει ότι το latent space αρχικά «διαστέλλεται» και μετά ισορροπεί σε πιο σταθερή κατανομή.</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Classification Loss</a:t>
            </a:r>
            <a:r>
              <a:rPr lang="en-US" sz="1833">
                <a:solidFill>
                  <a:srgbClr val="695C4A"/>
                </a:solidFill>
                <a:latin typeface="Glacial Indifference"/>
                <a:ea typeface="Glacial Indifference"/>
                <a:cs typeface="Glacial Indifference"/>
                <a:sym typeface="Glacial Indifference"/>
              </a:rPr>
              <a:t>: Ξεκινάει πολύ ψηλά αλλά</a:t>
            </a:r>
            <a:r>
              <a:rPr lang="en-US" b="true" sz="1833">
                <a:solidFill>
                  <a:srgbClr val="695C4A"/>
                </a:solidFill>
                <a:latin typeface="Glacial Indifference Bold"/>
                <a:ea typeface="Glacial Indifference Bold"/>
                <a:cs typeface="Glacial Indifference Bold"/>
                <a:sym typeface="Glacial Indifference Bold"/>
              </a:rPr>
              <a:t> μειώνεται απότομα</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συγκλίνει </a:t>
            </a:r>
            <a:r>
              <a:rPr lang="en-US" sz="1833">
                <a:solidFill>
                  <a:srgbClr val="695C4A"/>
                </a:solidFill>
                <a:latin typeface="Glacial Indifference"/>
                <a:ea typeface="Glacial Indifference"/>
                <a:cs typeface="Glacial Indifference"/>
                <a:sym typeface="Glacial Indifference"/>
              </a:rPr>
              <a:t>σε </a:t>
            </a:r>
            <a:r>
              <a:rPr lang="en-US" b="true" sz="1833">
                <a:solidFill>
                  <a:srgbClr val="695C4A"/>
                </a:solidFill>
                <a:latin typeface="Glacial Indifference Bold"/>
                <a:ea typeface="Glacial Indifference Bold"/>
                <a:cs typeface="Glacial Indifference Bold"/>
                <a:sym typeface="Glacial Indifference Bold"/>
              </a:rPr>
              <a:t>χαμηλά επίπεδα</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κοντά στο 0</a:t>
            </a:r>
            <a:r>
              <a:rPr lang="en-US" sz="1833">
                <a:solidFill>
                  <a:srgbClr val="695C4A"/>
                </a:solidFill>
                <a:latin typeface="Glacial Indifference"/>
                <a:ea typeface="Glacial Indifference"/>
                <a:cs typeface="Glacial Indifference"/>
                <a:sym typeface="Glacial Indifference"/>
              </a:rPr>
              <a:t>. </a:t>
            </a:r>
          </a:p>
          <a:p>
            <a:pPr algn="l" marL="395921" indent="-197961" lvl="1">
              <a:lnSpc>
                <a:spcPts val="2567"/>
              </a:lnSpc>
              <a:spcBef>
                <a:spcPct val="0"/>
              </a:spcBef>
              <a:buFont typeface="Arial"/>
              <a:buChar char="•"/>
            </a:pPr>
            <a:r>
              <a:rPr lang="en-US" b="true" sz="1833">
                <a:solidFill>
                  <a:srgbClr val="695C4A"/>
                </a:solidFill>
                <a:latin typeface="Glacial Indifference Bold"/>
                <a:ea typeface="Glacial Indifference Bold"/>
                <a:cs typeface="Glacial Indifference Bold"/>
                <a:sym typeface="Glacial Indifference Bold"/>
              </a:rPr>
              <a:t>Domain Loss:</a:t>
            </a:r>
            <a:r>
              <a:rPr lang="en-US" sz="1833">
                <a:solidFill>
                  <a:srgbClr val="695C4A"/>
                </a:solidFill>
                <a:latin typeface="Glacial Indifference"/>
                <a:ea typeface="Glacial Indifference"/>
                <a:cs typeface="Glacial Indifference"/>
                <a:sym typeface="Glacial Indifference"/>
              </a:rPr>
              <a:t> Μετά την έναρξη του DANN </a:t>
            </a:r>
            <a:r>
              <a:rPr lang="en-US" b="true" sz="1833">
                <a:solidFill>
                  <a:srgbClr val="695C4A"/>
                </a:solidFill>
                <a:latin typeface="Glacial Indifference Bold"/>
                <a:ea typeface="Glacial Indifference Bold"/>
                <a:cs typeface="Glacial Indifference Bold"/>
                <a:sym typeface="Glacial Indifference Bold"/>
              </a:rPr>
              <a:t>αυξάνεται σταδιακά</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συγκλίνει </a:t>
            </a:r>
            <a:r>
              <a:rPr lang="en-US" sz="1833">
                <a:solidFill>
                  <a:srgbClr val="695C4A"/>
                </a:solidFill>
                <a:latin typeface="Glacial Indifference"/>
                <a:ea typeface="Glacial Indifference"/>
                <a:cs typeface="Glacial Indifference"/>
                <a:sym typeface="Glacial Indifference"/>
              </a:rPr>
              <a:t>σε επίπεδο κοντά στο </a:t>
            </a:r>
            <a:r>
              <a:rPr lang="en-US" b="true" sz="1833">
                <a:solidFill>
                  <a:srgbClr val="695C4A"/>
                </a:solidFill>
                <a:latin typeface="Glacial Indifference Bold"/>
                <a:ea typeface="Glacial Indifference Bold"/>
                <a:cs typeface="Glacial Indifference Bold"/>
                <a:sym typeface="Glacial Indifference Bold"/>
              </a:rPr>
              <a:t>1.35, </a:t>
            </a:r>
            <a:r>
              <a:rPr lang="en-US" sz="1833">
                <a:solidFill>
                  <a:srgbClr val="695C4A"/>
                </a:solidFill>
                <a:latin typeface="Glacial Indifference"/>
                <a:ea typeface="Glacial Indifference"/>
                <a:cs typeface="Glacial Indifference"/>
                <a:sym typeface="Glacial Indifference"/>
              </a:rPr>
              <a:t>πολύ κοντά ξανά στη τυχαία πρόβλεψη.</a:t>
            </a:r>
          </a:p>
        </p:txBody>
      </p:sp>
      <p:sp>
        <p:nvSpPr>
          <p:cNvPr name="TextBox 13" id="13"/>
          <p:cNvSpPr txBox="true"/>
          <p:nvPr/>
        </p:nvSpPr>
        <p:spPr>
          <a:xfrm rot="0">
            <a:off x="298430" y="6317873"/>
            <a:ext cx="6707633" cy="258232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Βλέπουμε ότι οι κατηγορίες N</a:t>
            </a:r>
            <a:r>
              <a:rPr lang="en-US" sz="1833">
                <a:solidFill>
                  <a:srgbClr val="695C4A"/>
                </a:solidFill>
                <a:latin typeface="Glacial Indifference"/>
                <a:ea typeface="Glacial Indifference"/>
                <a:cs typeface="Glacial Indifference"/>
                <a:sym typeface="Glacial Indifference"/>
              </a:rPr>
              <a:t>o</a:t>
            </a:r>
            <a:r>
              <a:rPr lang="en-US" sz="1833">
                <a:solidFill>
                  <a:srgbClr val="695C4A"/>
                </a:solidFill>
                <a:latin typeface="Glacial Indifference"/>
                <a:ea typeface="Glacial Indifference"/>
                <a:cs typeface="Glacial Indifference"/>
                <a:sym typeface="Glacial Indifference"/>
              </a:rPr>
              <a:t>rma</a:t>
            </a:r>
            <a:r>
              <a:rPr lang="en-US" sz="1833">
                <a:solidFill>
                  <a:srgbClr val="695C4A"/>
                </a:solidFill>
                <a:latin typeface="Glacial Indifference"/>
                <a:ea typeface="Glacial Indifference"/>
                <a:cs typeface="Glacial Indifference"/>
                <a:sym typeface="Glacial Indifference"/>
              </a:rPr>
              <a:t>l κ</a:t>
            </a:r>
            <a:r>
              <a:rPr lang="en-US" sz="1833">
                <a:solidFill>
                  <a:srgbClr val="695C4A"/>
                </a:solidFill>
                <a:latin typeface="Glacial Indifference"/>
                <a:ea typeface="Glacial Indifference"/>
                <a:cs typeface="Glacial Indifference"/>
                <a:sym typeface="Glacial Indifference"/>
              </a:rPr>
              <a:t>αι Wheeze είναι πλέον </a:t>
            </a:r>
            <a:r>
              <a:rPr lang="en-US" b="true" sz="1833">
                <a:solidFill>
                  <a:srgbClr val="695C4A"/>
                </a:solidFill>
                <a:latin typeface="Glacial Indifference Bold"/>
                <a:ea typeface="Glacial Indifference Bold"/>
                <a:cs typeface="Glacial Indifference Bold"/>
                <a:sym typeface="Glacial Indifference Bold"/>
              </a:rPr>
              <a:t>πολύ πιο καθαρά διαχωρισμένες</a:t>
            </a:r>
            <a:r>
              <a:rPr lang="en-US" sz="1833">
                <a:solidFill>
                  <a:srgbClr val="695C4A"/>
                </a:solidFill>
                <a:latin typeface="Glacial Indifference"/>
                <a:ea typeface="Glacial Indifference"/>
                <a:cs typeface="Glacial Indifference"/>
                <a:sym typeface="Glacial Indifference"/>
              </a:rPr>
              <a:t>, με </a:t>
            </a:r>
            <a:r>
              <a:rPr lang="en-US" b="true" sz="1833">
                <a:solidFill>
                  <a:srgbClr val="695C4A"/>
                </a:solidFill>
                <a:latin typeface="Glacial Indifference Bold"/>
                <a:ea typeface="Glacial Indifference Bold"/>
                <a:cs typeface="Glacial Indifference Bold"/>
                <a:sym typeface="Glacial Indifference Bold"/>
              </a:rPr>
              <a:t>ελάχιστη επικάλυψη</a:t>
            </a:r>
            <a:r>
              <a:rPr lang="en-US" sz="1833">
                <a:solidFill>
                  <a:srgbClr val="695C4A"/>
                </a:solidFill>
                <a:latin typeface="Glacial Indifference"/>
                <a:ea typeface="Glacial Indifference"/>
                <a:cs typeface="Glacial Indifference"/>
                <a:sym typeface="Glacial Indifference"/>
              </a:rPr>
              <a:t>. Η κατηγορία Crackle εξακολουθεί να βρίσκεται ενδιάμεσα από τις δύο άλλες, γεγονός που την καθιστά ίσως πιο δύσκολη στη διάκριση.</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 Από την άλλη, οι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συσ</a:t>
            </a:r>
            <a:r>
              <a:rPr lang="en-US" sz="1833">
                <a:solidFill>
                  <a:srgbClr val="695C4A"/>
                </a:solidFill>
                <a:latin typeface="Glacial Indifference"/>
                <a:ea typeface="Glacial Indifference"/>
                <a:cs typeface="Glacial Indifference"/>
                <a:sym typeface="Glacial Indifference"/>
              </a:rPr>
              <a:t>κ</a:t>
            </a:r>
            <a:r>
              <a:rPr lang="en-US" sz="1833">
                <a:solidFill>
                  <a:srgbClr val="695C4A"/>
                </a:solidFill>
                <a:latin typeface="Glacial Indifference"/>
                <a:ea typeface="Glacial Indifference"/>
                <a:cs typeface="Glacial Indifference"/>
                <a:sym typeface="Glacial Indifference"/>
              </a:rPr>
              <a:t>ευέ</a:t>
            </a:r>
            <a:r>
              <a:rPr lang="en-US" sz="1833">
                <a:solidFill>
                  <a:srgbClr val="695C4A"/>
                </a:solidFill>
                <a:latin typeface="Glacial Indifference"/>
                <a:ea typeface="Glacial Indifference"/>
                <a:cs typeface="Glacial Indifference"/>
                <a:sym typeface="Glacial Indifference"/>
              </a:rPr>
              <a:t>ς πα</a:t>
            </a:r>
            <a:r>
              <a:rPr lang="en-US" sz="1833">
                <a:solidFill>
                  <a:srgbClr val="695C4A"/>
                </a:solidFill>
                <a:latin typeface="Glacial Indifference"/>
                <a:ea typeface="Glacial Indifference"/>
                <a:cs typeface="Glacial Indifference"/>
                <a:sym typeface="Glacial Indifference"/>
              </a:rPr>
              <a:t>ρ</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υσιάζ</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υν και πάλι</a:t>
            </a:r>
            <a:r>
              <a:rPr lang="en-US" b="true" sz="1833">
                <a:solidFill>
                  <a:srgbClr val="695C4A"/>
                </a:solidFill>
                <a:latin typeface="Glacial Indifference Bold"/>
                <a:ea typeface="Glacial Indifference Bold"/>
                <a:cs typeface="Glacial Indifference Bold"/>
                <a:sym typeface="Glacial Indifference Bold"/>
              </a:rPr>
              <a:t> μέγιστη επικάλυψη,</a:t>
            </a:r>
            <a:r>
              <a:rPr lang="en-US" sz="1833">
                <a:solidFill>
                  <a:srgbClr val="695C4A"/>
                </a:solidFill>
                <a:latin typeface="Glacial Indifference"/>
                <a:ea typeface="Glacial Indifference"/>
                <a:cs typeface="Glacial Indifference"/>
                <a:sym typeface="Glacial Indifference"/>
              </a:rPr>
              <a:t> κάτι που δείχνει ότι </a:t>
            </a:r>
            <a:r>
              <a:rPr lang="en-US" b="true" sz="1833">
                <a:solidFill>
                  <a:srgbClr val="695C4A"/>
                </a:solidFill>
                <a:latin typeface="Glacial Indifference Bold"/>
                <a:ea typeface="Glacial Indifference Bold"/>
                <a:cs typeface="Glacial Indifference Bold"/>
                <a:sym typeface="Glacial Indifference Bold"/>
              </a:rPr>
              <a:t>το domain shift έχει απομακρυνθεί πλήρως</a:t>
            </a:r>
            <a:r>
              <a:rPr lang="en-US" sz="1833">
                <a:solidFill>
                  <a:srgbClr val="695C4A"/>
                </a:solidFill>
                <a:latin typeface="Glacial Indifference"/>
                <a:ea typeface="Glacial Indifference"/>
                <a:cs typeface="Glacial Indifference"/>
                <a:sym typeface="Glacial Indifference"/>
              </a:rPr>
              <a: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643780" y="4012075"/>
            <a:ext cx="5076788" cy="2513010"/>
          </a:xfrm>
          <a:custGeom>
            <a:avLst/>
            <a:gdLst/>
            <a:ahLst/>
            <a:cxnLst/>
            <a:rect r="r" b="b" t="t" l="l"/>
            <a:pathLst>
              <a:path h="2513010" w="5076788">
                <a:moveTo>
                  <a:pt x="0" y="0"/>
                </a:moveTo>
                <a:lnTo>
                  <a:pt x="5076788" y="0"/>
                </a:lnTo>
                <a:lnTo>
                  <a:pt x="5076788" y="2513010"/>
                </a:lnTo>
                <a:lnTo>
                  <a:pt x="0" y="2513010"/>
                </a:lnTo>
                <a:lnTo>
                  <a:pt x="0" y="0"/>
                </a:lnTo>
                <a:close/>
              </a:path>
            </a:pathLst>
          </a:custGeom>
          <a:blipFill>
            <a:blip r:embed="rId2"/>
            <a:stretch>
              <a:fillRect l="0" t="0" r="0" b="0"/>
            </a:stretch>
          </a:blipFill>
        </p:spPr>
      </p:sp>
      <p:sp>
        <p:nvSpPr>
          <p:cNvPr name="Freeform 3" id="3"/>
          <p:cNvSpPr/>
          <p:nvPr/>
        </p:nvSpPr>
        <p:spPr>
          <a:xfrm flipH="false" flipV="false" rot="0">
            <a:off x="13631304" y="4012075"/>
            <a:ext cx="4012916" cy="2995557"/>
          </a:xfrm>
          <a:custGeom>
            <a:avLst/>
            <a:gdLst/>
            <a:ahLst/>
            <a:cxnLst/>
            <a:rect r="r" b="b" t="t" l="l"/>
            <a:pathLst>
              <a:path h="2995557" w="4012916">
                <a:moveTo>
                  <a:pt x="0" y="0"/>
                </a:moveTo>
                <a:lnTo>
                  <a:pt x="4012916" y="0"/>
                </a:lnTo>
                <a:lnTo>
                  <a:pt x="4012916" y="2995557"/>
                </a:lnTo>
                <a:lnTo>
                  <a:pt x="0" y="2995557"/>
                </a:lnTo>
                <a:lnTo>
                  <a:pt x="0" y="0"/>
                </a:lnTo>
                <a:close/>
              </a:path>
            </a:pathLst>
          </a:custGeom>
          <a:blipFill>
            <a:blip r:embed="rId3"/>
            <a:stretch>
              <a:fillRect l="0" t="0" r="0" b="0"/>
            </a:stretch>
          </a:blipFill>
        </p:spPr>
      </p:sp>
      <p:sp>
        <p:nvSpPr>
          <p:cNvPr name="Freeform 4" id="4"/>
          <p:cNvSpPr/>
          <p:nvPr/>
        </p:nvSpPr>
        <p:spPr>
          <a:xfrm flipH="false" flipV="false" rot="0">
            <a:off x="13673864" y="6954798"/>
            <a:ext cx="3970356" cy="2963787"/>
          </a:xfrm>
          <a:custGeom>
            <a:avLst/>
            <a:gdLst/>
            <a:ahLst/>
            <a:cxnLst/>
            <a:rect r="r" b="b" t="t" l="l"/>
            <a:pathLst>
              <a:path h="2963787" w="3970356">
                <a:moveTo>
                  <a:pt x="0" y="0"/>
                </a:moveTo>
                <a:lnTo>
                  <a:pt x="3970356" y="0"/>
                </a:lnTo>
                <a:lnTo>
                  <a:pt x="3970356" y="2963787"/>
                </a:lnTo>
                <a:lnTo>
                  <a:pt x="0" y="2963787"/>
                </a:lnTo>
                <a:lnTo>
                  <a:pt x="0" y="0"/>
                </a:lnTo>
                <a:close/>
              </a:path>
            </a:pathLst>
          </a:custGeom>
          <a:blipFill>
            <a:blip r:embed="rId4"/>
            <a:stretch>
              <a:fillRect l="0" t="0" r="0" b="0"/>
            </a:stretch>
          </a:blipFill>
        </p:spPr>
      </p:sp>
      <p:sp>
        <p:nvSpPr>
          <p:cNvPr name="Freeform 5" id="5"/>
          <p:cNvSpPr/>
          <p:nvPr/>
        </p:nvSpPr>
        <p:spPr>
          <a:xfrm flipH="false" flipV="false" rot="0">
            <a:off x="12296349" y="5099217"/>
            <a:ext cx="1313675" cy="359619"/>
          </a:xfrm>
          <a:custGeom>
            <a:avLst/>
            <a:gdLst/>
            <a:ahLst/>
            <a:cxnLst/>
            <a:rect r="r" b="b" t="t" l="l"/>
            <a:pathLst>
              <a:path h="359619" w="1313675">
                <a:moveTo>
                  <a:pt x="0" y="0"/>
                </a:moveTo>
                <a:lnTo>
                  <a:pt x="1313675" y="0"/>
                </a:lnTo>
                <a:lnTo>
                  <a:pt x="1313675" y="359619"/>
                </a:lnTo>
                <a:lnTo>
                  <a:pt x="0" y="3596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700000">
            <a:off x="12233122" y="6462228"/>
            <a:ext cx="1273160" cy="348527"/>
          </a:xfrm>
          <a:custGeom>
            <a:avLst/>
            <a:gdLst/>
            <a:ahLst/>
            <a:cxnLst/>
            <a:rect r="r" b="b" t="t" l="l"/>
            <a:pathLst>
              <a:path h="348527" w="1273160">
                <a:moveTo>
                  <a:pt x="0" y="0"/>
                </a:moveTo>
                <a:lnTo>
                  <a:pt x="1273160" y="0"/>
                </a:lnTo>
                <a:lnTo>
                  <a:pt x="1273160" y="348528"/>
                </a:lnTo>
                <a:lnTo>
                  <a:pt x="0" y="3485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495356">
            <a:off x="5815343" y="7016971"/>
            <a:ext cx="1409128" cy="385749"/>
          </a:xfrm>
          <a:custGeom>
            <a:avLst/>
            <a:gdLst/>
            <a:ahLst/>
            <a:cxnLst/>
            <a:rect r="r" b="b" t="t" l="l"/>
            <a:pathLst>
              <a:path h="385749" w="1409128">
                <a:moveTo>
                  <a:pt x="0" y="0"/>
                </a:moveTo>
                <a:lnTo>
                  <a:pt x="1409128" y="0"/>
                </a:lnTo>
                <a:lnTo>
                  <a:pt x="1409128" y="385749"/>
                </a:lnTo>
                <a:lnTo>
                  <a:pt x="0" y="385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12301" y="7435628"/>
            <a:ext cx="4939746" cy="2362741"/>
          </a:xfrm>
          <a:custGeom>
            <a:avLst/>
            <a:gdLst/>
            <a:ahLst/>
            <a:cxnLst/>
            <a:rect r="r" b="b" t="t" l="l"/>
            <a:pathLst>
              <a:path h="2362741" w="4939746">
                <a:moveTo>
                  <a:pt x="0" y="0"/>
                </a:moveTo>
                <a:lnTo>
                  <a:pt x="4939746" y="0"/>
                </a:lnTo>
                <a:lnTo>
                  <a:pt x="4939746" y="2362741"/>
                </a:lnTo>
                <a:lnTo>
                  <a:pt x="0" y="2362741"/>
                </a:lnTo>
                <a:lnTo>
                  <a:pt x="0" y="0"/>
                </a:lnTo>
                <a:close/>
              </a:path>
            </a:pathLst>
          </a:custGeom>
          <a:blipFill>
            <a:blip r:embed="rId7"/>
            <a:stretch>
              <a:fillRect l="0" t="-113974" r="-141526" b="0"/>
            </a:stretch>
          </a:blipFill>
        </p:spPr>
      </p:sp>
      <p:sp>
        <p:nvSpPr>
          <p:cNvPr name="Freeform 9" id="9"/>
          <p:cNvSpPr/>
          <p:nvPr/>
        </p:nvSpPr>
        <p:spPr>
          <a:xfrm flipH="false" flipV="false" rot="0">
            <a:off x="7103106" y="7471198"/>
            <a:ext cx="4892540" cy="2327171"/>
          </a:xfrm>
          <a:custGeom>
            <a:avLst/>
            <a:gdLst/>
            <a:ahLst/>
            <a:cxnLst/>
            <a:rect r="r" b="b" t="t" l="l"/>
            <a:pathLst>
              <a:path h="2327171" w="4892540">
                <a:moveTo>
                  <a:pt x="0" y="0"/>
                </a:moveTo>
                <a:lnTo>
                  <a:pt x="4892540" y="0"/>
                </a:lnTo>
                <a:lnTo>
                  <a:pt x="4892540" y="2327171"/>
                </a:lnTo>
                <a:lnTo>
                  <a:pt x="0" y="2327171"/>
                </a:lnTo>
                <a:lnTo>
                  <a:pt x="0" y="0"/>
                </a:lnTo>
                <a:close/>
              </a:path>
            </a:pathLst>
          </a:custGeom>
          <a:blipFill>
            <a:blip r:embed="rId7"/>
            <a:stretch>
              <a:fillRect l="-116321" t="-108534" r="-17757" b="0"/>
            </a:stretch>
          </a:blipFill>
        </p:spPr>
      </p:sp>
      <p:sp>
        <p:nvSpPr>
          <p:cNvPr name="Freeform 10" id="10"/>
          <p:cNvSpPr/>
          <p:nvPr/>
        </p:nvSpPr>
        <p:spPr>
          <a:xfrm flipH="false" flipV="false" rot="0">
            <a:off x="3182174" y="6858544"/>
            <a:ext cx="308265" cy="298176"/>
          </a:xfrm>
          <a:custGeom>
            <a:avLst/>
            <a:gdLst/>
            <a:ahLst/>
            <a:cxnLst/>
            <a:rect r="r" b="b" t="t" l="l"/>
            <a:pathLst>
              <a:path h="298176" w="308265">
                <a:moveTo>
                  <a:pt x="0" y="0"/>
                </a:moveTo>
                <a:lnTo>
                  <a:pt x="308265" y="0"/>
                </a:lnTo>
                <a:lnTo>
                  <a:pt x="308265" y="298176"/>
                </a:lnTo>
                <a:lnTo>
                  <a:pt x="0" y="2981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920879" y="4276717"/>
            <a:ext cx="5256993" cy="2005643"/>
          </a:xfrm>
          <a:custGeom>
            <a:avLst/>
            <a:gdLst/>
            <a:ahLst/>
            <a:cxnLst/>
            <a:rect r="r" b="b" t="t" l="l"/>
            <a:pathLst>
              <a:path h="2005643" w="5256993">
                <a:moveTo>
                  <a:pt x="0" y="0"/>
                </a:moveTo>
                <a:lnTo>
                  <a:pt x="5256994" y="0"/>
                </a:lnTo>
                <a:lnTo>
                  <a:pt x="5256994" y="2005643"/>
                </a:lnTo>
                <a:lnTo>
                  <a:pt x="0" y="2005643"/>
                </a:lnTo>
                <a:lnTo>
                  <a:pt x="0" y="0"/>
                </a:lnTo>
                <a:close/>
              </a:path>
            </a:pathLst>
          </a:custGeom>
          <a:blipFill>
            <a:blip r:embed="rId7"/>
            <a:stretch>
              <a:fillRect l="-110303" t="-20326" r="0" b="-113256"/>
            </a:stretch>
          </a:blipFill>
        </p:spPr>
      </p:sp>
      <p:sp>
        <p:nvSpPr>
          <p:cNvPr name="Freeform 12" id="12"/>
          <p:cNvSpPr/>
          <p:nvPr/>
        </p:nvSpPr>
        <p:spPr>
          <a:xfrm flipH="false" flipV="false" rot="-5400000">
            <a:off x="9134977" y="6749020"/>
            <a:ext cx="1141203" cy="312404"/>
          </a:xfrm>
          <a:custGeom>
            <a:avLst/>
            <a:gdLst/>
            <a:ahLst/>
            <a:cxnLst/>
            <a:rect r="r" b="b" t="t" l="l"/>
            <a:pathLst>
              <a:path h="312404" w="1141203">
                <a:moveTo>
                  <a:pt x="0" y="0"/>
                </a:moveTo>
                <a:lnTo>
                  <a:pt x="1141203" y="0"/>
                </a:lnTo>
                <a:lnTo>
                  <a:pt x="1141203" y="312404"/>
                </a:lnTo>
                <a:lnTo>
                  <a:pt x="0" y="3124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8784141" y="4012075"/>
            <a:ext cx="1530469" cy="204107"/>
          </a:xfrm>
          <a:custGeom>
            <a:avLst/>
            <a:gdLst/>
            <a:ahLst/>
            <a:cxnLst/>
            <a:rect r="r" b="b" t="t" l="l"/>
            <a:pathLst>
              <a:path h="204107" w="1530469">
                <a:moveTo>
                  <a:pt x="0" y="0"/>
                </a:moveTo>
                <a:lnTo>
                  <a:pt x="1530470" y="0"/>
                </a:lnTo>
                <a:lnTo>
                  <a:pt x="1530470" y="204107"/>
                </a:lnTo>
                <a:lnTo>
                  <a:pt x="0" y="204107"/>
                </a:lnTo>
                <a:lnTo>
                  <a:pt x="0" y="0"/>
                </a:lnTo>
                <a:close/>
              </a:path>
            </a:pathLst>
          </a:custGeom>
          <a:blipFill>
            <a:blip r:embed="rId10"/>
            <a:stretch>
              <a:fillRect l="-505477" t="0" r="-116892" b="-2195285"/>
            </a:stretch>
          </a:blipFill>
        </p:spPr>
      </p:sp>
      <p:sp>
        <p:nvSpPr>
          <p:cNvPr name="TextBox 14" id="14"/>
          <p:cNvSpPr txBox="true"/>
          <p:nvPr/>
        </p:nvSpPr>
        <p:spPr>
          <a:xfrm rot="0">
            <a:off x="355426" y="583941"/>
            <a:ext cx="17577148" cy="2844576"/>
          </a:xfrm>
          <a:prstGeom prst="rect">
            <a:avLst/>
          </a:prstGeom>
        </p:spPr>
        <p:txBody>
          <a:bodyPr anchor="t" rtlCol="false" tIns="0" lIns="0" bIns="0" rIns="0">
            <a:spAutoFit/>
          </a:bodyPr>
          <a:lstStyle/>
          <a:p>
            <a:pPr algn="l">
              <a:lnSpc>
                <a:spcPts val="2287"/>
              </a:lnSpc>
            </a:pPr>
            <a:r>
              <a:rPr lang="en-US" sz="1633">
                <a:solidFill>
                  <a:srgbClr val="695C4A"/>
                </a:solidFill>
                <a:latin typeface="Glacial Indifference"/>
                <a:ea typeface="Glacial Indifference"/>
                <a:cs typeface="Glacial Indifference"/>
                <a:sym typeface="Glacial Indifference"/>
              </a:rPr>
              <a:t>Ιδιαίτερη έμφαση δόθηκε στη σύγκριση της απόδοσης της προτεινόμενης μεθοδολογίας με την τεχνική της </a:t>
            </a:r>
            <a:r>
              <a:rPr lang="en-US" sz="1633" b="true">
                <a:solidFill>
                  <a:srgbClr val="695C4A"/>
                </a:solidFill>
                <a:latin typeface="Glacial Indifference Bold"/>
                <a:ea typeface="Glacial Indifference Bold"/>
                <a:cs typeface="Glacial Indifference Bold"/>
                <a:sym typeface="Glacial Indifference Bold"/>
              </a:rPr>
              <a:t>διόρθωσης φάσματος (spectrum correction)</a:t>
            </a:r>
            <a:r>
              <a:rPr lang="en-US" sz="1633">
                <a:solidFill>
                  <a:srgbClr val="695C4A"/>
                </a:solidFill>
                <a:latin typeface="Glacial Indifference"/>
                <a:ea typeface="Glacial Indifference"/>
                <a:cs typeface="Glacial Indifference"/>
                <a:sym typeface="Glacial Indifference"/>
              </a:rPr>
              <a:t>, η οποία προτάθηκε από τον </a:t>
            </a:r>
            <a:r>
              <a:rPr lang="en-US" sz="1633" i="true">
                <a:solidFill>
                  <a:srgbClr val="695C4A"/>
                </a:solidFill>
                <a:latin typeface="Glacial Indifference Italics"/>
                <a:ea typeface="Glacial Indifference Italics"/>
                <a:cs typeface="Glacial Indifference Italics"/>
                <a:sym typeface="Glacial Indifference Italics"/>
              </a:rPr>
              <a:t>Michal Kosmider (2020)</a:t>
            </a:r>
            <a:r>
              <a:rPr lang="en-US" sz="1633">
                <a:solidFill>
                  <a:srgbClr val="695C4A"/>
                </a:solidFill>
                <a:latin typeface="Glacial Indifference"/>
                <a:ea typeface="Glacial Indifference"/>
                <a:cs typeface="Glacial Indifference"/>
                <a:sym typeface="Glacial Indifference"/>
              </a:rPr>
              <a:t> και αποδείχθηκε ιδιαίτερα απ</a:t>
            </a:r>
            <a:r>
              <a:rPr lang="en-US" sz="1633">
                <a:solidFill>
                  <a:srgbClr val="695C4A"/>
                </a:solidFill>
                <a:latin typeface="Glacial Indifference"/>
                <a:ea typeface="Glacial Indifference"/>
                <a:cs typeface="Glacial Indifference"/>
                <a:sym typeface="Glacial Indifference"/>
              </a:rPr>
              <a:t>ο</a:t>
            </a:r>
            <a:r>
              <a:rPr lang="en-US" sz="1633">
                <a:solidFill>
                  <a:srgbClr val="695C4A"/>
                </a:solidFill>
                <a:latin typeface="Glacial Indifference"/>
                <a:ea typeface="Glacial Indifference"/>
                <a:cs typeface="Glacial Indifference"/>
                <a:sym typeface="Glacial Indifference"/>
              </a:rPr>
              <a:t>τε</a:t>
            </a:r>
            <a:r>
              <a:rPr lang="en-US" sz="1633">
                <a:solidFill>
                  <a:srgbClr val="695C4A"/>
                </a:solidFill>
                <a:latin typeface="Glacial Indifference"/>
                <a:ea typeface="Glacial Indifference"/>
                <a:cs typeface="Glacial Indifference"/>
                <a:sym typeface="Glacial Indifference"/>
              </a:rPr>
              <a:t>λ</a:t>
            </a:r>
            <a:r>
              <a:rPr lang="en-US" sz="1633">
                <a:solidFill>
                  <a:srgbClr val="695C4A"/>
                </a:solidFill>
                <a:latin typeface="Glacial Indifference"/>
                <a:ea typeface="Glacial Indifference"/>
                <a:cs typeface="Glacial Indifference"/>
                <a:sym typeface="Glacial Indifference"/>
              </a:rPr>
              <a:t>εσματ</a:t>
            </a:r>
            <a:r>
              <a:rPr lang="en-US" sz="1633">
                <a:solidFill>
                  <a:srgbClr val="695C4A"/>
                </a:solidFill>
                <a:latin typeface="Glacial Indifference"/>
                <a:ea typeface="Glacial Indifference"/>
                <a:cs typeface="Glacial Indifference"/>
                <a:sym typeface="Glacial Indifference"/>
              </a:rPr>
              <a:t>ική </a:t>
            </a:r>
            <a:r>
              <a:rPr lang="en-US" sz="1633">
                <a:solidFill>
                  <a:srgbClr val="695C4A"/>
                </a:solidFill>
                <a:latin typeface="Glacial Indifference"/>
                <a:ea typeface="Glacial Indifference"/>
                <a:cs typeface="Glacial Indifference"/>
                <a:sym typeface="Glacial Indifference"/>
              </a:rPr>
              <a:t>στην πρόκ</a:t>
            </a:r>
            <a:r>
              <a:rPr lang="en-US" sz="1633">
                <a:solidFill>
                  <a:srgbClr val="695C4A"/>
                </a:solidFill>
                <a:latin typeface="Glacial Indifference"/>
                <a:ea typeface="Glacial Indifference"/>
                <a:cs typeface="Glacial Indifference"/>
                <a:sym typeface="Glacial Indifference"/>
              </a:rPr>
              <a:t>ληση</a:t>
            </a:r>
            <a:r>
              <a:rPr lang="en-US" sz="1633">
                <a:solidFill>
                  <a:srgbClr val="695C4A"/>
                </a:solidFill>
                <a:latin typeface="Glacial Indifference"/>
                <a:ea typeface="Glacial Indifference"/>
                <a:cs typeface="Glacial Indifference"/>
                <a:sym typeface="Glacial Indifference"/>
              </a:rPr>
              <a:t> της μετατόπισης πεδίου που εισάγει η </a:t>
            </a:r>
            <a:r>
              <a:rPr lang="en-US" sz="1633" b="true">
                <a:solidFill>
                  <a:srgbClr val="695C4A"/>
                </a:solidFill>
                <a:latin typeface="Glacial Indifference Bold"/>
                <a:ea typeface="Glacial Indifference Bold"/>
                <a:cs typeface="Glacial Indifference Bold"/>
                <a:sym typeface="Glacial Indifference Bold"/>
              </a:rPr>
              <a:t>ανομοιογένεια συσκευών</a:t>
            </a:r>
            <a:r>
              <a:rPr lang="en-US" sz="1633">
                <a:solidFill>
                  <a:srgbClr val="695C4A"/>
                </a:solidFill>
                <a:latin typeface="Glacial Indifference"/>
                <a:ea typeface="Glacial Indifference"/>
                <a:cs typeface="Glacial Indifference"/>
                <a:sym typeface="Glacial Indifference"/>
              </a:rPr>
              <a:t>. </a:t>
            </a:r>
          </a:p>
          <a:p>
            <a:pPr algn="l">
              <a:lnSpc>
                <a:spcPts val="2287"/>
              </a:lnSpc>
            </a:pPr>
          </a:p>
          <a:p>
            <a:pPr algn="l">
              <a:lnSpc>
                <a:spcPts val="2287"/>
              </a:lnSpc>
            </a:pPr>
            <a:r>
              <a:rPr lang="en-US" sz="1633">
                <a:solidFill>
                  <a:srgbClr val="695C4A"/>
                </a:solidFill>
                <a:latin typeface="Glacial Indifference"/>
                <a:ea typeface="Glacial Indifference"/>
                <a:cs typeface="Glacial Indifference"/>
                <a:sym typeface="Glacial Indifference"/>
              </a:rPr>
              <a:t>Η βασική ιδέα της μεθόδου στηρίζεται σε ένα γρ</a:t>
            </a:r>
            <a:r>
              <a:rPr lang="en-US" sz="1633">
                <a:solidFill>
                  <a:srgbClr val="695C4A"/>
                </a:solidFill>
                <a:latin typeface="Glacial Indifference"/>
                <a:ea typeface="Glacial Indifference"/>
                <a:cs typeface="Glacial Indifference"/>
                <a:sym typeface="Glacial Indifference"/>
              </a:rPr>
              <a:t>α</a:t>
            </a:r>
            <a:r>
              <a:rPr lang="en-US" sz="1633">
                <a:solidFill>
                  <a:srgbClr val="695C4A"/>
                </a:solidFill>
                <a:latin typeface="Glacial Indifference"/>
                <a:ea typeface="Glacial Indifference"/>
                <a:cs typeface="Glacial Indifference"/>
                <a:sym typeface="Glacial Indifference"/>
              </a:rPr>
              <a:t>μμ</a:t>
            </a:r>
            <a:r>
              <a:rPr lang="en-US" sz="1633">
                <a:solidFill>
                  <a:srgbClr val="695C4A"/>
                </a:solidFill>
                <a:latin typeface="Glacial Indifference"/>
                <a:ea typeface="Glacial Indifference"/>
                <a:cs typeface="Glacial Indifference"/>
                <a:sym typeface="Glacial Indifference"/>
              </a:rPr>
              <a:t>ι</a:t>
            </a:r>
            <a:r>
              <a:rPr lang="en-US" sz="1633">
                <a:solidFill>
                  <a:srgbClr val="695C4A"/>
                </a:solidFill>
                <a:latin typeface="Glacial Indifference"/>
                <a:ea typeface="Glacial Indifference"/>
                <a:cs typeface="Glacial Indifference"/>
                <a:sym typeface="Glacial Indifference"/>
              </a:rPr>
              <a:t>κό μ</a:t>
            </a:r>
            <a:r>
              <a:rPr lang="en-US" sz="1633">
                <a:solidFill>
                  <a:srgbClr val="695C4A"/>
                </a:solidFill>
                <a:latin typeface="Glacial Indifference"/>
                <a:ea typeface="Glacial Indifference"/>
                <a:cs typeface="Glacial Indifference"/>
                <a:sym typeface="Glacial Indifference"/>
              </a:rPr>
              <a:t>ο</a:t>
            </a:r>
            <a:r>
              <a:rPr lang="en-US" sz="1633">
                <a:solidFill>
                  <a:srgbClr val="695C4A"/>
                </a:solidFill>
                <a:latin typeface="Glacial Indifference"/>
                <a:ea typeface="Glacial Indifference"/>
                <a:cs typeface="Glacial Indifference"/>
                <a:sym typeface="Glacial Indifference"/>
              </a:rPr>
              <a:t>ντέ</a:t>
            </a:r>
            <a:r>
              <a:rPr lang="en-US" sz="1633">
                <a:solidFill>
                  <a:srgbClr val="695C4A"/>
                </a:solidFill>
                <a:latin typeface="Glacial Indifference"/>
                <a:ea typeface="Glacial Indifference"/>
                <a:cs typeface="Glacial Indifference"/>
                <a:sym typeface="Glacial Indifference"/>
              </a:rPr>
              <a:t>λ</a:t>
            </a:r>
            <a:r>
              <a:rPr lang="en-US" sz="1633">
                <a:solidFill>
                  <a:srgbClr val="695C4A"/>
                </a:solidFill>
                <a:latin typeface="Glacial Indifference"/>
                <a:ea typeface="Glacial Indifference"/>
                <a:cs typeface="Glacial Indifference"/>
                <a:sym typeface="Glacial Indifference"/>
              </a:rPr>
              <a:t>ο παραμ</a:t>
            </a:r>
            <a:r>
              <a:rPr lang="en-US" sz="1633">
                <a:solidFill>
                  <a:srgbClr val="695C4A"/>
                </a:solidFill>
                <a:latin typeface="Glacial Indifference"/>
                <a:ea typeface="Glacial Indifference"/>
                <a:cs typeface="Glacial Indifference"/>
                <a:sym typeface="Glacial Indifference"/>
              </a:rPr>
              <a:t>ό</a:t>
            </a:r>
            <a:r>
              <a:rPr lang="en-US" sz="1633">
                <a:solidFill>
                  <a:srgbClr val="695C4A"/>
                </a:solidFill>
                <a:latin typeface="Glacial Indifference"/>
                <a:ea typeface="Glacial Indifference"/>
                <a:cs typeface="Glacial Indifference"/>
                <a:sym typeface="Glacial Indifference"/>
              </a:rPr>
              <a:t>ρφωσ</a:t>
            </a:r>
            <a:r>
              <a:rPr lang="en-US" sz="1633">
                <a:solidFill>
                  <a:srgbClr val="695C4A"/>
                </a:solidFill>
                <a:latin typeface="Glacial Indifference"/>
                <a:ea typeface="Glacial Indifference"/>
                <a:cs typeface="Glacial Indifference"/>
                <a:sym typeface="Glacial Indifference"/>
              </a:rPr>
              <a:t>η</a:t>
            </a:r>
            <a:r>
              <a:rPr lang="en-US" sz="1633">
                <a:solidFill>
                  <a:srgbClr val="695C4A"/>
                </a:solidFill>
                <a:latin typeface="Glacial Indifference"/>
                <a:ea typeface="Glacial Indifference"/>
                <a:cs typeface="Glacial Indifference"/>
                <a:sym typeface="Glacial Indifference"/>
              </a:rPr>
              <a:t>ς, </a:t>
            </a:r>
            <a:r>
              <a:rPr lang="en-US" sz="1633">
                <a:solidFill>
                  <a:srgbClr val="695C4A"/>
                </a:solidFill>
                <a:latin typeface="Glacial Indifference"/>
                <a:ea typeface="Glacial Indifference"/>
                <a:cs typeface="Glacial Indifference"/>
                <a:sym typeface="Glacial Indifference"/>
              </a:rPr>
              <a:t>σ</a:t>
            </a:r>
            <a:r>
              <a:rPr lang="en-US" sz="1633">
                <a:solidFill>
                  <a:srgbClr val="695C4A"/>
                </a:solidFill>
                <a:latin typeface="Glacial Indifference"/>
                <a:ea typeface="Glacial Indifference"/>
                <a:cs typeface="Glacial Indifference"/>
                <a:sym typeface="Glacial Indifference"/>
              </a:rPr>
              <a:t>ύμφωνα με το οποίο </a:t>
            </a:r>
            <a:r>
              <a:rPr lang="en-US" sz="1633">
                <a:solidFill>
                  <a:srgbClr val="695C4A"/>
                </a:solidFill>
                <a:latin typeface="Glacial Indifference"/>
                <a:ea typeface="Glacial Indifference"/>
                <a:cs typeface="Glacial Indifference"/>
                <a:sym typeface="Glacial Indifference"/>
              </a:rPr>
              <a:t>η </a:t>
            </a:r>
            <a:r>
              <a:rPr lang="en-US" sz="1633">
                <a:solidFill>
                  <a:srgbClr val="695C4A"/>
                </a:solidFill>
                <a:latin typeface="Glacial Indifference"/>
                <a:ea typeface="Glacial Indifference"/>
                <a:cs typeface="Glacial Indifference"/>
                <a:sym typeface="Glacial Indifference"/>
              </a:rPr>
              <a:t>απόκρι</a:t>
            </a:r>
            <a:r>
              <a:rPr lang="en-US" sz="1633">
                <a:solidFill>
                  <a:srgbClr val="695C4A"/>
                </a:solidFill>
                <a:latin typeface="Glacial Indifference"/>
                <a:ea typeface="Glacial Indifference"/>
                <a:cs typeface="Glacial Indifference"/>
                <a:sym typeface="Glacial Indifference"/>
              </a:rPr>
              <a:t>σ</a:t>
            </a:r>
            <a:r>
              <a:rPr lang="en-US" sz="1633">
                <a:solidFill>
                  <a:srgbClr val="695C4A"/>
                </a:solidFill>
                <a:latin typeface="Glacial Indifference"/>
                <a:ea typeface="Glacial Indifference"/>
                <a:cs typeface="Glacial Indifference"/>
                <a:sym typeface="Glacial Indifference"/>
              </a:rPr>
              <a:t>η συχνότητας</a:t>
            </a:r>
            <a:r>
              <a:rPr lang="en-US" sz="1633">
                <a:solidFill>
                  <a:srgbClr val="695C4A"/>
                </a:solidFill>
                <a:latin typeface="Glacial Indifference"/>
                <a:ea typeface="Glacial Indifference"/>
                <a:cs typeface="Glacial Indifference"/>
                <a:sym typeface="Glacial Indifference"/>
              </a:rPr>
              <a:t> κάθε </a:t>
            </a:r>
            <a:r>
              <a:rPr lang="en-US" sz="1633">
                <a:solidFill>
                  <a:srgbClr val="695C4A"/>
                </a:solidFill>
                <a:latin typeface="Glacial Indifference"/>
                <a:ea typeface="Glacial Indifference"/>
                <a:cs typeface="Glacial Indifference"/>
                <a:sym typeface="Glacial Indifference"/>
              </a:rPr>
              <a:t>συσ</a:t>
            </a:r>
            <a:r>
              <a:rPr lang="en-US" sz="1633">
                <a:solidFill>
                  <a:srgbClr val="695C4A"/>
                </a:solidFill>
                <a:latin typeface="Glacial Indifference"/>
                <a:ea typeface="Glacial Indifference"/>
                <a:cs typeface="Glacial Indifference"/>
                <a:sym typeface="Glacial Indifference"/>
              </a:rPr>
              <a:t>κ</a:t>
            </a:r>
            <a:r>
              <a:rPr lang="en-US" sz="1633">
                <a:solidFill>
                  <a:srgbClr val="695C4A"/>
                </a:solidFill>
                <a:latin typeface="Glacial Indifference"/>
                <a:ea typeface="Glacial Indifference"/>
                <a:cs typeface="Glacial Indifference"/>
                <a:sym typeface="Glacial Indifference"/>
              </a:rPr>
              <a:t>ευής θεωρείται ότι πολλαπλασιάζει το πραγματικό σήμα, εισάγοντας μια χαρακτηριστική αλλοίωση στο φάσμα. Η διόρθωση φάσματος λοιπόν στοχεύει στη </a:t>
            </a:r>
            <a:r>
              <a:rPr lang="en-US" sz="1633" b="true">
                <a:solidFill>
                  <a:srgbClr val="695C4A"/>
                </a:solidFill>
                <a:latin typeface="Glacial Indifference Bold"/>
                <a:ea typeface="Glacial Indifference Bold"/>
                <a:cs typeface="Glacial Indifference Bold"/>
                <a:sym typeface="Glacial Indifference Bold"/>
              </a:rPr>
              <a:t>μετατροπή του φάσματος</a:t>
            </a:r>
            <a:r>
              <a:rPr lang="en-US" sz="1633">
                <a:solidFill>
                  <a:srgbClr val="695C4A"/>
                </a:solidFill>
                <a:latin typeface="Glacial Indifference"/>
                <a:ea typeface="Glacial Indifference"/>
                <a:cs typeface="Glacial Indifference"/>
                <a:sym typeface="Glacial Indifference"/>
              </a:rPr>
              <a:t> μιας ηχογράφησης που έχει καταγραφεί από μία συσκευή, ώστε να </a:t>
            </a:r>
            <a:r>
              <a:rPr lang="en-US" sz="1633" b="true">
                <a:solidFill>
                  <a:srgbClr val="695C4A"/>
                </a:solidFill>
                <a:latin typeface="Glacial Indifference Bold"/>
                <a:ea typeface="Glacial Indifference Bold"/>
                <a:cs typeface="Glacial Indifference Bold"/>
                <a:sym typeface="Glacial Indifference Bold"/>
              </a:rPr>
              <a:t>προσεγγίζει το αντίστοιχο φάσμα από μία συσκευή αναφοράς</a:t>
            </a:r>
            <a:r>
              <a:rPr lang="en-US" sz="1633">
                <a:solidFill>
                  <a:srgbClr val="695C4A"/>
                </a:solidFill>
                <a:latin typeface="Glacial Indifference"/>
                <a:ea typeface="Glacial Indifference"/>
                <a:cs typeface="Glacial Indifference"/>
                <a:sym typeface="Glacial Indifference"/>
              </a:rPr>
              <a:t>. Αυτό επιτυγχάνεται πολλαπλασιάζοντας το φάσμα της ηχογράφησης με τον λόγο των φασματικών συνιστωσών μεταξύ της συσκευής αναφοράς και της υπό διόρθωση συσκευής. Ο λόγος αυτός αποτελεί τους </a:t>
            </a:r>
            <a:r>
              <a:rPr lang="en-US" sz="1633" b="true">
                <a:solidFill>
                  <a:srgbClr val="695C4A"/>
                </a:solidFill>
                <a:latin typeface="Glacial Indifference Bold"/>
                <a:ea typeface="Glacial Indifference Bold"/>
                <a:cs typeface="Glacial Indifference Bold"/>
                <a:sym typeface="Glacial Indifference Bold"/>
              </a:rPr>
              <a:t>συντελεστές διόρθωσης</a:t>
            </a:r>
            <a:r>
              <a:rPr lang="en-US" sz="1633">
                <a:solidFill>
                  <a:srgbClr val="695C4A"/>
                </a:solidFill>
                <a:latin typeface="Glacial Indifference"/>
                <a:ea typeface="Glacial Indifference"/>
                <a:cs typeface="Glacial Indifference"/>
                <a:sym typeface="Glacial Indifference"/>
              </a:rPr>
              <a:t>.</a:t>
            </a:r>
          </a:p>
          <a:p>
            <a:pPr algn="l">
              <a:lnSpc>
                <a:spcPts val="2287"/>
              </a:lnSpc>
            </a:pPr>
          </a:p>
          <a:p>
            <a:pPr algn="l">
              <a:lnSpc>
                <a:spcPts val="2287"/>
              </a:lnSpc>
            </a:pPr>
            <a:r>
              <a:rPr lang="en-US" sz="1633">
                <a:solidFill>
                  <a:srgbClr val="695C4A"/>
                </a:solidFill>
                <a:latin typeface="Glacial Indifference"/>
                <a:ea typeface="Glacial Indifference"/>
                <a:cs typeface="Glacial Indifference"/>
                <a:sym typeface="Glacial Indifference"/>
              </a:rPr>
              <a:t>Επομένως, η τεχνική της διόρθωσης φάσματος αποτελεί ένα εξαιρετικά σχετικό σημείο αναφοράς, το οποίο επιτρέπει την άμεση σύγκριση ανάμεσα στα αποτελέσματα που επιφέρει η προσαρμογή πεδίου επιδρώντας αφενός </a:t>
            </a:r>
            <a:r>
              <a:rPr lang="en-US" sz="1633" b="true">
                <a:solidFill>
                  <a:srgbClr val="695C4A"/>
                </a:solidFill>
                <a:latin typeface="Glacial Indifference Bold"/>
                <a:ea typeface="Glacial Indifference Bold"/>
                <a:cs typeface="Glacial Indifference Bold"/>
                <a:sym typeface="Glacial Indifference Bold"/>
              </a:rPr>
              <a:t>πάνω στο αυτούσιο σήμα</a:t>
            </a:r>
            <a:r>
              <a:rPr lang="en-US" sz="1633">
                <a:solidFill>
                  <a:srgbClr val="695C4A"/>
                </a:solidFill>
                <a:latin typeface="Glacial Indifference"/>
                <a:ea typeface="Glacial Indifference"/>
                <a:cs typeface="Glacial Indifference"/>
                <a:sym typeface="Glacial Indifference"/>
              </a:rPr>
              <a:t> και αφετέρου </a:t>
            </a:r>
            <a:r>
              <a:rPr lang="en-US" sz="1633" b="true">
                <a:solidFill>
                  <a:srgbClr val="695C4A"/>
                </a:solidFill>
                <a:latin typeface="Glacial Indifference Bold"/>
                <a:ea typeface="Glacial Indifference Bold"/>
                <a:cs typeface="Glacial Indifference Bold"/>
                <a:sym typeface="Glacial Indifference Bold"/>
              </a:rPr>
              <a:t>πάνω στο χώρο χαρακτηριστικών </a:t>
            </a:r>
            <a:r>
              <a:rPr lang="en-US" sz="1633">
                <a:solidFill>
                  <a:srgbClr val="695C4A"/>
                </a:solidFill>
                <a:latin typeface="Glacial Indifference"/>
                <a:ea typeface="Glacial Indifference"/>
                <a:cs typeface="Glacial Indifference"/>
                <a:sym typeface="Glacial Indifference"/>
              </a:rPr>
              <a:t>που παράγει.</a:t>
            </a:r>
          </a:p>
        </p:txBody>
      </p:sp>
      <p:sp>
        <p:nvSpPr>
          <p:cNvPr name="TextBox 15" id="15"/>
          <p:cNvSpPr txBox="true"/>
          <p:nvPr/>
        </p:nvSpPr>
        <p:spPr>
          <a:xfrm rot="0">
            <a:off x="9861780" y="6800747"/>
            <a:ext cx="859744" cy="409098"/>
          </a:xfrm>
          <a:prstGeom prst="rect">
            <a:avLst/>
          </a:prstGeom>
        </p:spPr>
        <p:txBody>
          <a:bodyPr anchor="t" rtlCol="false" tIns="0" lIns="0" bIns="0" rIns="0">
            <a:spAutoFit/>
          </a:bodyPr>
          <a:lstStyle/>
          <a:p>
            <a:pPr algn="l">
              <a:lnSpc>
                <a:spcPts val="3288"/>
              </a:lnSpc>
            </a:pPr>
            <a:r>
              <a:rPr lang="en-US" sz="2859" b="true">
                <a:solidFill>
                  <a:srgbClr val="695C4A"/>
                </a:solidFill>
                <a:latin typeface="Glacial Indifference Bold"/>
                <a:ea typeface="Glacial Indifference Bold"/>
                <a:cs typeface="Glacial Indifference Bold"/>
                <a:sym typeface="Glacial Indifference Bold"/>
              </a:rPr>
              <a:t>IDFT</a:t>
            </a:r>
          </a:p>
        </p:txBody>
      </p:sp>
      <p:grpSp>
        <p:nvGrpSpPr>
          <p:cNvPr name="Group 16" id="16"/>
          <p:cNvGrpSpPr/>
          <p:nvPr/>
        </p:nvGrpSpPr>
        <p:grpSpPr>
          <a:xfrm rot="0">
            <a:off x="264289" y="3809519"/>
            <a:ext cx="17842960" cy="6109065"/>
            <a:chOff x="0" y="0"/>
            <a:chExt cx="5683512" cy="1945919"/>
          </a:xfrm>
        </p:grpSpPr>
        <p:sp>
          <p:nvSpPr>
            <p:cNvPr name="Freeform 17" id="17"/>
            <p:cNvSpPr/>
            <p:nvPr/>
          </p:nvSpPr>
          <p:spPr>
            <a:xfrm flipH="false" flipV="false" rot="0">
              <a:off x="0" y="0"/>
              <a:ext cx="5683512" cy="1945919"/>
            </a:xfrm>
            <a:custGeom>
              <a:avLst/>
              <a:gdLst/>
              <a:ahLst/>
              <a:cxnLst/>
              <a:rect r="r" b="b" t="t" l="l"/>
              <a:pathLst>
                <a:path h="1945919" w="5683512">
                  <a:moveTo>
                    <a:pt x="43389" y="0"/>
                  </a:moveTo>
                  <a:lnTo>
                    <a:pt x="5640123" y="0"/>
                  </a:lnTo>
                  <a:cubicBezTo>
                    <a:pt x="5651631" y="0"/>
                    <a:pt x="5662667" y="4571"/>
                    <a:pt x="5670804" y="12708"/>
                  </a:cubicBezTo>
                  <a:cubicBezTo>
                    <a:pt x="5678941" y="20845"/>
                    <a:pt x="5683512" y="31882"/>
                    <a:pt x="5683512" y="43389"/>
                  </a:cubicBezTo>
                  <a:lnTo>
                    <a:pt x="5683512" y="1902529"/>
                  </a:lnTo>
                  <a:cubicBezTo>
                    <a:pt x="5683512" y="1914037"/>
                    <a:pt x="5678941" y="1925073"/>
                    <a:pt x="5670804" y="1933210"/>
                  </a:cubicBezTo>
                  <a:cubicBezTo>
                    <a:pt x="5662667" y="1941347"/>
                    <a:pt x="5651631" y="1945919"/>
                    <a:pt x="5640123" y="1945919"/>
                  </a:cubicBezTo>
                  <a:lnTo>
                    <a:pt x="43389" y="1945919"/>
                  </a:lnTo>
                  <a:cubicBezTo>
                    <a:pt x="31882" y="1945919"/>
                    <a:pt x="20845" y="1941347"/>
                    <a:pt x="12708" y="1933210"/>
                  </a:cubicBezTo>
                  <a:cubicBezTo>
                    <a:pt x="4571" y="1925073"/>
                    <a:pt x="0" y="1914037"/>
                    <a:pt x="0" y="1902529"/>
                  </a:cubicBezTo>
                  <a:lnTo>
                    <a:pt x="0" y="43389"/>
                  </a:lnTo>
                  <a:cubicBezTo>
                    <a:pt x="0" y="31882"/>
                    <a:pt x="4571" y="20845"/>
                    <a:pt x="12708" y="12708"/>
                  </a:cubicBezTo>
                  <a:cubicBezTo>
                    <a:pt x="20845" y="4571"/>
                    <a:pt x="31882" y="0"/>
                    <a:pt x="43389" y="0"/>
                  </a:cubicBezTo>
                  <a:close/>
                </a:path>
              </a:pathLst>
            </a:custGeom>
            <a:solidFill>
              <a:srgbClr val="A69C8E">
                <a:alpha val="11765"/>
              </a:srgbClr>
            </a:solidFill>
          </p:spPr>
        </p:sp>
        <p:sp>
          <p:nvSpPr>
            <p:cNvPr name="TextBox 18" id="18"/>
            <p:cNvSpPr txBox="true"/>
            <p:nvPr/>
          </p:nvSpPr>
          <p:spPr>
            <a:xfrm>
              <a:off x="0" y="-57150"/>
              <a:ext cx="5683512" cy="2003069"/>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0" y="1187768"/>
            <a:ext cx="11688724" cy="0"/>
          </a:xfrm>
          <a:prstGeom prst="line">
            <a:avLst/>
          </a:prstGeom>
          <a:ln cap="flat" w="38100">
            <a:solidFill>
              <a:srgbClr val="827564"/>
            </a:solidFill>
            <a:prstDash val="solid"/>
            <a:headEnd type="none" len="sm" w="sm"/>
            <a:tailEnd type="none" len="sm" w="sm"/>
          </a:ln>
        </p:spPr>
      </p:sp>
      <p:sp>
        <p:nvSpPr>
          <p:cNvPr name="AutoShape 3" id="3"/>
          <p:cNvSpPr/>
          <p:nvPr/>
        </p:nvSpPr>
        <p:spPr>
          <a:xfrm flipH="true" flipV="true">
            <a:off x="1307904" y="0"/>
            <a:ext cx="0" cy="2197866"/>
          </a:xfrm>
          <a:prstGeom prst="line">
            <a:avLst/>
          </a:prstGeom>
          <a:ln cap="flat" w="38100">
            <a:solidFill>
              <a:srgbClr val="827564"/>
            </a:solidFill>
            <a:prstDash val="solid"/>
            <a:headEnd type="none" len="sm" w="sm"/>
            <a:tailEnd type="none" len="sm" w="sm"/>
          </a:ln>
        </p:spPr>
      </p:sp>
      <p:sp>
        <p:nvSpPr>
          <p:cNvPr name="Freeform 4" id="4"/>
          <p:cNvSpPr/>
          <p:nvPr/>
        </p:nvSpPr>
        <p:spPr>
          <a:xfrm flipH="false" flipV="false" rot="0">
            <a:off x="1036944" y="916808"/>
            <a:ext cx="541920" cy="541920"/>
          </a:xfrm>
          <a:custGeom>
            <a:avLst/>
            <a:gdLst/>
            <a:ahLst/>
            <a:cxnLst/>
            <a:rect r="r" b="b" t="t" l="l"/>
            <a:pathLst>
              <a:path h="541920" w="541920">
                <a:moveTo>
                  <a:pt x="0" y="0"/>
                </a:moveTo>
                <a:lnTo>
                  <a:pt x="541920" y="0"/>
                </a:lnTo>
                <a:lnTo>
                  <a:pt x="541920" y="541919"/>
                </a:lnTo>
                <a:lnTo>
                  <a:pt x="0" y="541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33364" y="-394395"/>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809627" y="2312166"/>
            <a:ext cx="8535204" cy="2741934"/>
          </a:xfrm>
          <a:custGeom>
            <a:avLst/>
            <a:gdLst/>
            <a:ahLst/>
            <a:cxnLst/>
            <a:rect r="r" b="b" t="t" l="l"/>
            <a:pathLst>
              <a:path h="2741934" w="8535204">
                <a:moveTo>
                  <a:pt x="0" y="0"/>
                </a:moveTo>
                <a:lnTo>
                  <a:pt x="8535204" y="0"/>
                </a:lnTo>
                <a:lnTo>
                  <a:pt x="8535204" y="2741934"/>
                </a:lnTo>
                <a:lnTo>
                  <a:pt x="0" y="2741934"/>
                </a:lnTo>
                <a:lnTo>
                  <a:pt x="0" y="0"/>
                </a:lnTo>
                <a:close/>
              </a:path>
            </a:pathLst>
          </a:custGeom>
          <a:blipFill>
            <a:blip r:embed="rId6"/>
            <a:stretch>
              <a:fillRect l="0" t="0" r="0" b="0"/>
            </a:stretch>
          </a:blipFill>
        </p:spPr>
      </p:sp>
      <p:sp>
        <p:nvSpPr>
          <p:cNvPr name="TextBox 7" id="7"/>
          <p:cNvSpPr txBox="true"/>
          <p:nvPr/>
        </p:nvSpPr>
        <p:spPr>
          <a:xfrm rot="0">
            <a:off x="4103562" y="1342201"/>
            <a:ext cx="4462199"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Ταξινόμηση</a:t>
            </a:r>
          </a:p>
        </p:txBody>
      </p:sp>
      <p:sp>
        <p:nvSpPr>
          <p:cNvPr name="TextBox 8" id="8"/>
          <p:cNvSpPr txBox="true"/>
          <p:nvPr/>
        </p:nvSpPr>
        <p:spPr>
          <a:xfrm rot="0">
            <a:off x="3293106" y="1218376"/>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6</a:t>
            </a:r>
          </a:p>
        </p:txBody>
      </p:sp>
      <p:sp>
        <p:nvSpPr>
          <p:cNvPr name="TextBox 9" id="9"/>
          <p:cNvSpPr txBox="true"/>
          <p:nvPr/>
        </p:nvSpPr>
        <p:spPr>
          <a:xfrm rot="0">
            <a:off x="634314" y="5346871"/>
            <a:ext cx="17004689" cy="3553871"/>
          </a:xfrm>
          <a:prstGeom prst="rect">
            <a:avLst/>
          </a:prstGeom>
        </p:spPr>
        <p:txBody>
          <a:bodyPr anchor="t" rtlCol="false" tIns="0" lIns="0" bIns="0" rIns="0">
            <a:spAutoFit/>
          </a:bodyPr>
          <a:lstStyle/>
          <a:p>
            <a:pPr algn="l">
              <a:lnSpc>
                <a:spcPts val="2567"/>
              </a:lnSpc>
            </a:pPr>
            <a:r>
              <a:rPr lang="en-US" sz="1833">
                <a:solidFill>
                  <a:srgbClr val="695C4A"/>
                </a:solidFill>
                <a:latin typeface="Glacial Indifference"/>
                <a:ea typeface="Glacial Indifference"/>
                <a:cs typeface="Glacial Indifference"/>
                <a:sym typeface="Glacial Indifference"/>
              </a:rPr>
              <a:t>Για την ταξινόμηση των παθολογικών ήχων με βάση τις ενδιάμεσες αναπαραστάσεις που εξήχθησαν από το Domain Adaptation Module χρησιμοποιήθηκαν τέσσερις διαφορετικοί αλγόριθμοι ταξινόμησης:</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k - NN: </a:t>
            </a:r>
            <a:r>
              <a:rPr lang="en-US" sz="1833">
                <a:solidFill>
                  <a:srgbClr val="695C4A"/>
                </a:solidFill>
                <a:latin typeface="Glacial Indifference"/>
                <a:ea typeface="Glacial Indifference"/>
                <a:cs typeface="Glacial Indifference"/>
                <a:sym typeface="Glacial Indifference"/>
              </a:rPr>
              <a:t>χρησιμοποιήθηκε</a:t>
            </a:r>
            <a:r>
              <a:rPr lang="en-US" b="true" sz="1833">
                <a:solidFill>
                  <a:srgbClr val="695C4A"/>
                </a:solidFill>
                <a:latin typeface="Glacial Indifference Bold"/>
                <a:ea typeface="Glacial Indifference Bold"/>
                <a:cs typeface="Glacial Indifference Bold"/>
                <a:sym typeface="Glacial Indifference Bold"/>
              </a:rPr>
              <a:t> k=3 </a:t>
            </a:r>
            <a:r>
              <a:rPr lang="en-US" sz="1833">
                <a:solidFill>
                  <a:srgbClr val="695C4A"/>
                </a:solidFill>
                <a:latin typeface="Glacial Indifference"/>
                <a:ea typeface="Glacial Indifference"/>
                <a:cs typeface="Glacial Indifference"/>
                <a:sym typeface="Glacial Indifference"/>
              </a:rPr>
              <a:t>ως </a:t>
            </a:r>
            <a:r>
              <a:rPr lang="en-US" b="true" sz="1833">
                <a:solidFill>
                  <a:srgbClr val="695C4A"/>
                </a:solidFill>
                <a:latin typeface="Glacial Indifference Bold"/>
                <a:ea typeface="Glacial Indifference Bold"/>
                <a:cs typeface="Glacial Indifference Bold"/>
                <a:sym typeface="Glacial Indifference Bold"/>
              </a:rPr>
              <a:t>πλήθος πλησιέστερων γειτόνων</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Non-Linear SVM: </a:t>
            </a:r>
            <a:r>
              <a:rPr lang="en-US" sz="1833">
                <a:solidFill>
                  <a:srgbClr val="695C4A"/>
                </a:solidFill>
                <a:latin typeface="Glacial Indifference"/>
                <a:ea typeface="Glacial Indifference"/>
                <a:cs typeface="Glacial Indifference"/>
                <a:sym typeface="Glacial Indifference"/>
              </a:rPr>
              <a:t>χρησιμοποιήθηκαν</a:t>
            </a:r>
            <a:r>
              <a:rPr lang="en-US" b="true" sz="1833">
                <a:solidFill>
                  <a:srgbClr val="695C4A"/>
                </a:solidFill>
                <a:latin typeface="Glacial Indifference Bold"/>
                <a:ea typeface="Glacial Indifference Bold"/>
                <a:cs typeface="Glacial Indifference Bold"/>
                <a:sym typeface="Glacial Indifference Bold"/>
              </a:rPr>
              <a:t> C=10.0 </a:t>
            </a:r>
            <a:r>
              <a:rPr lang="en-US" sz="1833">
                <a:solidFill>
                  <a:srgbClr val="695C4A"/>
                </a:solidFill>
                <a:latin typeface="Glacial Indifference"/>
                <a:ea typeface="Glacial Indifference"/>
                <a:cs typeface="Glacial Indifference"/>
                <a:sym typeface="Glacial Indifference"/>
              </a:rPr>
              <a:t>για</a:t>
            </a:r>
            <a:r>
              <a:rPr lang="en-US" b="true" sz="1833">
                <a:solidFill>
                  <a:srgbClr val="695C4A"/>
                </a:solidFill>
                <a:latin typeface="Glacial Indifference Bold"/>
                <a:ea typeface="Glacial Indifference Bold"/>
                <a:cs typeface="Glacial Indifference Bold"/>
                <a:sym typeface="Glacial Indifference Bold"/>
              </a:rPr>
              <a:t> </a:t>
            </a:r>
            <a:r>
              <a:rPr lang="en-US" sz="1833">
                <a:solidFill>
                  <a:srgbClr val="695C4A"/>
                </a:solidFill>
                <a:latin typeface="Glacial Indifference"/>
                <a:ea typeface="Glacial Indifference"/>
                <a:cs typeface="Glacial Indifference"/>
                <a:sym typeface="Glacial Indifference"/>
              </a:rPr>
              <a:t>την </a:t>
            </a:r>
            <a:r>
              <a:rPr lang="en-US" b="true" sz="1833">
                <a:solidFill>
                  <a:srgbClr val="695C4A"/>
                </a:solidFill>
                <a:latin typeface="Glacial Indifference Bold"/>
                <a:ea typeface="Glacial Indifference Bold"/>
                <a:cs typeface="Glacial Indifference Bold"/>
                <a:sym typeface="Glacial Indifference Bold"/>
              </a:rPr>
              <a:t>επίδραση του regularization</a:t>
            </a:r>
            <a:r>
              <a:rPr lang="en-US" sz="1833">
                <a:solidFill>
                  <a:srgbClr val="695C4A"/>
                </a:solidFill>
                <a:latin typeface="Glacial Indifference"/>
                <a:ea typeface="Glacial Indifference"/>
                <a:cs typeface="Glacial Indifference"/>
                <a:sym typeface="Glacial Indifference"/>
              </a:rPr>
              <a:t> και</a:t>
            </a:r>
            <a:r>
              <a:rPr lang="en-US" b="true" sz="1833">
                <a:solidFill>
                  <a:srgbClr val="695C4A"/>
                </a:solidFill>
                <a:latin typeface="Glacial Indifference Bold"/>
                <a:ea typeface="Glacial Indifference Bold"/>
                <a:cs typeface="Glacial Indifference Bold"/>
                <a:sym typeface="Glacial Indifference Bold"/>
              </a:rPr>
              <a:t> </a:t>
            </a:r>
            <a:r>
              <a:rPr lang="en-US" b="true" sz="1833" i="true">
                <a:solidFill>
                  <a:srgbClr val="695C4A"/>
                </a:solidFill>
                <a:latin typeface="Glacial Indifference Bold Italics"/>
                <a:ea typeface="Glacial Indifference Bold Italics"/>
                <a:cs typeface="Glacial Indifference Bold Italics"/>
                <a:sym typeface="Glacial Indifference Bold Italics"/>
              </a:rPr>
              <a:t>γ</a:t>
            </a:r>
            <a:r>
              <a:rPr lang="en-US" b="true" sz="1833">
                <a:solidFill>
                  <a:srgbClr val="695C4A"/>
                </a:solidFill>
                <a:latin typeface="Glacial Indifference Bold"/>
                <a:ea typeface="Glacial Indifference Bold"/>
                <a:cs typeface="Glacial Indifference Bold"/>
                <a:sym typeface="Glacial Indifference Bold"/>
              </a:rPr>
              <a:t>=’scale’ </a:t>
            </a:r>
            <a:r>
              <a:rPr lang="en-US" sz="1833">
                <a:solidFill>
                  <a:srgbClr val="695C4A"/>
                </a:solidFill>
                <a:latin typeface="Glacial Indifference"/>
                <a:ea typeface="Glacial Indifference"/>
                <a:cs typeface="Glacial Indifference"/>
                <a:sym typeface="Glacial Indifference"/>
              </a:rPr>
              <a:t>για την</a:t>
            </a:r>
            <a:r>
              <a:rPr lang="en-US" b="true" sz="1833">
                <a:solidFill>
                  <a:srgbClr val="695C4A"/>
                </a:solidFill>
                <a:latin typeface="Glacial Indifference Bold"/>
                <a:ea typeface="Glacial Indifference Bold"/>
                <a:cs typeface="Glacial Indifference Bold"/>
                <a:sym typeface="Glacial Indifference Bold"/>
              </a:rPr>
              <a:t> ακτίνα κάθε δείγματος</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Random Forest:  </a:t>
            </a:r>
            <a:r>
              <a:rPr lang="en-US" sz="1833">
                <a:solidFill>
                  <a:srgbClr val="695C4A"/>
                </a:solidFill>
                <a:latin typeface="Glacial Indifference"/>
                <a:ea typeface="Glacial Indifference"/>
                <a:cs typeface="Glacial Indifference"/>
                <a:sym typeface="Glacial Indifference"/>
              </a:rPr>
              <a:t>χρησιμοποιήθηκαν </a:t>
            </a:r>
            <a:r>
              <a:rPr lang="en-US" b="true" sz="1833">
                <a:solidFill>
                  <a:srgbClr val="695C4A"/>
                </a:solidFill>
                <a:latin typeface="Glacial Indifference Bold"/>
                <a:ea typeface="Glacial Indifference Bold"/>
                <a:cs typeface="Glacial Indifference Bold"/>
                <a:sym typeface="Glacial Indifference Bold"/>
              </a:rPr>
              <a:t>n_estimators=200</a:t>
            </a:r>
            <a:r>
              <a:rPr lang="en-US" sz="1833">
                <a:solidFill>
                  <a:srgbClr val="695C4A"/>
                </a:solidFill>
                <a:latin typeface="Glacial Indifference"/>
                <a:ea typeface="Glacial Indifference"/>
                <a:cs typeface="Glacial Indifference"/>
                <a:sym typeface="Glacial Indifference"/>
              </a:rPr>
              <a:t> ως </a:t>
            </a:r>
            <a:r>
              <a:rPr lang="en-US" b="true" sz="1833">
                <a:solidFill>
                  <a:srgbClr val="695C4A"/>
                </a:solidFill>
                <a:latin typeface="Glacial Indifference Bold"/>
                <a:ea typeface="Glacial Indifference Bold"/>
                <a:cs typeface="Glacial Indifference Bold"/>
                <a:sym typeface="Glacial Indifference Bold"/>
              </a:rPr>
              <a:t>πλήθος των δέντρων</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απόφασης </a:t>
            </a:r>
            <a:r>
              <a:rPr lang="en-US" sz="1833">
                <a:solidFill>
                  <a:srgbClr val="695C4A"/>
                </a:solidFill>
                <a:latin typeface="Glacial Indifference"/>
                <a:ea typeface="Glacial Indifference"/>
                <a:cs typeface="Glacial Indifference"/>
                <a:sym typeface="Glacial Indifference"/>
              </a:rPr>
              <a:t>στο δάσος και </a:t>
            </a:r>
            <a:r>
              <a:rPr lang="en-US" b="true" sz="1833">
                <a:solidFill>
                  <a:srgbClr val="695C4A"/>
                </a:solidFill>
                <a:latin typeface="Glacial Indifference Bold"/>
                <a:ea typeface="Glacial Indifference Bold"/>
                <a:cs typeface="Glacial Indifference Bold"/>
                <a:sym typeface="Glacial Indifference Bold"/>
              </a:rPr>
              <a:t>min_samples_split = 2</a:t>
            </a:r>
            <a:r>
              <a:rPr lang="en-US" sz="1833">
                <a:solidFill>
                  <a:srgbClr val="695C4A"/>
                </a:solidFill>
                <a:latin typeface="Glacial Indifference"/>
                <a:ea typeface="Glacial Indifference"/>
                <a:cs typeface="Glacial Indifference"/>
                <a:sym typeface="Glacial Indifference"/>
              </a:rPr>
              <a:t> για τον </a:t>
            </a:r>
            <a:r>
              <a:rPr lang="en-US" b="true" sz="1833">
                <a:solidFill>
                  <a:srgbClr val="695C4A"/>
                </a:solidFill>
                <a:latin typeface="Glacial Indifference Bold"/>
                <a:ea typeface="Glacial Indifference Bold"/>
                <a:cs typeface="Glacial Indifference Bold"/>
                <a:sym typeface="Glacial Indifference Bold"/>
              </a:rPr>
              <a:t>ελάχιστο αριθμό δειγμάτων</a:t>
            </a:r>
            <a:r>
              <a:rPr lang="en-US" sz="1833">
                <a:solidFill>
                  <a:srgbClr val="695C4A"/>
                </a:solidFill>
                <a:latin typeface="Glacial Indifference"/>
                <a:ea typeface="Glacial Indifference"/>
                <a:cs typeface="Glacial Indifference"/>
                <a:sym typeface="Glacial Indifference"/>
              </a:rPr>
              <a:t> για να διασπαστεί ένας κόμβος του δέντρου</a:t>
            </a:r>
          </a:p>
          <a:p>
            <a:pPr algn="l" marL="395921" indent="-197961" lvl="1">
              <a:lnSpc>
                <a:spcPts val="2567"/>
              </a:lnSpc>
              <a:buFont typeface="Arial"/>
              <a:buChar char="•"/>
            </a:pPr>
            <a:r>
              <a:rPr lang="en-US" b="true" sz="1833">
                <a:solidFill>
                  <a:srgbClr val="695C4A"/>
                </a:solidFill>
                <a:latin typeface="Glacial Indifference Bold"/>
                <a:ea typeface="Glacial Indifference Bold"/>
                <a:cs typeface="Glacial Indifference Bold"/>
                <a:sym typeface="Glacial Indifference Bold"/>
              </a:rPr>
              <a:t>XGBoost: </a:t>
            </a:r>
            <a:r>
              <a:rPr lang="en-US" sz="1833">
                <a:solidFill>
                  <a:srgbClr val="695C4A"/>
                </a:solidFill>
                <a:latin typeface="Glacial Indifference"/>
                <a:ea typeface="Glacial Indifference"/>
                <a:cs typeface="Glacial Indifference"/>
                <a:sym typeface="Glacial Indifference"/>
              </a:rPr>
              <a:t> χρησιμοποιήθηκαν </a:t>
            </a:r>
            <a:r>
              <a:rPr lang="en-US" b="true" sz="1833">
                <a:solidFill>
                  <a:srgbClr val="695C4A"/>
                </a:solidFill>
                <a:latin typeface="Glacial Indifference Bold"/>
                <a:ea typeface="Glacial Indifference Bold"/>
                <a:cs typeface="Glacial Indifference Bold"/>
                <a:sym typeface="Glacial Indifference Bold"/>
              </a:rPr>
              <a:t>n_estimators=200</a:t>
            </a:r>
            <a:r>
              <a:rPr lang="en-US" sz="1833">
                <a:solidFill>
                  <a:srgbClr val="695C4A"/>
                </a:solidFill>
                <a:latin typeface="Glacial Indifference"/>
                <a:ea typeface="Glacial Indifference"/>
                <a:cs typeface="Glacial Indifference"/>
                <a:sym typeface="Glacial Indifference"/>
              </a:rPr>
              <a:t> ως </a:t>
            </a:r>
            <a:r>
              <a:rPr lang="en-US" b="true" sz="1833">
                <a:solidFill>
                  <a:srgbClr val="695C4A"/>
                </a:solidFill>
                <a:latin typeface="Glacial Indifference Bold"/>
                <a:ea typeface="Glacial Indifference Bold"/>
                <a:cs typeface="Glacial Indifference Bold"/>
                <a:sym typeface="Glacial Indifference Bold"/>
              </a:rPr>
              <a:t>πλήθος των δέντρων απόφασης </a:t>
            </a:r>
            <a:r>
              <a:rPr lang="en-US" sz="1833">
                <a:solidFill>
                  <a:srgbClr val="695C4A"/>
                </a:solidFill>
                <a:latin typeface="Glacial Indifference"/>
                <a:ea typeface="Glacial Indifference"/>
                <a:cs typeface="Glacial Indifference"/>
                <a:sym typeface="Glacial Indifference"/>
              </a:rPr>
              <a:t>στο δάσος, </a:t>
            </a:r>
            <a:r>
              <a:rPr lang="en-US" b="true" sz="1833">
                <a:solidFill>
                  <a:srgbClr val="695C4A"/>
                </a:solidFill>
                <a:latin typeface="Glacial Indifference Bold"/>
                <a:ea typeface="Glacial Indifference Bold"/>
                <a:cs typeface="Glacial Indifference Bold"/>
                <a:sym typeface="Glacial Indifference Bold"/>
              </a:rPr>
              <a:t>learning_rate = 0.1</a:t>
            </a:r>
            <a:r>
              <a:rPr lang="en-US" sz="1833">
                <a:solidFill>
                  <a:srgbClr val="695C4A"/>
                </a:solidFill>
                <a:latin typeface="Glacial Indifference"/>
                <a:ea typeface="Glacial Indifference"/>
                <a:cs typeface="Glacial Indifference"/>
                <a:sym typeface="Glacial Indifference"/>
              </a:rPr>
              <a:t> για τον </a:t>
            </a:r>
            <a:r>
              <a:rPr lang="en-US" b="true" sz="1833">
                <a:solidFill>
                  <a:srgbClr val="695C4A"/>
                </a:solidFill>
                <a:latin typeface="Glacial Indifference Bold"/>
                <a:ea typeface="Glacial Indifference Bold"/>
                <a:cs typeface="Glacial Indifference Bold"/>
                <a:sym typeface="Glacial Indifference Bold"/>
              </a:rPr>
              <a:t>ρυθμό μάθησης</a:t>
            </a:r>
            <a:r>
              <a:rPr lang="en-US" sz="1833">
                <a:solidFill>
                  <a:srgbClr val="695C4A"/>
                </a:solidFill>
                <a:latin typeface="Glacial Indifference"/>
                <a:ea typeface="Glacial Indifference"/>
                <a:cs typeface="Glacial Indifference"/>
                <a:sym typeface="Glacial Indifference"/>
              </a:rPr>
              <a:t> και </a:t>
            </a:r>
            <a:r>
              <a:rPr lang="en-US" b="true" sz="1833">
                <a:solidFill>
                  <a:srgbClr val="695C4A"/>
                </a:solidFill>
                <a:latin typeface="Glacial Indifference Bold"/>
                <a:ea typeface="Glacial Indifference Bold"/>
                <a:cs typeface="Glacial Indifference Bold"/>
                <a:sym typeface="Glacial Indifference Bold"/>
              </a:rPr>
              <a:t>max_depth = 10 </a:t>
            </a:r>
            <a:r>
              <a:rPr lang="en-US" sz="1833">
                <a:solidFill>
                  <a:srgbClr val="695C4A"/>
                </a:solidFill>
                <a:latin typeface="Glacial Indifference"/>
                <a:ea typeface="Glacial Indifference"/>
                <a:cs typeface="Glacial Indifference"/>
                <a:sym typeface="Glacial Indifference"/>
              </a:rPr>
              <a:t>για το </a:t>
            </a:r>
            <a:r>
              <a:rPr lang="en-US" b="true" sz="1833">
                <a:solidFill>
                  <a:srgbClr val="695C4A"/>
                </a:solidFill>
                <a:latin typeface="Glacial Indifference Bold"/>
                <a:ea typeface="Glacial Indifference Bold"/>
                <a:cs typeface="Glacial Indifference Bold"/>
                <a:sym typeface="Glacial Indifference Bold"/>
              </a:rPr>
              <a:t>μέγιστο βάθος</a:t>
            </a:r>
            <a:r>
              <a:rPr lang="en-US" sz="1833">
                <a:solidFill>
                  <a:srgbClr val="695C4A"/>
                </a:solidFill>
                <a:latin typeface="Glacial Indifference"/>
                <a:ea typeface="Glacial Indifference"/>
                <a:cs typeface="Glacial Indifference"/>
                <a:sym typeface="Glacial Indifference"/>
              </a:rPr>
              <a:t> των δέντρων</a:t>
            </a:r>
          </a:p>
          <a:p>
            <a:pPr algn="l">
              <a:lnSpc>
                <a:spcPts val="2567"/>
              </a:lnSpc>
            </a:pPr>
          </a:p>
          <a:p>
            <a:pPr algn="l">
              <a:lnSpc>
                <a:spcPts val="2567"/>
              </a:lnSpc>
            </a:pPr>
            <a:r>
              <a:rPr lang="en-US" sz="1833">
                <a:solidFill>
                  <a:srgbClr val="695C4A"/>
                </a:solidFill>
                <a:latin typeface="Glacial Indifference"/>
                <a:ea typeface="Glacial Indifference"/>
                <a:cs typeface="Glacial Indifference"/>
                <a:sym typeface="Glacial Indifference"/>
              </a:rPr>
              <a:t>Επίσης, οι αριθμητικές τιμές των χαρακτηριστικών κανονικοποιήθηκαν στο διάστημα</a:t>
            </a:r>
            <a:r>
              <a:rPr lang="en-US" sz="1833" b="true">
                <a:solidFill>
                  <a:srgbClr val="695C4A"/>
                </a:solidFill>
                <a:latin typeface="Glacial Indifference Bold"/>
                <a:ea typeface="Glacial Indifference Bold"/>
                <a:cs typeface="Glacial Indifference Bold"/>
                <a:sym typeface="Glacial Indifference Bold"/>
              </a:rPr>
              <a:t> [-1, 1]</a:t>
            </a:r>
            <a:r>
              <a:rPr lang="en-US" sz="1833">
                <a:solidFill>
                  <a:srgbClr val="695C4A"/>
                </a:solidFill>
                <a:latin typeface="Glacial Indifference"/>
                <a:ea typeface="Glacial Indifference"/>
                <a:cs typeface="Glacial Indifference"/>
                <a:sym typeface="Glacial Indifference"/>
              </a:rPr>
              <a:t> με χρήση του </a:t>
            </a:r>
            <a:r>
              <a:rPr lang="en-US" sz="1833" b="true">
                <a:solidFill>
                  <a:srgbClr val="695C4A"/>
                </a:solidFill>
                <a:latin typeface="Glacial Indifference Bold"/>
                <a:ea typeface="Glacial Indifference Bold"/>
                <a:cs typeface="Glacial Indifference Bold"/>
                <a:sym typeface="Glacial Indifference Bold"/>
              </a:rPr>
              <a:t>Min-Max Scaler, </a:t>
            </a:r>
            <a:r>
              <a:rPr lang="en-US" sz="1833">
                <a:solidFill>
                  <a:srgbClr val="695C4A"/>
                </a:solidFill>
                <a:latin typeface="Glacial Indifference"/>
                <a:ea typeface="Glacial Indifference"/>
                <a:cs typeface="Glacial Indifference"/>
                <a:sym typeface="Glacial Indifference"/>
              </a:rPr>
              <a:t>προκειμένου οι αλγόριθμοι που είναι ευαίσθητοι στο εύρος των τιμών των χαρακτηριστικών και βασίζονται σε αποστάσεις (k-NN, SVM) να λειτουργούν αντικειμενικά.</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1845139" y="1239150"/>
            <a:ext cx="6319458" cy="0"/>
          </a:xfrm>
          <a:prstGeom prst="line">
            <a:avLst/>
          </a:prstGeom>
          <a:ln cap="flat" w="38100">
            <a:solidFill>
              <a:srgbClr val="827564"/>
            </a:solidFill>
            <a:prstDash val="solid"/>
            <a:headEnd type="oval" len="lg" w="lg"/>
            <a:tailEnd type="oval" len="lg" w="lg"/>
          </a:ln>
        </p:spPr>
      </p:sp>
      <p:sp>
        <p:nvSpPr>
          <p:cNvPr name="AutoShape 3" id="3"/>
          <p:cNvSpPr/>
          <p:nvPr/>
        </p:nvSpPr>
        <p:spPr>
          <a:xfrm flipH="true">
            <a:off x="9960439" y="1239150"/>
            <a:ext cx="6319458" cy="0"/>
          </a:xfrm>
          <a:prstGeom prst="line">
            <a:avLst/>
          </a:prstGeom>
          <a:ln cap="flat" w="38100">
            <a:solidFill>
              <a:srgbClr val="827564"/>
            </a:solidFill>
            <a:prstDash val="solid"/>
            <a:headEnd type="oval" len="lg" w="lg"/>
            <a:tailEnd type="oval" len="lg" w="lg"/>
          </a:ln>
        </p:spPr>
      </p:sp>
      <p:sp>
        <p:nvSpPr>
          <p:cNvPr name="Freeform 4" id="4"/>
          <p:cNvSpPr/>
          <p:nvPr/>
        </p:nvSpPr>
        <p:spPr>
          <a:xfrm flipH="false" flipV="false" rot="0">
            <a:off x="1771886" y="1575465"/>
            <a:ext cx="6010664" cy="2042551"/>
          </a:xfrm>
          <a:custGeom>
            <a:avLst/>
            <a:gdLst/>
            <a:ahLst/>
            <a:cxnLst/>
            <a:rect r="r" b="b" t="t" l="l"/>
            <a:pathLst>
              <a:path h="2042551" w="6010664">
                <a:moveTo>
                  <a:pt x="0" y="0"/>
                </a:moveTo>
                <a:lnTo>
                  <a:pt x="6010664" y="0"/>
                </a:lnTo>
                <a:lnTo>
                  <a:pt x="6010664" y="2042551"/>
                </a:lnTo>
                <a:lnTo>
                  <a:pt x="0" y="2042551"/>
                </a:lnTo>
                <a:lnTo>
                  <a:pt x="0" y="0"/>
                </a:lnTo>
                <a:close/>
              </a:path>
            </a:pathLst>
          </a:custGeom>
          <a:blipFill>
            <a:blip r:embed="rId2"/>
            <a:stretch>
              <a:fillRect l="-3734" t="0" r="0" b="0"/>
            </a:stretch>
          </a:blipFill>
        </p:spPr>
      </p:sp>
      <p:sp>
        <p:nvSpPr>
          <p:cNvPr name="Freeform 5" id="5"/>
          <p:cNvSpPr/>
          <p:nvPr/>
        </p:nvSpPr>
        <p:spPr>
          <a:xfrm flipH="false" flipV="false" rot="0">
            <a:off x="1437853" y="3584094"/>
            <a:ext cx="7317447" cy="2093521"/>
          </a:xfrm>
          <a:custGeom>
            <a:avLst/>
            <a:gdLst/>
            <a:ahLst/>
            <a:cxnLst/>
            <a:rect r="r" b="b" t="t" l="l"/>
            <a:pathLst>
              <a:path h="2093521" w="7317447">
                <a:moveTo>
                  <a:pt x="0" y="0"/>
                </a:moveTo>
                <a:lnTo>
                  <a:pt x="7317447" y="0"/>
                </a:lnTo>
                <a:lnTo>
                  <a:pt x="7317447" y="2093521"/>
                </a:lnTo>
                <a:lnTo>
                  <a:pt x="0" y="2093521"/>
                </a:lnTo>
                <a:lnTo>
                  <a:pt x="0" y="0"/>
                </a:lnTo>
                <a:close/>
              </a:path>
            </a:pathLst>
          </a:custGeom>
          <a:blipFill>
            <a:blip r:embed="rId3"/>
            <a:stretch>
              <a:fillRect l="0" t="0" r="0" b="0"/>
            </a:stretch>
          </a:blipFill>
        </p:spPr>
      </p:sp>
      <p:sp>
        <p:nvSpPr>
          <p:cNvPr name="Freeform 6" id="6"/>
          <p:cNvSpPr/>
          <p:nvPr/>
        </p:nvSpPr>
        <p:spPr>
          <a:xfrm flipH="false" flipV="false" rot="0">
            <a:off x="1437853" y="5602263"/>
            <a:ext cx="7317447" cy="2120285"/>
          </a:xfrm>
          <a:custGeom>
            <a:avLst/>
            <a:gdLst/>
            <a:ahLst/>
            <a:cxnLst/>
            <a:rect r="r" b="b" t="t" l="l"/>
            <a:pathLst>
              <a:path h="2120285" w="7317447">
                <a:moveTo>
                  <a:pt x="0" y="0"/>
                </a:moveTo>
                <a:lnTo>
                  <a:pt x="7317447" y="0"/>
                </a:lnTo>
                <a:lnTo>
                  <a:pt x="7317447" y="2120284"/>
                </a:lnTo>
                <a:lnTo>
                  <a:pt x="0" y="2120284"/>
                </a:lnTo>
                <a:lnTo>
                  <a:pt x="0" y="0"/>
                </a:lnTo>
                <a:close/>
              </a:path>
            </a:pathLst>
          </a:custGeom>
          <a:blipFill>
            <a:blip r:embed="rId4"/>
            <a:stretch>
              <a:fillRect l="0" t="0" r="0" b="0"/>
            </a:stretch>
          </a:blipFill>
        </p:spPr>
      </p:sp>
      <p:sp>
        <p:nvSpPr>
          <p:cNvPr name="Freeform 7" id="7"/>
          <p:cNvSpPr/>
          <p:nvPr/>
        </p:nvSpPr>
        <p:spPr>
          <a:xfrm flipH="false" flipV="false" rot="0">
            <a:off x="9532700" y="3559712"/>
            <a:ext cx="7317447" cy="2086501"/>
          </a:xfrm>
          <a:custGeom>
            <a:avLst/>
            <a:gdLst/>
            <a:ahLst/>
            <a:cxnLst/>
            <a:rect r="r" b="b" t="t" l="l"/>
            <a:pathLst>
              <a:path h="2086501" w="7317447">
                <a:moveTo>
                  <a:pt x="0" y="0"/>
                </a:moveTo>
                <a:lnTo>
                  <a:pt x="7317447" y="0"/>
                </a:lnTo>
                <a:lnTo>
                  <a:pt x="7317447" y="2086501"/>
                </a:lnTo>
                <a:lnTo>
                  <a:pt x="0" y="2086501"/>
                </a:lnTo>
                <a:lnTo>
                  <a:pt x="0" y="0"/>
                </a:lnTo>
                <a:close/>
              </a:path>
            </a:pathLst>
          </a:custGeom>
          <a:blipFill>
            <a:blip r:embed="rId5"/>
            <a:stretch>
              <a:fillRect l="0" t="0" r="0" b="0"/>
            </a:stretch>
          </a:blipFill>
        </p:spPr>
      </p:sp>
      <p:sp>
        <p:nvSpPr>
          <p:cNvPr name="Freeform 8" id="8"/>
          <p:cNvSpPr/>
          <p:nvPr/>
        </p:nvSpPr>
        <p:spPr>
          <a:xfrm flipH="false" flipV="false" rot="0">
            <a:off x="9410783" y="5617618"/>
            <a:ext cx="7272098" cy="2055371"/>
          </a:xfrm>
          <a:custGeom>
            <a:avLst/>
            <a:gdLst/>
            <a:ahLst/>
            <a:cxnLst/>
            <a:rect r="r" b="b" t="t" l="l"/>
            <a:pathLst>
              <a:path h="2055371" w="7272098">
                <a:moveTo>
                  <a:pt x="0" y="0"/>
                </a:moveTo>
                <a:lnTo>
                  <a:pt x="7272098" y="0"/>
                </a:lnTo>
                <a:lnTo>
                  <a:pt x="7272098" y="2055371"/>
                </a:lnTo>
                <a:lnTo>
                  <a:pt x="0" y="2055371"/>
                </a:lnTo>
                <a:lnTo>
                  <a:pt x="0" y="0"/>
                </a:lnTo>
                <a:close/>
              </a:path>
            </a:pathLst>
          </a:custGeom>
          <a:blipFill>
            <a:blip r:embed="rId6"/>
            <a:stretch>
              <a:fillRect l="0" t="0" r="0" b="0"/>
            </a:stretch>
          </a:blipFill>
        </p:spPr>
      </p:sp>
      <p:sp>
        <p:nvSpPr>
          <p:cNvPr name="Freeform 9" id="9"/>
          <p:cNvSpPr/>
          <p:nvPr/>
        </p:nvSpPr>
        <p:spPr>
          <a:xfrm flipH="false" flipV="false" rot="0">
            <a:off x="9410783" y="7648249"/>
            <a:ext cx="7272098" cy="2098659"/>
          </a:xfrm>
          <a:custGeom>
            <a:avLst/>
            <a:gdLst/>
            <a:ahLst/>
            <a:cxnLst/>
            <a:rect r="r" b="b" t="t" l="l"/>
            <a:pathLst>
              <a:path h="2098659" w="7272098">
                <a:moveTo>
                  <a:pt x="0" y="0"/>
                </a:moveTo>
                <a:lnTo>
                  <a:pt x="7272098" y="0"/>
                </a:lnTo>
                <a:lnTo>
                  <a:pt x="7272098" y="2098659"/>
                </a:lnTo>
                <a:lnTo>
                  <a:pt x="0" y="2098659"/>
                </a:lnTo>
                <a:lnTo>
                  <a:pt x="0" y="0"/>
                </a:lnTo>
                <a:close/>
              </a:path>
            </a:pathLst>
          </a:custGeom>
          <a:blipFill>
            <a:blip r:embed="rId7"/>
            <a:stretch>
              <a:fillRect l="0" t="0" r="0" b="0"/>
            </a:stretch>
          </a:blipFill>
        </p:spPr>
      </p:sp>
      <p:sp>
        <p:nvSpPr>
          <p:cNvPr name="Freeform 10" id="10"/>
          <p:cNvSpPr/>
          <p:nvPr/>
        </p:nvSpPr>
        <p:spPr>
          <a:xfrm flipH="false" flipV="false" rot="0">
            <a:off x="9784179" y="1575465"/>
            <a:ext cx="6128394" cy="1883673"/>
          </a:xfrm>
          <a:custGeom>
            <a:avLst/>
            <a:gdLst/>
            <a:ahLst/>
            <a:cxnLst/>
            <a:rect r="r" b="b" t="t" l="l"/>
            <a:pathLst>
              <a:path h="1883673" w="6128394">
                <a:moveTo>
                  <a:pt x="0" y="0"/>
                </a:moveTo>
                <a:lnTo>
                  <a:pt x="6128394" y="0"/>
                </a:lnTo>
                <a:lnTo>
                  <a:pt x="6128394" y="1883673"/>
                </a:lnTo>
                <a:lnTo>
                  <a:pt x="0" y="1883673"/>
                </a:lnTo>
                <a:lnTo>
                  <a:pt x="0" y="0"/>
                </a:lnTo>
                <a:close/>
              </a:path>
            </a:pathLst>
          </a:custGeom>
          <a:blipFill>
            <a:blip r:embed="rId8"/>
            <a:stretch>
              <a:fillRect l="-1824" t="0" r="0" b="0"/>
            </a:stretch>
          </a:blipFill>
        </p:spPr>
      </p:sp>
      <p:sp>
        <p:nvSpPr>
          <p:cNvPr name="Freeform 11" id="11"/>
          <p:cNvSpPr/>
          <p:nvPr/>
        </p:nvSpPr>
        <p:spPr>
          <a:xfrm flipH="false" flipV="false" rot="0">
            <a:off x="1437853" y="7789322"/>
            <a:ext cx="7354077" cy="2048848"/>
          </a:xfrm>
          <a:custGeom>
            <a:avLst/>
            <a:gdLst/>
            <a:ahLst/>
            <a:cxnLst/>
            <a:rect r="r" b="b" t="t" l="l"/>
            <a:pathLst>
              <a:path h="2048848" w="7354077">
                <a:moveTo>
                  <a:pt x="0" y="0"/>
                </a:moveTo>
                <a:lnTo>
                  <a:pt x="7354077" y="0"/>
                </a:lnTo>
                <a:lnTo>
                  <a:pt x="7354077" y="2048848"/>
                </a:lnTo>
                <a:lnTo>
                  <a:pt x="0" y="2048848"/>
                </a:lnTo>
                <a:lnTo>
                  <a:pt x="0" y="0"/>
                </a:lnTo>
                <a:close/>
              </a:path>
            </a:pathLst>
          </a:custGeom>
          <a:blipFill>
            <a:blip r:embed="rId9"/>
            <a:stretch>
              <a:fillRect l="0" t="0" r="0" b="0"/>
            </a:stretch>
          </a:blipFill>
        </p:spPr>
      </p:sp>
      <p:sp>
        <p:nvSpPr>
          <p:cNvPr name="TextBox 12" id="12"/>
          <p:cNvSpPr txBox="true"/>
          <p:nvPr/>
        </p:nvSpPr>
        <p:spPr>
          <a:xfrm rot="0">
            <a:off x="1760212" y="3494191"/>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NORMAL</a:t>
            </a:r>
          </a:p>
        </p:txBody>
      </p:sp>
      <p:sp>
        <p:nvSpPr>
          <p:cNvPr name="TextBox 13" id="13"/>
          <p:cNvSpPr txBox="true"/>
          <p:nvPr/>
        </p:nvSpPr>
        <p:spPr>
          <a:xfrm rot="0">
            <a:off x="1845139" y="497929"/>
            <a:ext cx="7425418" cy="572389"/>
          </a:xfrm>
          <a:prstGeom prst="rect">
            <a:avLst/>
          </a:prstGeom>
        </p:spPr>
        <p:txBody>
          <a:bodyPr anchor="t" rtlCol="false" tIns="0" lIns="0" bIns="0" rIns="0">
            <a:spAutoFit/>
          </a:bodyPr>
          <a:lstStyle/>
          <a:p>
            <a:pPr algn="l">
              <a:lnSpc>
                <a:spcPts val="4675"/>
              </a:lnSpc>
              <a:spcBef>
                <a:spcPct val="0"/>
              </a:spcBef>
            </a:pPr>
            <a:r>
              <a:rPr lang="en-US" b="true" sz="3339" spc="1402">
                <a:solidFill>
                  <a:srgbClr val="827564"/>
                </a:solidFill>
                <a:latin typeface="Open Sauce Bold"/>
                <a:ea typeface="Open Sauce Bold"/>
                <a:cs typeface="Open Sauce Bold"/>
                <a:sym typeface="Open Sauce Bold"/>
              </a:rPr>
              <a:t>ΑΞΙΟΛΟΓΗΣΗ K-NN</a:t>
            </a:r>
          </a:p>
        </p:txBody>
      </p:sp>
      <p:sp>
        <p:nvSpPr>
          <p:cNvPr name="TextBox 14" id="14"/>
          <p:cNvSpPr txBox="true"/>
          <p:nvPr/>
        </p:nvSpPr>
        <p:spPr>
          <a:xfrm rot="0">
            <a:off x="1760212" y="5553790"/>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CRACKLE</a:t>
            </a:r>
          </a:p>
        </p:txBody>
      </p:sp>
      <p:sp>
        <p:nvSpPr>
          <p:cNvPr name="TextBox 15" id="15"/>
          <p:cNvSpPr txBox="true"/>
          <p:nvPr/>
        </p:nvSpPr>
        <p:spPr>
          <a:xfrm rot="0">
            <a:off x="1760212" y="7540148"/>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WHEEZE</a:t>
            </a:r>
          </a:p>
        </p:txBody>
      </p:sp>
      <p:sp>
        <p:nvSpPr>
          <p:cNvPr name="TextBox 16" id="16"/>
          <p:cNvSpPr txBox="true"/>
          <p:nvPr/>
        </p:nvSpPr>
        <p:spPr>
          <a:xfrm rot="0">
            <a:off x="1771886" y="1514122"/>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TOTAL</a:t>
            </a:r>
          </a:p>
        </p:txBody>
      </p:sp>
      <p:sp>
        <p:nvSpPr>
          <p:cNvPr name="TextBox 17" id="17"/>
          <p:cNvSpPr txBox="true"/>
          <p:nvPr/>
        </p:nvSpPr>
        <p:spPr>
          <a:xfrm rot="0">
            <a:off x="9916652" y="3469808"/>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NORMAL</a:t>
            </a:r>
          </a:p>
        </p:txBody>
      </p:sp>
      <p:sp>
        <p:nvSpPr>
          <p:cNvPr name="TextBox 18" id="18"/>
          <p:cNvSpPr txBox="true"/>
          <p:nvPr/>
        </p:nvSpPr>
        <p:spPr>
          <a:xfrm rot="0">
            <a:off x="9960439" y="463892"/>
            <a:ext cx="6340052" cy="573406"/>
          </a:xfrm>
          <a:prstGeom prst="rect">
            <a:avLst/>
          </a:prstGeom>
        </p:spPr>
        <p:txBody>
          <a:bodyPr anchor="t" rtlCol="false" tIns="0" lIns="0" bIns="0" rIns="0">
            <a:spAutoFit/>
          </a:bodyPr>
          <a:lstStyle/>
          <a:p>
            <a:pPr algn="l">
              <a:lnSpc>
                <a:spcPts val="4619"/>
              </a:lnSpc>
              <a:spcBef>
                <a:spcPct val="0"/>
              </a:spcBef>
            </a:pPr>
            <a:r>
              <a:rPr lang="en-US" b="true" sz="3299" spc="1385">
                <a:solidFill>
                  <a:srgbClr val="827564"/>
                </a:solidFill>
                <a:latin typeface="Open Sauce Bold"/>
                <a:ea typeface="Open Sauce Bold"/>
                <a:cs typeface="Open Sauce Bold"/>
                <a:sym typeface="Open Sauce Bold"/>
              </a:rPr>
              <a:t>ΑΞΙΟΛΟΓΗΣΗ SVM</a:t>
            </a:r>
          </a:p>
        </p:txBody>
      </p:sp>
      <p:sp>
        <p:nvSpPr>
          <p:cNvPr name="TextBox 19" id="19"/>
          <p:cNvSpPr txBox="true"/>
          <p:nvPr/>
        </p:nvSpPr>
        <p:spPr>
          <a:xfrm rot="0">
            <a:off x="9916652" y="5529408"/>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CRACKLE</a:t>
            </a:r>
          </a:p>
        </p:txBody>
      </p:sp>
      <p:sp>
        <p:nvSpPr>
          <p:cNvPr name="TextBox 20" id="20"/>
          <p:cNvSpPr txBox="true"/>
          <p:nvPr/>
        </p:nvSpPr>
        <p:spPr>
          <a:xfrm rot="0">
            <a:off x="9916652" y="7515766"/>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WHEEZE</a:t>
            </a:r>
          </a:p>
        </p:txBody>
      </p:sp>
      <p:sp>
        <p:nvSpPr>
          <p:cNvPr name="TextBox 21" id="21"/>
          <p:cNvSpPr txBox="true"/>
          <p:nvPr/>
        </p:nvSpPr>
        <p:spPr>
          <a:xfrm rot="0">
            <a:off x="9784179" y="1451640"/>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TOTAL</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1900240" y="1444117"/>
            <a:ext cx="6319458" cy="0"/>
          </a:xfrm>
          <a:prstGeom prst="line">
            <a:avLst/>
          </a:prstGeom>
          <a:ln cap="flat" w="38100">
            <a:solidFill>
              <a:srgbClr val="827564"/>
            </a:solidFill>
            <a:prstDash val="solid"/>
            <a:headEnd type="oval" len="lg" w="lg"/>
            <a:tailEnd type="oval" len="lg" w="lg"/>
          </a:ln>
        </p:spPr>
      </p:sp>
      <p:sp>
        <p:nvSpPr>
          <p:cNvPr name="AutoShape 3" id="3"/>
          <p:cNvSpPr/>
          <p:nvPr/>
        </p:nvSpPr>
        <p:spPr>
          <a:xfrm flipH="true">
            <a:off x="10015540" y="1444117"/>
            <a:ext cx="6319458" cy="0"/>
          </a:xfrm>
          <a:prstGeom prst="line">
            <a:avLst/>
          </a:prstGeom>
          <a:ln cap="flat" w="38100">
            <a:solidFill>
              <a:srgbClr val="827564"/>
            </a:solidFill>
            <a:prstDash val="solid"/>
            <a:headEnd type="oval" len="lg" w="lg"/>
            <a:tailEnd type="oval" len="lg" w="lg"/>
          </a:ln>
        </p:spPr>
      </p:sp>
      <p:sp>
        <p:nvSpPr>
          <p:cNvPr name="Freeform 4" id="4"/>
          <p:cNvSpPr/>
          <p:nvPr/>
        </p:nvSpPr>
        <p:spPr>
          <a:xfrm flipH="false" flipV="false" rot="0">
            <a:off x="9869291" y="1741308"/>
            <a:ext cx="6374394" cy="2194394"/>
          </a:xfrm>
          <a:custGeom>
            <a:avLst/>
            <a:gdLst/>
            <a:ahLst/>
            <a:cxnLst/>
            <a:rect r="r" b="b" t="t" l="l"/>
            <a:pathLst>
              <a:path h="2194394" w="6374394">
                <a:moveTo>
                  <a:pt x="0" y="0"/>
                </a:moveTo>
                <a:lnTo>
                  <a:pt x="6374394" y="0"/>
                </a:lnTo>
                <a:lnTo>
                  <a:pt x="6374394" y="2194394"/>
                </a:lnTo>
                <a:lnTo>
                  <a:pt x="0" y="2194394"/>
                </a:lnTo>
                <a:lnTo>
                  <a:pt x="0" y="0"/>
                </a:lnTo>
                <a:close/>
              </a:path>
            </a:pathLst>
          </a:custGeom>
          <a:blipFill>
            <a:blip r:embed="rId2"/>
            <a:stretch>
              <a:fillRect l="-1506" t="0" r="0" b="0"/>
            </a:stretch>
          </a:blipFill>
        </p:spPr>
      </p:sp>
      <p:sp>
        <p:nvSpPr>
          <p:cNvPr name="Freeform 5" id="5"/>
          <p:cNvSpPr/>
          <p:nvPr/>
        </p:nvSpPr>
        <p:spPr>
          <a:xfrm flipH="false" flipV="false" rot="0">
            <a:off x="1323012" y="3836564"/>
            <a:ext cx="7694704" cy="2071253"/>
          </a:xfrm>
          <a:custGeom>
            <a:avLst/>
            <a:gdLst/>
            <a:ahLst/>
            <a:cxnLst/>
            <a:rect r="r" b="b" t="t" l="l"/>
            <a:pathLst>
              <a:path h="2071253" w="7694704">
                <a:moveTo>
                  <a:pt x="0" y="0"/>
                </a:moveTo>
                <a:lnTo>
                  <a:pt x="7694704" y="0"/>
                </a:lnTo>
                <a:lnTo>
                  <a:pt x="7694704" y="2071252"/>
                </a:lnTo>
                <a:lnTo>
                  <a:pt x="0" y="2071252"/>
                </a:lnTo>
                <a:lnTo>
                  <a:pt x="0" y="0"/>
                </a:lnTo>
                <a:close/>
              </a:path>
            </a:pathLst>
          </a:custGeom>
          <a:blipFill>
            <a:blip r:embed="rId3"/>
            <a:stretch>
              <a:fillRect l="0" t="0" r="0" b="0"/>
            </a:stretch>
          </a:blipFill>
        </p:spPr>
      </p:sp>
      <p:sp>
        <p:nvSpPr>
          <p:cNvPr name="Freeform 6" id="6"/>
          <p:cNvSpPr/>
          <p:nvPr/>
        </p:nvSpPr>
        <p:spPr>
          <a:xfrm flipH="false" flipV="false" rot="0">
            <a:off x="1323012" y="5746685"/>
            <a:ext cx="7730514" cy="2236959"/>
          </a:xfrm>
          <a:custGeom>
            <a:avLst/>
            <a:gdLst/>
            <a:ahLst/>
            <a:cxnLst/>
            <a:rect r="r" b="b" t="t" l="l"/>
            <a:pathLst>
              <a:path h="2236959" w="7730514">
                <a:moveTo>
                  <a:pt x="0" y="0"/>
                </a:moveTo>
                <a:lnTo>
                  <a:pt x="7730514" y="0"/>
                </a:lnTo>
                <a:lnTo>
                  <a:pt x="7730514" y="2236959"/>
                </a:lnTo>
                <a:lnTo>
                  <a:pt x="0" y="2236959"/>
                </a:lnTo>
                <a:lnTo>
                  <a:pt x="0" y="0"/>
                </a:lnTo>
                <a:close/>
              </a:path>
            </a:pathLst>
          </a:custGeom>
          <a:blipFill>
            <a:blip r:embed="rId4"/>
            <a:stretch>
              <a:fillRect l="0" t="0" r="0" b="0"/>
            </a:stretch>
          </a:blipFill>
        </p:spPr>
      </p:sp>
      <p:sp>
        <p:nvSpPr>
          <p:cNvPr name="Freeform 7" id="7"/>
          <p:cNvSpPr/>
          <p:nvPr/>
        </p:nvSpPr>
        <p:spPr>
          <a:xfrm flipH="false" flipV="false" rot="0">
            <a:off x="1210358" y="7819033"/>
            <a:ext cx="7644006" cy="2173602"/>
          </a:xfrm>
          <a:custGeom>
            <a:avLst/>
            <a:gdLst/>
            <a:ahLst/>
            <a:cxnLst/>
            <a:rect r="r" b="b" t="t" l="l"/>
            <a:pathLst>
              <a:path h="2173602" w="7644006">
                <a:moveTo>
                  <a:pt x="0" y="0"/>
                </a:moveTo>
                <a:lnTo>
                  <a:pt x="7644006" y="0"/>
                </a:lnTo>
                <a:lnTo>
                  <a:pt x="7644006" y="2173602"/>
                </a:lnTo>
                <a:lnTo>
                  <a:pt x="0" y="2173602"/>
                </a:lnTo>
                <a:lnTo>
                  <a:pt x="0" y="0"/>
                </a:lnTo>
                <a:close/>
              </a:path>
            </a:pathLst>
          </a:custGeom>
          <a:blipFill>
            <a:blip r:embed="rId5"/>
            <a:stretch>
              <a:fillRect l="0" t="0" r="0" b="0"/>
            </a:stretch>
          </a:blipFill>
        </p:spPr>
      </p:sp>
      <p:sp>
        <p:nvSpPr>
          <p:cNvPr name="Freeform 8" id="8"/>
          <p:cNvSpPr/>
          <p:nvPr/>
        </p:nvSpPr>
        <p:spPr>
          <a:xfrm flipH="false" flipV="false" rot="0">
            <a:off x="9489725" y="3588347"/>
            <a:ext cx="7587917" cy="2382729"/>
          </a:xfrm>
          <a:custGeom>
            <a:avLst/>
            <a:gdLst/>
            <a:ahLst/>
            <a:cxnLst/>
            <a:rect r="r" b="b" t="t" l="l"/>
            <a:pathLst>
              <a:path h="2382729" w="7587917">
                <a:moveTo>
                  <a:pt x="0" y="0"/>
                </a:moveTo>
                <a:lnTo>
                  <a:pt x="7587917" y="0"/>
                </a:lnTo>
                <a:lnTo>
                  <a:pt x="7587917" y="2382729"/>
                </a:lnTo>
                <a:lnTo>
                  <a:pt x="0" y="2382729"/>
                </a:lnTo>
                <a:lnTo>
                  <a:pt x="0" y="0"/>
                </a:lnTo>
                <a:close/>
              </a:path>
            </a:pathLst>
          </a:custGeom>
          <a:blipFill>
            <a:blip r:embed="rId6"/>
            <a:stretch>
              <a:fillRect l="0" t="0" r="0" b="0"/>
            </a:stretch>
          </a:blipFill>
        </p:spPr>
      </p:sp>
      <p:sp>
        <p:nvSpPr>
          <p:cNvPr name="Freeform 9" id="9"/>
          <p:cNvSpPr/>
          <p:nvPr/>
        </p:nvSpPr>
        <p:spPr>
          <a:xfrm flipH="false" flipV="false" rot="0">
            <a:off x="9587867" y="5716623"/>
            <a:ext cx="7391634" cy="2240811"/>
          </a:xfrm>
          <a:custGeom>
            <a:avLst/>
            <a:gdLst/>
            <a:ahLst/>
            <a:cxnLst/>
            <a:rect r="r" b="b" t="t" l="l"/>
            <a:pathLst>
              <a:path h="2240811" w="7391634">
                <a:moveTo>
                  <a:pt x="0" y="0"/>
                </a:moveTo>
                <a:lnTo>
                  <a:pt x="7391633" y="0"/>
                </a:lnTo>
                <a:lnTo>
                  <a:pt x="7391633" y="2240811"/>
                </a:lnTo>
                <a:lnTo>
                  <a:pt x="0" y="2240811"/>
                </a:lnTo>
                <a:lnTo>
                  <a:pt x="0" y="0"/>
                </a:lnTo>
                <a:close/>
              </a:path>
            </a:pathLst>
          </a:custGeom>
          <a:blipFill>
            <a:blip r:embed="rId7"/>
            <a:stretch>
              <a:fillRect l="0" t="0" r="0" b="0"/>
            </a:stretch>
          </a:blipFill>
        </p:spPr>
      </p:sp>
      <p:sp>
        <p:nvSpPr>
          <p:cNvPr name="Freeform 10" id="10"/>
          <p:cNvSpPr/>
          <p:nvPr/>
        </p:nvSpPr>
        <p:spPr>
          <a:xfrm flipH="false" flipV="false" rot="0">
            <a:off x="9587867" y="7824255"/>
            <a:ext cx="7391634" cy="2250070"/>
          </a:xfrm>
          <a:custGeom>
            <a:avLst/>
            <a:gdLst/>
            <a:ahLst/>
            <a:cxnLst/>
            <a:rect r="r" b="b" t="t" l="l"/>
            <a:pathLst>
              <a:path h="2250070" w="7391634">
                <a:moveTo>
                  <a:pt x="0" y="0"/>
                </a:moveTo>
                <a:lnTo>
                  <a:pt x="7391633" y="0"/>
                </a:lnTo>
                <a:lnTo>
                  <a:pt x="7391633" y="2250070"/>
                </a:lnTo>
                <a:lnTo>
                  <a:pt x="0" y="2250070"/>
                </a:lnTo>
                <a:lnTo>
                  <a:pt x="0" y="0"/>
                </a:lnTo>
                <a:close/>
              </a:path>
            </a:pathLst>
          </a:custGeom>
          <a:blipFill>
            <a:blip r:embed="rId8"/>
            <a:stretch>
              <a:fillRect l="0" t="0" r="0" b="0"/>
            </a:stretch>
          </a:blipFill>
        </p:spPr>
      </p:sp>
      <p:sp>
        <p:nvSpPr>
          <p:cNvPr name="Freeform 11" id="11"/>
          <p:cNvSpPr/>
          <p:nvPr/>
        </p:nvSpPr>
        <p:spPr>
          <a:xfrm flipH="false" flipV="false" rot="0">
            <a:off x="1554014" y="1775600"/>
            <a:ext cx="6675053" cy="2099412"/>
          </a:xfrm>
          <a:custGeom>
            <a:avLst/>
            <a:gdLst/>
            <a:ahLst/>
            <a:cxnLst/>
            <a:rect r="r" b="b" t="t" l="l"/>
            <a:pathLst>
              <a:path h="2099412" w="6675053">
                <a:moveTo>
                  <a:pt x="0" y="0"/>
                </a:moveTo>
                <a:lnTo>
                  <a:pt x="6675053" y="0"/>
                </a:lnTo>
                <a:lnTo>
                  <a:pt x="6675053" y="2099412"/>
                </a:lnTo>
                <a:lnTo>
                  <a:pt x="0" y="2099412"/>
                </a:lnTo>
                <a:lnTo>
                  <a:pt x="0" y="0"/>
                </a:lnTo>
                <a:close/>
              </a:path>
            </a:pathLst>
          </a:custGeom>
          <a:blipFill>
            <a:blip r:embed="rId9"/>
            <a:stretch>
              <a:fillRect l="0" t="0" r="0" b="0"/>
            </a:stretch>
          </a:blipFill>
        </p:spPr>
      </p:sp>
      <p:sp>
        <p:nvSpPr>
          <p:cNvPr name="TextBox 12" id="12"/>
          <p:cNvSpPr txBox="true"/>
          <p:nvPr/>
        </p:nvSpPr>
        <p:spPr>
          <a:xfrm rot="0">
            <a:off x="1751620" y="3688513"/>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NORMAL</a:t>
            </a:r>
          </a:p>
        </p:txBody>
      </p:sp>
      <p:sp>
        <p:nvSpPr>
          <p:cNvPr name="TextBox 13" id="13"/>
          <p:cNvSpPr txBox="true"/>
          <p:nvPr/>
        </p:nvSpPr>
        <p:spPr>
          <a:xfrm rot="0">
            <a:off x="1900240" y="693371"/>
            <a:ext cx="6522964" cy="638429"/>
          </a:xfrm>
          <a:prstGeom prst="rect">
            <a:avLst/>
          </a:prstGeom>
        </p:spPr>
        <p:txBody>
          <a:bodyPr anchor="t" rtlCol="false" tIns="0" lIns="0" bIns="0" rIns="0">
            <a:spAutoFit/>
          </a:bodyPr>
          <a:lstStyle/>
          <a:p>
            <a:pPr algn="l">
              <a:lnSpc>
                <a:spcPts val="5235"/>
              </a:lnSpc>
              <a:spcBef>
                <a:spcPct val="0"/>
              </a:spcBef>
            </a:pPr>
            <a:r>
              <a:rPr lang="en-US" b="true" sz="3739" spc="1570">
                <a:solidFill>
                  <a:srgbClr val="827564"/>
                </a:solidFill>
                <a:latin typeface="Open Sauce Bold"/>
                <a:ea typeface="Open Sauce Bold"/>
                <a:cs typeface="Open Sauce Bold"/>
                <a:sym typeface="Open Sauce Bold"/>
              </a:rPr>
              <a:t>ΑΞΙΟΛΟΓΗΣΗ RF</a:t>
            </a:r>
          </a:p>
        </p:txBody>
      </p:sp>
      <p:sp>
        <p:nvSpPr>
          <p:cNvPr name="TextBox 14" id="14"/>
          <p:cNvSpPr txBox="true"/>
          <p:nvPr/>
        </p:nvSpPr>
        <p:spPr>
          <a:xfrm rot="0">
            <a:off x="1787430" y="5698212"/>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CRACKLE</a:t>
            </a:r>
          </a:p>
        </p:txBody>
      </p:sp>
      <p:sp>
        <p:nvSpPr>
          <p:cNvPr name="TextBox 15" id="15"/>
          <p:cNvSpPr txBox="true"/>
          <p:nvPr/>
        </p:nvSpPr>
        <p:spPr>
          <a:xfrm rot="0">
            <a:off x="1751620" y="7734471"/>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WHEEZE</a:t>
            </a:r>
          </a:p>
        </p:txBody>
      </p:sp>
      <p:sp>
        <p:nvSpPr>
          <p:cNvPr name="TextBox 16" id="16"/>
          <p:cNvSpPr txBox="true"/>
          <p:nvPr/>
        </p:nvSpPr>
        <p:spPr>
          <a:xfrm rot="0">
            <a:off x="1751620" y="1704266"/>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TOTAL</a:t>
            </a:r>
          </a:p>
        </p:txBody>
      </p:sp>
      <p:sp>
        <p:nvSpPr>
          <p:cNvPr name="TextBox 17" id="17"/>
          <p:cNvSpPr txBox="true"/>
          <p:nvPr/>
        </p:nvSpPr>
        <p:spPr>
          <a:xfrm rot="0">
            <a:off x="9995594" y="3787651"/>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NORMAL</a:t>
            </a:r>
          </a:p>
        </p:txBody>
      </p:sp>
      <p:sp>
        <p:nvSpPr>
          <p:cNvPr name="TextBox 18" id="18"/>
          <p:cNvSpPr txBox="true"/>
          <p:nvPr/>
        </p:nvSpPr>
        <p:spPr>
          <a:xfrm rot="0">
            <a:off x="10232370" y="146000"/>
            <a:ext cx="6102628" cy="1180466"/>
          </a:xfrm>
          <a:prstGeom prst="rect">
            <a:avLst/>
          </a:prstGeom>
        </p:spPr>
        <p:txBody>
          <a:bodyPr anchor="t" rtlCol="false" tIns="0" lIns="0" bIns="0" rIns="0">
            <a:spAutoFit/>
          </a:bodyPr>
          <a:lstStyle/>
          <a:p>
            <a:pPr algn="ctr">
              <a:lnSpc>
                <a:spcPts val="4759"/>
              </a:lnSpc>
              <a:spcBef>
                <a:spcPct val="0"/>
              </a:spcBef>
            </a:pPr>
            <a:r>
              <a:rPr lang="en-US" b="true" sz="3399" spc="1427">
                <a:solidFill>
                  <a:srgbClr val="827564"/>
                </a:solidFill>
                <a:latin typeface="Open Sauce Bold"/>
                <a:ea typeface="Open Sauce Bold"/>
                <a:cs typeface="Open Sauce Bold"/>
                <a:sym typeface="Open Sauce Bold"/>
              </a:rPr>
              <a:t>ΑΞΙΟΛΟΓΗΣΗ XGBOOST</a:t>
            </a:r>
          </a:p>
        </p:txBody>
      </p:sp>
      <p:sp>
        <p:nvSpPr>
          <p:cNvPr name="TextBox 19" id="19"/>
          <p:cNvSpPr txBox="true"/>
          <p:nvPr/>
        </p:nvSpPr>
        <p:spPr>
          <a:xfrm rot="0">
            <a:off x="9995594" y="5757781"/>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CRACKLE</a:t>
            </a:r>
          </a:p>
        </p:txBody>
      </p:sp>
      <p:sp>
        <p:nvSpPr>
          <p:cNvPr name="TextBox 20" id="20"/>
          <p:cNvSpPr txBox="true"/>
          <p:nvPr/>
        </p:nvSpPr>
        <p:spPr>
          <a:xfrm rot="0">
            <a:off x="9995594" y="7833609"/>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WHEEZE</a:t>
            </a:r>
          </a:p>
        </p:txBody>
      </p:sp>
      <p:sp>
        <p:nvSpPr>
          <p:cNvPr name="TextBox 21" id="21"/>
          <p:cNvSpPr txBox="true"/>
          <p:nvPr/>
        </p:nvSpPr>
        <p:spPr>
          <a:xfrm rot="0">
            <a:off x="9995594" y="1803404"/>
            <a:ext cx="1727034" cy="374522"/>
          </a:xfrm>
          <a:prstGeom prst="rect">
            <a:avLst/>
          </a:prstGeom>
        </p:spPr>
        <p:txBody>
          <a:bodyPr anchor="t" rtlCol="false" tIns="0" lIns="0" bIns="0" rIns="0">
            <a:spAutoFit/>
          </a:bodyPr>
          <a:lstStyle/>
          <a:p>
            <a:pPr algn="l" marL="0" indent="0" lvl="0">
              <a:lnSpc>
                <a:spcPts val="3366"/>
              </a:lnSpc>
            </a:pPr>
            <a:r>
              <a:rPr lang="en-US" b="true" sz="1700" spc="263">
                <a:solidFill>
                  <a:srgbClr val="695C4A"/>
                </a:solidFill>
                <a:latin typeface="Open Sauce Bold"/>
                <a:ea typeface="Open Sauce Bold"/>
                <a:cs typeface="Open Sauce Bold"/>
                <a:sym typeface="Open Sauce Bold"/>
              </a:rPr>
              <a:t>TOTAL</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32418" y="6945780"/>
            <a:ext cx="3721179" cy="3089281"/>
          </a:xfrm>
          <a:custGeom>
            <a:avLst/>
            <a:gdLst/>
            <a:ahLst/>
            <a:cxnLst/>
            <a:rect r="r" b="b" t="t" l="l"/>
            <a:pathLst>
              <a:path h="3089281" w="3721179">
                <a:moveTo>
                  <a:pt x="0" y="0"/>
                </a:moveTo>
                <a:lnTo>
                  <a:pt x="3721179" y="0"/>
                </a:lnTo>
                <a:lnTo>
                  <a:pt x="3721179" y="3089281"/>
                </a:lnTo>
                <a:lnTo>
                  <a:pt x="0" y="3089281"/>
                </a:lnTo>
                <a:lnTo>
                  <a:pt x="0" y="0"/>
                </a:lnTo>
                <a:close/>
              </a:path>
            </a:pathLst>
          </a:custGeom>
          <a:blipFill>
            <a:blip r:embed="rId2"/>
            <a:stretch>
              <a:fillRect l="0" t="0" r="0" b="0"/>
            </a:stretch>
          </a:blipFill>
        </p:spPr>
      </p:sp>
      <p:sp>
        <p:nvSpPr>
          <p:cNvPr name="Freeform 3" id="3"/>
          <p:cNvSpPr/>
          <p:nvPr/>
        </p:nvSpPr>
        <p:spPr>
          <a:xfrm flipH="false" flipV="false" rot="0">
            <a:off x="6807197" y="6945780"/>
            <a:ext cx="4138470" cy="3089281"/>
          </a:xfrm>
          <a:custGeom>
            <a:avLst/>
            <a:gdLst/>
            <a:ahLst/>
            <a:cxnLst/>
            <a:rect r="r" b="b" t="t" l="l"/>
            <a:pathLst>
              <a:path h="3089281" w="4138470">
                <a:moveTo>
                  <a:pt x="0" y="0"/>
                </a:moveTo>
                <a:lnTo>
                  <a:pt x="4138470" y="0"/>
                </a:lnTo>
                <a:lnTo>
                  <a:pt x="4138470" y="3089281"/>
                </a:lnTo>
                <a:lnTo>
                  <a:pt x="0" y="3089281"/>
                </a:lnTo>
                <a:lnTo>
                  <a:pt x="0" y="0"/>
                </a:lnTo>
                <a:close/>
              </a:path>
            </a:pathLst>
          </a:custGeom>
          <a:blipFill>
            <a:blip r:embed="rId3"/>
            <a:stretch>
              <a:fillRect l="0" t="0" r="0" b="0"/>
            </a:stretch>
          </a:blipFill>
        </p:spPr>
      </p:sp>
      <p:sp>
        <p:nvSpPr>
          <p:cNvPr name="Freeform 4" id="4"/>
          <p:cNvSpPr/>
          <p:nvPr/>
        </p:nvSpPr>
        <p:spPr>
          <a:xfrm flipH="false" flipV="false" rot="0">
            <a:off x="11898167" y="6957974"/>
            <a:ext cx="4122135" cy="3077087"/>
          </a:xfrm>
          <a:custGeom>
            <a:avLst/>
            <a:gdLst/>
            <a:ahLst/>
            <a:cxnLst/>
            <a:rect r="r" b="b" t="t" l="l"/>
            <a:pathLst>
              <a:path h="3077087" w="4122135">
                <a:moveTo>
                  <a:pt x="0" y="0"/>
                </a:moveTo>
                <a:lnTo>
                  <a:pt x="4122135" y="0"/>
                </a:lnTo>
                <a:lnTo>
                  <a:pt x="4122135" y="3077087"/>
                </a:lnTo>
                <a:lnTo>
                  <a:pt x="0" y="3077087"/>
                </a:lnTo>
                <a:lnTo>
                  <a:pt x="0" y="0"/>
                </a:lnTo>
                <a:close/>
              </a:path>
            </a:pathLst>
          </a:custGeom>
          <a:blipFill>
            <a:blip r:embed="rId4"/>
            <a:stretch>
              <a:fillRect l="0" t="0" r="0" b="0"/>
            </a:stretch>
          </a:blipFill>
        </p:spPr>
      </p:sp>
      <p:sp>
        <p:nvSpPr>
          <p:cNvPr name="Freeform 5" id="5"/>
          <p:cNvSpPr/>
          <p:nvPr/>
        </p:nvSpPr>
        <p:spPr>
          <a:xfrm flipH="false" flipV="false" rot="0">
            <a:off x="2132418" y="3613342"/>
            <a:ext cx="3710881" cy="3080732"/>
          </a:xfrm>
          <a:custGeom>
            <a:avLst/>
            <a:gdLst/>
            <a:ahLst/>
            <a:cxnLst/>
            <a:rect r="r" b="b" t="t" l="l"/>
            <a:pathLst>
              <a:path h="3080732" w="3710881">
                <a:moveTo>
                  <a:pt x="0" y="0"/>
                </a:moveTo>
                <a:lnTo>
                  <a:pt x="3710882" y="0"/>
                </a:lnTo>
                <a:lnTo>
                  <a:pt x="3710882" y="3080731"/>
                </a:lnTo>
                <a:lnTo>
                  <a:pt x="0" y="3080731"/>
                </a:lnTo>
                <a:lnTo>
                  <a:pt x="0" y="0"/>
                </a:lnTo>
                <a:close/>
              </a:path>
            </a:pathLst>
          </a:custGeom>
          <a:blipFill>
            <a:blip r:embed="rId5"/>
            <a:stretch>
              <a:fillRect l="0" t="0" r="0" b="0"/>
            </a:stretch>
          </a:blipFill>
        </p:spPr>
      </p:sp>
      <p:sp>
        <p:nvSpPr>
          <p:cNvPr name="Freeform 6" id="6"/>
          <p:cNvSpPr/>
          <p:nvPr/>
        </p:nvSpPr>
        <p:spPr>
          <a:xfrm flipH="false" flipV="false" rot="0">
            <a:off x="6807197" y="3613342"/>
            <a:ext cx="4139983" cy="3090410"/>
          </a:xfrm>
          <a:custGeom>
            <a:avLst/>
            <a:gdLst/>
            <a:ahLst/>
            <a:cxnLst/>
            <a:rect r="r" b="b" t="t" l="l"/>
            <a:pathLst>
              <a:path h="3090410" w="4139983">
                <a:moveTo>
                  <a:pt x="0" y="0"/>
                </a:moveTo>
                <a:lnTo>
                  <a:pt x="4139983" y="0"/>
                </a:lnTo>
                <a:lnTo>
                  <a:pt x="4139983" y="3090409"/>
                </a:lnTo>
                <a:lnTo>
                  <a:pt x="0" y="3090409"/>
                </a:lnTo>
                <a:lnTo>
                  <a:pt x="0" y="0"/>
                </a:lnTo>
                <a:close/>
              </a:path>
            </a:pathLst>
          </a:custGeom>
          <a:blipFill>
            <a:blip r:embed="rId6"/>
            <a:stretch>
              <a:fillRect l="0" t="0" r="0" b="0"/>
            </a:stretch>
          </a:blipFill>
        </p:spPr>
      </p:sp>
      <p:sp>
        <p:nvSpPr>
          <p:cNvPr name="Freeform 7" id="7"/>
          <p:cNvSpPr/>
          <p:nvPr/>
        </p:nvSpPr>
        <p:spPr>
          <a:xfrm flipH="false" flipV="false" rot="0">
            <a:off x="11880622" y="3598408"/>
            <a:ext cx="4139680" cy="3090184"/>
          </a:xfrm>
          <a:custGeom>
            <a:avLst/>
            <a:gdLst/>
            <a:ahLst/>
            <a:cxnLst/>
            <a:rect r="r" b="b" t="t" l="l"/>
            <a:pathLst>
              <a:path h="3090184" w="4139680">
                <a:moveTo>
                  <a:pt x="0" y="0"/>
                </a:moveTo>
                <a:lnTo>
                  <a:pt x="4139680" y="0"/>
                </a:lnTo>
                <a:lnTo>
                  <a:pt x="4139680" y="3090184"/>
                </a:lnTo>
                <a:lnTo>
                  <a:pt x="0" y="3090184"/>
                </a:lnTo>
                <a:lnTo>
                  <a:pt x="0" y="0"/>
                </a:lnTo>
                <a:close/>
              </a:path>
            </a:pathLst>
          </a:custGeom>
          <a:blipFill>
            <a:blip r:embed="rId7"/>
            <a:stretch>
              <a:fillRect l="0" t="0" r="0" b="0"/>
            </a:stretch>
          </a:blipFill>
        </p:spPr>
      </p:sp>
      <p:sp>
        <p:nvSpPr>
          <p:cNvPr name="TextBox 8" id="8"/>
          <p:cNvSpPr txBox="true"/>
          <p:nvPr/>
        </p:nvSpPr>
        <p:spPr>
          <a:xfrm rot="0">
            <a:off x="1028700" y="368387"/>
            <a:ext cx="16230600" cy="3230021"/>
          </a:xfrm>
          <a:prstGeom prst="rect">
            <a:avLst/>
          </a:prstGeom>
        </p:spPr>
        <p:txBody>
          <a:bodyPr anchor="t" rtlCol="false" tIns="0" lIns="0" bIns="0" rIns="0">
            <a:spAutoFit/>
          </a:bodyPr>
          <a:lstStyle/>
          <a:p>
            <a:pPr algn="l">
              <a:lnSpc>
                <a:spcPts val="2567"/>
              </a:lnSpc>
            </a:pPr>
            <a:r>
              <a:rPr lang="en-US" sz="1833" b="true">
                <a:solidFill>
                  <a:srgbClr val="695C4A"/>
                </a:solidFill>
                <a:latin typeface="Glacial Indifference Bold"/>
                <a:ea typeface="Glacial Indifference Bold"/>
                <a:cs typeface="Glacial Indifference Bold"/>
                <a:sym typeface="Glacial Indifference Bold"/>
              </a:rPr>
              <a:t>Καλύτερα σε Accuracy &amp; F1-Score </a:t>
            </a:r>
            <a:r>
              <a:rPr lang="en-US" sz="1833">
                <a:solidFill>
                  <a:srgbClr val="695C4A"/>
                </a:solidFill>
                <a:latin typeface="Glacial Indifference"/>
                <a:ea typeface="Glacial Indifference"/>
                <a:cs typeface="Glacial Indifference"/>
                <a:sym typeface="Glacial Indifference"/>
              </a:rPr>
              <a:t>αποδεικνύονται τα</a:t>
            </a:r>
            <a:r>
              <a:rPr lang="en-US" sz="1833" b="true">
                <a:solidFill>
                  <a:srgbClr val="695C4A"/>
                </a:solidFill>
                <a:latin typeface="Glacial Indifference Bold"/>
                <a:ea typeface="Glacial Indifference Bold"/>
                <a:cs typeface="Glacial Indifference Bold"/>
                <a:sym typeface="Glacial Indifference Bold"/>
              </a:rPr>
              <a:t> k-NN </a:t>
            </a:r>
            <a:r>
              <a:rPr lang="en-US" sz="1833">
                <a:solidFill>
                  <a:srgbClr val="695C4A"/>
                </a:solidFill>
                <a:latin typeface="Glacial Indifference"/>
                <a:ea typeface="Glacial Indifference"/>
                <a:cs typeface="Glacial Indifference"/>
                <a:sym typeface="Glacial Indifference"/>
              </a:rPr>
              <a:t>και </a:t>
            </a:r>
            <a:r>
              <a:rPr lang="en-US" sz="1833" b="true">
                <a:solidFill>
                  <a:srgbClr val="695C4A"/>
                </a:solidFill>
                <a:latin typeface="Glacial Indifference Bold"/>
                <a:ea typeface="Glacial Indifference Bold"/>
                <a:cs typeface="Glacial Indifference Bold"/>
                <a:sym typeface="Glacial Indifference Bold"/>
              </a:rPr>
              <a:t>SVM (0.77), </a:t>
            </a:r>
            <a:r>
              <a:rPr lang="en-US" sz="1833">
                <a:solidFill>
                  <a:srgbClr val="695C4A"/>
                </a:solidFill>
                <a:latin typeface="Glacial Indifference"/>
                <a:ea typeface="Glacial Indifference"/>
                <a:cs typeface="Glacial Indifference"/>
                <a:sym typeface="Glacial Indifference"/>
              </a:rPr>
              <a:t>ενώ το</a:t>
            </a:r>
            <a:r>
              <a:rPr lang="en-US" sz="1833" b="true">
                <a:solidFill>
                  <a:srgbClr val="695C4A"/>
                </a:solidFill>
                <a:latin typeface="Glacial Indifference Bold"/>
                <a:ea typeface="Glacial Indifference Bold"/>
                <a:cs typeface="Glacial Indifference Bold"/>
                <a:sym typeface="Glacial Indifference Bold"/>
              </a:rPr>
              <a:t> XGBoost υπερτερεί ελαφρώς στο Macro AUC (0.87)</a:t>
            </a:r>
            <a:r>
              <a:rPr lang="en-US" sz="1833">
                <a:solidFill>
                  <a:srgbClr val="695C4A"/>
                </a:solidFill>
                <a:latin typeface="Glacial Indifference"/>
                <a:ea typeface="Glacial Indifference"/>
                <a:cs typeface="Glacial Indifference"/>
                <a:sym typeface="Glacial Indifference"/>
              </a:rPr>
              <a:t>. Επίσης, το </a:t>
            </a:r>
            <a:r>
              <a:rPr lang="en-US" sz="1833" b="true">
                <a:solidFill>
                  <a:srgbClr val="695C4A"/>
                </a:solidFill>
                <a:latin typeface="Glacial Indifference Bold"/>
                <a:ea typeface="Glacial Indifference Bold"/>
                <a:cs typeface="Glacial Indifference Bold"/>
                <a:sym typeface="Glacial Indifference Bold"/>
              </a:rPr>
              <a:t>CDAN </a:t>
            </a:r>
            <a:r>
              <a:rPr lang="en-US" sz="1833">
                <a:solidFill>
                  <a:srgbClr val="695C4A"/>
                </a:solidFill>
                <a:latin typeface="Glacial Indifference"/>
                <a:ea typeface="Glacial Indifference"/>
                <a:cs typeface="Glacial Indifference"/>
                <a:sym typeface="Glacial Indifference"/>
              </a:rPr>
              <a:t>φαίνεται να είναι η τεχνική προσαρμογής πεδίου η οποία επέφερε τη </a:t>
            </a:r>
            <a:r>
              <a:rPr lang="en-US" sz="1833" b="true">
                <a:solidFill>
                  <a:srgbClr val="695C4A"/>
                </a:solidFill>
                <a:latin typeface="Glacial Indifference Bold"/>
                <a:ea typeface="Glacial Indifference Bold"/>
                <a:cs typeface="Glacial Indifference Bold"/>
                <a:sym typeface="Glacial Indifference Bold"/>
              </a:rPr>
              <a:t>μεγαλύτερη αύξηση</a:t>
            </a:r>
            <a:r>
              <a:rPr lang="en-US" sz="1833">
                <a:solidFill>
                  <a:srgbClr val="695C4A"/>
                </a:solidFill>
                <a:latin typeface="Glacial Indifference"/>
                <a:ea typeface="Glacial Indifference"/>
                <a:cs typeface="Glacial Indifference"/>
                <a:sym typeface="Glacial Indifference"/>
              </a:rPr>
              <a:t> σε σχέση με το baseline </a:t>
            </a:r>
            <a:r>
              <a:rPr lang="en-US" sz="1833" b="true">
                <a:solidFill>
                  <a:srgbClr val="695C4A"/>
                </a:solidFill>
                <a:latin typeface="Glacial Indifference Bold"/>
                <a:ea typeface="Glacial Indifference Bold"/>
                <a:cs typeface="Glacial Indifference Bold"/>
                <a:sym typeface="Glacial Indifference Bold"/>
              </a:rPr>
              <a:t>με πολύ μικρή διαφορά από το DANN με VAE ως Feature Extractor</a:t>
            </a:r>
            <a:r>
              <a:rPr lang="en-US" sz="1833">
                <a:solidFill>
                  <a:srgbClr val="695C4A"/>
                </a:solidFill>
                <a:latin typeface="Glacial Indifference"/>
                <a:ea typeface="Glacial Indifference"/>
                <a:cs typeface="Glacial Indifference"/>
                <a:sym typeface="Glacial Indifference"/>
              </a:rPr>
              <a:t>. Συνεπώς, αν έπρεπε να διαλέξουμε μια περίπτωση υλοποίησης, το </a:t>
            </a:r>
            <a:r>
              <a:rPr lang="en-US" sz="1833" b="true">
                <a:solidFill>
                  <a:srgbClr val="695C4A"/>
                </a:solidFill>
                <a:latin typeface="Glacial Indifference Bold"/>
                <a:ea typeface="Glacial Indifference Bold"/>
                <a:cs typeface="Glacial Indifference Bold"/>
                <a:sym typeface="Glacial Indifference Bold"/>
              </a:rPr>
              <a:t>SVM με CDAN</a:t>
            </a:r>
            <a:r>
              <a:rPr lang="en-US" sz="1833">
                <a:solidFill>
                  <a:srgbClr val="695C4A"/>
                </a:solidFill>
                <a:latin typeface="Glacial Indifference"/>
                <a:ea typeface="Glacial Indifference"/>
                <a:cs typeface="Glacial Indifference"/>
                <a:sym typeface="Glacial Indifference"/>
              </a:rPr>
              <a:t> είναι η </a:t>
            </a:r>
            <a:r>
              <a:rPr lang="en-US" sz="1833" b="true">
                <a:solidFill>
                  <a:srgbClr val="695C4A"/>
                </a:solidFill>
                <a:latin typeface="Glacial Indifference Bold"/>
                <a:ea typeface="Glacial Indifference Bold"/>
                <a:cs typeface="Glacial Indifference Bold"/>
                <a:sym typeface="Glacial Indifference Bold"/>
              </a:rPr>
              <a:t>βέλτιστη επιλογή</a:t>
            </a:r>
            <a:r>
              <a:rPr lang="en-US" sz="1833">
                <a:solidFill>
                  <a:srgbClr val="695C4A"/>
                </a:solidFill>
                <a:latin typeface="Glacial Indifference"/>
                <a:ea typeface="Glacial Indifference"/>
                <a:cs typeface="Glacial Indifference"/>
                <a:sym typeface="Glacial Indifference"/>
              </a:rPr>
              <a:t>, καθώς συνδυάζει:</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τις υψηλότερες συνολικές επιδόσεις,</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τη μεγαλύτερη βελτίωση σε σχέση με το baseline (+ 13.2%),</a:t>
            </a:r>
          </a:p>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και πιο ισορροπημένη συμπεριφορά ανάμεσα στις κλάσεις.</a:t>
            </a:r>
          </a:p>
          <a:p>
            <a:pPr algn="l">
              <a:lnSpc>
                <a:spcPts val="2567"/>
              </a:lnSpc>
            </a:pPr>
          </a:p>
          <a:p>
            <a:pPr algn="l">
              <a:lnSpc>
                <a:spcPts val="2567"/>
              </a:lnSpc>
            </a:pPr>
            <a:r>
              <a:rPr lang="en-US" sz="1833">
                <a:solidFill>
                  <a:srgbClr val="695C4A"/>
                </a:solidFill>
                <a:latin typeface="Glacial Indifference"/>
                <a:ea typeface="Glacial Indifference"/>
                <a:cs typeface="Glacial Indifference"/>
                <a:sym typeface="Glacial Indifference"/>
              </a:rPr>
              <a:t>Παρακάτω φαίνονται ενδεικτικά το </a:t>
            </a:r>
            <a:r>
              <a:rPr lang="en-US" sz="1833" b="true">
                <a:solidFill>
                  <a:srgbClr val="695C4A"/>
                </a:solidFill>
                <a:latin typeface="Glacial Indifference Bold"/>
                <a:ea typeface="Glacial Indifference Bold"/>
                <a:cs typeface="Glacial Indifference Bold"/>
                <a:sym typeface="Glacial Indifference Bold"/>
              </a:rPr>
              <a:t>μητρώο σύγχυσης</a:t>
            </a:r>
            <a:r>
              <a:rPr lang="en-US" sz="1833">
                <a:solidFill>
                  <a:srgbClr val="695C4A"/>
                </a:solidFill>
                <a:latin typeface="Glacial Indifference"/>
                <a:ea typeface="Glacial Indifference"/>
                <a:cs typeface="Glacial Indifference"/>
                <a:sym typeface="Glacial Indifference"/>
              </a:rPr>
              <a:t>, οι </a:t>
            </a:r>
            <a:r>
              <a:rPr lang="en-US" sz="1833" b="true">
                <a:solidFill>
                  <a:srgbClr val="695C4A"/>
                </a:solidFill>
                <a:latin typeface="Glacial Indifference Bold"/>
                <a:ea typeface="Glacial Indifference Bold"/>
                <a:cs typeface="Glacial Indifference Bold"/>
                <a:sym typeface="Glacial Indifference Bold"/>
              </a:rPr>
              <a:t>καμπύλες ROC</a:t>
            </a:r>
            <a:r>
              <a:rPr lang="en-US" sz="1833">
                <a:solidFill>
                  <a:srgbClr val="695C4A"/>
                </a:solidFill>
                <a:latin typeface="Glacial Indifference"/>
                <a:ea typeface="Glacial Indifference"/>
                <a:cs typeface="Glacial Indifference"/>
                <a:sym typeface="Glacial Indifference"/>
              </a:rPr>
              <a:t> και οι </a:t>
            </a:r>
            <a:r>
              <a:rPr lang="en-US" sz="1833" b="true">
                <a:solidFill>
                  <a:srgbClr val="695C4A"/>
                </a:solidFill>
                <a:latin typeface="Glacial Indifference Bold"/>
                <a:ea typeface="Glacial Indifference Bold"/>
                <a:cs typeface="Glacial Indifference Bold"/>
                <a:sym typeface="Glacial Indifference Bold"/>
              </a:rPr>
              <a:t>καμπύλες Precision-Recall </a:t>
            </a:r>
            <a:r>
              <a:rPr lang="en-US" sz="1833">
                <a:solidFill>
                  <a:srgbClr val="695C4A"/>
                </a:solidFill>
                <a:latin typeface="Glacial Indifference"/>
                <a:ea typeface="Glacial Indifference"/>
                <a:cs typeface="Glacial Indifference"/>
                <a:sym typeface="Glacial Indifference"/>
              </a:rPr>
              <a:t>που προκύπτουν πριν και μετά από την εφαρμογή του συγκεκριμένου βέλτιστου σεναρίου:</a:t>
            </a:r>
          </a:p>
        </p:txBody>
      </p:sp>
      <p:sp>
        <p:nvSpPr>
          <p:cNvPr name="Freeform 9" id="9"/>
          <p:cNvSpPr/>
          <p:nvPr/>
        </p:nvSpPr>
        <p:spPr>
          <a:xfrm flipH="false" flipV="false" rot="0">
            <a:off x="4589471" y="5578719"/>
            <a:ext cx="1284276" cy="642138"/>
          </a:xfrm>
          <a:custGeom>
            <a:avLst/>
            <a:gdLst/>
            <a:ahLst/>
            <a:cxnLst/>
            <a:rect r="r" b="b" t="t" l="l"/>
            <a:pathLst>
              <a:path h="642138" w="1284276">
                <a:moveTo>
                  <a:pt x="0" y="0"/>
                </a:moveTo>
                <a:lnTo>
                  <a:pt x="1284276" y="0"/>
                </a:lnTo>
                <a:lnTo>
                  <a:pt x="1284276" y="642138"/>
                </a:lnTo>
                <a:lnTo>
                  <a:pt x="0" y="6421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10" id="10"/>
          <p:cNvSpPr/>
          <p:nvPr/>
        </p:nvSpPr>
        <p:spPr>
          <a:xfrm flipH="false" flipV="false" rot="0">
            <a:off x="4589471" y="8937231"/>
            <a:ext cx="1284276" cy="642138"/>
          </a:xfrm>
          <a:custGeom>
            <a:avLst/>
            <a:gdLst/>
            <a:ahLst/>
            <a:cxnLst/>
            <a:rect r="r" b="b" t="t" l="l"/>
            <a:pathLst>
              <a:path h="642138" w="1284276">
                <a:moveTo>
                  <a:pt x="0" y="0"/>
                </a:moveTo>
                <a:lnTo>
                  <a:pt x="1284276" y="0"/>
                </a:lnTo>
                <a:lnTo>
                  <a:pt x="1284276" y="642138"/>
                </a:lnTo>
                <a:lnTo>
                  <a:pt x="0" y="6421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11" id="11"/>
          <p:cNvSpPr/>
          <p:nvPr/>
        </p:nvSpPr>
        <p:spPr>
          <a:xfrm flipH="false" flipV="false" rot="0">
            <a:off x="2378673" y="3894437"/>
            <a:ext cx="1284276" cy="642138"/>
          </a:xfrm>
          <a:custGeom>
            <a:avLst/>
            <a:gdLst/>
            <a:ahLst/>
            <a:cxnLst/>
            <a:rect r="r" b="b" t="t" l="l"/>
            <a:pathLst>
              <a:path h="642138" w="1284276">
                <a:moveTo>
                  <a:pt x="0" y="0"/>
                </a:moveTo>
                <a:lnTo>
                  <a:pt x="1284276" y="0"/>
                </a:lnTo>
                <a:lnTo>
                  <a:pt x="1284276" y="642138"/>
                </a:lnTo>
                <a:lnTo>
                  <a:pt x="0" y="6421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
        <p:nvSpPr>
          <p:cNvPr name="Freeform 12" id="12"/>
          <p:cNvSpPr/>
          <p:nvPr/>
        </p:nvSpPr>
        <p:spPr>
          <a:xfrm flipH="false" flipV="false" rot="0">
            <a:off x="2378673" y="7227473"/>
            <a:ext cx="1284276" cy="642138"/>
          </a:xfrm>
          <a:custGeom>
            <a:avLst/>
            <a:gdLst/>
            <a:ahLst/>
            <a:cxnLst/>
            <a:rect r="r" b="b" t="t" l="l"/>
            <a:pathLst>
              <a:path h="642138" w="1284276">
                <a:moveTo>
                  <a:pt x="0" y="0"/>
                </a:moveTo>
                <a:lnTo>
                  <a:pt x="1284276" y="0"/>
                </a:lnTo>
                <a:lnTo>
                  <a:pt x="1284276" y="642138"/>
                </a:lnTo>
                <a:lnTo>
                  <a:pt x="0" y="6421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rnd">
            <a:noFill/>
            <a:prstDash val="dash"/>
            <a:round/>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7808647">
            <a:off x="-14556505" y="1221664"/>
            <a:ext cx="18930865" cy="18758766"/>
          </a:xfrm>
          <a:custGeom>
            <a:avLst/>
            <a:gdLst/>
            <a:ahLst/>
            <a:cxnLst/>
            <a:rect r="r" b="b" t="t" l="l"/>
            <a:pathLst>
              <a:path h="18758766" w="18930865">
                <a:moveTo>
                  <a:pt x="0" y="0"/>
                </a:moveTo>
                <a:lnTo>
                  <a:pt x="18930865" y="0"/>
                </a:lnTo>
                <a:lnTo>
                  <a:pt x="18930865" y="18758766"/>
                </a:lnTo>
                <a:lnTo>
                  <a:pt x="0" y="1875876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60183" y="769127"/>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7</a:t>
            </a:r>
          </a:p>
        </p:txBody>
      </p:sp>
      <p:sp>
        <p:nvSpPr>
          <p:cNvPr name="TextBox 4" id="4"/>
          <p:cNvSpPr txBox="true"/>
          <p:nvPr/>
        </p:nvSpPr>
        <p:spPr>
          <a:xfrm rot="0">
            <a:off x="8330028" y="875430"/>
            <a:ext cx="5677732" cy="8556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Συμπεράσματα</a:t>
            </a:r>
          </a:p>
        </p:txBody>
      </p:sp>
      <p:sp>
        <p:nvSpPr>
          <p:cNvPr name="TextBox 5" id="5"/>
          <p:cNvSpPr txBox="true"/>
          <p:nvPr/>
        </p:nvSpPr>
        <p:spPr>
          <a:xfrm rot="0">
            <a:off x="4015260" y="2365948"/>
            <a:ext cx="13537423" cy="5927501"/>
          </a:xfrm>
          <a:prstGeom prst="rect">
            <a:avLst/>
          </a:prstGeom>
        </p:spPr>
        <p:txBody>
          <a:bodyPr anchor="t" rtlCol="false" tIns="0" lIns="0" bIns="0" rIns="0">
            <a:spAutoFit/>
          </a:bodyPr>
          <a:lstStyle/>
          <a:p>
            <a:pPr algn="l" marL="460690" indent="-230345" lvl="1">
              <a:lnSpc>
                <a:spcPts val="2987"/>
              </a:lnSpc>
              <a:buFont typeface="Arial"/>
              <a:buChar char="•"/>
            </a:pPr>
            <a:r>
              <a:rPr lang="en-US" sz="2133">
                <a:solidFill>
                  <a:srgbClr val="695C4A"/>
                </a:solidFill>
                <a:latin typeface="Glacial Indifference"/>
                <a:ea typeface="Glacial Indifference"/>
                <a:cs typeface="Glacial Indifference"/>
                <a:sym typeface="Glacial Indifference"/>
              </a:rPr>
              <a:t>Η τόσο μεγάλη συνολική βελτίωση στις παθολογικές περιπτώσεις ελέγχου </a:t>
            </a:r>
            <a:r>
              <a:rPr lang="en-US" sz="2133">
                <a:solidFill>
                  <a:srgbClr val="695C4A"/>
                </a:solidFill>
                <a:latin typeface="Glacial Indifference"/>
                <a:ea typeface="Glacial Indifference"/>
                <a:cs typeface="Glacial Indifference"/>
                <a:sym typeface="Glacial Indifference"/>
              </a:rPr>
              <a:t>αποδεικνύει ότι το</a:t>
            </a:r>
            <a:r>
              <a:rPr lang="en-US" sz="2133">
                <a:solidFill>
                  <a:srgbClr val="695C4A"/>
                </a:solidFill>
                <a:latin typeface="Glacial Indifference"/>
                <a:ea typeface="Glacial Indifference"/>
                <a:cs typeface="Glacial Indifference"/>
                <a:sym typeface="Glacial Indifference"/>
              </a:rPr>
              <a:t> σύστημα είναι</a:t>
            </a:r>
            <a:r>
              <a:rPr lang="en-US" sz="2133">
                <a:solidFill>
                  <a:srgbClr val="695C4A"/>
                </a:solidFill>
                <a:latin typeface="Glacial Indifference"/>
                <a:ea typeface="Glacial Indifference"/>
                <a:cs typeface="Glacial Indifference"/>
                <a:sym typeface="Glacial Indifference"/>
              </a:rPr>
              <a:t> </a:t>
            </a:r>
            <a:r>
              <a:rPr lang="en-US" sz="2133">
                <a:solidFill>
                  <a:srgbClr val="695C4A"/>
                </a:solidFill>
                <a:latin typeface="Glacial Indifference"/>
                <a:ea typeface="Glacial Indifference"/>
                <a:cs typeface="Glacial Indifference"/>
                <a:sym typeface="Glacial Indifference"/>
              </a:rPr>
              <a:t>πλέ</a:t>
            </a:r>
            <a:r>
              <a:rPr lang="en-US" sz="2133">
                <a:solidFill>
                  <a:srgbClr val="695C4A"/>
                </a:solidFill>
                <a:latin typeface="Glacial Indifference"/>
                <a:ea typeface="Glacial Indifference"/>
                <a:cs typeface="Glacial Indifference"/>
                <a:sym typeface="Glacial Indifference"/>
              </a:rPr>
              <a:t>ον σ</a:t>
            </a:r>
            <a:r>
              <a:rPr lang="en-US" sz="2133">
                <a:solidFill>
                  <a:srgbClr val="695C4A"/>
                </a:solidFill>
                <a:latin typeface="Glacial Indifference"/>
                <a:ea typeface="Glacial Indifference"/>
                <a:cs typeface="Glacial Indifference"/>
                <a:sym typeface="Glacial Indifference"/>
              </a:rPr>
              <a:t>ε θέση να </a:t>
            </a:r>
            <a:r>
              <a:rPr lang="en-US" b="true" sz="2133">
                <a:solidFill>
                  <a:srgbClr val="695C4A"/>
                </a:solidFill>
                <a:latin typeface="Glacial Indifference Bold"/>
                <a:ea typeface="Glacial Indifference Bold"/>
                <a:cs typeface="Glacial Indifference Bold"/>
                <a:sym typeface="Glacial Indifference Bold"/>
              </a:rPr>
              <a:t>ανιχνεύει με συνέπεια τα περισσότερα περιστατικά ασθενών με παθολογίες</a:t>
            </a:r>
            <a:r>
              <a:rPr lang="en-US" sz="2133">
                <a:solidFill>
                  <a:srgbClr val="695C4A"/>
                </a:solidFill>
                <a:latin typeface="Glacial Indifference"/>
                <a:ea typeface="Glacial Indifference"/>
                <a:cs typeface="Glacial Indifference"/>
                <a:sym typeface="Glacial Indifference"/>
              </a:rPr>
              <a:t> χ</a:t>
            </a:r>
            <a:r>
              <a:rPr lang="en-US" sz="2133">
                <a:solidFill>
                  <a:srgbClr val="695C4A"/>
                </a:solidFill>
                <a:latin typeface="Glacial Indifference"/>
                <a:ea typeface="Glacial Indifference"/>
                <a:cs typeface="Glacial Indifference"/>
                <a:sym typeface="Glacial Indifference"/>
              </a:rPr>
              <a:t>ω</a:t>
            </a:r>
            <a:r>
              <a:rPr lang="en-US" sz="2133">
                <a:solidFill>
                  <a:srgbClr val="695C4A"/>
                </a:solidFill>
                <a:latin typeface="Glacial Indifference"/>
                <a:ea typeface="Glacial Indifference"/>
                <a:cs typeface="Glacial Indifference"/>
                <a:sym typeface="Glacial Indifference"/>
              </a:rPr>
              <a:t>ρ</a:t>
            </a:r>
            <a:r>
              <a:rPr lang="en-US" sz="2133">
                <a:solidFill>
                  <a:srgbClr val="695C4A"/>
                </a:solidFill>
                <a:latin typeface="Glacial Indifference"/>
                <a:ea typeface="Glacial Indifference"/>
                <a:cs typeface="Glacial Indifference"/>
                <a:sym typeface="Glacial Indifference"/>
              </a:rPr>
              <a:t>ίς</a:t>
            </a:r>
            <a:r>
              <a:rPr lang="en-US" sz="2133">
                <a:solidFill>
                  <a:srgbClr val="695C4A"/>
                </a:solidFill>
                <a:latin typeface="Glacial Indifference"/>
                <a:ea typeface="Glacial Indifference"/>
                <a:cs typeface="Glacial Indifference"/>
                <a:sym typeface="Glacial Indifference"/>
              </a:rPr>
              <a:t> ν</a:t>
            </a:r>
            <a:r>
              <a:rPr lang="en-US" sz="2133">
                <a:solidFill>
                  <a:srgbClr val="695C4A"/>
                </a:solidFill>
                <a:latin typeface="Glacial Indifference"/>
                <a:ea typeface="Glacial Indifference"/>
                <a:cs typeface="Glacial Indifference"/>
                <a:sym typeface="Glacial Indifference"/>
              </a:rPr>
              <a:t>α</a:t>
            </a:r>
            <a:r>
              <a:rPr lang="en-US" sz="2133">
                <a:solidFill>
                  <a:srgbClr val="695C4A"/>
                </a:solidFill>
                <a:latin typeface="Glacial Indifference"/>
                <a:ea typeface="Glacial Indifference"/>
                <a:cs typeface="Glacial Indifference"/>
                <a:sym typeface="Glacial Indifference"/>
              </a:rPr>
              <a:t> θ</a:t>
            </a:r>
            <a:r>
              <a:rPr lang="en-US" sz="2133">
                <a:solidFill>
                  <a:srgbClr val="695C4A"/>
                </a:solidFill>
                <a:latin typeface="Glacial Indifference"/>
                <a:ea typeface="Glacial Indifference"/>
                <a:cs typeface="Glacial Indifference"/>
                <a:sym typeface="Glacial Indifference"/>
              </a:rPr>
              <a:t>υσ</a:t>
            </a:r>
            <a:r>
              <a:rPr lang="en-US" sz="2133">
                <a:solidFill>
                  <a:srgbClr val="695C4A"/>
                </a:solidFill>
                <a:latin typeface="Glacial Indifference"/>
                <a:ea typeface="Glacial Indifference"/>
                <a:cs typeface="Glacial Indifference"/>
                <a:sym typeface="Glacial Indifference"/>
              </a:rPr>
              <a:t>ιά</a:t>
            </a:r>
            <a:r>
              <a:rPr lang="en-US" sz="2133">
                <a:solidFill>
                  <a:srgbClr val="695C4A"/>
                </a:solidFill>
                <a:latin typeface="Glacial Indifference"/>
                <a:ea typeface="Glacial Indifference"/>
                <a:cs typeface="Glacial Indifference"/>
                <a:sym typeface="Glacial Indifference"/>
              </a:rPr>
              <a:t>ζει</a:t>
            </a:r>
            <a:r>
              <a:rPr lang="en-US" sz="2133">
                <a:solidFill>
                  <a:srgbClr val="695C4A"/>
                </a:solidFill>
                <a:latin typeface="Glacial Indifference"/>
                <a:ea typeface="Glacial Indifference"/>
                <a:cs typeface="Glacial Indifference"/>
                <a:sym typeface="Glacial Indifference"/>
              </a:rPr>
              <a:t> </a:t>
            </a:r>
            <a:r>
              <a:rPr lang="en-US" sz="2133">
                <a:solidFill>
                  <a:srgbClr val="695C4A"/>
                </a:solidFill>
                <a:latin typeface="Glacial Indifference"/>
                <a:ea typeface="Glacial Indifference"/>
                <a:cs typeface="Glacial Indifference"/>
                <a:sym typeface="Glacial Indifference"/>
              </a:rPr>
              <a:t>τ</a:t>
            </a:r>
            <a:r>
              <a:rPr lang="en-US" sz="2133">
                <a:solidFill>
                  <a:srgbClr val="695C4A"/>
                </a:solidFill>
                <a:latin typeface="Glacial Indifference"/>
                <a:ea typeface="Glacial Indifference"/>
                <a:cs typeface="Glacial Indifference"/>
                <a:sym typeface="Glacial Indifference"/>
              </a:rPr>
              <a:t>η</a:t>
            </a:r>
            <a:r>
              <a:rPr lang="en-US" sz="2133">
                <a:solidFill>
                  <a:srgbClr val="695C4A"/>
                </a:solidFill>
                <a:latin typeface="Glacial Indifference"/>
                <a:ea typeface="Glacial Indifference"/>
                <a:cs typeface="Glacial Indifference"/>
                <a:sym typeface="Glacial Indifference"/>
              </a:rPr>
              <a:t>ν ικανότ</a:t>
            </a:r>
            <a:r>
              <a:rPr lang="en-US" sz="2133">
                <a:solidFill>
                  <a:srgbClr val="695C4A"/>
                </a:solidFill>
                <a:latin typeface="Glacial Indifference"/>
                <a:ea typeface="Glacial Indifference"/>
                <a:cs typeface="Glacial Indifference"/>
                <a:sym typeface="Glacial Indifference"/>
              </a:rPr>
              <a:t>η</a:t>
            </a:r>
            <a:r>
              <a:rPr lang="en-US" sz="2133">
                <a:solidFill>
                  <a:srgbClr val="695C4A"/>
                </a:solidFill>
                <a:latin typeface="Glacial Indifference"/>
                <a:ea typeface="Glacial Indifference"/>
                <a:cs typeface="Glacial Indifference"/>
                <a:sym typeface="Glacial Indifference"/>
              </a:rPr>
              <a:t>τά</a:t>
            </a:r>
            <a:r>
              <a:rPr lang="en-US" sz="2133">
                <a:solidFill>
                  <a:srgbClr val="695C4A"/>
                </a:solidFill>
                <a:latin typeface="Glacial Indifference"/>
                <a:ea typeface="Glacial Indifference"/>
                <a:cs typeface="Glacial Indifference"/>
                <a:sym typeface="Glacial Indifference"/>
              </a:rPr>
              <a:t> του να </a:t>
            </a:r>
            <a:r>
              <a:rPr lang="en-US" sz="2133">
                <a:solidFill>
                  <a:srgbClr val="695C4A"/>
                </a:solidFill>
                <a:latin typeface="Glacial Indifference"/>
                <a:ea typeface="Glacial Indifference"/>
                <a:cs typeface="Glacial Indifference"/>
                <a:sym typeface="Glacial Indifference"/>
              </a:rPr>
              <a:t>αναγνωρίζει </a:t>
            </a:r>
            <a:r>
              <a:rPr lang="en-US" sz="2133">
                <a:solidFill>
                  <a:srgbClr val="695C4A"/>
                </a:solidFill>
                <a:latin typeface="Glacial Indifference"/>
                <a:ea typeface="Glacial Indifference"/>
                <a:cs typeface="Glacial Indifference"/>
                <a:sym typeface="Glacial Indifference"/>
              </a:rPr>
              <a:t>τους υγιείς, γ</a:t>
            </a:r>
            <a:r>
              <a:rPr lang="en-US" sz="2133">
                <a:solidFill>
                  <a:srgbClr val="695C4A"/>
                </a:solidFill>
                <a:latin typeface="Glacial Indifference"/>
                <a:ea typeface="Glacial Indifference"/>
                <a:cs typeface="Glacial Indifference"/>
                <a:sym typeface="Glacial Indifference"/>
              </a:rPr>
              <a:t>εγονός που αυξάνει άμεσα</a:t>
            </a:r>
            <a:r>
              <a:rPr lang="en-US" sz="2133">
                <a:solidFill>
                  <a:srgbClr val="695C4A"/>
                </a:solidFill>
                <a:latin typeface="Glacial Indifference"/>
                <a:ea typeface="Glacial Indifference"/>
                <a:cs typeface="Glacial Indifference"/>
                <a:sym typeface="Glacial Indifference"/>
              </a:rPr>
              <a:t> τη </a:t>
            </a:r>
            <a:r>
              <a:rPr lang="en-US" sz="2133">
                <a:solidFill>
                  <a:srgbClr val="695C4A"/>
                </a:solidFill>
                <a:latin typeface="Glacial Indifference"/>
                <a:ea typeface="Glacial Indifference"/>
                <a:cs typeface="Glacial Indifference"/>
                <a:sym typeface="Glacial Indifference"/>
              </a:rPr>
              <a:t>χρησιμότητά του</a:t>
            </a:r>
            <a:r>
              <a:rPr lang="en-US" sz="2133">
                <a:solidFill>
                  <a:srgbClr val="695C4A"/>
                </a:solidFill>
                <a:latin typeface="Glacial Indifference"/>
                <a:ea typeface="Glacial Indifference"/>
                <a:cs typeface="Glacial Indifference"/>
                <a:sym typeface="Glacial Indifference"/>
              </a:rPr>
              <a:t> ως</a:t>
            </a:r>
            <a:r>
              <a:rPr lang="en-US" sz="2133">
                <a:solidFill>
                  <a:srgbClr val="695C4A"/>
                </a:solidFill>
                <a:latin typeface="Glacial Indifference"/>
                <a:ea typeface="Glacial Indifference"/>
                <a:cs typeface="Glacial Indifference"/>
                <a:sym typeface="Glacial Indifference"/>
              </a:rPr>
              <a:t> εργαλείο υποστήριξης της διάγνωσης στην κλινική πράξη. </a:t>
            </a:r>
          </a:p>
          <a:p>
            <a:pPr algn="l" marL="460690" indent="-230345" lvl="1">
              <a:lnSpc>
                <a:spcPts val="2987"/>
              </a:lnSpc>
              <a:buFont typeface="Arial"/>
              <a:buChar char="•"/>
            </a:pPr>
            <a:r>
              <a:rPr lang="en-US" sz="2133">
                <a:solidFill>
                  <a:srgbClr val="695C4A"/>
                </a:solidFill>
                <a:latin typeface="Glacial Indifference"/>
                <a:ea typeface="Glacial Indifference"/>
                <a:cs typeface="Glacial Indifference"/>
                <a:sym typeface="Glacial Indifference"/>
              </a:rPr>
              <a:t>Επίσης,</a:t>
            </a:r>
            <a:r>
              <a:rPr lang="en-US" sz="2133">
                <a:solidFill>
                  <a:srgbClr val="695C4A"/>
                </a:solidFill>
                <a:latin typeface="Glacial Indifference"/>
                <a:ea typeface="Glacial Indifference"/>
                <a:cs typeface="Glacial Indifference"/>
                <a:sym typeface="Glacial Indifference"/>
              </a:rPr>
              <a:t> μ</a:t>
            </a:r>
            <a:r>
              <a:rPr lang="en-US" sz="2133">
                <a:solidFill>
                  <a:srgbClr val="695C4A"/>
                </a:solidFill>
                <a:latin typeface="Glacial Indifference"/>
                <a:ea typeface="Glacial Indifference"/>
                <a:cs typeface="Glacial Indifference"/>
                <a:sym typeface="Glacial Indifference"/>
              </a:rPr>
              <a:t>π</a:t>
            </a:r>
            <a:r>
              <a:rPr lang="en-US" sz="2133">
                <a:solidFill>
                  <a:srgbClr val="695C4A"/>
                </a:solidFill>
                <a:latin typeface="Glacial Indifference"/>
                <a:ea typeface="Glacial Indifference"/>
                <a:cs typeface="Glacial Indifference"/>
                <a:sym typeface="Glacial Indifference"/>
              </a:rPr>
              <a:t>ο</a:t>
            </a:r>
            <a:r>
              <a:rPr lang="en-US" sz="2133">
                <a:solidFill>
                  <a:srgbClr val="695C4A"/>
                </a:solidFill>
                <a:latin typeface="Glacial Indifference"/>
                <a:ea typeface="Glacial Indifference"/>
                <a:cs typeface="Glacial Indifference"/>
                <a:sym typeface="Glacial Indifference"/>
              </a:rPr>
              <a:t>ρούμε να εξά</a:t>
            </a:r>
            <a:r>
              <a:rPr lang="en-US" sz="2133">
                <a:solidFill>
                  <a:srgbClr val="695C4A"/>
                </a:solidFill>
                <a:latin typeface="Glacial Indifference"/>
                <a:ea typeface="Glacial Indifference"/>
                <a:cs typeface="Glacial Indifference"/>
                <a:sym typeface="Glacial Indifference"/>
              </a:rPr>
              <a:t>γουμε το </a:t>
            </a:r>
            <a:r>
              <a:rPr lang="en-US" sz="2133">
                <a:solidFill>
                  <a:srgbClr val="695C4A"/>
                </a:solidFill>
                <a:latin typeface="Glacial Indifference"/>
                <a:ea typeface="Glacial Indifference"/>
                <a:cs typeface="Glacial Indifference"/>
                <a:sym typeface="Glacial Indifference"/>
              </a:rPr>
              <a:t>συμπέρα</a:t>
            </a:r>
            <a:r>
              <a:rPr lang="en-US" sz="2133">
                <a:solidFill>
                  <a:srgbClr val="695C4A"/>
                </a:solidFill>
                <a:latin typeface="Glacial Indifference"/>
                <a:ea typeface="Glacial Indifference"/>
                <a:cs typeface="Glacial Indifference"/>
                <a:sym typeface="Glacial Indifference"/>
              </a:rPr>
              <a:t>σμ</a:t>
            </a:r>
            <a:r>
              <a:rPr lang="en-US" sz="2133">
                <a:solidFill>
                  <a:srgbClr val="695C4A"/>
                </a:solidFill>
                <a:latin typeface="Glacial Indifference"/>
                <a:ea typeface="Glacial Indifference"/>
                <a:cs typeface="Glacial Indifference"/>
                <a:sym typeface="Glacial Indifference"/>
              </a:rPr>
              <a:t>α ότι </a:t>
            </a:r>
            <a:r>
              <a:rPr lang="en-US" b="true" sz="2133">
                <a:solidFill>
                  <a:srgbClr val="695C4A"/>
                </a:solidFill>
                <a:latin typeface="Glacial Indifference Bold"/>
                <a:ea typeface="Glacial Indifference Bold"/>
                <a:cs typeface="Glacial Indifference Bold"/>
                <a:sym typeface="Glacial Indifference Bold"/>
              </a:rPr>
              <a:t>η μετατόπιση πεδίου που προκύπτει από τις διαφορές στις συσκευές καταγραφής επηρεάζει συχνά εντονότερα τους παθολογικούς ήχους σε σχέση με τους φυσιολογικούς</a:t>
            </a:r>
            <a:r>
              <a:rPr lang="en-US" sz="2133">
                <a:solidFill>
                  <a:srgbClr val="695C4A"/>
                </a:solidFill>
                <a:latin typeface="Glacial Indifference"/>
                <a:ea typeface="Glacial Indifference"/>
                <a:cs typeface="Glacial Indifference"/>
                <a:sym typeface="Glacial Indifference"/>
              </a:rPr>
              <a:t>, γι’ αυτό κιόλας</a:t>
            </a:r>
            <a:r>
              <a:rPr lang="en-US" sz="2133">
                <a:solidFill>
                  <a:srgbClr val="695C4A"/>
                </a:solidFill>
                <a:latin typeface="Glacial Indifference"/>
                <a:ea typeface="Glacial Indifference"/>
                <a:cs typeface="Glacial Indifference"/>
                <a:sym typeface="Glacial Indifference"/>
              </a:rPr>
              <a:t> η εφ</a:t>
            </a:r>
            <a:r>
              <a:rPr lang="en-US" sz="2133">
                <a:solidFill>
                  <a:srgbClr val="695C4A"/>
                </a:solidFill>
                <a:latin typeface="Glacial Indifference"/>
                <a:ea typeface="Glacial Indifference"/>
                <a:cs typeface="Glacial Indifference"/>
                <a:sym typeface="Glacial Indifference"/>
              </a:rPr>
              <a:t>αρμογή</a:t>
            </a:r>
            <a:r>
              <a:rPr lang="en-US" sz="2133">
                <a:solidFill>
                  <a:srgbClr val="695C4A"/>
                </a:solidFill>
                <a:latin typeface="Glacial Indifference"/>
                <a:ea typeface="Glacial Indifference"/>
                <a:cs typeface="Glacial Indifference"/>
                <a:sym typeface="Glacial Indifference"/>
              </a:rPr>
              <a:t> </a:t>
            </a:r>
            <a:r>
              <a:rPr lang="en-US" sz="2133">
                <a:solidFill>
                  <a:srgbClr val="695C4A"/>
                </a:solidFill>
                <a:latin typeface="Glacial Indifference"/>
                <a:ea typeface="Glacial Indifference"/>
                <a:cs typeface="Glacial Indifference"/>
                <a:sym typeface="Glacial Indifference"/>
              </a:rPr>
              <a:t>της</a:t>
            </a:r>
            <a:r>
              <a:rPr lang="en-US" sz="2133">
                <a:solidFill>
                  <a:srgbClr val="695C4A"/>
                </a:solidFill>
                <a:latin typeface="Glacial Indifference"/>
                <a:ea typeface="Glacial Indifference"/>
                <a:cs typeface="Glacial Indifference"/>
                <a:sym typeface="Glacial Indifference"/>
              </a:rPr>
              <a:t> </a:t>
            </a:r>
            <a:r>
              <a:rPr lang="en-US" sz="2133">
                <a:solidFill>
                  <a:srgbClr val="695C4A"/>
                </a:solidFill>
                <a:latin typeface="Glacial Indifference"/>
                <a:ea typeface="Glacial Indifference"/>
                <a:cs typeface="Glacial Indifference"/>
                <a:sym typeface="Glacial Indifference"/>
              </a:rPr>
              <a:t>προσαρμογής</a:t>
            </a:r>
            <a:r>
              <a:rPr lang="en-US" sz="2133">
                <a:solidFill>
                  <a:srgbClr val="695C4A"/>
                </a:solidFill>
                <a:latin typeface="Glacial Indifference"/>
                <a:ea typeface="Glacial Indifference"/>
                <a:cs typeface="Glacial Indifference"/>
                <a:sym typeface="Glacial Indifference"/>
              </a:rPr>
              <a:t> πεδί</a:t>
            </a:r>
            <a:r>
              <a:rPr lang="en-US" sz="2133">
                <a:solidFill>
                  <a:srgbClr val="695C4A"/>
                </a:solidFill>
                <a:latin typeface="Glacial Indifference"/>
                <a:ea typeface="Glacial Indifference"/>
                <a:cs typeface="Glacial Indifference"/>
                <a:sym typeface="Glacial Indifference"/>
              </a:rPr>
              <a:t>ου βελτίωσε</a:t>
            </a:r>
            <a:r>
              <a:rPr lang="en-US" sz="2133">
                <a:solidFill>
                  <a:srgbClr val="695C4A"/>
                </a:solidFill>
                <a:latin typeface="Glacial Indifference"/>
                <a:ea typeface="Glacial Indifference"/>
                <a:cs typeface="Glacial Indifference"/>
                <a:sym typeface="Glacial Indifference"/>
              </a:rPr>
              <a:t> </a:t>
            </a:r>
            <a:r>
              <a:rPr lang="en-US" sz="2133">
                <a:solidFill>
                  <a:srgbClr val="695C4A"/>
                </a:solidFill>
                <a:latin typeface="Glacial Indifference"/>
                <a:ea typeface="Glacial Indifference"/>
                <a:cs typeface="Glacial Indifference"/>
                <a:sym typeface="Glacial Indifference"/>
              </a:rPr>
              <a:t>πολύ</a:t>
            </a:r>
            <a:r>
              <a:rPr lang="en-US" sz="2133">
                <a:solidFill>
                  <a:srgbClr val="695C4A"/>
                </a:solidFill>
                <a:latin typeface="Glacial Indifference"/>
                <a:ea typeface="Glacial Indifference"/>
                <a:cs typeface="Glacial Indifference"/>
                <a:sym typeface="Glacial Indifference"/>
              </a:rPr>
              <a:t> πε</a:t>
            </a:r>
            <a:r>
              <a:rPr lang="en-US" sz="2133">
                <a:solidFill>
                  <a:srgbClr val="695C4A"/>
                </a:solidFill>
                <a:latin typeface="Glacial Indifference"/>
                <a:ea typeface="Glacial Indifference"/>
                <a:cs typeface="Glacial Indifference"/>
                <a:sym typeface="Glacial Indifference"/>
              </a:rPr>
              <a:t>ρισσότερο</a:t>
            </a:r>
            <a:r>
              <a:rPr lang="en-US" sz="2133">
                <a:solidFill>
                  <a:srgbClr val="695C4A"/>
                </a:solidFill>
                <a:latin typeface="Glacial Indifference"/>
                <a:ea typeface="Glacial Indifference"/>
                <a:cs typeface="Glacial Indifference"/>
                <a:sym typeface="Glacial Indifference"/>
              </a:rPr>
              <a:t> τ</a:t>
            </a:r>
            <a:r>
              <a:rPr lang="en-US" sz="2133">
                <a:solidFill>
                  <a:srgbClr val="695C4A"/>
                </a:solidFill>
                <a:latin typeface="Glacial Indifference"/>
                <a:ea typeface="Glacial Indifference"/>
                <a:cs typeface="Glacial Indifference"/>
                <a:sym typeface="Glacial Indifference"/>
              </a:rPr>
              <a:t>ις μετρικές των</a:t>
            </a:r>
            <a:r>
              <a:rPr lang="en-US" sz="2133">
                <a:solidFill>
                  <a:srgbClr val="695C4A"/>
                </a:solidFill>
                <a:latin typeface="Glacial Indifference"/>
                <a:ea typeface="Glacial Indifference"/>
                <a:cs typeface="Glacial Indifference"/>
                <a:sym typeface="Glacial Indifference"/>
              </a:rPr>
              <a:t> </a:t>
            </a:r>
            <a:r>
              <a:rPr lang="en-US" sz="2133">
                <a:solidFill>
                  <a:srgbClr val="695C4A"/>
                </a:solidFill>
                <a:latin typeface="Glacial Indifference"/>
                <a:ea typeface="Glacial Indifference"/>
                <a:cs typeface="Glacial Indifference"/>
                <a:sym typeface="Glacial Indifference"/>
              </a:rPr>
              <a:t>παθολογικών κλάσεων</a:t>
            </a:r>
            <a:r>
              <a:rPr lang="en-US" sz="2133">
                <a:solidFill>
                  <a:srgbClr val="695C4A"/>
                </a:solidFill>
                <a:latin typeface="Glacial Indifference"/>
                <a:ea typeface="Glacial Indifference"/>
                <a:cs typeface="Glacial Indifference"/>
                <a:sym typeface="Glacial Indifference"/>
              </a:rPr>
              <a:t>.</a:t>
            </a:r>
          </a:p>
          <a:p>
            <a:pPr algn="l" marL="460690" indent="-230345" lvl="1">
              <a:lnSpc>
                <a:spcPts val="2987"/>
              </a:lnSpc>
              <a:spcBef>
                <a:spcPct val="0"/>
              </a:spcBef>
              <a:buFont typeface="Arial"/>
              <a:buChar char="•"/>
            </a:pPr>
            <a:r>
              <a:rPr lang="en-US" sz="2133">
                <a:solidFill>
                  <a:srgbClr val="695C4A"/>
                </a:solidFill>
                <a:latin typeface="Glacial Indifference"/>
                <a:ea typeface="Glacial Indifference"/>
                <a:cs typeface="Glacial Indifference"/>
                <a:sym typeface="Glacial Indifference"/>
              </a:rPr>
              <a:t>Τέλος, ένα ακόμη πολύ σημαντικό συμπέρασμα στο οποίο καταλήξαμε είναι πως </a:t>
            </a:r>
            <a:r>
              <a:rPr lang="en-US" b="true" sz="2133">
                <a:solidFill>
                  <a:srgbClr val="695C4A"/>
                </a:solidFill>
                <a:latin typeface="Glacial Indifference Bold"/>
                <a:ea typeface="Glacial Indifference Bold"/>
                <a:cs typeface="Glacial Indifference Bold"/>
                <a:sym typeface="Glacial Indifference Bold"/>
              </a:rPr>
              <a:t>η συμπερίληψη της πληροφορίας της κλάσης στη διαδικασία ευθυγράμμισης των κατανομών των πεδίων αποτελεί καθοριστικό παράγοντα</a:t>
            </a:r>
            <a:r>
              <a:rPr lang="en-US" sz="2133">
                <a:solidFill>
                  <a:srgbClr val="695C4A"/>
                </a:solidFill>
                <a:latin typeface="Glacial Indifference"/>
                <a:ea typeface="Glacial Indifference"/>
                <a:cs typeface="Glacial Indifference"/>
                <a:sym typeface="Glacial Indifference"/>
              </a:rPr>
              <a:t> για τη </a:t>
            </a:r>
            <a:r>
              <a:rPr lang="en-US" b="true" sz="2133">
                <a:solidFill>
                  <a:srgbClr val="695C4A"/>
                </a:solidFill>
                <a:latin typeface="Glacial Indifference Bold"/>
                <a:ea typeface="Glacial Indifference Bold"/>
                <a:cs typeface="Glacial Indifference Bold"/>
                <a:sym typeface="Glacial Indifference Bold"/>
              </a:rPr>
              <a:t>βελτίωση </a:t>
            </a:r>
            <a:r>
              <a:rPr lang="en-US" sz="2133">
                <a:solidFill>
                  <a:srgbClr val="695C4A"/>
                </a:solidFill>
                <a:latin typeface="Glacial Indifference"/>
                <a:ea typeface="Glacial Indifference"/>
                <a:cs typeface="Glacial Indifference"/>
                <a:sym typeface="Glacial Indifference"/>
              </a:rPr>
              <a:t>της συνολικής απόδοσης. Αυτό πρακτικά σημαίνει ότι κατά τη σύγκλιση των κατανομών χαρακτηριστικών, η πληροφορία που σχετίζεται με το σε ποιά συσκευή ανήκει ένα δείγμα συσχετίζεται άμεσα με το πώς η συγκεκριμένη συσκευή καταγράφει κάθε κλάση. Γι’ αυτό αποδεικνύεται κιόλας από τις μετρικές πως οι μέθοδοι </a:t>
            </a:r>
            <a:r>
              <a:rPr lang="en-US" b="true" sz="2133">
                <a:solidFill>
                  <a:srgbClr val="695C4A"/>
                </a:solidFill>
                <a:latin typeface="Glacial Indifference Bold"/>
                <a:ea typeface="Glacial Indifference Bold"/>
                <a:cs typeface="Glacial Indifference Bold"/>
                <a:sym typeface="Glacial Indifference Bold"/>
              </a:rPr>
              <a:t>CDAN </a:t>
            </a:r>
            <a:r>
              <a:rPr lang="en-US" sz="2133">
                <a:solidFill>
                  <a:srgbClr val="695C4A"/>
                </a:solidFill>
                <a:latin typeface="Glacial Indifference"/>
                <a:ea typeface="Glacial Indifference"/>
                <a:cs typeface="Glacial Indifference"/>
                <a:sym typeface="Glacial Indifference"/>
              </a:rPr>
              <a:t>και </a:t>
            </a:r>
            <a:r>
              <a:rPr lang="en-US" b="true" sz="2133">
                <a:solidFill>
                  <a:srgbClr val="695C4A"/>
                </a:solidFill>
                <a:latin typeface="Glacial Indifference Bold"/>
                <a:ea typeface="Glacial Indifference Bold"/>
                <a:cs typeface="Glacial Indifference Bold"/>
                <a:sym typeface="Glacial Indifference Bold"/>
              </a:rPr>
              <a:t>DANN με VAE</a:t>
            </a:r>
            <a:r>
              <a:rPr lang="en-US" sz="2133">
                <a:solidFill>
                  <a:srgbClr val="695C4A"/>
                </a:solidFill>
                <a:latin typeface="Glacial Indifference"/>
                <a:ea typeface="Glacial Indifference"/>
                <a:cs typeface="Glacial Indifference"/>
                <a:sym typeface="Glacial Indifference"/>
              </a:rPr>
              <a:t> </a:t>
            </a:r>
            <a:r>
              <a:rPr lang="en-US" b="true" sz="2133">
                <a:solidFill>
                  <a:srgbClr val="695C4A"/>
                </a:solidFill>
                <a:latin typeface="Glacial Indifference Bold"/>
                <a:ea typeface="Glacial Indifference Bold"/>
                <a:cs typeface="Glacial Indifference Bold"/>
                <a:sym typeface="Glacial Indifference Bold"/>
              </a:rPr>
              <a:t>αποδίδουν πολύ καλύτερα</a:t>
            </a:r>
            <a:r>
              <a:rPr lang="en-US" sz="2133">
                <a:solidFill>
                  <a:srgbClr val="695C4A"/>
                </a:solidFill>
                <a:latin typeface="Glacial Indifference"/>
                <a:ea typeface="Glacial Indifference"/>
                <a:cs typeface="Glacial Indifference"/>
                <a:sym typeface="Glacial Indifference"/>
              </a:rPr>
              <a:t> σε σχέση με το </a:t>
            </a:r>
            <a:r>
              <a:rPr lang="en-US" b="true" sz="2133">
                <a:solidFill>
                  <a:srgbClr val="695C4A"/>
                </a:solidFill>
                <a:latin typeface="Glacial Indifference Bold"/>
                <a:ea typeface="Glacial Indifference Bold"/>
                <a:cs typeface="Glacial Indifference Bold"/>
                <a:sym typeface="Glacial Indifference Bold"/>
              </a:rPr>
              <a:t>συμβατικό DANN</a:t>
            </a:r>
            <a:r>
              <a:rPr lang="en-US" sz="2133">
                <a:solidFill>
                  <a:srgbClr val="695C4A"/>
                </a:solidFill>
                <a:latin typeface="Glacial Indifference"/>
                <a:ea typeface="Glacial Indifference"/>
                <a:cs typeface="Glacial Indifference"/>
                <a:sym typeface="Glacial Indifference"/>
              </a:rPr>
              <a:t> και το </a:t>
            </a:r>
            <a:r>
              <a:rPr lang="en-US" b="true" sz="2133">
                <a:solidFill>
                  <a:srgbClr val="695C4A"/>
                </a:solidFill>
                <a:latin typeface="Glacial Indifference Bold"/>
                <a:ea typeface="Glacial Indifference Bold"/>
                <a:cs typeface="Glacial Indifference Bold"/>
                <a:sym typeface="Glacial Indifference Bold"/>
              </a:rPr>
              <a:t>Spectrum Correction</a:t>
            </a:r>
            <a:r>
              <a:rPr lang="en-US" sz="2133">
                <a:solidFill>
                  <a:srgbClr val="695C4A"/>
                </a:solidFill>
                <a:latin typeface="Glacial Indifference"/>
                <a:ea typeface="Glacial Indifference"/>
                <a:cs typeface="Glacial Indifference"/>
                <a:sym typeface="Glacial Indifference"/>
              </a:rPr>
              <a:t>.</a:t>
            </a:r>
          </a:p>
        </p:txBody>
      </p:sp>
      <p:sp>
        <p:nvSpPr>
          <p:cNvPr name="AutoShape 6" id="6"/>
          <p:cNvSpPr/>
          <p:nvPr/>
        </p:nvSpPr>
        <p:spPr>
          <a:xfrm>
            <a:off x="7560183" y="1954916"/>
            <a:ext cx="6447576" cy="0"/>
          </a:xfrm>
          <a:prstGeom prst="line">
            <a:avLst/>
          </a:prstGeom>
          <a:ln cap="flat" w="38100">
            <a:solidFill>
              <a:srgbClr val="A69C8E"/>
            </a:solidFill>
            <a:prstDash val="solid"/>
            <a:headEnd type="oval" len="lg" w="lg"/>
            <a:tailEnd type="oval" len="lg" w="lg"/>
          </a:ln>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0" y="9118283"/>
            <a:ext cx="12334424" cy="0"/>
          </a:xfrm>
          <a:prstGeom prst="line">
            <a:avLst/>
          </a:prstGeom>
          <a:ln cap="flat" w="38100">
            <a:solidFill>
              <a:srgbClr val="827564"/>
            </a:solidFill>
            <a:prstDash val="solid"/>
            <a:headEnd type="none" len="sm" w="sm"/>
            <a:tailEnd type="none" len="sm" w="sm"/>
          </a:ln>
        </p:spPr>
      </p:sp>
      <p:sp>
        <p:nvSpPr>
          <p:cNvPr name="AutoShape 3" id="3"/>
          <p:cNvSpPr/>
          <p:nvPr/>
        </p:nvSpPr>
        <p:spPr>
          <a:xfrm flipH="true">
            <a:off x="6074299" y="1187768"/>
            <a:ext cx="12213701" cy="0"/>
          </a:xfrm>
          <a:prstGeom prst="line">
            <a:avLst/>
          </a:prstGeom>
          <a:ln cap="flat" w="38100">
            <a:solidFill>
              <a:srgbClr val="827564"/>
            </a:solidFill>
            <a:prstDash val="solid"/>
            <a:headEnd type="none" len="sm" w="sm"/>
            <a:tailEnd type="none" len="sm" w="sm"/>
          </a:ln>
        </p:spPr>
      </p:sp>
      <p:sp>
        <p:nvSpPr>
          <p:cNvPr name="AutoShape 4" id="4"/>
          <p:cNvSpPr/>
          <p:nvPr/>
        </p:nvSpPr>
        <p:spPr>
          <a:xfrm>
            <a:off x="1260422" y="5588875"/>
            <a:ext cx="0" cy="4698125"/>
          </a:xfrm>
          <a:prstGeom prst="line">
            <a:avLst/>
          </a:prstGeom>
          <a:ln cap="flat" w="38100">
            <a:solidFill>
              <a:srgbClr val="827564"/>
            </a:solidFill>
            <a:prstDash val="solid"/>
            <a:headEnd type="none" len="sm" w="sm"/>
            <a:tailEnd type="none" len="sm" w="sm"/>
          </a:ln>
        </p:spPr>
      </p:sp>
      <p:sp>
        <p:nvSpPr>
          <p:cNvPr name="AutoShape 5" id="5"/>
          <p:cNvSpPr/>
          <p:nvPr/>
        </p:nvSpPr>
        <p:spPr>
          <a:xfrm>
            <a:off x="17027578" y="0"/>
            <a:ext cx="0" cy="4698125"/>
          </a:xfrm>
          <a:prstGeom prst="line">
            <a:avLst/>
          </a:prstGeom>
          <a:ln cap="flat" w="38100">
            <a:solidFill>
              <a:srgbClr val="827564"/>
            </a:solidFill>
            <a:prstDash val="solid"/>
            <a:headEnd type="none" len="sm" w="sm"/>
            <a:tailEnd type="none" len="sm" w="sm"/>
          </a:ln>
        </p:spPr>
      </p:sp>
      <p:sp>
        <p:nvSpPr>
          <p:cNvPr name="Freeform 6" id="6"/>
          <p:cNvSpPr/>
          <p:nvPr/>
        </p:nvSpPr>
        <p:spPr>
          <a:xfrm flipH="false" flipV="false" rot="-8100000">
            <a:off x="13331211" y="6211875"/>
            <a:ext cx="14359719" cy="12767096"/>
          </a:xfrm>
          <a:custGeom>
            <a:avLst/>
            <a:gdLst/>
            <a:ahLst/>
            <a:cxnLst/>
            <a:rect r="r" b="b" t="t" l="l"/>
            <a:pathLst>
              <a:path h="12767096" w="14359719">
                <a:moveTo>
                  <a:pt x="0" y="0"/>
                </a:moveTo>
                <a:lnTo>
                  <a:pt x="14359719" y="0"/>
                </a:lnTo>
                <a:lnTo>
                  <a:pt x="14359719" y="12767096"/>
                </a:lnTo>
                <a:lnTo>
                  <a:pt x="0" y="12767096"/>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true" rot="-8100000">
            <a:off x="-9402930" y="-8691971"/>
            <a:ext cx="14359719" cy="12767096"/>
          </a:xfrm>
          <a:custGeom>
            <a:avLst/>
            <a:gdLst/>
            <a:ahLst/>
            <a:cxnLst/>
            <a:rect r="r" b="b" t="t" l="l"/>
            <a:pathLst>
              <a:path h="12767096" w="14359719">
                <a:moveTo>
                  <a:pt x="14359719" y="12767096"/>
                </a:moveTo>
                <a:lnTo>
                  <a:pt x="0" y="12767096"/>
                </a:lnTo>
                <a:lnTo>
                  <a:pt x="0" y="0"/>
                </a:lnTo>
                <a:lnTo>
                  <a:pt x="14359719" y="0"/>
                </a:lnTo>
                <a:lnTo>
                  <a:pt x="14359719" y="12767096"/>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89462" y="8847323"/>
            <a:ext cx="541920" cy="541920"/>
          </a:xfrm>
          <a:custGeom>
            <a:avLst/>
            <a:gdLst/>
            <a:ahLst/>
            <a:cxnLst/>
            <a:rect r="r" b="b" t="t" l="l"/>
            <a:pathLst>
              <a:path h="541920" w="541920">
                <a:moveTo>
                  <a:pt x="0" y="0"/>
                </a:moveTo>
                <a:lnTo>
                  <a:pt x="541920" y="0"/>
                </a:lnTo>
                <a:lnTo>
                  <a:pt x="541920" y="541919"/>
                </a:lnTo>
                <a:lnTo>
                  <a:pt x="0" y="5419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756618" y="916808"/>
            <a:ext cx="541920" cy="541920"/>
          </a:xfrm>
          <a:custGeom>
            <a:avLst/>
            <a:gdLst/>
            <a:ahLst/>
            <a:cxnLst/>
            <a:rect r="r" b="b" t="t" l="l"/>
            <a:pathLst>
              <a:path h="541920" w="541920">
                <a:moveTo>
                  <a:pt x="0" y="0"/>
                </a:moveTo>
                <a:lnTo>
                  <a:pt x="541920" y="0"/>
                </a:lnTo>
                <a:lnTo>
                  <a:pt x="541920" y="541919"/>
                </a:lnTo>
                <a:lnTo>
                  <a:pt x="0" y="5419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7367707" y="1407749"/>
            <a:ext cx="9294318" cy="1693865"/>
          </a:xfrm>
          <a:prstGeom prst="rect">
            <a:avLst/>
          </a:prstGeom>
        </p:spPr>
        <p:txBody>
          <a:bodyPr anchor="t" rtlCol="false" tIns="0" lIns="0" bIns="0" rIns="0">
            <a:spAutoFit/>
          </a:bodyPr>
          <a:lstStyle/>
          <a:p>
            <a:pPr algn="l">
              <a:lnSpc>
                <a:spcPts val="6612"/>
              </a:lnSpc>
            </a:pPr>
            <a:r>
              <a:rPr lang="en-US" sz="5750" b="true">
                <a:solidFill>
                  <a:srgbClr val="695C4A"/>
                </a:solidFill>
                <a:latin typeface="Glacial Indifference Bold"/>
                <a:ea typeface="Glacial Indifference Bold"/>
                <a:cs typeface="Glacial Indifference Bold"/>
                <a:sym typeface="Glacial Indifference Bold"/>
              </a:rPr>
              <a:t>Συζήτηση &amp; Μελλοντικές επεκτάσεις</a:t>
            </a:r>
          </a:p>
        </p:txBody>
      </p:sp>
      <p:sp>
        <p:nvSpPr>
          <p:cNvPr name="TextBox 11" id="11"/>
          <p:cNvSpPr txBox="true"/>
          <p:nvPr/>
        </p:nvSpPr>
        <p:spPr>
          <a:xfrm rot="0">
            <a:off x="6527867" y="1283924"/>
            <a:ext cx="1075179" cy="961967"/>
          </a:xfrm>
          <a:prstGeom prst="rect">
            <a:avLst/>
          </a:prstGeom>
        </p:spPr>
        <p:txBody>
          <a:bodyPr anchor="t" rtlCol="false" tIns="0" lIns="0" bIns="0" rIns="0">
            <a:spAutoFit/>
          </a:bodyPr>
          <a:lstStyle/>
          <a:p>
            <a:pPr algn="l">
              <a:lnSpc>
                <a:spcPts val="7878"/>
              </a:lnSpc>
              <a:spcBef>
                <a:spcPct val="0"/>
              </a:spcBef>
            </a:pPr>
            <a:r>
              <a:rPr lang="en-US" b="true" sz="5627">
                <a:solidFill>
                  <a:srgbClr val="A69C8E"/>
                </a:solidFill>
                <a:latin typeface="Open Sauce Heavy"/>
                <a:ea typeface="Open Sauce Heavy"/>
                <a:cs typeface="Open Sauce Heavy"/>
                <a:sym typeface="Open Sauce Heavy"/>
              </a:rPr>
              <a:t>8</a:t>
            </a:r>
          </a:p>
        </p:txBody>
      </p:sp>
      <p:sp>
        <p:nvSpPr>
          <p:cNvPr name="TextBox 12" id="12"/>
          <p:cNvSpPr txBox="true"/>
          <p:nvPr/>
        </p:nvSpPr>
        <p:spPr>
          <a:xfrm rot="0">
            <a:off x="1028700" y="3244489"/>
            <a:ext cx="15767156" cy="1610771"/>
          </a:xfrm>
          <a:prstGeom prst="rect">
            <a:avLst/>
          </a:prstGeom>
        </p:spPr>
        <p:txBody>
          <a:bodyPr anchor="t" rtlCol="false" tIns="0" lIns="0" bIns="0" rIns="0">
            <a:spAutoFit/>
          </a:bodyPr>
          <a:lstStyle/>
          <a:p>
            <a:pPr algn="l" marL="395921" indent="-197961" lvl="1">
              <a:lnSpc>
                <a:spcPts val="2567"/>
              </a:lnSpc>
              <a:spcBef>
                <a:spcPct val="0"/>
              </a:spcBef>
              <a:buFont typeface="Arial"/>
              <a:buChar char="•"/>
            </a:pPr>
            <a:r>
              <a:rPr lang="en-US" sz="1833">
                <a:solidFill>
                  <a:srgbClr val="695C4A"/>
                </a:solidFill>
                <a:latin typeface="Glacial Indifference"/>
                <a:ea typeface="Glacial Indifference"/>
                <a:cs typeface="Glacial Indifference"/>
                <a:sym typeface="Glacial Indifference"/>
              </a:rPr>
              <a:t>Μια πρώτη επέκταση της προτεινόμενης μεθοδολογίας </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φ</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ρ</a:t>
            </a:r>
            <a:r>
              <a:rPr lang="en-US" sz="1833">
                <a:solidFill>
                  <a:srgbClr val="695C4A"/>
                </a:solidFill>
                <a:latin typeface="Glacial Indifference"/>
                <a:ea typeface="Glacial Indifference"/>
                <a:cs typeface="Glacial Indifference"/>
                <a:sym typeface="Glacial Indifference"/>
              </a:rPr>
              <a:t>ά τ</a:t>
            </a:r>
            <a:r>
              <a:rPr lang="en-US" sz="1833">
                <a:solidFill>
                  <a:srgbClr val="695C4A"/>
                </a:solidFill>
                <a:latin typeface="Glacial Indifference"/>
                <a:ea typeface="Glacial Indifference"/>
                <a:cs typeface="Glacial Indifference"/>
                <a:sym typeface="Glacial Indifference"/>
              </a:rPr>
              <a:t>ην </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υτόματη και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πι</a:t>
            </a:r>
            <a:r>
              <a:rPr lang="en-US" sz="1833">
                <a:solidFill>
                  <a:srgbClr val="695C4A"/>
                </a:solidFill>
                <a:latin typeface="Glacial Indifference"/>
                <a:ea typeface="Glacial Indifference"/>
                <a:cs typeface="Glacial Indifference"/>
                <a:sym typeface="Glacial Indifference"/>
              </a:rPr>
              <a:t>ο </a:t>
            </a:r>
            <a:r>
              <a:rPr lang="en-US" sz="1833">
                <a:solidFill>
                  <a:srgbClr val="695C4A"/>
                </a:solidFill>
                <a:latin typeface="Glacial Indifference"/>
                <a:ea typeface="Glacial Indifference"/>
                <a:cs typeface="Glacial Indifference"/>
                <a:sym typeface="Glacial Indifference"/>
              </a:rPr>
              <a:t>εκτενή</a:t>
            </a:r>
            <a:r>
              <a:rPr lang="en-US" b="true" sz="1833">
                <a:solidFill>
                  <a:srgbClr val="695C4A"/>
                </a:solidFill>
                <a:latin typeface="Glacial Indifference Bold"/>
                <a:ea typeface="Glacial Indifference Bold"/>
                <a:cs typeface="Glacial Indifference Bold"/>
                <a:sym typeface="Glacial Indifference Bold"/>
              </a:rPr>
              <a:t> εξαγωγή χαρακτηριστικών με χρήση τεχνικών βαθιάς μάθησης</a:t>
            </a:r>
            <a:r>
              <a:rPr lang="en-US" sz="1833">
                <a:solidFill>
                  <a:srgbClr val="695C4A"/>
                </a:solidFill>
                <a:latin typeface="Glacial Indifference"/>
                <a:ea typeface="Glacial Indifference"/>
                <a:cs typeface="Glacial Indifference"/>
                <a:sym typeface="Glacial Indifference"/>
              </a:rPr>
              <a:t> (CNNs RNNs, Transformers) </a:t>
            </a:r>
            <a:r>
              <a:rPr lang="en-US" sz="1833">
                <a:solidFill>
                  <a:srgbClr val="695C4A"/>
                </a:solidFill>
                <a:latin typeface="Glacial Indifference"/>
                <a:ea typeface="Glacial Indifference"/>
                <a:cs typeface="Glacial Indifference"/>
                <a:sym typeface="Glacial Indifference"/>
              </a:rPr>
              <a:t>αν</a:t>
            </a:r>
            <a:r>
              <a:rPr lang="en-US" sz="1833">
                <a:solidFill>
                  <a:srgbClr val="695C4A"/>
                </a:solidFill>
                <a:latin typeface="Glacial Indifference"/>
                <a:ea typeface="Glacial Indifference"/>
                <a:cs typeface="Glacial Indifference"/>
                <a:sym typeface="Glacial Indifference"/>
              </a:rPr>
              <a:t>τ</a:t>
            </a:r>
            <a:r>
              <a:rPr lang="en-US" sz="1833">
                <a:solidFill>
                  <a:srgbClr val="695C4A"/>
                </a:solidFill>
                <a:latin typeface="Glacial Indifference"/>
                <a:ea typeface="Glacial Indifference"/>
                <a:cs typeface="Glacial Indifference"/>
                <a:sym typeface="Glacial Indifference"/>
              </a:rPr>
              <a:t>ί</a:t>
            </a:r>
            <a:r>
              <a:rPr lang="en-US" sz="1833">
                <a:solidFill>
                  <a:srgbClr val="695C4A"/>
                </a:solidFill>
                <a:latin typeface="Glacial Indifference"/>
                <a:ea typeface="Glacial Indifference"/>
                <a:cs typeface="Glacial Indifference"/>
                <a:sym typeface="Glacial Indifference"/>
              </a:rPr>
              <a:t> για </a:t>
            </a:r>
            <a:r>
              <a:rPr lang="en-US" sz="1833">
                <a:solidFill>
                  <a:srgbClr val="695C4A"/>
                </a:solidFill>
                <a:latin typeface="Glacial Indifference"/>
                <a:ea typeface="Glacial Indifference"/>
                <a:cs typeface="Glacial Indifference"/>
                <a:sym typeface="Glacial Indifference"/>
              </a:rPr>
              <a:t>χειροκίνητα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επι</a:t>
            </a:r>
            <a:r>
              <a:rPr lang="en-US" sz="1833">
                <a:solidFill>
                  <a:srgbClr val="695C4A"/>
                </a:solidFill>
                <a:latin typeface="Glacial Indifference"/>
                <a:ea typeface="Glacial Indifference"/>
                <a:cs typeface="Glacial Indifference"/>
                <a:sym typeface="Glacial Indifference"/>
              </a:rPr>
              <a:t>λε</a:t>
            </a:r>
            <a:r>
              <a:rPr lang="en-US" sz="1833">
                <a:solidFill>
                  <a:srgbClr val="695C4A"/>
                </a:solidFill>
                <a:latin typeface="Glacial Indifference"/>
                <a:ea typeface="Glacial Indifference"/>
                <a:cs typeface="Glacial Indifference"/>
                <a:sym typeface="Glacial Indifference"/>
              </a:rPr>
              <a:t>γμένα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χαρακτηριστικά</a:t>
            </a:r>
            <a:r>
              <a:rPr lang="en-US" sz="1833">
                <a:solidFill>
                  <a:srgbClr val="695C4A"/>
                </a:solidFill>
                <a:latin typeface="Glacial Indifference"/>
                <a:ea typeface="Glacial Indifference"/>
                <a:cs typeface="Glacial Indifference"/>
                <a:sym typeface="Glacial Indifference"/>
              </a:rPr>
              <a:t>. Η</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χειροκίνητη επιλογή </a:t>
            </a:r>
            <a:r>
              <a:rPr lang="en-US" sz="1833">
                <a:solidFill>
                  <a:srgbClr val="695C4A"/>
                </a:solidFill>
                <a:latin typeface="Glacial Indifference"/>
                <a:ea typeface="Glacial Indifference"/>
                <a:cs typeface="Glacial Indifference"/>
                <a:sym typeface="Glacial Indifference"/>
              </a:rPr>
              <a:t>στηρίζεται συνήθως σε</a:t>
            </a:r>
            <a:r>
              <a:rPr lang="en-US" sz="1833">
                <a:solidFill>
                  <a:srgbClr val="695C4A"/>
                </a:solidFill>
                <a:latin typeface="Glacial Indifference"/>
                <a:ea typeface="Glacial Indifference"/>
                <a:cs typeface="Glacial Indifference"/>
                <a:sym typeface="Glacial Indifference"/>
              </a:rPr>
              <a:t> </a:t>
            </a:r>
            <a:r>
              <a:rPr lang="en-US" b="true" sz="1833">
                <a:solidFill>
                  <a:srgbClr val="695C4A"/>
                </a:solidFill>
                <a:latin typeface="Glacial Indifference Bold"/>
                <a:ea typeface="Glacial Indifference Bold"/>
                <a:cs typeface="Glacial Indifference Bold"/>
                <a:sym typeface="Glacial Indifference Bold"/>
              </a:rPr>
              <a:t>προϋπάρχουσα γνώση</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και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σε </a:t>
            </a:r>
            <a:r>
              <a:rPr lang="en-US" sz="1833">
                <a:solidFill>
                  <a:srgbClr val="695C4A"/>
                </a:solidFill>
                <a:latin typeface="Glacial Indifference"/>
                <a:ea typeface="Glacial Indifference"/>
                <a:cs typeface="Glacial Indifference"/>
                <a:sym typeface="Glacial Indifference"/>
              </a:rPr>
              <a:t>σ</a:t>
            </a:r>
            <a:r>
              <a:rPr lang="en-US" sz="1833">
                <a:solidFill>
                  <a:srgbClr val="695C4A"/>
                </a:solidFill>
                <a:latin typeface="Glacial Indifference"/>
                <a:ea typeface="Glacial Indifference"/>
                <a:cs typeface="Glacial Indifference"/>
                <a:sym typeface="Glacial Indifference"/>
              </a:rPr>
              <a:t>τατ</a:t>
            </a:r>
            <a:r>
              <a:rPr lang="en-US" sz="1833">
                <a:solidFill>
                  <a:srgbClr val="695C4A"/>
                </a:solidFill>
                <a:latin typeface="Glacial Indifference"/>
                <a:ea typeface="Glacial Indifference"/>
                <a:cs typeface="Glacial Indifference"/>
                <a:sym typeface="Glacial Indifference"/>
              </a:rPr>
              <a:t>ι</a:t>
            </a:r>
            <a:r>
              <a:rPr lang="en-US" sz="1833">
                <a:solidFill>
                  <a:srgbClr val="695C4A"/>
                </a:solidFill>
                <a:latin typeface="Glacial Indifference"/>
                <a:ea typeface="Glacial Indifference"/>
                <a:cs typeface="Glacial Indifference"/>
                <a:sym typeface="Glacial Indifference"/>
              </a:rPr>
              <a:t>στικά ή φασ</a:t>
            </a:r>
            <a:r>
              <a:rPr lang="en-US" sz="1833">
                <a:solidFill>
                  <a:srgbClr val="695C4A"/>
                </a:solidFill>
                <a:latin typeface="Glacial Indifference"/>
                <a:ea typeface="Glacial Indifference"/>
                <a:cs typeface="Glacial Indifference"/>
                <a:sym typeface="Glacial Indifference"/>
              </a:rPr>
              <a:t>μ</a:t>
            </a:r>
            <a:r>
              <a:rPr lang="en-US" sz="1833">
                <a:solidFill>
                  <a:srgbClr val="695C4A"/>
                </a:solidFill>
                <a:latin typeface="Glacial Indifference"/>
                <a:ea typeface="Glacial Indifference"/>
                <a:cs typeface="Glacial Indifference"/>
                <a:sym typeface="Glacial Indifference"/>
              </a:rPr>
              <a:t>ατ</a:t>
            </a:r>
            <a:r>
              <a:rPr lang="en-US" sz="1833">
                <a:solidFill>
                  <a:srgbClr val="695C4A"/>
                </a:solidFill>
                <a:latin typeface="Glacial Indifference"/>
                <a:ea typeface="Glacial Indifference"/>
                <a:cs typeface="Glacial Indifference"/>
                <a:sym typeface="Glacial Indifference"/>
              </a:rPr>
              <a:t>ι</a:t>
            </a:r>
            <a:r>
              <a:rPr lang="en-US" sz="1833">
                <a:solidFill>
                  <a:srgbClr val="695C4A"/>
                </a:solidFill>
                <a:latin typeface="Glacial Indifference"/>
                <a:ea typeface="Glacial Indifference"/>
                <a:cs typeface="Glacial Indifference"/>
                <a:sym typeface="Glacial Indifference"/>
              </a:rPr>
              <a:t>κά μεγέ</a:t>
            </a:r>
            <a:r>
              <a:rPr lang="en-US" sz="1833">
                <a:solidFill>
                  <a:srgbClr val="695C4A"/>
                </a:solidFill>
                <a:latin typeface="Glacial Indifference"/>
                <a:ea typeface="Glacial Indifference"/>
                <a:cs typeface="Glacial Indifference"/>
                <a:sym typeface="Glacial Indifference"/>
              </a:rPr>
              <a:t>θη</a:t>
            </a:r>
            <a:r>
              <a:rPr lang="en-US" sz="1833">
                <a:solidFill>
                  <a:srgbClr val="695C4A"/>
                </a:solidFill>
                <a:latin typeface="Glacial Indifference"/>
                <a:ea typeface="Glacial Indifference"/>
                <a:cs typeface="Glacial Indifference"/>
                <a:sym typeface="Glacial Indifference"/>
              </a:rPr>
              <a:t>, τα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οπ</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ία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αν</a:t>
            </a:r>
            <a:r>
              <a:rPr lang="en-US" sz="1833">
                <a:solidFill>
                  <a:srgbClr val="695C4A"/>
                </a:solidFill>
                <a:latin typeface="Glacial Indifference"/>
                <a:ea typeface="Glacial Indifference"/>
                <a:cs typeface="Glacial Indifference"/>
                <a:sym typeface="Glacial Indifference"/>
              </a:rPr>
              <a:t> και </a:t>
            </a:r>
            <a:r>
              <a:rPr lang="en-US" sz="1833">
                <a:solidFill>
                  <a:srgbClr val="695C4A"/>
                </a:solidFill>
                <a:latin typeface="Glacial Indifference"/>
                <a:ea typeface="Glacial Indifference"/>
                <a:cs typeface="Glacial Indifference"/>
                <a:sym typeface="Glacial Indifference"/>
              </a:rPr>
              <a:t>αποτ</a:t>
            </a:r>
            <a:r>
              <a:rPr lang="en-US" sz="1833">
                <a:solidFill>
                  <a:srgbClr val="695C4A"/>
                </a:solidFill>
                <a:latin typeface="Glacial Indifference"/>
                <a:ea typeface="Glacial Indifference"/>
                <a:cs typeface="Glacial Indifference"/>
                <a:sym typeface="Glacial Indifference"/>
              </a:rPr>
              <a:t>υ</a:t>
            </a:r>
            <a:r>
              <a:rPr lang="en-US" sz="1833">
                <a:solidFill>
                  <a:srgbClr val="695C4A"/>
                </a:solidFill>
                <a:latin typeface="Glacial Indifference"/>
                <a:ea typeface="Glacial Indifference"/>
                <a:cs typeface="Glacial Indifference"/>
                <a:sym typeface="Glacial Indifference"/>
              </a:rPr>
              <a:t>πώ</a:t>
            </a:r>
            <a:r>
              <a:rPr lang="en-US" sz="1833">
                <a:solidFill>
                  <a:srgbClr val="695C4A"/>
                </a:solidFill>
                <a:latin typeface="Glacial Indifference"/>
                <a:ea typeface="Glacial Indifference"/>
                <a:cs typeface="Glacial Indifference"/>
                <a:sym typeface="Glacial Indifference"/>
              </a:rPr>
              <a:t>νο</a:t>
            </a:r>
            <a:r>
              <a:rPr lang="en-US" sz="1833">
                <a:solidFill>
                  <a:srgbClr val="695C4A"/>
                </a:solidFill>
                <a:latin typeface="Glacial Indifference"/>
                <a:ea typeface="Glacial Indifference"/>
                <a:cs typeface="Glacial Indifference"/>
                <a:sym typeface="Glacial Indifference"/>
              </a:rPr>
              <a:t>υν</a:t>
            </a:r>
            <a:r>
              <a:rPr lang="en-US" sz="1833">
                <a:solidFill>
                  <a:srgbClr val="695C4A"/>
                </a:solidFill>
                <a:latin typeface="Glacial Indifference"/>
                <a:ea typeface="Glacial Indifference"/>
                <a:cs typeface="Glacial Indifference"/>
                <a:sym typeface="Glacial Indifference"/>
              </a:rPr>
              <a:t> σ</a:t>
            </a:r>
            <a:r>
              <a:rPr lang="en-US" sz="1833">
                <a:solidFill>
                  <a:srgbClr val="695C4A"/>
                </a:solidFill>
                <a:latin typeface="Glacial Indifference"/>
                <a:ea typeface="Glacial Indifference"/>
                <a:cs typeface="Glacial Indifference"/>
                <a:sym typeface="Glacial Indifference"/>
              </a:rPr>
              <a:t>ημ</a:t>
            </a:r>
            <a:r>
              <a:rPr lang="en-US" sz="1833">
                <a:solidFill>
                  <a:srgbClr val="695C4A"/>
                </a:solidFill>
                <a:latin typeface="Glacial Indifference"/>
                <a:ea typeface="Glacial Indifference"/>
                <a:cs typeface="Glacial Indifference"/>
                <a:sym typeface="Glacial Indifference"/>
              </a:rPr>
              <a:t>αν</a:t>
            </a:r>
            <a:r>
              <a:rPr lang="en-US" sz="1833">
                <a:solidFill>
                  <a:srgbClr val="695C4A"/>
                </a:solidFill>
                <a:latin typeface="Glacial Indifference"/>
                <a:ea typeface="Glacial Indifference"/>
                <a:cs typeface="Glacial Indifference"/>
                <a:sym typeface="Glacial Indifference"/>
              </a:rPr>
              <a:t>τικές</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πτυχές</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των</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αναπνευστικών ήχων, ενδέχεται να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μην καταφέρνουν να συλλάβουν την πλήρη πολυπλοκότητα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και</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τα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λεπτομερή</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μοτίβα</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που</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χαρακτ</a:t>
            </a:r>
            <a:r>
              <a:rPr lang="en-US" sz="1833">
                <a:solidFill>
                  <a:srgbClr val="695C4A"/>
                </a:solidFill>
                <a:latin typeface="Glacial Indifference"/>
                <a:ea typeface="Glacial Indifference"/>
                <a:cs typeface="Glacial Indifference"/>
                <a:sym typeface="Glacial Indifference"/>
              </a:rPr>
              <a:t>η</a:t>
            </a:r>
            <a:r>
              <a:rPr lang="en-US" sz="1833">
                <a:solidFill>
                  <a:srgbClr val="695C4A"/>
                </a:solidFill>
                <a:latin typeface="Glacial Indifference"/>
                <a:ea typeface="Glacial Indifference"/>
                <a:cs typeface="Glacial Indifference"/>
                <a:sym typeface="Glacial Indifference"/>
              </a:rPr>
              <a:t>ρίζουν</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διαφορετικές</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παθολογίες</a:t>
            </a:r>
            <a:r>
              <a:rPr lang="en-US" sz="1833">
                <a:solidFill>
                  <a:srgbClr val="695C4A"/>
                </a:solidFill>
                <a:latin typeface="Glacial Indifference"/>
                <a:ea typeface="Glacial Indifference"/>
                <a:cs typeface="Glacial Indifference"/>
                <a:sym typeface="Glacial Indifference"/>
              </a:rPr>
              <a:t>.</a:t>
            </a:r>
            <a:r>
              <a:rPr lang="en-US" sz="1833">
                <a:solidFill>
                  <a:srgbClr val="695C4A"/>
                </a:solidFill>
                <a:latin typeface="Glacial Indifference"/>
                <a:ea typeface="Glacial Indifference"/>
                <a:cs typeface="Glacial Indifference"/>
                <a:sym typeface="Glacial Indifference"/>
              </a:rPr>
              <a:t> </a:t>
            </a:r>
          </a:p>
        </p:txBody>
      </p:sp>
      <p:sp>
        <p:nvSpPr>
          <p:cNvPr name="TextBox 13" id="13"/>
          <p:cNvSpPr txBox="true"/>
          <p:nvPr/>
        </p:nvSpPr>
        <p:spPr>
          <a:xfrm rot="0">
            <a:off x="1944566" y="5105400"/>
            <a:ext cx="15353971" cy="1934621"/>
          </a:xfrm>
          <a:prstGeom prst="rect">
            <a:avLst/>
          </a:prstGeom>
        </p:spPr>
        <p:txBody>
          <a:bodyPr anchor="t" rtlCol="false" tIns="0" lIns="0" bIns="0" rIns="0">
            <a:spAutoFit/>
          </a:bodyPr>
          <a:lstStyle/>
          <a:p>
            <a:pPr algn="l" marL="395921" indent="-197961" lvl="1">
              <a:lnSpc>
                <a:spcPts val="2567"/>
              </a:lnSpc>
              <a:spcBef>
                <a:spcPct val="0"/>
              </a:spcBef>
              <a:buFont typeface="Arial"/>
              <a:buChar char="•"/>
            </a:pPr>
            <a:r>
              <a:rPr lang="en-US" sz="1833">
                <a:solidFill>
                  <a:srgbClr val="695C4A"/>
                </a:solidFill>
                <a:latin typeface="Glacial Indifference"/>
                <a:ea typeface="Glacial Indifference"/>
                <a:cs typeface="Glacial Indifference"/>
                <a:sym typeface="Glacial Indifference"/>
              </a:rPr>
              <a:t>Ένα ακόμη πεδίο μελλοντικής διερεύνησης </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φ</a:t>
            </a:r>
            <a:r>
              <a:rPr lang="en-US" sz="1833">
                <a:solidFill>
                  <a:srgbClr val="695C4A"/>
                </a:solidFill>
                <a:latin typeface="Glacial Indifference"/>
                <a:ea typeface="Glacial Indifference"/>
                <a:cs typeface="Glacial Indifference"/>
                <a:sym typeface="Glacial Indifference"/>
              </a:rPr>
              <a:t>ο</a:t>
            </a:r>
            <a:r>
              <a:rPr lang="en-US" sz="1833">
                <a:solidFill>
                  <a:srgbClr val="695C4A"/>
                </a:solidFill>
                <a:latin typeface="Glacial Indifference"/>
                <a:ea typeface="Glacial Indifference"/>
                <a:cs typeface="Glacial Indifference"/>
                <a:sym typeface="Glacial Indifference"/>
              </a:rPr>
              <a:t>ρ</a:t>
            </a:r>
            <a:r>
              <a:rPr lang="en-US" sz="1833">
                <a:solidFill>
                  <a:srgbClr val="695C4A"/>
                </a:solidFill>
                <a:latin typeface="Glacial Indifference"/>
                <a:ea typeface="Glacial Indifference"/>
                <a:cs typeface="Glacial Indifference"/>
                <a:sym typeface="Glacial Indifference"/>
              </a:rPr>
              <a:t>ά τ</a:t>
            </a:r>
            <a:r>
              <a:rPr lang="en-US" sz="1833">
                <a:solidFill>
                  <a:srgbClr val="695C4A"/>
                </a:solidFill>
                <a:latin typeface="Glacial Indifference"/>
                <a:ea typeface="Glacial Indifference"/>
                <a:cs typeface="Glacial Indifference"/>
                <a:sym typeface="Glacial Indifference"/>
              </a:rPr>
              <a:t>ην </a:t>
            </a:r>
            <a:r>
              <a:rPr lang="en-US" b="true" sz="1833">
                <a:solidFill>
                  <a:srgbClr val="695C4A"/>
                </a:solidFill>
                <a:latin typeface="Glacial Indifference Bold"/>
                <a:ea typeface="Glacial Indifference Bold"/>
                <a:cs typeface="Glacial Indifference Bold"/>
                <a:sym typeface="Glacial Indifference Bold"/>
              </a:rPr>
              <a:t>ενσωμάτωση τεχνικών κανονικοποίησης φάσματος</a:t>
            </a:r>
            <a:r>
              <a:rPr lang="en-US" sz="1833">
                <a:solidFill>
                  <a:srgbClr val="695C4A"/>
                </a:solidFill>
                <a:latin typeface="Glacial Indifference"/>
                <a:ea typeface="Glacial Indifference"/>
                <a:cs typeface="Glacial Indifference"/>
                <a:sym typeface="Glacial Indifference"/>
              </a:rPr>
              <a:t>,</a:t>
            </a:r>
            <a:r>
              <a:rPr lang="en-US" sz="1833">
                <a:solidFill>
                  <a:srgbClr val="695C4A"/>
                </a:solidFill>
                <a:latin typeface="Glacial Indifference"/>
                <a:ea typeface="Glacial Indifference"/>
                <a:cs typeface="Glacial Indifference"/>
                <a:sym typeface="Glacial Indifference"/>
              </a:rPr>
              <a:t> όπως </a:t>
            </a:r>
            <a:r>
              <a:rPr lang="en-US" sz="1833">
                <a:solidFill>
                  <a:srgbClr val="695C4A"/>
                </a:solidFill>
                <a:latin typeface="Glacial Indifference"/>
                <a:ea typeface="Glacial Indifference"/>
                <a:cs typeface="Glacial Indifference"/>
                <a:sym typeface="Glacial Indifference"/>
              </a:rPr>
              <a:t>η διόρθωση</a:t>
            </a:r>
            <a:r>
              <a:rPr lang="en-US" sz="1833">
                <a:solidFill>
                  <a:srgbClr val="695C4A"/>
                </a:solidFill>
                <a:latin typeface="Glacial Indifference"/>
                <a:ea typeface="Glacial Indifference"/>
                <a:cs typeface="Glacial Indifference"/>
                <a:sym typeface="Glacial Indifference"/>
              </a:rPr>
              <a:t> φάσμ</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τος (</a:t>
            </a:r>
            <a:r>
              <a:rPr lang="en-US" b="true" sz="1833">
                <a:solidFill>
                  <a:srgbClr val="695C4A"/>
                </a:solidFill>
                <a:latin typeface="Glacial Indifference Bold"/>
                <a:ea typeface="Glacial Indifference Bold"/>
                <a:cs typeface="Glacial Indifference Bold"/>
                <a:sym typeface="Glacial Indifference Bold"/>
              </a:rPr>
              <a:t>spectrum correction</a:t>
            </a:r>
            <a:r>
              <a:rPr lang="en-US" sz="1833">
                <a:solidFill>
                  <a:srgbClr val="695C4A"/>
                </a:solidFill>
                <a:latin typeface="Glacial Indifference"/>
                <a:ea typeface="Glacial Indifference"/>
                <a:cs typeface="Glacial Indifference"/>
                <a:sym typeface="Glacial Indifference"/>
              </a:rPr>
              <a:t>), στο π</a:t>
            </a:r>
            <a:r>
              <a:rPr lang="en-US" sz="1833">
                <a:solidFill>
                  <a:srgbClr val="695C4A"/>
                </a:solidFill>
                <a:latin typeface="Glacial Indifference"/>
                <a:ea typeface="Glacial Indifference"/>
                <a:cs typeface="Glacial Indifference"/>
                <a:sym typeface="Glacial Indifference"/>
              </a:rPr>
              <a:t>ροτεινόμενο μεθοδολογικό</a:t>
            </a:r>
            <a:r>
              <a:rPr lang="en-US" sz="1833">
                <a:solidFill>
                  <a:srgbClr val="695C4A"/>
                </a:solidFill>
                <a:latin typeface="Glacial Indifference"/>
                <a:ea typeface="Glacial Indifference"/>
                <a:cs typeface="Glacial Indifference"/>
                <a:sym typeface="Glacial Indifference"/>
              </a:rPr>
              <a:t> πλ</a:t>
            </a:r>
            <a:r>
              <a:rPr lang="en-US" sz="1833">
                <a:solidFill>
                  <a:srgbClr val="695C4A"/>
                </a:solidFill>
                <a:latin typeface="Glacial Indifference"/>
                <a:ea typeface="Glacial Indifference"/>
                <a:cs typeface="Glacial Indifference"/>
                <a:sym typeface="Glacial Indifference"/>
              </a:rPr>
              <a:t>αίσιο</a:t>
            </a:r>
            <a:r>
              <a:rPr lang="en-US" sz="1833">
                <a:solidFill>
                  <a:srgbClr val="695C4A"/>
                </a:solidFill>
                <a:latin typeface="Glacial Indifference"/>
                <a:ea typeface="Glacial Indifference"/>
                <a:cs typeface="Glacial Indifference"/>
                <a:sym typeface="Glacial Indifference"/>
              </a:rPr>
              <a:t>. Η</a:t>
            </a:r>
            <a:r>
              <a:rPr lang="en-US" sz="1833">
                <a:solidFill>
                  <a:srgbClr val="695C4A"/>
                </a:solidFill>
                <a:latin typeface="Glacial Indifference"/>
                <a:ea typeface="Glacial Indifference"/>
                <a:cs typeface="Glacial Indifference"/>
                <a:sym typeface="Glacial Indifference"/>
              </a:rPr>
              <a:t> συγκεκριμένη προσέγγιση, όπως έχει ήδη αποδειχθεί στη βιβλιογραφία, επιτυ</a:t>
            </a:r>
            <a:r>
              <a:rPr lang="en-US" sz="1833">
                <a:solidFill>
                  <a:srgbClr val="695C4A"/>
                </a:solidFill>
                <a:latin typeface="Glacial Indifference"/>
                <a:ea typeface="Glacial Indifference"/>
                <a:cs typeface="Glacial Indifference"/>
                <a:sym typeface="Glacial Indifference"/>
              </a:rPr>
              <a:t>γχά</a:t>
            </a:r>
            <a:r>
              <a:rPr lang="en-US" sz="1833">
                <a:solidFill>
                  <a:srgbClr val="695C4A"/>
                </a:solidFill>
                <a:latin typeface="Glacial Indifference"/>
                <a:ea typeface="Glacial Indifference"/>
                <a:cs typeface="Glacial Indifference"/>
                <a:sym typeface="Glacial Indifference"/>
              </a:rPr>
              <a:t>νει</a:t>
            </a:r>
            <a:r>
              <a:rPr lang="en-US" sz="1833">
                <a:solidFill>
                  <a:srgbClr val="695C4A"/>
                </a:solidFill>
                <a:latin typeface="Glacial Indifference"/>
                <a:ea typeface="Glacial Indifference"/>
                <a:cs typeface="Glacial Indifference"/>
                <a:sym typeface="Glacial Indifference"/>
              </a:rPr>
              <a:t> τη</a:t>
            </a:r>
            <a:r>
              <a:rPr lang="en-US" sz="1833">
                <a:solidFill>
                  <a:srgbClr val="695C4A"/>
                </a:solidFill>
                <a:latin typeface="Glacial Indifference"/>
                <a:ea typeface="Glacial Indifference"/>
                <a:cs typeface="Glacial Indifference"/>
                <a:sym typeface="Glacial Indifference"/>
              </a:rPr>
              <a:t> μείω</a:t>
            </a:r>
            <a:r>
              <a:rPr lang="en-US" sz="1833">
                <a:solidFill>
                  <a:srgbClr val="695C4A"/>
                </a:solidFill>
                <a:latin typeface="Glacial Indifference"/>
                <a:ea typeface="Glacial Indifference"/>
                <a:cs typeface="Glacial Indifference"/>
                <a:sym typeface="Glacial Indifference"/>
              </a:rPr>
              <a:t>ση </a:t>
            </a:r>
            <a:r>
              <a:rPr lang="en-US" sz="1833">
                <a:solidFill>
                  <a:srgbClr val="695C4A"/>
                </a:solidFill>
                <a:latin typeface="Glacial Indifference"/>
                <a:ea typeface="Glacial Indifference"/>
                <a:cs typeface="Glacial Indifference"/>
                <a:sym typeface="Glacial Indifference"/>
              </a:rPr>
              <a:t>της επίδρασης που ασκεί </a:t>
            </a:r>
            <a:r>
              <a:rPr lang="en-US" sz="1833">
                <a:solidFill>
                  <a:srgbClr val="695C4A"/>
                </a:solidFill>
                <a:latin typeface="Glacial Indifference"/>
                <a:ea typeface="Glacial Indifference"/>
                <a:cs typeface="Glacial Indifference"/>
                <a:sym typeface="Glacial Indifference"/>
              </a:rPr>
              <a:t>η</a:t>
            </a:r>
            <a:r>
              <a:rPr lang="en-US" sz="1833">
                <a:solidFill>
                  <a:srgbClr val="695C4A"/>
                </a:solidFill>
                <a:latin typeface="Glacial Indifference"/>
                <a:ea typeface="Glacial Indifference"/>
                <a:cs typeface="Glacial Indifference"/>
                <a:sym typeface="Glacial Indifference"/>
              </a:rPr>
              <a:t> ετερ</a:t>
            </a:r>
            <a:r>
              <a:rPr lang="en-US" sz="1833">
                <a:solidFill>
                  <a:srgbClr val="695C4A"/>
                </a:solidFill>
                <a:latin typeface="Glacial Indifference"/>
                <a:ea typeface="Glacial Indifference"/>
                <a:cs typeface="Glacial Indifference"/>
                <a:sym typeface="Glacial Indifference"/>
              </a:rPr>
              <a:t>ογένει</a:t>
            </a:r>
            <a:r>
              <a:rPr lang="en-US" sz="1833">
                <a:solidFill>
                  <a:srgbClr val="695C4A"/>
                </a:solidFill>
                <a:latin typeface="Glacial Indifference"/>
                <a:ea typeface="Glacial Indifference"/>
                <a:cs typeface="Glacial Indifference"/>
                <a:sym typeface="Glacial Indifference"/>
              </a:rPr>
              <a:t>α</a:t>
            </a:r>
            <a:r>
              <a:rPr lang="en-US" sz="1833">
                <a:solidFill>
                  <a:srgbClr val="695C4A"/>
                </a:solidFill>
                <a:latin typeface="Glacial Indifference"/>
                <a:ea typeface="Glacial Indifference"/>
                <a:cs typeface="Glacial Indifference"/>
                <a:sym typeface="Glacial Indifference"/>
              </a:rPr>
              <a:t> τω</a:t>
            </a:r>
            <a:r>
              <a:rPr lang="en-US" sz="1833">
                <a:solidFill>
                  <a:srgbClr val="695C4A"/>
                </a:solidFill>
                <a:latin typeface="Glacial Indifference"/>
                <a:ea typeface="Glacial Indifference"/>
                <a:cs typeface="Glacial Indifference"/>
                <a:sym typeface="Glacial Indifference"/>
              </a:rPr>
              <a:t>ν</a:t>
            </a:r>
            <a:r>
              <a:rPr lang="en-US" sz="1833">
                <a:solidFill>
                  <a:srgbClr val="695C4A"/>
                </a:solidFill>
                <a:latin typeface="Glacial Indifference"/>
                <a:ea typeface="Glacial Indifference"/>
                <a:cs typeface="Glacial Indifference"/>
                <a:sym typeface="Glacial Indifference"/>
              </a:rPr>
              <a:t> συσκευ</a:t>
            </a:r>
            <a:r>
              <a:rPr lang="en-US" sz="1833">
                <a:solidFill>
                  <a:srgbClr val="695C4A"/>
                </a:solidFill>
                <a:latin typeface="Glacial Indifference"/>
                <a:ea typeface="Glacial Indifference"/>
                <a:cs typeface="Glacial Indifference"/>
                <a:sym typeface="Glacial Indifference"/>
              </a:rPr>
              <a:t>ώ</a:t>
            </a:r>
            <a:r>
              <a:rPr lang="en-US" sz="1833">
                <a:solidFill>
                  <a:srgbClr val="695C4A"/>
                </a:solidFill>
                <a:latin typeface="Glacial Indifference"/>
                <a:ea typeface="Glacial Indifference"/>
                <a:cs typeface="Glacial Indifference"/>
                <a:sym typeface="Glacial Indifference"/>
              </a:rPr>
              <a:t>ν καταγραφής</a:t>
            </a:r>
            <a:r>
              <a:rPr lang="en-US" sz="1833">
                <a:solidFill>
                  <a:srgbClr val="695C4A"/>
                </a:solidFill>
                <a:latin typeface="Glacial Indifference"/>
                <a:ea typeface="Glacial Indifference"/>
                <a:cs typeface="Glacial Indifference"/>
                <a:sym typeface="Glacial Indifference"/>
              </a:rPr>
              <a:t>. Η ενσωμάτωση της τεχνικής αυτής στο pipeline που αναπτύχθηκε</a:t>
            </a:r>
            <a:r>
              <a:rPr lang="en-US" sz="1833">
                <a:solidFill>
                  <a:srgbClr val="695C4A"/>
                </a:solidFill>
                <a:latin typeface="Glacial Indifference"/>
                <a:ea typeface="Glacial Indifference"/>
                <a:cs typeface="Glacial Indifference"/>
                <a:sym typeface="Glacial Indifference"/>
              </a:rPr>
              <a:t> σ</a:t>
            </a:r>
            <a:r>
              <a:rPr lang="en-US" sz="1833">
                <a:solidFill>
                  <a:srgbClr val="695C4A"/>
                </a:solidFill>
                <a:latin typeface="Glacial Indifference"/>
                <a:ea typeface="Glacial Indifference"/>
                <a:cs typeface="Glacial Indifference"/>
                <a:sym typeface="Glacial Indifference"/>
              </a:rPr>
              <a:t>την</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παρούσα εργασία</a:t>
            </a:r>
            <a:r>
              <a:rPr lang="en-US" sz="1833">
                <a:solidFill>
                  <a:srgbClr val="695C4A"/>
                </a:solidFill>
                <a:latin typeface="Glacial Indifference"/>
                <a:ea typeface="Glacial Indifference"/>
                <a:cs typeface="Glacial Indifference"/>
                <a:sym typeface="Glacial Indifference"/>
              </a:rPr>
              <a:t> μ</a:t>
            </a:r>
            <a:r>
              <a:rPr lang="en-US" sz="1833">
                <a:solidFill>
                  <a:srgbClr val="695C4A"/>
                </a:solidFill>
                <a:latin typeface="Glacial Indifference"/>
                <a:ea typeface="Glacial Indifference"/>
                <a:cs typeface="Glacial Indifference"/>
                <a:sym typeface="Glacial Indifference"/>
              </a:rPr>
              <a:t>πορεί να</a:t>
            </a:r>
            <a:r>
              <a:rPr lang="en-US" sz="1833">
                <a:solidFill>
                  <a:srgbClr val="695C4A"/>
                </a:solidFill>
                <a:latin typeface="Glacial Indifference"/>
                <a:ea typeface="Glacial Indifference"/>
                <a:cs typeface="Glacial Indifference"/>
                <a:sym typeface="Glacial Indifference"/>
              </a:rPr>
              <a:t> λε</a:t>
            </a:r>
            <a:r>
              <a:rPr lang="en-US" sz="1833">
                <a:solidFill>
                  <a:srgbClr val="695C4A"/>
                </a:solidFill>
                <a:latin typeface="Glacial Indifference"/>
                <a:ea typeface="Glacial Indifference"/>
                <a:cs typeface="Glacial Indifference"/>
                <a:sym typeface="Glacial Indifference"/>
              </a:rPr>
              <a:t>ιτουργήσει ως</a:t>
            </a:r>
            <a:r>
              <a:rPr lang="en-US" b="true" sz="1833">
                <a:solidFill>
                  <a:srgbClr val="695C4A"/>
                </a:solidFill>
                <a:latin typeface="Glacial Indifference Bold"/>
                <a:ea typeface="Glacial Indifference Bold"/>
                <a:cs typeface="Glacial Indifference Bold"/>
                <a:sym typeface="Glacial Indifference Bold"/>
              </a:rPr>
              <a:t> στάδιο προεπεξεργασίας</a:t>
            </a:r>
            <a:r>
              <a:rPr lang="en-US" sz="1833">
                <a:solidFill>
                  <a:srgbClr val="695C4A"/>
                </a:solidFill>
                <a:latin typeface="Glacial Indifference"/>
                <a:ea typeface="Glacial Indifference"/>
                <a:cs typeface="Glacial Indifference"/>
                <a:sym typeface="Glacial Indifference"/>
              </a:rPr>
              <a:t> πριν την εφαρμογή</a:t>
            </a:r>
            <a:r>
              <a:rPr lang="en-US" sz="1833">
                <a:solidFill>
                  <a:srgbClr val="695C4A"/>
                </a:solidFill>
                <a:latin typeface="Glacial Indifference"/>
                <a:ea typeface="Glacial Indifference"/>
                <a:cs typeface="Glacial Indifference"/>
                <a:sym typeface="Glacial Indifference"/>
              </a:rPr>
              <a:t> των μεθόδων </a:t>
            </a:r>
            <a:r>
              <a:rPr lang="en-US" sz="1833">
                <a:solidFill>
                  <a:srgbClr val="695C4A"/>
                </a:solidFill>
                <a:latin typeface="Glacial Indifference"/>
                <a:ea typeface="Glacial Indifference"/>
                <a:cs typeface="Glacial Indifference"/>
                <a:sym typeface="Glacial Indifference"/>
              </a:rPr>
              <a:t>προσαρμογής πεδίου βαθιάς μάθησης, δημιουργώντ</a:t>
            </a:r>
            <a:r>
              <a:rPr lang="en-US" sz="1833">
                <a:solidFill>
                  <a:srgbClr val="695C4A"/>
                </a:solidFill>
                <a:latin typeface="Glacial Indifference"/>
                <a:ea typeface="Glacial Indifference"/>
                <a:cs typeface="Glacial Indifference"/>
                <a:sym typeface="Glacial Indifference"/>
              </a:rPr>
              <a:t>ας</a:t>
            </a:r>
            <a:r>
              <a:rPr lang="en-US" sz="1833">
                <a:solidFill>
                  <a:srgbClr val="695C4A"/>
                </a:solidFill>
                <a:latin typeface="Glacial Indifference"/>
                <a:ea typeface="Glacial Indifference"/>
                <a:cs typeface="Glacial Indifference"/>
                <a:sym typeface="Glacial Indifference"/>
              </a:rPr>
              <a:t> ένα πιο «ουδέτερο» σετ χαρακτηριστικών και ενισχύοντας την αποτελεσματικότητα της</a:t>
            </a:r>
            <a:r>
              <a:rPr lang="en-US" sz="1833">
                <a:solidFill>
                  <a:srgbClr val="695C4A"/>
                </a:solidFill>
                <a:latin typeface="Glacial Indifference"/>
                <a:ea typeface="Glacial Indifference"/>
                <a:cs typeface="Glacial Indifference"/>
                <a:sym typeface="Glacial Indifference"/>
              </a:rPr>
              <a:t> επακόλουθ</a:t>
            </a:r>
            <a:r>
              <a:rPr lang="en-US" sz="1833">
                <a:solidFill>
                  <a:srgbClr val="695C4A"/>
                </a:solidFill>
                <a:latin typeface="Glacial Indifference"/>
                <a:ea typeface="Glacial Indifference"/>
                <a:cs typeface="Glacial Indifference"/>
                <a:sym typeface="Glacial Indifference"/>
              </a:rPr>
              <a:t>ης εκπαίδευσης. </a:t>
            </a:r>
          </a:p>
        </p:txBody>
      </p:sp>
      <p:sp>
        <p:nvSpPr>
          <p:cNvPr name="TextBox 14" id="14"/>
          <p:cNvSpPr txBox="true"/>
          <p:nvPr/>
        </p:nvSpPr>
        <p:spPr>
          <a:xfrm rot="0">
            <a:off x="1944566" y="7182896"/>
            <a:ext cx="12511061" cy="1934621"/>
          </a:xfrm>
          <a:prstGeom prst="rect">
            <a:avLst/>
          </a:prstGeom>
        </p:spPr>
        <p:txBody>
          <a:bodyPr anchor="t" rtlCol="false" tIns="0" lIns="0" bIns="0" rIns="0">
            <a:spAutoFit/>
          </a:bodyPr>
          <a:lstStyle/>
          <a:p>
            <a:pPr algn="l" marL="395921" indent="-197961" lvl="1">
              <a:lnSpc>
                <a:spcPts val="2567"/>
              </a:lnSpc>
              <a:buFont typeface="Arial"/>
              <a:buChar char="•"/>
            </a:pPr>
            <a:r>
              <a:rPr lang="en-US" sz="1833">
                <a:solidFill>
                  <a:srgbClr val="695C4A"/>
                </a:solidFill>
                <a:latin typeface="Glacial Indifference"/>
                <a:ea typeface="Glacial Indifference"/>
                <a:cs typeface="Glacial Indifference"/>
                <a:sym typeface="Glacial Indifference"/>
              </a:rPr>
              <a:t>Τέλος, σε επίπεδο πρακτικής εφαρμογής, </a:t>
            </a:r>
            <a:r>
              <a:rPr lang="en-US" sz="1833">
                <a:solidFill>
                  <a:srgbClr val="695C4A"/>
                </a:solidFill>
                <a:latin typeface="Glacial Indifference"/>
                <a:ea typeface="Glacial Indifference"/>
                <a:cs typeface="Glacial Indifference"/>
                <a:sym typeface="Glacial Indifference"/>
              </a:rPr>
              <a:t>οι </a:t>
            </a:r>
            <a:r>
              <a:rPr lang="en-US" sz="1833">
                <a:solidFill>
                  <a:srgbClr val="695C4A"/>
                </a:solidFill>
                <a:latin typeface="Glacial Indifference"/>
                <a:ea typeface="Glacial Indifference"/>
                <a:cs typeface="Glacial Indifference"/>
                <a:sym typeface="Glacial Indifference"/>
              </a:rPr>
              <a:t>μ</a:t>
            </a:r>
            <a:r>
              <a:rPr lang="en-US" sz="1833">
                <a:solidFill>
                  <a:srgbClr val="695C4A"/>
                </a:solidFill>
                <a:latin typeface="Glacial Indifference"/>
                <a:ea typeface="Glacial Indifference"/>
                <a:cs typeface="Glacial Indifference"/>
                <a:sym typeface="Glacial Indifference"/>
              </a:rPr>
              <a:t>ελλ</a:t>
            </a:r>
            <a:r>
              <a:rPr lang="en-US" sz="1833">
                <a:solidFill>
                  <a:srgbClr val="695C4A"/>
                </a:solidFill>
                <a:latin typeface="Glacial Indifference"/>
                <a:ea typeface="Glacial Indifference"/>
                <a:cs typeface="Glacial Indifference"/>
                <a:sym typeface="Glacial Indifference"/>
              </a:rPr>
              <a:t>οντικές επεκτ</a:t>
            </a:r>
            <a:r>
              <a:rPr lang="en-US" sz="1833">
                <a:solidFill>
                  <a:srgbClr val="695C4A"/>
                </a:solidFill>
                <a:latin typeface="Glacial Indifference"/>
                <a:ea typeface="Glacial Indifference"/>
                <a:cs typeface="Glacial Indifference"/>
                <a:sym typeface="Glacial Indifference"/>
              </a:rPr>
              <a:t>άσεις μπο</a:t>
            </a:r>
            <a:r>
              <a:rPr lang="en-US" sz="1833">
                <a:solidFill>
                  <a:srgbClr val="695C4A"/>
                </a:solidFill>
                <a:latin typeface="Glacial Indifference"/>
                <a:ea typeface="Glacial Indifference"/>
                <a:cs typeface="Glacial Indifference"/>
                <a:sym typeface="Glacial Indifference"/>
              </a:rPr>
              <a:t>ρούν να ε</a:t>
            </a:r>
            <a:r>
              <a:rPr lang="en-US" sz="1833">
                <a:solidFill>
                  <a:srgbClr val="695C4A"/>
                </a:solidFill>
                <a:latin typeface="Glacial Indifference"/>
                <a:ea typeface="Glacial Indifference"/>
                <a:cs typeface="Glacial Indifference"/>
                <a:sym typeface="Glacial Indifference"/>
              </a:rPr>
              <a:t>π</a:t>
            </a:r>
            <a:r>
              <a:rPr lang="en-US" sz="1833">
                <a:solidFill>
                  <a:srgbClr val="695C4A"/>
                </a:solidFill>
                <a:latin typeface="Glacial Indifference"/>
                <a:ea typeface="Glacial Indifference"/>
                <a:cs typeface="Glacial Indifference"/>
                <a:sym typeface="Glacial Indifference"/>
              </a:rPr>
              <a:t>ικεντρωθ</a:t>
            </a:r>
            <a:r>
              <a:rPr lang="en-US" b="true" sz="1833">
                <a:solidFill>
                  <a:srgbClr val="695C4A"/>
                </a:solidFill>
                <a:latin typeface="Glacial Indifference Bold"/>
                <a:ea typeface="Glacial Indifference Bold"/>
                <a:cs typeface="Glacial Indifference Bold"/>
                <a:sym typeface="Glacial Indifference Bold"/>
              </a:rPr>
              <a:t>ούν στην ενσωμάτωση των αναπτυγμένων μοντέλων σε φορητές συσκευές και συστήματα τηλεϊατρικής</a:t>
            </a:r>
            <a:r>
              <a:rPr lang="en-US" sz="1833">
                <a:solidFill>
                  <a:srgbClr val="695C4A"/>
                </a:solidFill>
                <a:latin typeface="Glacial Indifference"/>
                <a:ea typeface="Glacial Indifference"/>
                <a:cs typeface="Glacial Indifference"/>
                <a:sym typeface="Glacial Indifference"/>
              </a:rPr>
              <a:t>. Η ανάπτυξη ελαφρών και αποδοτικών υλοποιήσεων</a:t>
            </a:r>
            <a:r>
              <a:rPr lang="en-US" sz="1833">
                <a:solidFill>
                  <a:srgbClr val="695C4A"/>
                </a:solidFill>
                <a:latin typeface="Glacial Indifference"/>
                <a:ea typeface="Glacial Indifference"/>
                <a:cs typeface="Glacial Indifference"/>
                <a:sym typeface="Glacial Indifference"/>
              </a:rPr>
              <a:t> </a:t>
            </a:r>
            <a:r>
              <a:rPr lang="en-US" sz="1833">
                <a:solidFill>
                  <a:srgbClr val="695C4A"/>
                </a:solidFill>
                <a:latin typeface="Glacial Indifference"/>
                <a:ea typeface="Glacial Indifference"/>
                <a:cs typeface="Glacial Indifference"/>
                <a:sym typeface="Glacial Indifference"/>
              </a:rPr>
              <a:t>που</a:t>
            </a:r>
            <a:r>
              <a:rPr lang="en-US" sz="1833">
                <a:solidFill>
                  <a:srgbClr val="695C4A"/>
                </a:solidFill>
                <a:latin typeface="Glacial Indifference"/>
                <a:ea typeface="Glacial Indifference"/>
                <a:cs typeface="Glacial Indifference"/>
                <a:sym typeface="Glacial Indifference"/>
              </a:rPr>
              <a:t> μ</a:t>
            </a:r>
            <a:r>
              <a:rPr lang="en-US" sz="1833">
                <a:solidFill>
                  <a:srgbClr val="695C4A"/>
                </a:solidFill>
                <a:latin typeface="Glacial Indifference"/>
                <a:ea typeface="Glacial Indifference"/>
                <a:cs typeface="Glacial Indifference"/>
                <a:sym typeface="Glacial Indifference"/>
              </a:rPr>
              <a:t>πορούν να</a:t>
            </a:r>
            <a:r>
              <a:rPr lang="en-US" sz="1833">
                <a:solidFill>
                  <a:srgbClr val="695C4A"/>
                </a:solidFill>
                <a:latin typeface="Glacial Indifference"/>
                <a:ea typeface="Glacial Indifference"/>
                <a:cs typeface="Glacial Indifference"/>
                <a:sym typeface="Glacial Indifference"/>
              </a:rPr>
              <a:t> λε</a:t>
            </a:r>
            <a:r>
              <a:rPr lang="en-US" sz="1833">
                <a:solidFill>
                  <a:srgbClr val="695C4A"/>
                </a:solidFill>
                <a:latin typeface="Glacial Indifference"/>
                <a:ea typeface="Glacial Indifference"/>
                <a:cs typeface="Glacial Indifference"/>
                <a:sym typeface="Glacial Indifference"/>
              </a:rPr>
              <a:t>ιτουργήσουν σε πραγματικό</a:t>
            </a:r>
            <a:r>
              <a:rPr lang="en-US" sz="1833">
                <a:solidFill>
                  <a:srgbClr val="695C4A"/>
                </a:solidFill>
                <a:latin typeface="Glacial Indifference"/>
                <a:ea typeface="Glacial Indifference"/>
                <a:cs typeface="Glacial Indifference"/>
                <a:sym typeface="Glacial Indifference"/>
              </a:rPr>
              <a:t> χ</a:t>
            </a:r>
            <a:r>
              <a:rPr lang="en-US" sz="1833">
                <a:solidFill>
                  <a:srgbClr val="695C4A"/>
                </a:solidFill>
                <a:latin typeface="Glacial Indifference"/>
                <a:ea typeface="Glacial Indifference"/>
                <a:cs typeface="Glacial Indifference"/>
                <a:sym typeface="Glacial Indifference"/>
              </a:rPr>
              <a:t>ρόνο σε κινητές συσκευές ή</a:t>
            </a:r>
            <a:r>
              <a:rPr lang="en-US" sz="1833">
                <a:solidFill>
                  <a:srgbClr val="695C4A"/>
                </a:solidFill>
                <a:latin typeface="Glacial Indifference"/>
                <a:ea typeface="Glacial Indifference"/>
                <a:cs typeface="Glacial Indifference"/>
                <a:sym typeface="Glacial Indifference"/>
              </a:rPr>
              <a:t> σε συσκευές </a:t>
            </a:r>
            <a:r>
              <a:rPr lang="en-US" sz="1833">
                <a:solidFill>
                  <a:srgbClr val="695C4A"/>
                </a:solidFill>
                <a:latin typeface="Glacial Indifference"/>
                <a:ea typeface="Glacial Indifference"/>
                <a:cs typeface="Glacial Indifference"/>
                <a:sym typeface="Glacial Indifference"/>
              </a:rPr>
              <a:t>παρακολούθησης θα συμβάλει στη διάδοση τη</a:t>
            </a:r>
            <a:r>
              <a:rPr lang="en-US" sz="1833">
                <a:solidFill>
                  <a:srgbClr val="695C4A"/>
                </a:solidFill>
                <a:latin typeface="Glacial Indifference"/>
                <a:ea typeface="Glacial Indifference"/>
                <a:cs typeface="Glacial Indifference"/>
                <a:sym typeface="Glacial Indifference"/>
              </a:rPr>
              <a:t>ς</a:t>
            </a:r>
            <a:r>
              <a:rPr lang="en-US" sz="1833">
                <a:solidFill>
                  <a:srgbClr val="695C4A"/>
                </a:solidFill>
                <a:latin typeface="Glacial Indifference"/>
                <a:ea typeface="Glacial Indifference"/>
                <a:cs typeface="Glacial Indifference"/>
                <a:sym typeface="Glacial Indifference"/>
              </a:rPr>
              <a:t> τεχνολογίας σε κλινικά και κατ’ οίκον περιβάλλοντα, υποστηρίζοντας την έγκαιρη διάγνωση</a:t>
            </a:r>
            <a:r>
              <a:rPr lang="en-US" sz="1833">
                <a:solidFill>
                  <a:srgbClr val="695C4A"/>
                </a:solidFill>
                <a:latin typeface="Glacial Indifference"/>
                <a:ea typeface="Glacial Indifference"/>
                <a:cs typeface="Glacial Indifference"/>
                <a:sym typeface="Glacial Indifference"/>
              </a:rPr>
              <a:t> και παρακολούθ</a:t>
            </a:r>
            <a:r>
              <a:rPr lang="en-US" sz="1833">
                <a:solidFill>
                  <a:srgbClr val="695C4A"/>
                </a:solidFill>
                <a:latin typeface="Glacial Indifference"/>
                <a:ea typeface="Glacial Indifference"/>
                <a:cs typeface="Glacial Indifference"/>
                <a:sym typeface="Glacial Indifference"/>
              </a:rPr>
              <a:t>ηση των ασθενών.</a:t>
            </a:r>
          </a:p>
          <a:p>
            <a:pPr algn="l">
              <a:lnSpc>
                <a:spcPts val="2567"/>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flipH="true">
            <a:off x="0" y="9118283"/>
            <a:ext cx="12334424" cy="0"/>
          </a:xfrm>
          <a:prstGeom prst="line">
            <a:avLst/>
          </a:prstGeom>
          <a:ln cap="flat" w="38100">
            <a:solidFill>
              <a:srgbClr val="827564"/>
            </a:solidFill>
            <a:prstDash val="solid"/>
            <a:headEnd type="none" len="sm" w="sm"/>
            <a:tailEnd type="none" len="sm" w="sm"/>
          </a:ln>
        </p:spPr>
      </p:sp>
      <p:sp>
        <p:nvSpPr>
          <p:cNvPr name="AutoShape 3" id="3"/>
          <p:cNvSpPr/>
          <p:nvPr/>
        </p:nvSpPr>
        <p:spPr>
          <a:xfrm flipH="true">
            <a:off x="6074299" y="1187768"/>
            <a:ext cx="12213701" cy="0"/>
          </a:xfrm>
          <a:prstGeom prst="line">
            <a:avLst/>
          </a:prstGeom>
          <a:ln cap="flat" w="38100">
            <a:solidFill>
              <a:srgbClr val="827564"/>
            </a:solidFill>
            <a:prstDash val="solid"/>
            <a:headEnd type="none" len="sm" w="sm"/>
            <a:tailEnd type="none" len="sm" w="sm"/>
          </a:ln>
        </p:spPr>
      </p:sp>
      <p:sp>
        <p:nvSpPr>
          <p:cNvPr name="AutoShape 4" id="4"/>
          <p:cNvSpPr/>
          <p:nvPr/>
        </p:nvSpPr>
        <p:spPr>
          <a:xfrm>
            <a:off x="1260422" y="5588875"/>
            <a:ext cx="0" cy="4698125"/>
          </a:xfrm>
          <a:prstGeom prst="line">
            <a:avLst/>
          </a:prstGeom>
          <a:ln cap="flat" w="38100">
            <a:solidFill>
              <a:srgbClr val="827564"/>
            </a:solidFill>
            <a:prstDash val="solid"/>
            <a:headEnd type="none" len="sm" w="sm"/>
            <a:tailEnd type="none" len="sm" w="sm"/>
          </a:ln>
        </p:spPr>
      </p:sp>
      <p:sp>
        <p:nvSpPr>
          <p:cNvPr name="AutoShape 5" id="5"/>
          <p:cNvSpPr/>
          <p:nvPr/>
        </p:nvSpPr>
        <p:spPr>
          <a:xfrm>
            <a:off x="17027578" y="0"/>
            <a:ext cx="0" cy="4698125"/>
          </a:xfrm>
          <a:prstGeom prst="line">
            <a:avLst/>
          </a:prstGeom>
          <a:ln cap="flat" w="38100">
            <a:solidFill>
              <a:srgbClr val="827564"/>
            </a:solidFill>
            <a:prstDash val="solid"/>
            <a:headEnd type="none" len="sm" w="sm"/>
            <a:tailEnd type="none" len="sm" w="sm"/>
          </a:ln>
        </p:spPr>
      </p:sp>
      <p:sp>
        <p:nvSpPr>
          <p:cNvPr name="Freeform 6" id="6"/>
          <p:cNvSpPr/>
          <p:nvPr/>
        </p:nvSpPr>
        <p:spPr>
          <a:xfrm flipH="false" flipV="false" rot="0">
            <a:off x="14333364" y="0"/>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true" rot="0">
            <a:off x="-1433792" y="6172200"/>
            <a:ext cx="5388429" cy="4114800"/>
          </a:xfrm>
          <a:custGeom>
            <a:avLst/>
            <a:gdLst/>
            <a:ahLst/>
            <a:cxnLst/>
            <a:rect r="r" b="b" t="t" l="l"/>
            <a:pathLst>
              <a:path h="4114800" w="5388429">
                <a:moveTo>
                  <a:pt x="0" y="4114800"/>
                </a:moveTo>
                <a:lnTo>
                  <a:pt x="5388428" y="4114800"/>
                </a:lnTo>
                <a:lnTo>
                  <a:pt x="5388428" y="0"/>
                </a:lnTo>
                <a:lnTo>
                  <a:pt x="0" y="0"/>
                </a:lnTo>
                <a:lnTo>
                  <a:pt x="0" y="411480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2154327" y="4640263"/>
            <a:ext cx="22596653" cy="1035050"/>
          </a:xfrm>
          <a:prstGeom prst="rect">
            <a:avLst/>
          </a:prstGeom>
        </p:spPr>
        <p:txBody>
          <a:bodyPr anchor="t" rtlCol="false" tIns="0" lIns="0" bIns="0" rIns="0">
            <a:spAutoFit/>
          </a:bodyPr>
          <a:lstStyle/>
          <a:p>
            <a:pPr algn="ctr">
              <a:lnSpc>
                <a:spcPts val="8049"/>
              </a:lnSpc>
            </a:pPr>
            <a:r>
              <a:rPr lang="en-US" sz="6999" b="true">
                <a:solidFill>
                  <a:srgbClr val="695C4A"/>
                </a:solidFill>
                <a:latin typeface="Glacial Indifference Bold"/>
                <a:ea typeface="Glacial Indifference Bold"/>
                <a:cs typeface="Glacial Indifference Bold"/>
                <a:sym typeface="Glacial Indifference Bold"/>
              </a:rPr>
              <a:t>Σας ευχαριστώ πολύ!</a:t>
            </a:r>
          </a:p>
        </p:txBody>
      </p:sp>
      <p:sp>
        <p:nvSpPr>
          <p:cNvPr name="TextBox 9" id="9"/>
          <p:cNvSpPr txBox="true"/>
          <p:nvPr/>
        </p:nvSpPr>
        <p:spPr>
          <a:xfrm rot="0">
            <a:off x="11688724" y="8892540"/>
            <a:ext cx="5570576" cy="737235"/>
          </a:xfrm>
          <a:prstGeom prst="rect">
            <a:avLst/>
          </a:prstGeom>
        </p:spPr>
        <p:txBody>
          <a:bodyPr anchor="t" rtlCol="false" tIns="0" lIns="0" bIns="0" rIns="0">
            <a:spAutoFit/>
          </a:bodyPr>
          <a:lstStyle/>
          <a:p>
            <a:pPr algn="r">
              <a:lnSpc>
                <a:spcPts val="2940"/>
              </a:lnSpc>
            </a:pPr>
            <a:r>
              <a:rPr lang="en-US" sz="2100" spc="882">
                <a:solidFill>
                  <a:srgbClr val="827564"/>
                </a:solidFill>
                <a:latin typeface="Open Sauce"/>
                <a:ea typeface="Open Sauce"/>
                <a:cs typeface="Open Sauce"/>
                <a:sym typeface="Open Sauce"/>
              </a:rPr>
              <a:t>ΜΗΛΤΙΑΔΗΣ ΜΑΝΤΕΣ</a:t>
            </a:r>
          </a:p>
          <a:p>
            <a:pPr algn="r">
              <a:lnSpc>
                <a:spcPts val="2940"/>
              </a:lnSpc>
              <a:spcBef>
                <a:spcPct val="0"/>
              </a:spcBef>
            </a:pPr>
            <a:r>
              <a:rPr lang="en-US" sz="2100" spc="882">
                <a:solidFill>
                  <a:srgbClr val="827564"/>
                </a:solidFill>
                <a:latin typeface="Open Sauce"/>
                <a:ea typeface="Open Sauce"/>
                <a:cs typeface="Open Sauce"/>
                <a:sym typeface="Open Sauce"/>
              </a:rPr>
              <a:t>Α.Μ. 1084661</a:t>
            </a:r>
          </a:p>
        </p:txBody>
      </p:sp>
      <p:sp>
        <p:nvSpPr>
          <p:cNvPr name="Freeform 10" id="10"/>
          <p:cNvSpPr/>
          <p:nvPr/>
        </p:nvSpPr>
        <p:spPr>
          <a:xfrm flipH="false" flipV="false" rot="0">
            <a:off x="1028700" y="254397"/>
            <a:ext cx="4257338" cy="1548607"/>
          </a:xfrm>
          <a:custGeom>
            <a:avLst/>
            <a:gdLst/>
            <a:ahLst/>
            <a:cxnLst/>
            <a:rect r="r" b="b" t="t" l="l"/>
            <a:pathLst>
              <a:path h="1548607" w="4257338">
                <a:moveTo>
                  <a:pt x="0" y="0"/>
                </a:moveTo>
                <a:lnTo>
                  <a:pt x="4257338" y="0"/>
                </a:lnTo>
                <a:lnTo>
                  <a:pt x="4257338" y="1548606"/>
                </a:lnTo>
                <a:lnTo>
                  <a:pt x="0" y="1548606"/>
                </a:lnTo>
                <a:lnTo>
                  <a:pt x="0" y="0"/>
                </a:lnTo>
                <a:close/>
              </a:path>
            </a:pathLst>
          </a:custGeom>
          <a:blipFill>
            <a:blip r:embed="rId4"/>
            <a:stretch>
              <a:fillRect l="0" t="0" r="0" b="0"/>
            </a:stretch>
          </a:blipFill>
        </p:spPr>
      </p:sp>
      <p:sp>
        <p:nvSpPr>
          <p:cNvPr name="TextBox 11" id="11"/>
          <p:cNvSpPr txBox="true"/>
          <p:nvPr/>
        </p:nvSpPr>
        <p:spPr>
          <a:xfrm rot="0">
            <a:off x="456528" y="1269156"/>
            <a:ext cx="5570576" cy="1368425"/>
          </a:xfrm>
          <a:prstGeom prst="rect">
            <a:avLst/>
          </a:prstGeom>
        </p:spPr>
        <p:txBody>
          <a:bodyPr anchor="t" rtlCol="false" tIns="0" lIns="0" bIns="0" rIns="0">
            <a:spAutoFit/>
          </a:bodyPr>
          <a:lstStyle/>
          <a:p>
            <a:pPr algn="ctr">
              <a:lnSpc>
                <a:spcPts val="2940"/>
              </a:lnSpc>
            </a:pPr>
          </a:p>
          <a:p>
            <a:pPr algn="ctr">
              <a:lnSpc>
                <a:spcPts val="2660"/>
              </a:lnSpc>
              <a:spcBef>
                <a:spcPct val="0"/>
              </a:spcBef>
            </a:pPr>
            <a:r>
              <a:rPr lang="en-US" b="true" sz="1900" spc="798">
                <a:solidFill>
                  <a:srgbClr val="827564"/>
                </a:solidFill>
                <a:latin typeface="Open Sauce Bold"/>
                <a:ea typeface="Open Sauce Bold"/>
                <a:cs typeface="Open Sauce Bold"/>
                <a:sym typeface="Open Sauce Bold"/>
              </a:rPr>
              <a:t>ΠΟΛΥΤΕΧΝΙΚΗ ΣΧΟΛΗ</a:t>
            </a:r>
            <a:r>
              <a:rPr lang="en-US" sz="1900" spc="798">
                <a:solidFill>
                  <a:srgbClr val="827564"/>
                </a:solidFill>
                <a:latin typeface="Open Sauce"/>
                <a:ea typeface="Open Sauce"/>
                <a:cs typeface="Open Sauce"/>
                <a:sym typeface="Open Sauce"/>
              </a:rPr>
              <a:t> ΤΜΗΜΑ ΜΗΧΑΝΙΚΩΝ Η/Υ ΚΑΙ ΠΛΗΡΟΦΟΡΙΚΗΣ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DAGx1GBtrVM</dc:identifier>
  <dcterms:modified xsi:type="dcterms:W3CDTF">2011-08-01T06:04:30Z</dcterms:modified>
  <cp:revision>1</cp:revision>
  <dc:title>MSc_Thesis_Miltiadis_Mantes_presentation</dc:title>
</cp:coreProperties>
</file>